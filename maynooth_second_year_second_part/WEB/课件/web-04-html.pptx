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409" r:id="rId4"/>
    <p:sldId id="410" r:id="rId5"/>
    <p:sldId id="412" r:id="rId6"/>
    <p:sldId id="413" r:id="rId7"/>
    <p:sldId id="414" r:id="rId8"/>
    <p:sldId id="415" r:id="rId9"/>
    <p:sldId id="416" r:id="rId10"/>
    <p:sldId id="417" r:id="rId12"/>
    <p:sldId id="418" r:id="rId13"/>
    <p:sldId id="419" r:id="rId14"/>
    <p:sldId id="421" r:id="rId15"/>
    <p:sldId id="422" r:id="rId16"/>
    <p:sldId id="423" r:id="rId17"/>
    <p:sldId id="424" r:id="rId18"/>
    <p:sldId id="426" r:id="rId19"/>
    <p:sldId id="427" r:id="rId20"/>
    <p:sldId id="428" r:id="rId21"/>
    <p:sldId id="557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37" r:id="rId31"/>
    <p:sldId id="438" r:id="rId32"/>
    <p:sldId id="551" r:id="rId33"/>
    <p:sldId id="552" r:id="rId34"/>
    <p:sldId id="553" r:id="rId35"/>
    <p:sldId id="549" r:id="rId36"/>
    <p:sldId id="440" r:id="rId37"/>
    <p:sldId id="441" r:id="rId38"/>
    <p:sldId id="442" r:id="rId39"/>
    <p:sldId id="443" r:id="rId40"/>
    <p:sldId id="444" r:id="rId41"/>
    <p:sldId id="445" r:id="rId42"/>
    <p:sldId id="446" r:id="rId43"/>
    <p:sldId id="448" r:id="rId44"/>
    <p:sldId id="449" r:id="rId45"/>
    <p:sldId id="450" r:id="rId46"/>
    <p:sldId id="451" r:id="rId47"/>
    <p:sldId id="452" r:id="rId48"/>
    <p:sldId id="453" r:id="rId49"/>
    <p:sldId id="454" r:id="rId50"/>
    <p:sldId id="455" r:id="rId51"/>
    <p:sldId id="456" r:id="rId52"/>
    <p:sldId id="464" r:id="rId53"/>
    <p:sldId id="554" r:id="rId54"/>
    <p:sldId id="465" r:id="rId55"/>
    <p:sldId id="555" r:id="rId56"/>
    <p:sldId id="466" r:id="rId57"/>
    <p:sldId id="467" r:id="rId58"/>
    <p:sldId id="468" r:id="rId59"/>
    <p:sldId id="469" r:id="rId60"/>
    <p:sldId id="470" r:id="rId61"/>
    <p:sldId id="471" r:id="rId62"/>
    <p:sldId id="472" r:id="rId63"/>
    <p:sldId id="473" r:id="rId64"/>
    <p:sldId id="474" r:id="rId65"/>
    <p:sldId id="556" r:id="rId66"/>
    <p:sldId id="475" r:id="rId67"/>
    <p:sldId id="476" r:id="rId68"/>
    <p:sldId id="477" r:id="rId69"/>
    <p:sldId id="478" r:id="rId70"/>
    <p:sldId id="479" r:id="rId71"/>
    <p:sldId id="480" r:id="rId72"/>
    <p:sldId id="481" r:id="rId73"/>
  </p:sldIdLst>
  <p:sldSz cx="12192000" cy="6858000"/>
  <p:notesSz cx="6858000" cy="9144000"/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F142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78396" autoAdjust="0"/>
  </p:normalViewPr>
  <p:slideViewPr>
    <p:cSldViewPr snapToGrid="0" showGuides="1">
      <p:cViewPr varScale="1">
        <p:scale>
          <a:sx n="127" d="100"/>
          <a:sy n="127" d="100"/>
        </p:scale>
        <p:origin x="3996" y="12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tags" Target="tags/tag78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7507F-00E5-4CCC-AEBF-C6C0D30E9B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HTML5 also</a:t>
            </a:r>
            <a:r>
              <a:rPr lang="en-US" altLang="zh-CN" baseline="0" dirty="0" smtClean="0"/>
              <a:t> introduces some new input types and input attributes. Here is a list.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Here is an example. In this example, the</a:t>
            </a:r>
            <a:r>
              <a:rPr lang="en-US" altLang="zh-CN" baseline="0" dirty="0" smtClean="0"/>
              <a:t> web page is divided into two section. The first section introduces WMF, and the second section introduces WMF’s panda symbol. </a:t>
            </a:r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Here</a:t>
            </a:r>
            <a:r>
              <a:rPr lang="en-US" altLang="zh-CN" baseline="0" dirty="0" smtClean="0"/>
              <a:t> is an example of </a:t>
            </a:r>
            <a:r>
              <a:rPr lang="en-US" altLang="zh-CN" baseline="0" dirty="0" err="1" smtClean="0"/>
              <a:t>nav</a:t>
            </a:r>
            <a:r>
              <a:rPr lang="en-US" altLang="zh-CN" baseline="0" dirty="0" smtClean="0"/>
              <a:t> element that defines four navigation links for html, </a:t>
            </a:r>
            <a:r>
              <a:rPr lang="en-US" altLang="zh-CN" baseline="0" dirty="0" err="1" smtClean="0"/>
              <a:t>css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js</a:t>
            </a:r>
            <a:r>
              <a:rPr lang="en-US" altLang="zh-CN" baseline="0" dirty="0" smtClean="0"/>
              <a:t> and </a:t>
            </a:r>
            <a:r>
              <a:rPr lang="en-US" altLang="zh-CN" baseline="0" dirty="0" err="1" smtClean="0"/>
              <a:t>jquery</a:t>
            </a:r>
            <a:r>
              <a:rPr lang="en-US" altLang="zh-CN" baseline="0" dirty="0" smtClean="0"/>
              <a:t>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Epcot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未来世界公园</a:t>
            </a:r>
            <a:endParaRPr lang="en-US" altLang="zh-CN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&lt;aside&gt;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标签通常作为侧边栏布局，可以放置相关说明、提示、引用、附加注释、广告、网站分类等信息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CC885F-4924-4CC3-B18A-3BEE8AF9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Bad</a:t>
            </a:r>
            <a:r>
              <a:rPr lang="en-US" altLang="zh-CN" baseline="0" dirty="0" smtClean="0"/>
              <a:t> example : mix-use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lowercase letter and uppercase letter in one element. </a:t>
            </a:r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en-US" altLang="zh-CN" baseline="0" dirty="0" smtClean="0"/>
              <a:t> reason is the same as using lowercase letters in element names.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6958C-0F4C-40EA-957C-B652A674A8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-228600">
              <a:spcAft>
                <a:spcPts val="1000"/>
              </a:spcAft>
              <a:defRPr spc="300"/>
            </a:lvl1pPr>
            <a:lvl2pPr indent="-228600">
              <a:defRPr spc="300"/>
            </a:lvl2pPr>
            <a:lvl3pPr indent="-228600">
              <a:defRPr spc="300"/>
            </a:lvl3pPr>
            <a:lvl4pPr indent="-228600">
              <a:defRPr spc="300"/>
            </a:lvl4pPr>
            <a:lvl5pPr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7.xml"/><Relationship Id="rId4" Type="http://schemas.openxmlformats.org/officeDocument/2006/relationships/hyperlink" Target="https://www.quanzhanketang.com/tags/tag_frame.html" TargetMode="Externa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5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 dirty="0">
                <a:latin typeface="Calibri Light" panose="020F0302020204030204" charset="0"/>
                <a:cs typeface="Calibri Light" panose="020F0302020204030204" charset="0"/>
              </a:rPr>
              <a:t>HTML5 Introduction</a:t>
            </a:r>
            <a:endParaRPr lang="zh-CN" altLang="zh-CN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01176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What is New in HTML5?</a:t>
            </a:r>
            <a:endParaRPr lang="zh-CN" altLang="en-US" sz="4400" b="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DOCTYPE declaration for HTML5 is very simple: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character encoding (charset) declaration is also very simple: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054" y="2347594"/>
            <a:ext cx="6538652" cy="9019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275" y="4943138"/>
            <a:ext cx="8711769" cy="1193166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79931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New HTML5 Elements</a:t>
            </a:r>
            <a:endParaRPr lang="zh-CN" altLang="en-US" sz="4400" b="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most interesting new elements are: 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New semantic elements like &lt;header&gt;, &lt;footer&gt;, &lt;article&gt;, and &lt;section&gt;.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New form control attributes like number, date, time, calendar, and range.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New graphic elements: </a:t>
            </a:r>
            <a:r>
              <a:rPr lang="zh-CN" altLang="en-US" sz="2800" dirty="0" smtClean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&lt;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canvas&gt;.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New multimedia elements: &lt;audio&gt; and &lt;video&gt;.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34588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New HTML5 API's</a:t>
            </a:r>
            <a:endParaRPr lang="zh-CN" altLang="en-US" sz="4400" b="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bg1"/>
                </a:solidFill>
              </a:rPr>
              <a:t>The most interesting new API's are:</a:t>
            </a:r>
            <a:endParaRPr lang="zh-CN" altLang="en-US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Geolocation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Drag and Drop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Local Storage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Application Cache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Web Workers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HTML SSE 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90732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0" dirty="0">
                <a:latin typeface="Calibri Light" panose="020F0302020204030204" charset="0"/>
                <a:cs typeface="Calibri Light" panose="020F0302020204030204" charset="0"/>
              </a:rPr>
              <a:t>Elements Removed in HTML5</a:t>
            </a:r>
            <a:endParaRPr lang="zh-CN" altLang="en-US" sz="4400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263256"/>
            <a:ext cx="10969200" cy="484005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The following HTML4 elements have been removed from HTML5: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93082" y="1018640"/>
          <a:ext cx="11799836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417"/>
                <a:gridCol w="1366934"/>
                <a:gridCol w="8760485"/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Element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Use instead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 smtClean="0"/>
                        <a:t>Function</a:t>
                      </a:r>
                      <a:endParaRPr lang="zh-CN" altLang="en-US" sz="1600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&lt;acronym&gt;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&lt;abbr&gt;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defines an acronym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&lt;applet&gt;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&lt;object&gt;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an embedded applet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&lt;basefont&gt;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specifies a default text-color, font-size, or font-family for all the text in a document.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&lt;big&gt;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bigger text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&lt;center&gt;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center-align text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&lt;dir&gt;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&lt;ul&gt;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list directory titles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&lt;font&gt;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specifies the font face, font size, and color of text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&lt;frame&gt;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one particular window (frame) within a &lt;frameset&gt;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Each &lt;frame&gt; in a &lt;frameset&gt; can have different attributes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&lt;frameset&gt;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holds one or more 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4"/>
                        </a:rPr>
                        <a:t>&lt;frame&gt;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elements. Each &lt;frame&gt; element can hold a separate document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The &lt;frameset&gt; element specifies HOW MANY columns or rows there will be in the frameset, and HOW MUCH percentage/pixels of space will occupy each of them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&lt;noframes&gt;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a fallback tag for browsers that do not support frames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，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can be used to link to a non-frameset version of the web site or to display a message to users that frames are required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/>
                        <a:t>&lt;strike&gt; 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defines strikethrough text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&lt;tt&gt; 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/>
                        <a:t>CSS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defines teletype text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HTML5 New Elements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782" y="21952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New Semantic/Structural Elements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199" y="1545083"/>
            <a:ext cx="10515600" cy="47451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HTML5 offers new elements for better document structure: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005" y="2240280"/>
            <a:ext cx="10140794" cy="4228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New Semantic/Structural Elements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28" y="2030064"/>
            <a:ext cx="11194163" cy="433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4212" y="454596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New Form Elements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11" y="2691173"/>
            <a:ext cx="10088027" cy="25534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New Input Types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49" y="1223318"/>
            <a:ext cx="9671777" cy="53135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HTML5 Graphics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457" y="2522021"/>
            <a:ext cx="9958534" cy="21482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New Media Elements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987" y="2291982"/>
            <a:ext cx="9858401" cy="35571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HTML5 Semantic Elements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What are Semantic Elements?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09781"/>
            <a:ext cx="10515600" cy="4208216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Semantics is the study of the meanings of words and phrases in language.</a:t>
            </a:r>
            <a:endParaRPr lang="en-US" altLang="zh-CN" dirty="0"/>
          </a:p>
          <a:p>
            <a:pPr algn="just"/>
            <a:r>
              <a:rPr lang="en-US" altLang="zh-CN" dirty="0"/>
              <a:t>Semantic elements are elements with a meaning.</a:t>
            </a:r>
            <a:endParaRPr lang="en-US" altLang="zh-CN" dirty="0"/>
          </a:p>
          <a:p>
            <a:pPr algn="just"/>
            <a:r>
              <a:rPr lang="en-US" altLang="zh-CN" dirty="0"/>
              <a:t>A semantic element clearly describes its meaning to both the browser and the developer.</a:t>
            </a:r>
            <a:endParaRPr lang="en-US" altLang="zh-CN" dirty="0"/>
          </a:p>
          <a:p>
            <a:pPr algn="just"/>
            <a:r>
              <a:rPr lang="en-US" altLang="zh-CN" dirty="0"/>
              <a:t>Examples of non-semantic elements: &lt;div&gt; and &lt;span&gt; - Tells nothing about its content.</a:t>
            </a:r>
            <a:endParaRPr lang="en-US" altLang="zh-CN" dirty="0"/>
          </a:p>
          <a:p>
            <a:pPr algn="just"/>
            <a:r>
              <a:rPr lang="en-US" altLang="zh-CN" dirty="0"/>
              <a:t>Examples of semantic elements: &lt;form&gt;, &lt;table&gt;, and &lt;img&gt; - Clearly defines its content.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New Semantic Elements in HTML5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935" y="1423035"/>
            <a:ext cx="11536680" cy="144462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Many web sites contain HTML code like: &lt;div id="nav"&gt; &lt;div class="header"&gt; &lt;div id="footer"&gt; to indicate navigation, header, and footer.</a:t>
            </a:r>
            <a:endParaRPr lang="en-US" altLang="zh-CN" dirty="0"/>
          </a:p>
          <a:p>
            <a:pPr algn="just"/>
            <a:r>
              <a:rPr lang="en-US" altLang="zh-CN" dirty="0"/>
              <a:t>HTML5 offers new semantic elements to define different parts of a web page: </a:t>
            </a:r>
            <a:endParaRPr lang="en-US" altLang="zh-CN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457200" y="2959735"/>
            <a:ext cx="2534920" cy="2865755"/>
          </a:xfrm>
          <a:prstGeom prst="rect">
            <a:avLst/>
          </a:prstGeom>
        </p:spPr>
        <p:txBody>
          <a:bodyPr vert="horz" lIns="91440" tIns="45720" rIns="91440" bIns="45720" numCol="3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&lt;article&gt;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&lt;aside&gt;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&lt;details&gt;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&lt;figcaption&gt;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&lt;figure&gt;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&lt;footer&gt;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0125" y="3429000"/>
            <a:ext cx="2733675" cy="32480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68700" y="2907665"/>
            <a:ext cx="4184650" cy="3185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&lt;header&gt;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&lt;main&gt;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&lt;mark&gt;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&lt;nav&gt;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&lt;section&gt;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&lt;summary&gt;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sym typeface="+mn-ea"/>
              </a:rPr>
              <a:t>&lt;time&gt;</a:t>
            </a:r>
            <a:endParaRPr lang="en-US" altLang="zh-CN" sz="24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HTML5 &lt;section&gt;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49379"/>
            <a:ext cx="10869118" cy="2759242"/>
          </a:xfrm>
        </p:spPr>
        <p:txBody>
          <a:bodyPr>
            <a:normAutofit/>
          </a:bodyPr>
          <a:lstStyle/>
          <a:p>
            <a:pPr algn="just"/>
            <a:r>
              <a:rPr lang="en-US" altLang="zh-CN" sz="3300" dirty="0"/>
              <a:t>The &lt;section&gt; element defines a section in a document.</a:t>
            </a:r>
            <a:endParaRPr lang="en-US" altLang="zh-CN" sz="3300" dirty="0"/>
          </a:p>
          <a:p>
            <a:pPr algn="just"/>
            <a:r>
              <a:rPr lang="en-US" altLang="zh-CN" sz="3300" dirty="0"/>
              <a:t>A section is a </a:t>
            </a:r>
            <a:r>
              <a:rPr lang="en-US" altLang="zh-CN" sz="3300" dirty="0" smtClean="0"/>
              <a:t>the semantic </a:t>
            </a:r>
            <a:r>
              <a:rPr lang="en-US" altLang="zh-CN" sz="3300" dirty="0"/>
              <a:t>grouping of content, typically with a heading.</a:t>
            </a:r>
            <a:endParaRPr lang="en-US" altLang="zh-CN" sz="3300" dirty="0"/>
          </a:p>
          <a:p>
            <a:pPr algn="just"/>
            <a:r>
              <a:rPr lang="en-US" altLang="zh-CN" sz="3300" dirty="0"/>
              <a:t>A Web site's home page could be split into sections for introduction, content, and contact information.</a:t>
            </a:r>
            <a:endParaRPr lang="en-US" altLang="zh-CN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&lt;section&gt;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5656" y="1217217"/>
            <a:ext cx="10515600" cy="5181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97" y="2633112"/>
            <a:ext cx="11336251" cy="30724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HTML5 &lt;section&gt; Element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9993" y="2347682"/>
            <a:ext cx="10636463" cy="37130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HTML5 &lt;article&gt;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4616" y="1762212"/>
            <a:ext cx="10822290" cy="45630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3300" dirty="0"/>
              <a:t>The &lt;article&gt; element specifies independent, self-contained content.</a:t>
            </a:r>
            <a:endParaRPr lang="en-US" altLang="zh-CN" sz="3300" dirty="0"/>
          </a:p>
          <a:p>
            <a:pPr algn="just"/>
            <a:r>
              <a:rPr lang="en-US" altLang="zh-CN" sz="3300" dirty="0"/>
              <a:t>An article should make sense on its own, and it should be possible to read it independently from the rest of the web site.</a:t>
            </a:r>
            <a:endParaRPr lang="en-US" altLang="zh-CN" sz="3300" dirty="0"/>
          </a:p>
          <a:p>
            <a:pPr marL="0" indent="0" algn="just">
              <a:buNone/>
            </a:pPr>
            <a:endParaRPr lang="en-US" altLang="zh-CN" sz="3300" dirty="0"/>
          </a:p>
          <a:p>
            <a:pPr marL="0" indent="0" algn="just">
              <a:buNone/>
            </a:pPr>
            <a:r>
              <a:rPr lang="en-US" altLang="zh-CN" sz="3300" dirty="0"/>
              <a:t>Examples of where an &lt;article&gt; element can be used:</a:t>
            </a:r>
            <a:endParaRPr lang="en-US" altLang="zh-CN" sz="3300" dirty="0"/>
          </a:p>
          <a:p>
            <a:pPr algn="just"/>
            <a:r>
              <a:rPr lang="en-US" altLang="zh-CN" sz="3300" dirty="0"/>
              <a:t>Forum post</a:t>
            </a:r>
            <a:endParaRPr lang="en-US" altLang="zh-CN" sz="3300" dirty="0"/>
          </a:p>
          <a:p>
            <a:pPr algn="just"/>
            <a:r>
              <a:rPr lang="en-US" altLang="zh-CN" sz="3300" dirty="0"/>
              <a:t>Blog post</a:t>
            </a:r>
            <a:endParaRPr lang="en-US" altLang="zh-CN" sz="3300" dirty="0"/>
          </a:p>
          <a:p>
            <a:pPr algn="just"/>
            <a:r>
              <a:rPr lang="en-US" altLang="zh-CN" sz="3300" dirty="0"/>
              <a:t>Newspaper article</a:t>
            </a:r>
            <a:endParaRPr lang="en-US" altLang="zh-CN" sz="3300" dirty="0"/>
          </a:p>
          <a:p>
            <a:pPr algn="just">
              <a:buFont typeface="Wingdings" panose="05000000000000000000" pitchFamily="2" charset="2"/>
              <a:buChar char="l"/>
            </a:pPr>
            <a:endParaRPr lang="en-US" altLang="zh-CN" sz="3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&lt;article&gt;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6559"/>
            <a:ext cx="10515600" cy="5181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787" y="2275850"/>
            <a:ext cx="11064461" cy="1809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4" y="5020550"/>
            <a:ext cx="10774188" cy="15162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Nesting Semantic Elements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6304"/>
            <a:ext cx="10515600" cy="449379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In the HTML5 standard, the &lt;article&gt; element defines a complete, self-contained block of related elements</a:t>
            </a:r>
            <a:r>
              <a:rPr lang="en-US" altLang="zh-CN" dirty="0" smtClean="0"/>
              <a:t>. The </a:t>
            </a:r>
            <a:r>
              <a:rPr lang="en-US" altLang="zh-CN" dirty="0"/>
              <a:t>&lt;section&gt; element is defined as a block of related elements.</a:t>
            </a:r>
            <a:endParaRPr lang="en-US" altLang="zh-CN" dirty="0"/>
          </a:p>
          <a:p>
            <a:pPr algn="just"/>
            <a:r>
              <a:rPr lang="en-US" altLang="zh-CN" dirty="0"/>
              <a:t>Can we use the definitions to decide how to nest elements? No, we cannot!</a:t>
            </a:r>
            <a:endParaRPr lang="en-US" altLang="zh-CN" dirty="0"/>
          </a:p>
          <a:p>
            <a:pPr algn="just"/>
            <a:r>
              <a:rPr lang="en-US" altLang="zh-CN" dirty="0"/>
              <a:t>On the Internet, you will find HTML pages with &lt;section&gt; elements containing &lt;article&gt; elements, and &lt;article&gt; elements containing &lt;sections&gt; elements.</a:t>
            </a:r>
            <a:endParaRPr lang="en-US" altLang="zh-CN" dirty="0"/>
          </a:p>
          <a:p>
            <a:pPr algn="just"/>
            <a:r>
              <a:rPr lang="en-US" altLang="zh-CN" dirty="0"/>
              <a:t>You will also find pages with &lt;section&gt; elements containing &lt;section&gt; elements, and &lt;article&gt; elements containing &lt;article&gt; elements.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44230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&lt;header&gt;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246" y="2105778"/>
            <a:ext cx="11087023" cy="3178255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The &lt;header&gt; element specifies a header for a </a:t>
            </a:r>
            <a:r>
              <a:rPr lang="en-US" altLang="zh-CN" sz="3200" dirty="0">
                <a:solidFill>
                  <a:srgbClr val="FFFF00"/>
                </a:solidFill>
              </a:rPr>
              <a:t>document</a:t>
            </a:r>
            <a:r>
              <a:rPr lang="en-US" altLang="zh-CN" sz="3200" dirty="0"/>
              <a:t> or </a:t>
            </a:r>
            <a:r>
              <a:rPr lang="en-US" altLang="zh-CN" sz="3200" dirty="0">
                <a:solidFill>
                  <a:srgbClr val="FFFF00"/>
                </a:solidFill>
              </a:rPr>
              <a:t>section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The &lt;header&gt; element should be used as a </a:t>
            </a:r>
            <a:r>
              <a:rPr lang="en-US" altLang="zh-CN" sz="3200" dirty="0">
                <a:solidFill>
                  <a:srgbClr val="FFFF00"/>
                </a:solidFill>
              </a:rPr>
              <a:t>container</a:t>
            </a:r>
            <a:r>
              <a:rPr lang="en-US" altLang="zh-CN" sz="3200" dirty="0"/>
              <a:t> for introductory content.</a:t>
            </a:r>
            <a:endParaRPr lang="en-US" altLang="zh-CN" sz="3200" dirty="0"/>
          </a:p>
          <a:p>
            <a:pPr algn="just"/>
            <a:r>
              <a:rPr lang="en-US" altLang="zh-CN" sz="3200" dirty="0" smtClean="0"/>
              <a:t>We can </a:t>
            </a:r>
            <a:r>
              <a:rPr lang="en-US" altLang="zh-CN" sz="3200" dirty="0"/>
              <a:t>have </a:t>
            </a:r>
            <a:r>
              <a:rPr lang="en-US" altLang="zh-CN" sz="3200" dirty="0">
                <a:solidFill>
                  <a:srgbClr val="FFFF00"/>
                </a:solidFill>
              </a:rPr>
              <a:t>several</a:t>
            </a:r>
            <a:r>
              <a:rPr lang="en-US" altLang="zh-CN" sz="3200" dirty="0"/>
              <a:t> &lt;header&gt; elements in one document.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&lt;header&gt;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084"/>
            <a:ext cx="10515600" cy="171535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following example defines a header for an article: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839" y="2207216"/>
            <a:ext cx="8144322" cy="20204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439" y="4531816"/>
            <a:ext cx="8156722" cy="1648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4368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&lt;footer&gt;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71802"/>
            <a:ext cx="10696732" cy="4464106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The &lt;footer&gt; element specifies a footer for a document or section.</a:t>
            </a:r>
            <a:endParaRPr lang="en-US" altLang="zh-CN" sz="3200" dirty="0"/>
          </a:p>
          <a:p>
            <a:pPr algn="just"/>
            <a:r>
              <a:rPr lang="en-US" altLang="zh-CN" sz="3200" dirty="0"/>
              <a:t>A &lt;footer&gt; element should contain information about its containing element.</a:t>
            </a:r>
            <a:endParaRPr lang="en-US" altLang="zh-CN" sz="3200" dirty="0"/>
          </a:p>
          <a:p>
            <a:pPr algn="just"/>
            <a:r>
              <a:rPr lang="en-US" altLang="zh-CN" sz="3200" dirty="0"/>
              <a:t>A footer typically contains the author of the document, copyright information, links to terms of use, contact information, etc.</a:t>
            </a:r>
            <a:endParaRPr lang="en-US" altLang="zh-CN" sz="3200" dirty="0"/>
          </a:p>
          <a:p>
            <a:pPr algn="just"/>
            <a:r>
              <a:rPr lang="en-US" altLang="zh-CN" sz="3200" dirty="0"/>
              <a:t>You can have several &lt;footer&gt; elements in one document.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HTML5 &lt;footer&gt;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084"/>
            <a:ext cx="10515600" cy="5152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962" y="2320814"/>
            <a:ext cx="6696075" cy="1352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1" y="4263469"/>
            <a:ext cx="433387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/>
              <a:t>HTML5 &lt;nav&gt;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2366"/>
            <a:ext cx="10981544" cy="1875832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The &lt;nav&gt; element defines a set of navigation links.</a:t>
            </a:r>
            <a:endParaRPr lang="en-US" altLang="zh-CN" sz="3200" dirty="0"/>
          </a:p>
          <a:p>
            <a:r>
              <a:rPr lang="en-US" altLang="zh-CN" sz="3200" dirty="0"/>
              <a:t>The &lt;nav&gt; element is intended for large blocks of navigation links. However, not all links in a document should be inside a &lt;nav&gt; element</a:t>
            </a:r>
            <a:r>
              <a:rPr lang="en-US" altLang="zh-CN" sz="3200" dirty="0" smtClean="0"/>
              <a:t>!</a:t>
            </a:r>
            <a:endParaRPr lang="en-US" altLang="zh-CN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213" y="4504060"/>
            <a:ext cx="3638550" cy="1704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265" y="5161284"/>
            <a:ext cx="3048000" cy="390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732728" y="3690203"/>
            <a:ext cx="1241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Example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/>
              <a:t>HTML5 &lt;aside&gt; 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9381"/>
            <a:ext cx="10515600" cy="206320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 &lt;aside&gt; element defines some content aside from the content it is placed in (like a sidebar).</a:t>
            </a:r>
            <a:endParaRPr lang="en-US" altLang="zh-CN" sz="3200" dirty="0"/>
          </a:p>
          <a:p>
            <a:r>
              <a:rPr lang="en-US" altLang="zh-CN" sz="3200" dirty="0"/>
              <a:t>The aside content should be related to the surrounding content.</a:t>
            </a:r>
            <a:endParaRPr lang="en-US" altLang="zh-CN" sz="3200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1" y="4444099"/>
            <a:ext cx="5515466" cy="12454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151" y="4444099"/>
            <a:ext cx="4718648" cy="128461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732728" y="3690203"/>
            <a:ext cx="1241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Example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/>
              <a:t>HTML5 &lt;figure&gt; and &lt;figcaption&gt; Elements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7871" y="1230576"/>
            <a:ext cx="10515600" cy="1906817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In books and newspapers, it is common to have captions with images.</a:t>
            </a:r>
            <a:endParaRPr lang="en-US" altLang="zh-CN" dirty="0"/>
          </a:p>
          <a:p>
            <a:pPr algn="just"/>
            <a:r>
              <a:rPr lang="en-US" altLang="zh-CN" dirty="0"/>
              <a:t>The purpose of a caption is to add a visual explanation to an image.</a:t>
            </a:r>
            <a:endParaRPr lang="en-US" altLang="zh-CN" dirty="0"/>
          </a:p>
          <a:p>
            <a:pPr algn="just"/>
            <a:r>
              <a:rPr lang="en-US" altLang="zh-CN" dirty="0"/>
              <a:t>With HTML5, images and captions can be grouped together in &lt;figure&gt; elements: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71" y="3734883"/>
            <a:ext cx="6582795" cy="89206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052" y="2992464"/>
            <a:ext cx="3319065" cy="2346600"/>
          </a:xfrm>
          <a:prstGeom prst="rect">
            <a:avLst/>
          </a:prstGeom>
        </p:spPr>
      </p:pic>
      <p:sp>
        <p:nvSpPr>
          <p:cNvPr id="10" name="内容占位符 2"/>
          <p:cNvSpPr txBox="1"/>
          <p:nvPr/>
        </p:nvSpPr>
        <p:spPr>
          <a:xfrm>
            <a:off x="838200" y="5775600"/>
            <a:ext cx="10594943" cy="892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The &lt;img&gt; element defines the image, the &lt;figcaption&gt; element defines the caption.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714" y="40978"/>
            <a:ext cx="10515600" cy="94151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HTML5 </a:t>
            </a:r>
            <a:r>
              <a:rPr lang="en-US" altLang="zh-CN" dirty="0" smtClean="0"/>
              <a:t>&lt;main&gt; </a:t>
            </a:r>
            <a:r>
              <a:rPr lang="en-US" altLang="zh-CN" dirty="0"/>
              <a:t>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546" y="827576"/>
            <a:ext cx="10998297" cy="281585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/>
              <a:t>T</a:t>
            </a:r>
            <a:r>
              <a:rPr lang="en-US" altLang="zh-CN" sz="2400" dirty="0" smtClean="0"/>
              <a:t>he </a:t>
            </a:r>
            <a:r>
              <a:rPr lang="en-US" altLang="zh-CN" sz="2400" dirty="0"/>
              <a:t>&lt;main&gt; tag specifies the main content of a document.</a:t>
            </a:r>
            <a:endParaRPr lang="en-US" altLang="zh-CN" sz="24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/>
              <a:t>The content inside the &lt;main&gt; element should be unique to the document. It should not contain any content that is repeated across documents such as sidebars, navigation links, copyright information, site logos, and search forms.</a:t>
            </a:r>
            <a:endParaRPr lang="en-US" altLang="zh-CN" sz="24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 smtClean="0"/>
              <a:t>There </a:t>
            </a:r>
            <a:r>
              <a:rPr lang="en-US" altLang="zh-CN" sz="2400" dirty="0"/>
              <a:t>must not be more than one &lt;main&gt; element in a document. The &lt;main&gt; element must NOT be a descendant of an &lt;article&gt;, &lt;aside&gt;, &lt;footer&gt;, &lt;header&gt;, or &lt;</a:t>
            </a:r>
            <a:r>
              <a:rPr lang="en-US" altLang="zh-CN" sz="2400" dirty="0" err="1"/>
              <a:t>nav</a:t>
            </a:r>
            <a:r>
              <a:rPr lang="en-US" altLang="zh-CN" sz="2400" dirty="0"/>
              <a:t>&gt; element.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84" y="3545175"/>
            <a:ext cx="5931796" cy="318622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40" y="3488516"/>
            <a:ext cx="5680579" cy="32428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714" y="40978"/>
            <a:ext cx="10515600" cy="94151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HTML5 </a:t>
            </a:r>
            <a:r>
              <a:rPr lang="en-US" altLang="zh-CN" dirty="0" smtClean="0"/>
              <a:t>&lt;time&gt; </a:t>
            </a:r>
            <a:r>
              <a:rPr lang="en-US" altLang="zh-CN" dirty="0"/>
              <a:t>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666" y="1119059"/>
            <a:ext cx="11233365" cy="2148797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&lt;time&gt; tag defines a human-readable date/time.</a:t>
            </a:r>
            <a:endParaRPr lang="en-US" altLang="zh-CN" dirty="0"/>
          </a:p>
          <a:p>
            <a:pPr algn="just"/>
            <a:r>
              <a:rPr lang="en-US" altLang="zh-CN" dirty="0"/>
              <a:t>This element can also be used to encode dates and times in a machine-readable way so that user agents can offer to add birthday reminders or scheduled events to the user's calendar, and search engines can produce smarter search results.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908" y="4527847"/>
            <a:ext cx="7323809" cy="14285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08" y="3474042"/>
            <a:ext cx="7123809" cy="84761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9607" y="6282525"/>
            <a:ext cx="11143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FF00"/>
                </a:solidFill>
                <a:latin typeface="Verdana" panose="020B0604030504040204" pitchFamily="34" charset="0"/>
              </a:rPr>
              <a:t>Hint: the </a:t>
            </a:r>
            <a:r>
              <a:rPr lang="en-US" altLang="zh-CN" dirty="0" err="1" smtClean="0">
                <a:solidFill>
                  <a:srgbClr val="FFFF00"/>
                </a:solidFill>
                <a:latin typeface="Verdana" panose="020B0604030504040204" pitchFamily="34" charset="0"/>
              </a:rPr>
              <a:t>datetime</a:t>
            </a:r>
            <a:r>
              <a:rPr lang="en-US" altLang="zh-CN" dirty="0" smtClean="0">
                <a:solidFill>
                  <a:srgbClr val="FFFF00"/>
                </a:solidFill>
                <a:latin typeface="Verdana" panose="020B0604030504040204" pitchFamily="34" charset="0"/>
              </a:rPr>
              <a:t> attribute represents </a:t>
            </a:r>
            <a:r>
              <a:rPr lang="en-US" altLang="zh-CN" dirty="0">
                <a:solidFill>
                  <a:srgbClr val="FFFF00"/>
                </a:solidFill>
                <a:latin typeface="Verdana" panose="020B0604030504040204" pitchFamily="34" charset="0"/>
              </a:rPr>
              <a:t>a machine-readable date/time of the &lt;time&gt; element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713" y="392860"/>
            <a:ext cx="10515600" cy="941516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HTML5 </a:t>
            </a:r>
            <a:r>
              <a:rPr lang="en-US" altLang="zh-CN" dirty="0" smtClean="0"/>
              <a:t>&lt;mark&gt; </a:t>
            </a:r>
            <a:r>
              <a:rPr lang="en-US" altLang="zh-CN" dirty="0"/>
              <a:t>Element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617" y="1691103"/>
            <a:ext cx="11233365" cy="1526704"/>
          </a:xfrm>
        </p:spPr>
        <p:txBody>
          <a:bodyPr>
            <a:normAutofit/>
          </a:bodyPr>
          <a:lstStyle/>
          <a:p>
            <a:r>
              <a:rPr lang="en-US" altLang="zh-CN" dirty="0"/>
              <a:t>The &lt;mark&gt; tag defines marked text.</a:t>
            </a:r>
            <a:endParaRPr lang="en-US" altLang="zh-CN" dirty="0"/>
          </a:p>
          <a:p>
            <a:r>
              <a:rPr lang="en-US" altLang="zh-CN" dirty="0"/>
              <a:t>Use the &lt;mark&gt; tag if you want to highlight parts of your text.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085" y="4678466"/>
            <a:ext cx="6142857" cy="6380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28" y="3574535"/>
            <a:ext cx="4847619" cy="3904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73597"/>
            <a:ext cx="10515600" cy="941516"/>
          </a:xfrm>
        </p:spPr>
        <p:txBody>
          <a:bodyPr/>
          <a:lstStyle/>
          <a:p>
            <a:pPr algn="ctr"/>
            <a:r>
              <a:rPr lang="en-US" altLang="zh-CN" dirty="0"/>
              <a:t>Why Semantic HTML5 Elements?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327" y="1350910"/>
            <a:ext cx="10515600" cy="4802551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dirty="0"/>
              <a:t>With HTML4, developers used their own favorite attribute names to style page elements : header, top, bottom, footer, menu, navigation, main, container, content, article, sidebar, topnav, ... This made it impossible for search engines to identify the correct web page content.</a:t>
            </a:r>
            <a:endParaRPr lang="en-US" altLang="zh-CN" dirty="0"/>
          </a:p>
          <a:p>
            <a:pPr algn="just">
              <a:lnSpc>
                <a:spcPct val="110000"/>
              </a:lnSpc>
            </a:pPr>
            <a:r>
              <a:rPr lang="en-US" altLang="zh-CN" dirty="0"/>
              <a:t>With HTML5 elements like: &lt;header&gt; &lt;footer&gt; &lt;nav&gt; &lt;section&gt; &lt;article&gt;, this will become easier.</a:t>
            </a:r>
            <a:endParaRPr lang="en-US" altLang="zh-CN" dirty="0"/>
          </a:p>
          <a:p>
            <a:pPr algn="just">
              <a:lnSpc>
                <a:spcPct val="110000"/>
              </a:lnSpc>
            </a:pPr>
            <a:r>
              <a:rPr lang="en-US" altLang="zh-CN" dirty="0"/>
              <a:t>A Semantic Web allows data to be shared and reused across applications, enterprises, and communities.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6729"/>
          </a:xfrm>
        </p:spPr>
        <p:txBody>
          <a:bodyPr/>
          <a:lstStyle/>
          <a:p>
            <a:pPr algn="ctr"/>
            <a:r>
              <a:rPr lang="en-US" altLang="zh-CN" dirty="0"/>
              <a:t>Semantic Elements in HTML5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1543" y="1460393"/>
            <a:ext cx="10515600" cy="490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Below is an alphabetical list of the new semantic elements in HTML5.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510" y="2169888"/>
            <a:ext cx="7612979" cy="445755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HTML5 Migration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273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Migration from HTML4 to HTML5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199" y="1518301"/>
            <a:ext cx="10831643" cy="1022532"/>
          </a:xfrm>
        </p:spPr>
        <p:txBody>
          <a:bodyPr>
            <a:noAutofit/>
          </a:bodyPr>
          <a:lstStyle/>
          <a:p>
            <a:r>
              <a:rPr lang="en-US" altLang="zh-CN" sz="3200" dirty="0" smtClean="0">
                <a:solidFill>
                  <a:srgbClr val="FFFF00"/>
                </a:solidFill>
              </a:rPr>
              <a:t>how </a:t>
            </a:r>
            <a:r>
              <a:rPr lang="en-US" altLang="zh-CN" sz="3200" dirty="0">
                <a:solidFill>
                  <a:srgbClr val="FFFF00"/>
                </a:solidFill>
              </a:rPr>
              <a:t>to migrate from a typical HTML4 page to a typical HTML5 page</a:t>
            </a:r>
            <a:r>
              <a:rPr lang="en-US" altLang="zh-CN" sz="3200" dirty="0" smtClean="0">
                <a:solidFill>
                  <a:srgbClr val="FFFF00"/>
                </a:solidFill>
              </a:rPr>
              <a:t>.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326" y="3788550"/>
            <a:ext cx="8991348" cy="24938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 Typical HTML4 Page</a:t>
            </a:r>
            <a:endParaRPr lang="zh-CN" altLang="en-US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838200" y="1448552"/>
            <a:ext cx="10515600" cy="5027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Example:</a:t>
            </a:r>
            <a:endParaRPr lang="zh-CN" altLang="en-US" sz="29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62" y="2126425"/>
            <a:ext cx="6425266" cy="43309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427" y="2093431"/>
            <a:ext cx="5424158" cy="43639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A Typical HTML4 Page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5779" y="1376312"/>
            <a:ext cx="5820441" cy="530896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Doctype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641247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</a:t>
            </a:r>
            <a:r>
              <a:rPr lang="en-US" altLang="zh-CN" sz="2900" dirty="0">
                <a:solidFill>
                  <a:srgbClr val="FFFF00"/>
                </a:solidFill>
              </a:rPr>
              <a:t>doctype</a:t>
            </a:r>
            <a:r>
              <a:rPr lang="en-US" altLang="zh-CN" sz="2900" dirty="0"/>
              <a:t>, from the HTML4 doctype:</a:t>
            </a:r>
            <a:endParaRPr lang="zh-CN" altLang="en-US" sz="29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38" y="2684521"/>
            <a:ext cx="10820400" cy="304800"/>
          </a:xfrm>
          <a:prstGeom prst="rect">
            <a:avLst/>
          </a:prstGeom>
        </p:spPr>
      </p:pic>
      <p:sp>
        <p:nvSpPr>
          <p:cNvPr id="8" name="内容占位符 4"/>
          <p:cNvSpPr txBox="1"/>
          <p:nvPr/>
        </p:nvSpPr>
        <p:spPr>
          <a:xfrm>
            <a:off x="770238" y="3727795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the HTML5 doctype: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38" y="5091615"/>
            <a:ext cx="21145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Encoding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641247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</a:t>
            </a:r>
            <a:r>
              <a:rPr lang="en-US" altLang="zh-CN" sz="2900" dirty="0">
                <a:solidFill>
                  <a:srgbClr val="FFFF00"/>
                </a:solidFill>
              </a:rPr>
              <a:t>encoding </a:t>
            </a:r>
            <a:r>
              <a:rPr lang="en-US" altLang="zh-CN" sz="2900" dirty="0"/>
              <a:t>information, from HTML4:</a:t>
            </a:r>
            <a:endParaRPr lang="zh-CN" altLang="en-US" sz="2900" dirty="0"/>
          </a:p>
        </p:txBody>
      </p:sp>
      <p:sp>
        <p:nvSpPr>
          <p:cNvPr id="8" name="内容占位符 4"/>
          <p:cNvSpPr txBox="1"/>
          <p:nvPr/>
        </p:nvSpPr>
        <p:spPr>
          <a:xfrm>
            <a:off x="770238" y="3445349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HTML5: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489" y="2684521"/>
            <a:ext cx="7134225" cy="342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89" y="4488623"/>
            <a:ext cx="2647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Add CSS for HTML5 Semantic Elements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Look at your existing CSS styles: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62569"/>
            <a:ext cx="977265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Add CSS for HTML5 Semantic Elements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Duplicate with equal CSS styles for HTML5 semantic elements: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38757"/>
            <a:ext cx="973455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&lt;header&gt; and &lt;footer&gt;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&lt;div&gt; elements with </a:t>
            </a:r>
            <a:r>
              <a:rPr lang="en-US" altLang="zh-CN" sz="2900" dirty="0">
                <a:solidFill>
                  <a:srgbClr val="FFFF00"/>
                </a:solidFill>
              </a:rPr>
              <a:t>id="header" </a:t>
            </a:r>
            <a:r>
              <a:rPr lang="en-US" altLang="zh-CN" sz="2900" dirty="0"/>
              <a:t>and </a:t>
            </a:r>
            <a:r>
              <a:rPr lang="en-US" altLang="zh-CN" sz="2900" dirty="0">
                <a:solidFill>
                  <a:srgbClr val="FFFF00"/>
                </a:solidFill>
              </a:rPr>
              <a:t>id="footer"</a:t>
            </a:r>
            <a:r>
              <a:rPr lang="en-US" altLang="zh-CN" sz="2900" dirty="0"/>
              <a:t>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770238" y="4152048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HTML5 semantic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&lt;header&gt;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and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&lt;footer&gt;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elements: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833" y="2162111"/>
            <a:ext cx="4691544" cy="18854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33" y="4823319"/>
            <a:ext cx="4726040" cy="196851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&lt;nav&gt;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&lt;div&gt; element with </a:t>
            </a:r>
            <a:r>
              <a:rPr lang="en-US" altLang="zh-CN" sz="2900" dirty="0">
                <a:solidFill>
                  <a:srgbClr val="FFFF00"/>
                </a:solidFill>
              </a:rPr>
              <a:t>id="menu"</a:t>
            </a:r>
            <a:r>
              <a:rPr lang="en-US" altLang="zh-CN" sz="2900" dirty="0"/>
              <a:t>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770238" y="4152048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an HTML5 semantic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&lt;nav&gt;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element: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3450" y="2147576"/>
            <a:ext cx="2705100" cy="1914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125" y="4677805"/>
            <a:ext cx="240982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&lt;section&gt;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&lt;div&gt; element with </a:t>
            </a:r>
            <a:r>
              <a:rPr lang="en-US" altLang="zh-CN" sz="2900" dirty="0">
                <a:solidFill>
                  <a:srgbClr val="FFFF00"/>
                </a:solidFill>
              </a:rPr>
              <a:t>id="content"</a:t>
            </a:r>
            <a:r>
              <a:rPr lang="en-US" altLang="zh-CN" sz="2900" dirty="0"/>
              <a:t>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770238" y="4152048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an HTML5 semantic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&lt;section&gt;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element: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187" y="2414276"/>
            <a:ext cx="2333625" cy="13811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49" y="4967827"/>
            <a:ext cx="163830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&lt;article&gt;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Change the &lt;div&gt; element with </a:t>
            </a:r>
            <a:r>
              <a:rPr lang="en-US" altLang="zh-CN" sz="2900" dirty="0">
                <a:solidFill>
                  <a:srgbClr val="FFFF00"/>
                </a:solidFill>
              </a:rPr>
              <a:t>class="post"</a:t>
            </a:r>
            <a:r>
              <a:rPr lang="en-US" altLang="zh-CN" sz="2900" dirty="0"/>
              <a:t>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770238" y="4152048"/>
            <a:ext cx="10515600" cy="625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to HTML5 semantic 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&lt;article&gt;</a:t>
            </a:r>
            <a:r>
              <a:rPr kumimoji="0" lang="en-US" altLang="zh-CN" sz="2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rPr>
              <a:t> elements:</a:t>
            </a:r>
            <a:endParaRPr kumimoji="0" lang="zh-CN" altLang="en-US" sz="2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162" y="2433326"/>
            <a:ext cx="8829675" cy="1343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5153091"/>
            <a:ext cx="88011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Change to HTML5 &lt;article&gt;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Remove these "no longer needed" &lt;style&gt; elements: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575" y="2266593"/>
            <a:ext cx="968692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A Typical HTML5 Page</a:t>
            </a:r>
            <a:endParaRPr lang="en-US" altLang="zh-CN" dirty="0"/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770238" y="1432283"/>
            <a:ext cx="10515600" cy="6253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900" dirty="0"/>
              <a:t>Finally you can remove the &lt;head&gt; tags. They are not needed in HTML5:</a:t>
            </a:r>
            <a:endParaRPr lang="zh-CN" altLang="en-US" sz="2900" dirty="0">
              <a:solidFill>
                <a:srgbClr val="FFFF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38" y="1894676"/>
            <a:ext cx="4216541" cy="48444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623" y="1919991"/>
            <a:ext cx="5870215" cy="467233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A Typical HTML5 Page</a:t>
            </a: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362" y="1458159"/>
            <a:ext cx="8677275" cy="469582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HTML5 Style Guide and Coding Conventions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HTML Coding Conventions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Web developers are often uncertain about the coding style and syntax to use in HTML.</a:t>
            </a:r>
            <a:endParaRPr lang="en-US" altLang="zh-CN" dirty="0"/>
          </a:p>
          <a:p>
            <a:r>
              <a:rPr lang="en-US" altLang="zh-CN" dirty="0"/>
              <a:t>Between 2000 and 2010, many web developers converted from HTML to XHTML.</a:t>
            </a:r>
            <a:endParaRPr lang="en-US" altLang="zh-CN" dirty="0"/>
          </a:p>
          <a:p>
            <a:r>
              <a:rPr lang="en-US" altLang="zh-CN" dirty="0"/>
              <a:t>With XHTML, developers were forced to write valid and "well-formed" code.</a:t>
            </a:r>
            <a:endParaRPr lang="en-US" altLang="zh-CN" dirty="0"/>
          </a:p>
          <a:p>
            <a:r>
              <a:rPr lang="en-US" altLang="zh-CN" dirty="0"/>
              <a:t>HTML5 is a bit more sloppy when it comes to code validation.</a:t>
            </a:r>
            <a:endParaRPr lang="en-US" altLang="zh-CN" dirty="0"/>
          </a:p>
          <a:p>
            <a:r>
              <a:rPr lang="en-US" altLang="zh-CN" dirty="0"/>
              <a:t>With HTML5, you must create your own </a:t>
            </a:r>
            <a:r>
              <a:rPr lang="en-US" altLang="zh-CN" b="1" dirty="0"/>
              <a:t>Best Practice, Style Guide and Coding Conventions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Why use Style?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 </a:t>
            </a:r>
            <a:r>
              <a:rPr lang="en-US" altLang="zh-CN" dirty="0"/>
              <a:t>consequent use of style, makes it easier for others to understand and use your HTML.</a:t>
            </a:r>
            <a:endParaRPr lang="en-US" altLang="zh-CN" dirty="0"/>
          </a:p>
          <a:p>
            <a:r>
              <a:rPr lang="en-US" altLang="zh-CN" dirty="0"/>
              <a:t>In the future, programs like XML readers, may want to read your HTML.</a:t>
            </a:r>
            <a:endParaRPr lang="en-US" altLang="zh-CN" dirty="0"/>
          </a:p>
          <a:p>
            <a:r>
              <a:rPr lang="en-US" altLang="zh-CN" dirty="0"/>
              <a:t>Using a well-formed "close to XHTML" syntax, can be smart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FF00"/>
                </a:solidFill>
              </a:rPr>
              <a:t>Always keep your style smart, tidy, clean, and well-formed.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Use Correct Document Type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Always declare the document type as the first line in your document: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633" y="2320098"/>
            <a:ext cx="5270241" cy="10810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91915" y="3649633"/>
            <a:ext cx="107029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FF00"/>
                </a:solidFill>
                <a:latin typeface="Verdana" panose="020B0604030504040204" pitchFamily="34" charset="0"/>
              </a:rPr>
              <a:t>If </a:t>
            </a:r>
            <a:r>
              <a:rPr lang="en-US" altLang="zh-CN" sz="2800" dirty="0">
                <a:solidFill>
                  <a:srgbClr val="FFFF00"/>
                </a:solidFill>
              </a:rPr>
              <a:t>you</a:t>
            </a:r>
            <a:r>
              <a:rPr lang="en-US" altLang="zh-CN" sz="2800" dirty="0">
                <a:solidFill>
                  <a:srgbClr val="FFFF00"/>
                </a:solidFill>
                <a:latin typeface="Verdana" panose="020B0604030504040204" pitchFamily="34" charset="0"/>
              </a:rPr>
              <a:t> want consistency with lower case tags, you can use: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58" y="5003974"/>
            <a:ext cx="5080148" cy="827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Use Lower Case Element Names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HTML5 allows mixing uppercase and lowercase letters in element names.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We recommend using lowercase element names:</a:t>
            </a:r>
            <a:endParaRPr lang="en-US" altLang="zh-CN" dirty="0"/>
          </a:p>
          <a:p>
            <a:pPr algn="just"/>
            <a:r>
              <a:rPr lang="en-US" altLang="zh-CN" dirty="0"/>
              <a:t>Mixing uppercase and lowercase names is bad</a:t>
            </a:r>
            <a:endParaRPr lang="en-US" altLang="zh-CN" dirty="0"/>
          </a:p>
          <a:p>
            <a:pPr algn="just"/>
            <a:r>
              <a:rPr lang="en-US" altLang="zh-CN" dirty="0"/>
              <a:t>Developers are used to using lowercase names (as in XHTML)</a:t>
            </a:r>
            <a:endParaRPr lang="en-US" altLang="zh-CN" dirty="0"/>
          </a:p>
          <a:p>
            <a:pPr algn="just"/>
            <a:r>
              <a:rPr lang="en-US" altLang="zh-CN" dirty="0"/>
              <a:t>Lowercase look cleaner</a:t>
            </a:r>
            <a:endParaRPr lang="en-US" altLang="zh-CN" dirty="0"/>
          </a:p>
          <a:p>
            <a:pPr algn="just"/>
            <a:r>
              <a:rPr lang="en-US" altLang="zh-CN" dirty="0"/>
              <a:t>Lowercase are easier to write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Use Lower Case Element Names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284189"/>
            <a:ext cx="4656223" cy="37036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038" y="2526838"/>
            <a:ext cx="5263288" cy="210172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Close All HTML Elements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In HTML5, you don't have to close all elements (for example the &lt;p&gt; element).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We recommend closing all HTML elements: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	Looking bad: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	Looking good: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779" y="3041258"/>
            <a:ext cx="4064442" cy="12685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779" y="4948200"/>
            <a:ext cx="4064442" cy="12685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Close Empty HTML Elements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altLang="zh-CN" dirty="0"/>
              <a:t>In HTML5, it is optional to close empty elements.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This is allowed: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This is also allowed: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The slash (/) is required in XHTML and XML.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If you expect XML software to access your page, it might be a good idea to keep it.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304" y="2537079"/>
            <a:ext cx="3107393" cy="4786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403" y="3655304"/>
            <a:ext cx="3103195" cy="47868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Use Lower Case Attribute Names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HTML5 allows mixing uppercase and lowercase letters in attribute names.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We recommend using lowercase attribute names:</a:t>
            </a:r>
            <a:endParaRPr lang="en-US" altLang="zh-CN" dirty="0"/>
          </a:p>
          <a:p>
            <a:pPr algn="just"/>
            <a:r>
              <a:rPr lang="en-US" altLang="zh-CN" dirty="0"/>
              <a:t>Mixing uppercase and lowercase names is bad</a:t>
            </a:r>
            <a:endParaRPr lang="en-US" altLang="zh-CN" dirty="0"/>
          </a:p>
          <a:p>
            <a:pPr algn="just"/>
            <a:r>
              <a:rPr lang="en-US" altLang="zh-CN" dirty="0"/>
              <a:t>Developers are used to using lowercase names (as in XHTML)</a:t>
            </a:r>
            <a:endParaRPr lang="en-US" altLang="zh-CN" dirty="0"/>
          </a:p>
          <a:p>
            <a:pPr algn="just"/>
            <a:r>
              <a:rPr lang="en-US" altLang="zh-CN" dirty="0"/>
              <a:t>Lowercase look cleaner</a:t>
            </a:r>
            <a:endParaRPr lang="en-US" altLang="zh-CN" dirty="0"/>
          </a:p>
          <a:p>
            <a:pPr algn="just"/>
            <a:r>
              <a:rPr lang="en-US" altLang="zh-CN" dirty="0"/>
              <a:t>Lowercase are easier to write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Use Lower Case Attribute Names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	Looking bad: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	Looking good: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6615" y="3106345"/>
            <a:ext cx="3338770" cy="6453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15" y="4681864"/>
            <a:ext cx="3338769" cy="69649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Quote Attribute Values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HTML5 allows attribute values without quotes.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We recommend quoting attribute values:</a:t>
            </a:r>
            <a:endParaRPr lang="en-US" altLang="zh-CN" dirty="0"/>
          </a:p>
          <a:p>
            <a:pPr algn="just"/>
            <a:r>
              <a:rPr lang="en-US" altLang="zh-CN" dirty="0"/>
              <a:t>You have to use quotes if the value contains spaces</a:t>
            </a:r>
            <a:endParaRPr lang="en-US" altLang="zh-CN" dirty="0"/>
          </a:p>
          <a:p>
            <a:pPr algn="just"/>
            <a:r>
              <a:rPr lang="en-US" altLang="zh-CN" dirty="0"/>
              <a:t>Mixing styles is never good</a:t>
            </a:r>
            <a:endParaRPr lang="en-US" altLang="zh-CN" dirty="0"/>
          </a:p>
          <a:p>
            <a:pPr algn="just"/>
            <a:r>
              <a:rPr lang="en-US" altLang="zh-CN" dirty="0"/>
              <a:t>Quoted values are easier to read</a:t>
            </a: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Quote Attribute Values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Example: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  This will not work, because the value contains spaces: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  This will work: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9437" y="3260492"/>
            <a:ext cx="5173126" cy="5820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37" y="4764077"/>
            <a:ext cx="5173126" cy="58209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Image Attributes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80873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/>
              <a:t>Always use the </a:t>
            </a:r>
            <a:r>
              <a:rPr lang="en-US" altLang="zh-CN" sz="3000" b="1" dirty="0"/>
              <a:t>alt</a:t>
            </a:r>
            <a:r>
              <a:rPr lang="en-US" altLang="zh-CN" sz="3000" dirty="0"/>
              <a:t> attribute with images. It is important when the image cannot be viewed.</a:t>
            </a:r>
            <a:endParaRPr lang="en-US" altLang="zh-CN" sz="3000" dirty="0"/>
          </a:p>
          <a:p>
            <a:pPr marL="0" indent="0" algn="just">
              <a:lnSpc>
                <a:spcPct val="120000"/>
              </a:lnSpc>
              <a:buNone/>
            </a:pPr>
            <a:endParaRPr lang="en-US" altLang="zh-CN" dirty="0"/>
          </a:p>
          <a:p>
            <a:pPr marL="0" indent="0" algn="just">
              <a:lnSpc>
                <a:spcPct val="120000"/>
              </a:lnSpc>
              <a:buNone/>
            </a:pPr>
            <a:endParaRPr lang="en-US" altLang="zh-CN" sz="3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/>
              <a:t>Always define image size. It reduces flickering because the browser can reserve space for images before they are loaded</a:t>
            </a:r>
            <a:r>
              <a:rPr lang="en-US" altLang="zh-CN" sz="3000" dirty="0" smtClean="0"/>
              <a:t>.</a:t>
            </a:r>
            <a:endParaRPr lang="en-US" altLang="zh-CN" dirty="0"/>
          </a:p>
          <a:p>
            <a:pPr marL="0" indent="0" algn="just">
              <a:lnSpc>
                <a:spcPct val="120000"/>
              </a:lnSpc>
              <a:buNone/>
            </a:pPr>
            <a:endParaRPr lang="en-US" altLang="zh-CN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dirty="0"/>
              <a:t>  </a:t>
            </a:r>
            <a:endParaRPr lang="en-US" altLang="zh-CN" dirty="0"/>
          </a:p>
          <a:p>
            <a:pPr marL="0" indent="0" algn="just">
              <a:lnSpc>
                <a:spcPct val="120000"/>
              </a:lnSpc>
              <a:buNone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256" y="2834271"/>
            <a:ext cx="8561488" cy="6179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56" y="5440867"/>
            <a:ext cx="8561488" cy="61794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Spaces and Equal </a:t>
            </a:r>
            <a:r>
              <a:rPr lang="en-US" altLang="zh-CN" dirty="0" smtClean="0"/>
              <a:t>Signs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30795"/>
          </a:xfrm>
        </p:spPr>
        <p:txBody>
          <a:bodyPr/>
          <a:lstStyle/>
          <a:p>
            <a:r>
              <a:rPr lang="en-US" altLang="zh-CN" dirty="0"/>
              <a:t>Spaces around equal signs is legal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But space-less is easier to read, and groups entities better together: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429" y="2751343"/>
            <a:ext cx="8349797" cy="7488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28" y="4724037"/>
            <a:ext cx="8349797" cy="73238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Avoid Long Code Lines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906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dirty="0"/>
              <a:t>When using an HTML editor, it is inconvenient to scroll right and left to read the HTML code.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Try to avoid code lines longer than </a:t>
            </a:r>
            <a:r>
              <a:rPr lang="en-US" altLang="zh-CN" dirty="0">
                <a:solidFill>
                  <a:srgbClr val="FFFF00"/>
                </a:solidFill>
              </a:rPr>
              <a:t>80</a:t>
            </a:r>
            <a:r>
              <a:rPr lang="en-US" altLang="zh-CN" dirty="0"/>
              <a:t> characters.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  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0238" y="265670"/>
            <a:ext cx="10515600" cy="957649"/>
          </a:xfrm>
        </p:spPr>
        <p:txBody>
          <a:bodyPr/>
          <a:lstStyle/>
          <a:p>
            <a:pPr algn="ctr"/>
            <a:r>
              <a:rPr lang="en-US" altLang="zh-CN" dirty="0"/>
              <a:t>Blank Lines and Indentation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9063"/>
            <a:ext cx="10515600" cy="332400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dirty="0"/>
              <a:t>Do not add blank lines without a </a:t>
            </a:r>
            <a:r>
              <a:rPr lang="en-US" altLang="zh-CN"/>
              <a:t>reason</a:t>
            </a:r>
            <a:r>
              <a:rPr lang="en-US" altLang="zh-CN" smtClean="0"/>
              <a:t>.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For readability, add blank lines to separate large or logical code </a:t>
            </a:r>
            <a:r>
              <a:rPr lang="en-US" altLang="zh-CN"/>
              <a:t>blocks</a:t>
            </a:r>
            <a:r>
              <a:rPr lang="en-US" altLang="zh-CN" smtClean="0"/>
              <a:t>.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For readability, add 2 spaces of indentation. Do not use </a:t>
            </a:r>
            <a:r>
              <a:rPr lang="en-US" altLang="zh-CN"/>
              <a:t>TAB</a:t>
            </a:r>
            <a:r>
              <a:rPr lang="en-US" altLang="zh-CN" smtClean="0"/>
              <a:t>.</a:t>
            </a:r>
            <a:endParaRPr lang="en-US" altLang="zh-CN" dirty="0"/>
          </a:p>
          <a:p>
            <a:pPr algn="just">
              <a:lnSpc>
                <a:spcPct val="110000"/>
              </a:lnSpc>
            </a:pPr>
            <a:r>
              <a:rPr lang="en-US" altLang="zh-CN" dirty="0"/>
              <a:t>Do not use unnecessary blank lines and indentation. It is not necessary to use blank lines between short and related items. It is not necessary to indent every </a:t>
            </a:r>
            <a:r>
              <a:rPr lang="en-US" altLang="zh-CN"/>
              <a:t>element</a:t>
            </a:r>
            <a:r>
              <a:rPr lang="en-US" altLang="zh-CN" smtClean="0"/>
              <a:t>:</a:t>
            </a:r>
            <a:endParaRPr lang="en-US" altLang="zh-C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0808"/>
            <a:ext cx="10515600" cy="963226"/>
          </a:xfrm>
        </p:spPr>
        <p:txBody>
          <a:bodyPr/>
          <a:lstStyle/>
          <a:p>
            <a:pPr algn="ctr"/>
            <a:r>
              <a:rPr lang="en-US" altLang="zh-CN" dirty="0"/>
              <a:t>Blank Lines and Indentation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8318" y="1264034"/>
            <a:ext cx="10515600" cy="7940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/>
              <a:t>Example: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382" y="1720703"/>
            <a:ext cx="4518003" cy="26011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82" y="4535586"/>
            <a:ext cx="4518003" cy="211675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340" y="1665289"/>
            <a:ext cx="3555249" cy="285718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339" y="4923731"/>
            <a:ext cx="3555249" cy="170728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Omitting &lt;html&gt; and &lt;body&gt;?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8606"/>
            <a:ext cx="10515600" cy="1536281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dirty="0"/>
              <a:t>In the HTML5 standard, the &lt;html&gt; tag and the &lt;body&gt; tag can be omitted.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The following code will validate as HTML5: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079" y="3055144"/>
            <a:ext cx="4590402" cy="26042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360" y="3429000"/>
            <a:ext cx="3368332" cy="159271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Omitting &lt;html&gt; and &lt;body&gt;?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8606"/>
            <a:ext cx="10515600" cy="4909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sz="2400" b="1" dirty="0"/>
              <a:t>We do not recommend omitting the &lt;html&gt; and &lt;body&gt; tags.</a:t>
            </a:r>
            <a:endParaRPr lang="en-US" altLang="zh-CN" sz="2400" b="1" dirty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/>
              <a:t>The &lt;html&gt; element is the document root. It is the recommended place for specifying the page language:</a:t>
            </a: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/>
              <a:t>Declaring a language is important for accessibility applications (screen readers) and search engines.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/>
              <a:t>Omitting &lt;html&gt; or &lt;body&gt; can crash DOM and XML software.</a:t>
            </a:r>
            <a:endParaRPr lang="en-US" altLang="zh-CN" sz="2400" dirty="0"/>
          </a:p>
          <a:p>
            <a:pPr marL="0" indent="0" algn="just">
              <a:buNone/>
            </a:pPr>
            <a:r>
              <a:rPr lang="en-US" altLang="zh-CN" sz="2400" dirty="0"/>
              <a:t>Omitting &lt;body&gt; can produce errors in older browsers (IE9).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363" y="3010061"/>
            <a:ext cx="4673274" cy="105525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Omitting &lt;head&gt; 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8606"/>
            <a:ext cx="10515600" cy="4909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dirty="0"/>
              <a:t>In the HTML5 standard, the &lt;head&gt; tag can also be omitted.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By default, browsers will add all elements before &lt;body&gt;, to a default &lt;head&gt; element.</a:t>
            </a: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You can reduce the complexity of HTML, by omitting the &lt;head&gt; tag:</a:t>
            </a:r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456"/>
            <a:ext cx="10515600" cy="1099150"/>
          </a:xfrm>
        </p:spPr>
        <p:txBody>
          <a:bodyPr/>
          <a:lstStyle/>
          <a:p>
            <a:pPr algn="ctr"/>
            <a:r>
              <a:rPr lang="en-US" altLang="zh-CN" dirty="0"/>
              <a:t>Omitting &lt;head&gt; 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8606"/>
            <a:ext cx="10515600" cy="4909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endParaRPr lang="en-US" altLang="zh-CN" dirty="0"/>
          </a:p>
          <a:p>
            <a:pPr marL="0" indent="0" algn="just">
              <a:buNone/>
            </a:pPr>
            <a:r>
              <a:rPr lang="en-US" altLang="zh-CN" dirty="0">
                <a:solidFill>
                  <a:srgbClr val="FFFF00"/>
                </a:solidFill>
              </a:rPr>
              <a:t>Omitting tags is unfamiliar to web developers. It needs time to be established as a guideline.</a:t>
            </a:r>
            <a:endParaRPr lang="en-US" altLang="zh-CN" dirty="0">
              <a:solidFill>
                <a:srgbClr val="FFFF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977" y="1427713"/>
            <a:ext cx="4473328" cy="30787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697" y="1691489"/>
            <a:ext cx="3589331" cy="173751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3*a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</p:tagLst>
</file>

<file path=ppt/tags/tag66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5_13*f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  <p:tag name="KSO_WM_SLIDE_ID" val="custom20205175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68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3*a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</p:tagLst>
</file>

<file path=ppt/tags/tag69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5_13*f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  <p:tag name="KSO_WM_SLIDE_ID" val="custom20205175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71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3*a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</p:tagLst>
</file>

<file path=ppt/tags/tag72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5_13*f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  <p:tag name="KSO_WM_SLIDE_ID" val="custom20205175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74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3*a*1"/>
  <p:tag name="KSO_WM_TEMPLATE_CATEGORY" val="custom"/>
  <p:tag name="KSO_WM_TEMPLATE_INDEX" val="20205175"/>
  <p:tag name="KSO_WM_UNIT_LAYERLEVEL" val="1"/>
  <p:tag name="KSO_WM_TAG_VERSION" val="1.0"/>
  <p:tag name="KSO_WM_BEAUTIFY_FLAG" val="#wm#"/>
  <p:tag name="KSO_WM_UNIT_ISNUMDGMTITLE" val="0"/>
</p:tagLst>
</file>

<file path=ppt/tags/tag75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5_13*f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TABLE_BEAUTIFY" val="smartTable{5c1d1e9b-f06c-4ad4-acde-a678682f9ee0}"/>
  <p:tag name="TABLE_ENDDRAG_ORIGIN_RECT" val="671*347"/>
  <p:tag name="TABLE_ENDDRAG_RECT" val="144*150*671*347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  <p:tag name="KSO_WM_SLIDE_ID" val="custom20205175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ags/tag78.xml><?xml version="1.0" encoding="utf-8"?>
<p:tagLst xmlns:p="http://schemas.openxmlformats.org/presentationml/2006/main">
  <p:tag name="commondata" val="eyJoZGlkIjoiNWQyMzkyOWRjOGE1NzM3ODdhMDA3YmE1MDAyZWE4Mj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12048</Words>
  <Application>WPS 演示</Application>
  <PresentationFormat>宽屏</PresentationFormat>
  <Paragraphs>509</Paragraphs>
  <Slides>69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83" baseType="lpstr">
      <vt:lpstr>Arial</vt:lpstr>
      <vt:lpstr>宋体</vt:lpstr>
      <vt:lpstr>Wingdings</vt:lpstr>
      <vt:lpstr>微软雅黑</vt:lpstr>
      <vt:lpstr>Wingdings</vt:lpstr>
      <vt:lpstr>Calibri Light</vt:lpstr>
      <vt:lpstr>Calibri</vt:lpstr>
      <vt:lpstr>等线</vt:lpstr>
      <vt:lpstr>Arial Unicode MS</vt:lpstr>
      <vt:lpstr>Calibri</vt:lpstr>
      <vt:lpstr>Verdana</vt:lpstr>
      <vt:lpstr>等线 Light</vt:lpstr>
      <vt:lpstr>Office 主题​​</vt:lpstr>
      <vt:lpstr>Office Theme</vt:lpstr>
      <vt:lpstr>HTML5 Introduction</vt:lpstr>
      <vt:lpstr>What is New in HTML5?</vt:lpstr>
      <vt:lpstr>New HTML5 Elements</vt:lpstr>
      <vt:lpstr>New HTML5 API's</vt:lpstr>
      <vt:lpstr>Elements Removed in HTML5</vt:lpstr>
      <vt:lpstr>HTML5 New Elements</vt:lpstr>
      <vt:lpstr>New Semantic/Structural Elements</vt:lpstr>
      <vt:lpstr>New Semantic/Structural Elements</vt:lpstr>
      <vt:lpstr>New Form Elements</vt:lpstr>
      <vt:lpstr>New Input Types</vt:lpstr>
      <vt:lpstr>HTML5 Graphics</vt:lpstr>
      <vt:lpstr>New Media Elements</vt:lpstr>
      <vt:lpstr>HTML5 Semantic Elements</vt:lpstr>
      <vt:lpstr>What are Semantic Elements?</vt:lpstr>
      <vt:lpstr>New Semantic Elements in HTML5</vt:lpstr>
      <vt:lpstr>HTML5 &lt;section&gt; Element</vt:lpstr>
      <vt:lpstr>HTML5 &lt;section&gt; Element</vt:lpstr>
      <vt:lpstr>HTML5 &lt;section&gt; Element</vt:lpstr>
      <vt:lpstr>HTML5 &lt;article&gt; Element</vt:lpstr>
      <vt:lpstr>HTML5 &lt;article&gt; Element</vt:lpstr>
      <vt:lpstr>Nesting Semantic Elements</vt:lpstr>
      <vt:lpstr>HTML5 &lt;header&gt; Element</vt:lpstr>
      <vt:lpstr>HTML5 &lt;header&gt; Element</vt:lpstr>
      <vt:lpstr>HTML5 &lt;footer&gt; Element</vt:lpstr>
      <vt:lpstr>HTML5 &lt;footer&gt; Element</vt:lpstr>
      <vt:lpstr>HTML5 &lt;nav&gt; Element</vt:lpstr>
      <vt:lpstr>HTML5 &lt;aside&gt; Element</vt:lpstr>
      <vt:lpstr>HTML5 &lt;figure&gt; and &lt;figcaption&gt; Elements</vt:lpstr>
      <vt:lpstr>HTML5 &lt;main&gt; Element</vt:lpstr>
      <vt:lpstr>HTML5 &lt;time&gt; Element</vt:lpstr>
      <vt:lpstr>HTML5 &lt;mark&gt; Element</vt:lpstr>
      <vt:lpstr>Why Semantic HTML5 Elements?</vt:lpstr>
      <vt:lpstr>Semantic Elements in HTML5</vt:lpstr>
      <vt:lpstr>HTML5 Migration</vt:lpstr>
      <vt:lpstr>Migration from HTML4 to HTML5</vt:lpstr>
      <vt:lpstr>A Typical HTML4 Page</vt:lpstr>
      <vt:lpstr>A Typical HTML4 Page</vt:lpstr>
      <vt:lpstr>Change to HTML5 Doctype</vt:lpstr>
      <vt:lpstr>Change to HTML5 Encoding</vt:lpstr>
      <vt:lpstr>Add CSS for HTML5 Semantic Elements</vt:lpstr>
      <vt:lpstr>Add CSS for HTML5 Semantic Elements</vt:lpstr>
      <vt:lpstr>Change to HTML5 &lt;header&gt; and &lt;footer&gt;</vt:lpstr>
      <vt:lpstr>Change to HTML5 &lt;nav&gt;</vt:lpstr>
      <vt:lpstr>Change to HTML5 &lt;section&gt;</vt:lpstr>
      <vt:lpstr>Change to HTML5 &lt;article&gt;</vt:lpstr>
      <vt:lpstr>Change to HTML5 &lt;article&gt;</vt:lpstr>
      <vt:lpstr>A Typical HTML5 Page</vt:lpstr>
      <vt:lpstr>A Typical HTML5 Page</vt:lpstr>
      <vt:lpstr>HTML5 Style Guide and Coding Conventions</vt:lpstr>
      <vt:lpstr>HTML Coding Conventions</vt:lpstr>
      <vt:lpstr>Why use Style?</vt:lpstr>
      <vt:lpstr>Use Correct Document Type</vt:lpstr>
      <vt:lpstr>Use Lower Case Element Names</vt:lpstr>
      <vt:lpstr>Use Lower Case Element Names</vt:lpstr>
      <vt:lpstr>Close All HTML Elements</vt:lpstr>
      <vt:lpstr>Close Empty HTML Elements</vt:lpstr>
      <vt:lpstr>Use Lower Case Attribute Names</vt:lpstr>
      <vt:lpstr>Use Lower Case Attribute Names</vt:lpstr>
      <vt:lpstr>Quote Attribute Values</vt:lpstr>
      <vt:lpstr>Quote Attribute Values</vt:lpstr>
      <vt:lpstr>Image Attributes</vt:lpstr>
      <vt:lpstr>Spaces and Equal Signs</vt:lpstr>
      <vt:lpstr>Avoid Long Code Lines</vt:lpstr>
      <vt:lpstr>Blank Lines and Indentation</vt:lpstr>
      <vt:lpstr>Blank Lines and Indentation</vt:lpstr>
      <vt:lpstr>Omitting &lt;html&gt; and &lt;body&gt;?</vt:lpstr>
      <vt:lpstr>Omitting &lt;html&gt; and &lt;body&gt;?</vt:lpstr>
      <vt:lpstr>Omitting &lt;head&gt; ?</vt:lpstr>
      <vt:lpstr>Omitting &lt;head&gt;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Introduction</dc:title>
  <dc:creator/>
  <cp:lastModifiedBy>陈羽中</cp:lastModifiedBy>
  <cp:revision>347</cp:revision>
  <dcterms:created xsi:type="dcterms:W3CDTF">2019-06-19T02:08:00Z</dcterms:created>
  <dcterms:modified xsi:type="dcterms:W3CDTF">2025-04-03T00:03:29Z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EC03B006F6934597861163A6EC2C90E1_12</vt:lpwstr>
  </property>
</Properties>
</file>