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7"/>
  </p:notesMasterIdLst>
  <p:sldIdLst>
    <p:sldId id="272" r:id="rId4"/>
    <p:sldId id="273" r:id="rId5"/>
    <p:sldId id="287" r:id="rId6"/>
    <p:sldId id="290" r:id="rId7"/>
    <p:sldId id="291" r:id="rId8"/>
    <p:sldId id="294" r:id="rId9"/>
    <p:sldId id="295" r:id="rId10"/>
    <p:sldId id="297" r:id="rId11"/>
    <p:sldId id="299" r:id="rId12"/>
    <p:sldId id="300" r:id="rId13"/>
    <p:sldId id="301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24" r:id="rId27"/>
    <p:sldId id="325" r:id="rId28"/>
    <p:sldId id="326" r:id="rId29"/>
    <p:sldId id="327" r:id="rId30"/>
    <p:sldId id="328" r:id="rId31"/>
    <p:sldId id="334" r:id="rId32"/>
    <p:sldId id="336" r:id="rId33"/>
    <p:sldId id="341" r:id="rId34"/>
    <p:sldId id="342" r:id="rId35"/>
    <p:sldId id="343" r:id="rId36"/>
    <p:sldId id="345" r:id="rId38"/>
    <p:sldId id="346" r:id="rId39"/>
    <p:sldId id="347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60" r:id="rId48"/>
    <p:sldId id="361" r:id="rId49"/>
    <p:sldId id="362" r:id="rId50"/>
    <p:sldId id="363" r:id="rId51"/>
    <p:sldId id="364" r:id="rId52"/>
    <p:sldId id="366" r:id="rId53"/>
    <p:sldId id="367" r:id="rId54"/>
    <p:sldId id="369" r:id="rId55"/>
    <p:sldId id="370" r:id="rId56"/>
    <p:sldId id="375" r:id="rId57"/>
    <p:sldId id="380" r:id="rId58"/>
    <p:sldId id="384" r:id="rId59"/>
    <p:sldId id="385" r:id="rId60"/>
    <p:sldId id="386" r:id="rId61"/>
    <p:sldId id="388" r:id="rId62"/>
    <p:sldId id="393" r:id="rId63"/>
    <p:sldId id="396" r:id="rId64"/>
    <p:sldId id="400" r:id="rId65"/>
    <p:sldId id="401" r:id="rId66"/>
    <p:sldId id="402" r:id="rId67"/>
    <p:sldId id="403" r:id="rId68"/>
    <p:sldId id="404" r:id="rId69"/>
    <p:sldId id="412" r:id="rId70"/>
    <p:sldId id="413" r:id="rId71"/>
    <p:sldId id="414" r:id="rId72"/>
    <p:sldId id="415" r:id="rId73"/>
    <p:sldId id="417" r:id="rId74"/>
    <p:sldId id="418" r:id="rId75"/>
    <p:sldId id="420" r:id="rId76"/>
    <p:sldId id="421" r:id="rId77"/>
    <p:sldId id="425" r:id="rId78"/>
    <p:sldId id="426" r:id="rId79"/>
    <p:sldId id="427" r:id="rId80"/>
    <p:sldId id="428" r:id="rId81"/>
    <p:sldId id="429" r:id="rId82"/>
    <p:sldId id="430" r:id="rId83"/>
    <p:sldId id="431" r:id="rId84"/>
    <p:sldId id="436" r:id="rId85"/>
    <p:sldId id="437" r:id="rId86"/>
    <p:sldId id="432" r:id="rId87"/>
    <p:sldId id="433" r:id="rId88"/>
    <p:sldId id="434" r:id="rId89"/>
    <p:sldId id="435" r:id="rId90"/>
    <p:sldId id="441" r:id="rId91"/>
    <p:sldId id="442" r:id="rId92"/>
    <p:sldId id="443" r:id="rId93"/>
    <p:sldId id="444" r:id="rId94"/>
    <p:sldId id="445" r:id="rId95"/>
    <p:sldId id="256" r:id="rId96"/>
    <p:sldId id="257" r:id="rId97"/>
    <p:sldId id="258" r:id="rId98"/>
    <p:sldId id="259" r:id="rId99"/>
    <p:sldId id="260" r:id="rId100"/>
    <p:sldId id="261" r:id="rId101"/>
    <p:sldId id="262" r:id="rId102"/>
  </p:sldIdLst>
  <p:sldSz cx="12192000" cy="6858000"/>
  <p:notesSz cx="6858000" cy="9144000"/>
  <p:custDataLst>
    <p:tags r:id="rId10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29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6" Type="http://schemas.openxmlformats.org/officeDocument/2006/relationships/tags" Target="tags/tag1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7F1B8-9F3B-49AA-8FAA-F9E790E5C1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5B329-2E57-4B33-B06E-CECBC5CB75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C885F-4924-4CC3-B18A-3BEE8AF9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C885F-4924-4CC3-B18A-3BEE8AF9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570A2-0954-4BF2-AF24-69305F566B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AC7A9-B6A6-4DD5-A30B-BA970835F6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D7ED12-17D6-47CC-905B-E89188D11681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FB3DC9-4C5B-4D9F-84D5-E67E870660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5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0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JavaScript Strings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30132" y="150152"/>
            <a:ext cx="35317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JavaScript Strings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5677" y="1036982"/>
            <a:ext cx="100522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JavaScript string simply stores a series of characters like "John Doe". A string can be any text inside quotes. You can use single or double quotes: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319" y="2758244"/>
            <a:ext cx="4427173" cy="38391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494" y="3277626"/>
            <a:ext cx="2917728" cy="2546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JavaScript  String Methods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83747" y="251752"/>
            <a:ext cx="52245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Finding a String in a String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1291" y="1393299"/>
            <a:ext cx="106924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indexOf()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returns the index of (the position of) 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first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occurrence of a specified text in a string: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610" y="2842622"/>
            <a:ext cx="5609524" cy="35714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543" y="3190242"/>
            <a:ext cx="4395517" cy="22652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83746" y="94734"/>
            <a:ext cx="5224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Finding a String in a String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2108" y="801468"/>
            <a:ext cx="105279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lastIndexOf()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returns the index of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occurrence of a specified text in a 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</a:rPr>
              <a:t>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3" y="1810536"/>
            <a:ext cx="4828571" cy="34952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492" y="2603690"/>
            <a:ext cx="3957964" cy="210423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56503" y="5305774"/>
            <a:ext cx="103982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Both the indexOf(), and the lastIndexOf() methods return -1 if the text is not found. Both methods accept a second parameter as the starting position for the search.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428" y="6197174"/>
            <a:ext cx="5457143" cy="495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0527" y="233279"/>
            <a:ext cx="4390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Extracting String Parts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8891" y="1640374"/>
            <a:ext cx="99981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There are 3 methods for extracting a part of a string: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26853" y="2597132"/>
            <a:ext cx="58338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slice(start, end)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substring(start, end)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substr(start, length)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33952" y="113207"/>
            <a:ext cx="37240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slice()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2934" y="835582"/>
            <a:ext cx="1052795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slice()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extracts a part of a string and returns the extracted part in a new string. The method takes 2 parameters: the starting index (position), and the ending index (position). This example slices out a portion of a string from position 7 to position 13: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0285" y="2651464"/>
            <a:ext cx="4971429" cy="27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531" y="5602616"/>
            <a:ext cx="6904762" cy="11428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33952" y="122443"/>
            <a:ext cx="37240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slice()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4972" y="879871"/>
            <a:ext cx="105959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If you omit the second parameter, the method will slice out the rest of the string: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989" y="1653309"/>
            <a:ext cx="6083254" cy="34024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07" y="5269402"/>
            <a:ext cx="8245616" cy="1471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0759" y="205570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substring()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0897" y="1015935"/>
            <a:ext cx="10287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substring()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is similar to slice().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656" y="2251772"/>
            <a:ext cx="5666667" cy="28095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07" y="5232224"/>
            <a:ext cx="6961905" cy="11619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195889" y="2658478"/>
            <a:ext cx="344699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If you omit the second parameter, substring() will slice out the rest of the string.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05712" y="140916"/>
            <a:ext cx="3980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substr()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5567" y="969387"/>
            <a:ext cx="110171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substr()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is similar to slice(). The difference is that the second parameter specifies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of the extracted part. If you omit the second parameter,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substr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() will slice out the rest of the string.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52684" b="18085"/>
          <a:stretch>
            <a:fillRect/>
          </a:stretch>
        </p:blipFill>
        <p:spPr>
          <a:xfrm>
            <a:off x="975659" y="2621918"/>
            <a:ext cx="10240682" cy="15513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65720" r="82263" b="-150"/>
          <a:stretch>
            <a:fillRect/>
          </a:stretch>
        </p:blipFill>
        <p:spPr>
          <a:xfrm>
            <a:off x="3410438" y="4712323"/>
            <a:ext cx="5549064" cy="13001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656871" y="174254"/>
            <a:ext cx="48782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Replacing String Content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802" y="1205080"/>
            <a:ext cx="10472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replace()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replaces a specified value with another value in a string: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19" y="2645275"/>
            <a:ext cx="5352381" cy="35142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970" y="3081624"/>
            <a:ext cx="4067596" cy="8453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70" y="5102723"/>
            <a:ext cx="4067596" cy="852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34769" y="76261"/>
            <a:ext cx="7122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Converting to Upper and Lower Case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9412" y="1007915"/>
            <a:ext cx="108593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string is converted to upper case with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toUpperCase()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12" y="2082555"/>
            <a:ext cx="6893751" cy="42564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786" y="2082555"/>
            <a:ext cx="3738774" cy="19395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786" y="4281829"/>
            <a:ext cx="3736917" cy="19768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34768" y="131679"/>
            <a:ext cx="71224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Converting to Upper and Lower Case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3643" y="1143698"/>
            <a:ext cx="10506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string is converted to lower case with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toLowerCase()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88" y="2577860"/>
            <a:ext cx="6505920" cy="39035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36" y="2523679"/>
            <a:ext cx="3325267" cy="18011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136" y="4761048"/>
            <a:ext cx="3325267" cy="17203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4416" y="85497"/>
            <a:ext cx="40831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concat()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3678" y="1267119"/>
            <a:ext cx="5200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concat()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joins two or more strings: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13" y="2525771"/>
            <a:ext cx="6860370" cy="3430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859" y="3372071"/>
            <a:ext cx="4098633" cy="13358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54416" y="122444"/>
            <a:ext cx="40831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concat()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4654" y="1179383"/>
            <a:ext cx="106700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concat()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can be used instead of the plus operator. These two lines do the same: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936" y="2544098"/>
            <a:ext cx="8379320" cy="23551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443" y="5544482"/>
            <a:ext cx="8998399" cy="850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74742" y="270724"/>
            <a:ext cx="54425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Extracting String Characters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5812" y="1691984"/>
            <a:ext cx="101317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There are 2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safe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methods for extracting string characters: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6023" y="2441190"/>
            <a:ext cx="4069991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charAt(position)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charCodeAt(position)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28768" y="140916"/>
            <a:ext cx="41344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charAt()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8795" y="926054"/>
            <a:ext cx="102808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charAt()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returns the character at a specified index (position) in a string: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285" y="2009502"/>
            <a:ext cx="7311891" cy="27663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79" y="5077171"/>
            <a:ext cx="7801845" cy="16201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1455" y="184727"/>
            <a:ext cx="51090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charCodeAt() Method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7395" y="849316"/>
            <a:ext cx="98668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charCodeAt()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 returns the unicode of the character at a specified index in a string: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091" y="1993495"/>
            <a:ext cx="9243564" cy="28441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795" y="5222559"/>
            <a:ext cx="9206860" cy="14933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39720" y="159388"/>
            <a:ext cx="77125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Accessing a String as an Array is Unsafe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0514" y="1129252"/>
            <a:ext cx="107874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You might have seen code like this, accessing a string as an array: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9945" y="1876537"/>
            <a:ext cx="6471363" cy="152679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85417" y="3584481"/>
            <a:ext cx="51859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This is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unsafe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and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unpredictable: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2155" y="4268557"/>
            <a:ext cx="99650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It does not work in all browsers (not in IE5, IE6, IE7)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It makes strings look like arrays (but they are not)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str[0] = "H" does not give an error (but does not work)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52156" y="5950254"/>
            <a:ext cx="82018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If you want to read a string as an array, convert it to an array first.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6106" y="187097"/>
            <a:ext cx="6019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Converting a String to an Array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0028" y="1055850"/>
            <a:ext cx="9163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 string can be converted to an array with 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split()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 method: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299" y="1801492"/>
            <a:ext cx="6476190" cy="35238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476" y="5454933"/>
            <a:ext cx="5619048" cy="1267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6106" y="92363"/>
            <a:ext cx="60197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Converting a String to an Array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9623" y="990799"/>
            <a:ext cx="10861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If the separator is omitted, the returned array will contain the whole string in index [0]. If the separator is "", the returned array will be an array of single characters: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89" y="2735096"/>
            <a:ext cx="5380470" cy="3869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556" y="3019728"/>
            <a:ext cx="2197431" cy="28040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 Numbers</a:t>
            </a:r>
            <a:endParaRPr lang="en-US" altLang="zh-CN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1556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JavaScript Numbers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7395" y="1002715"/>
            <a:ext cx="102375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JavaScript has only one type of number. Numbers can be written with, or without, decimals.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pitchFamily="2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JavaScript numbers can be written with, or without decimals: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1790" y="2491534"/>
            <a:ext cx="5902210" cy="169122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49178" y="4239458"/>
            <a:ext cx="99760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Extra large or extra small numbers can be written with scientific (exponent) notation: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310" y="5307523"/>
            <a:ext cx="3318635" cy="13919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690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- Not a Number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8795" y="1137305"/>
            <a:ext cx="106329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is a JavaScript reserved word indicating that a value is not a number. Trying to do arithmetic with a non-numeric string will result in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(Not a Number):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9306" y="2675911"/>
            <a:ext cx="5639090" cy="24575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306" y="5473398"/>
            <a:ext cx="5651790" cy="12256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877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- Not a Number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2681" y="1124635"/>
            <a:ext cx="104847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However, if the string contains a numeric value , the result will be a number: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591" y="2188952"/>
            <a:ext cx="7059983" cy="313680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72" y="5538741"/>
            <a:ext cx="4419827" cy="11303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284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- Not a Number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3507" y="1063675"/>
            <a:ext cx="101387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You can use the global JavaScript function isNaN() to find out if a value is a number.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984" y="2706574"/>
            <a:ext cx="7078275" cy="37683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315" y="3318020"/>
            <a:ext cx="3667098" cy="16741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4096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- Not a Number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0005" y="1246555"/>
            <a:ext cx="100460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Watch out for NaN. If you use NaN in a mathematical operation, the result will also be NaN: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9958" y="2352895"/>
            <a:ext cx="5753396" cy="30037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614" y="5631942"/>
            <a:ext cx="5512083" cy="11113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385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NaN - Not a Number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0" y="128442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Or the result might be a concatenation: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126" y="2180818"/>
            <a:ext cx="5581937" cy="28766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120" y="5468661"/>
            <a:ext cx="5962956" cy="10668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JavaScript Number Methods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The toString() Method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887627" y="1223319"/>
            <a:ext cx="10515600" cy="1970903"/>
          </a:xfrm>
        </p:spPr>
        <p:txBody>
          <a:bodyPr>
            <a:normAutofit/>
          </a:bodyPr>
          <a:lstStyle/>
          <a:p>
            <a:pPr algn="just"/>
            <a:r>
              <a:rPr lang="en-US" altLang="zh-CN" sz="2900" dirty="0"/>
              <a:t>toString() returns a number as a string.</a:t>
            </a:r>
            <a:endParaRPr lang="en-US" altLang="zh-CN" sz="2900" dirty="0"/>
          </a:p>
          <a:p>
            <a:pPr algn="just"/>
            <a:r>
              <a:rPr lang="en-US" altLang="zh-CN" sz="2900" dirty="0"/>
              <a:t>All number methods can be used on any type of numbers (literals, variables, or expressions):</a:t>
            </a:r>
            <a:endParaRPr lang="en-US" altLang="zh-CN" sz="2900" dirty="0"/>
          </a:p>
          <a:p>
            <a:pPr marL="0" indent="0" algn="just">
              <a:buNone/>
            </a:pPr>
            <a:r>
              <a:rPr lang="en-US" altLang="zh-CN" sz="2900" dirty="0"/>
              <a:t>Example:</a:t>
            </a:r>
            <a:endParaRPr lang="en-US" altLang="zh-CN" sz="29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3478212"/>
            <a:ext cx="4743450" cy="3152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5" y="4393027"/>
            <a:ext cx="3981450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The valueOf() Method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6"/>
            <a:ext cx="10515600" cy="1097068"/>
          </a:xfrm>
        </p:spPr>
        <p:txBody>
          <a:bodyPr>
            <a:normAutofit/>
          </a:bodyPr>
          <a:lstStyle/>
          <a:p>
            <a:r>
              <a:rPr lang="en-US" altLang="zh-CN" sz="2900" dirty="0">
                <a:solidFill>
                  <a:srgbClr val="FFFF00"/>
                </a:solidFill>
              </a:rPr>
              <a:t>valueOf() </a:t>
            </a:r>
            <a:r>
              <a:rPr lang="en-US" altLang="zh-CN" sz="2900" dirty="0"/>
              <a:t>returns a number as a number.</a:t>
            </a:r>
            <a:endParaRPr lang="en-US" altLang="zh-CN" sz="2900" dirty="0"/>
          </a:p>
          <a:p>
            <a:pPr marL="0" indent="0">
              <a:buNone/>
            </a:pPr>
            <a:r>
              <a:rPr lang="en-US" altLang="zh-CN" sz="2900" dirty="0"/>
              <a:t>Example: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473" y="2902241"/>
            <a:ext cx="4437437" cy="3683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649" y="3672323"/>
            <a:ext cx="1750713" cy="26260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The valueOf() Method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6"/>
            <a:ext cx="10515600" cy="517865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In JavaScript, a number can be a primitive value (typeof = number) or an object (typeof = object).</a:t>
            </a:r>
            <a:endParaRPr lang="en-US" altLang="zh-CN" dirty="0"/>
          </a:p>
          <a:p>
            <a:pPr algn="just"/>
            <a:r>
              <a:rPr lang="en-US" altLang="zh-CN" sz="2900" dirty="0"/>
              <a:t>The valueOf() method is used internally in JavaScript to convert Number objects to primitive values.</a:t>
            </a:r>
            <a:endParaRPr lang="en-US" altLang="zh-CN" sz="2900" dirty="0"/>
          </a:p>
          <a:p>
            <a:pPr algn="just"/>
            <a:r>
              <a:rPr lang="en-US" altLang="zh-CN" sz="2900" dirty="0"/>
              <a:t>There is no reason to use it in your code.</a:t>
            </a:r>
            <a:endParaRPr lang="en-US" altLang="zh-CN" sz="2900" dirty="0"/>
          </a:p>
          <a:p>
            <a:endParaRPr lang="en-US" altLang="zh-CN" sz="2900" dirty="0"/>
          </a:p>
          <a:p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 algn="just">
              <a:buNone/>
            </a:pPr>
            <a:r>
              <a:rPr lang="en-US" altLang="zh-CN" sz="2900" dirty="0">
                <a:solidFill>
                  <a:srgbClr val="FFFF00"/>
                </a:solidFill>
              </a:rPr>
              <a:t>Hint : </a:t>
            </a:r>
            <a:r>
              <a:rPr lang="en-US" altLang="zh-CN" dirty="0"/>
              <a:t>In JavaScript, all data types have a valueOf() and a toString() method.</a:t>
            </a:r>
            <a:endParaRPr lang="en-US" altLang="zh-CN" sz="29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Converting Variables to Numbers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4"/>
            <a:ext cx="10704534" cy="3948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There are 3 JavaScript functions that can be used to convert variables to numbers:</a:t>
            </a:r>
            <a:endParaRPr lang="en-US" altLang="zh-CN" dirty="0"/>
          </a:p>
          <a:p>
            <a:r>
              <a:rPr lang="en-US" altLang="zh-CN" dirty="0"/>
              <a:t>The Number() method</a:t>
            </a:r>
            <a:endParaRPr lang="en-US" altLang="zh-CN" dirty="0"/>
          </a:p>
          <a:p>
            <a:r>
              <a:rPr lang="en-US" altLang="zh-CN" dirty="0"/>
              <a:t>The parseInt() method</a:t>
            </a:r>
            <a:endParaRPr lang="en-US" altLang="zh-CN" dirty="0"/>
          </a:p>
          <a:p>
            <a:r>
              <a:rPr lang="en-US" altLang="zh-CN" dirty="0"/>
              <a:t>The parseFloat() method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These methods are not </a:t>
            </a:r>
            <a:r>
              <a:rPr lang="en-US" altLang="zh-CN" dirty="0">
                <a:solidFill>
                  <a:srgbClr val="FFFF00"/>
                </a:solidFill>
              </a:rPr>
              <a:t>number</a:t>
            </a:r>
            <a:r>
              <a:rPr lang="en-US" altLang="zh-CN" dirty="0"/>
              <a:t> methods, but </a:t>
            </a:r>
            <a:r>
              <a:rPr lang="en-US" altLang="zh-CN" dirty="0">
                <a:solidFill>
                  <a:srgbClr val="FFFF00"/>
                </a:solidFill>
              </a:rPr>
              <a:t>global</a:t>
            </a:r>
            <a:r>
              <a:rPr lang="en-US" altLang="zh-CN" dirty="0"/>
              <a:t> JavaScript methods. JavaScript global functions can be used on all JavaScript data types.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Number() Method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FF00"/>
                </a:solidFill>
              </a:rPr>
              <a:t>Number()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/>
              <a:t>can be used to convert JavaScript variables to numbers: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248" y="2453930"/>
            <a:ext cx="4947504" cy="2799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254" y="3020367"/>
            <a:ext cx="5334000" cy="1666875"/>
          </a:xfrm>
          <a:prstGeom prst="rect">
            <a:avLst/>
          </a:prstGeom>
        </p:spPr>
      </p:pic>
      <p:sp>
        <p:nvSpPr>
          <p:cNvPr id="7" name="内容占位符 4"/>
          <p:cNvSpPr txBox="1"/>
          <p:nvPr/>
        </p:nvSpPr>
        <p:spPr>
          <a:xfrm>
            <a:off x="838200" y="5770995"/>
            <a:ext cx="10515600" cy="8326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Hint :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Used on Date(), the Number() method returns the number of milliseconds since 1.1.1970.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parseInt() Method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9234" y="1486154"/>
            <a:ext cx="10515600" cy="8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>
                <a:solidFill>
                  <a:srgbClr val="FFFF00"/>
                </a:solidFill>
              </a:rPr>
              <a:t>parseInt() </a:t>
            </a:r>
            <a:r>
              <a:rPr lang="en-US" altLang="zh-CN" dirty="0"/>
              <a:t>parses a string and returns a whole number. Spaces are allowed. Only the first number is returned: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sp>
        <p:nvSpPr>
          <p:cNvPr id="7" name="内容占位符 4"/>
          <p:cNvSpPr txBox="1"/>
          <p:nvPr/>
        </p:nvSpPr>
        <p:spPr>
          <a:xfrm>
            <a:off x="838200" y="5892448"/>
            <a:ext cx="10515600" cy="629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If the number cannot be converted, NaN (Not a Number) is returned.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01501"/>
            <a:ext cx="5444637" cy="294988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783" y="3470095"/>
            <a:ext cx="519112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8695"/>
          </a:xfrm>
        </p:spPr>
        <p:txBody>
          <a:bodyPr/>
          <a:lstStyle/>
          <a:p>
            <a:pPr algn="ctr"/>
            <a:r>
              <a:rPr lang="en-US" altLang="zh-CN" dirty="0"/>
              <a:t>The parseFloat() Method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0380" y="1587818"/>
            <a:ext cx="10515600" cy="8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>
                <a:solidFill>
                  <a:srgbClr val="FFFF00"/>
                </a:solidFill>
              </a:rPr>
              <a:t>parseFloat() </a:t>
            </a:r>
            <a:r>
              <a:rPr lang="en-US" altLang="zh-CN" dirty="0"/>
              <a:t>parses a string and returns a number. Spaces are allowed. Only the first number is returned:</a:t>
            </a:r>
            <a:endParaRPr lang="en-US" altLang="zh-CN" dirty="0"/>
          </a:p>
        </p:txBody>
      </p:sp>
      <p:sp>
        <p:nvSpPr>
          <p:cNvPr id="7" name="内容占位符 4"/>
          <p:cNvSpPr txBox="1"/>
          <p:nvPr/>
        </p:nvSpPr>
        <p:spPr>
          <a:xfrm>
            <a:off x="500380" y="5789578"/>
            <a:ext cx="10515600" cy="629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If the number cannot be converted, NaN (Not a Number) is returned.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2600650"/>
            <a:ext cx="5817283" cy="30672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188" y="3400872"/>
            <a:ext cx="529590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JavaScript Math</a:t>
            </a:r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Math Object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95373"/>
            <a:ext cx="10515600" cy="2067108"/>
          </a:xfrm>
        </p:spPr>
        <p:txBody>
          <a:bodyPr>
            <a:normAutofit/>
          </a:bodyPr>
          <a:lstStyle/>
          <a:p>
            <a:r>
              <a:rPr lang="en-US" altLang="zh-CN" dirty="0"/>
              <a:t>The Math object allows you to perform mathematical tasks.</a:t>
            </a:r>
            <a:endParaRPr lang="en-US" altLang="zh-CN" dirty="0"/>
          </a:p>
          <a:p>
            <a:r>
              <a:rPr lang="en-US" altLang="zh-CN" dirty="0"/>
              <a:t>The Math object includes several mathematical methods.</a:t>
            </a:r>
            <a:endParaRPr lang="en-US" altLang="zh-CN" dirty="0"/>
          </a:p>
          <a:p>
            <a:r>
              <a:rPr lang="en-US" altLang="zh-CN" dirty="0"/>
              <a:t>One common use of the Math object is to create a random number: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Example: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674970"/>
            <a:ext cx="3803468" cy="23987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90" y="4355246"/>
            <a:ext cx="4476750" cy="1038225"/>
          </a:xfrm>
          <a:prstGeom prst="rect">
            <a:avLst/>
          </a:prstGeom>
        </p:spPr>
      </p:pic>
      <p:sp>
        <p:nvSpPr>
          <p:cNvPr id="6" name="内容占位符 4"/>
          <p:cNvSpPr txBox="1"/>
          <p:nvPr/>
        </p:nvSpPr>
        <p:spPr>
          <a:xfrm>
            <a:off x="838200" y="6186236"/>
            <a:ext cx="10515600" cy="51306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900" dirty="0">
                <a:solidFill>
                  <a:srgbClr val="FFFF00"/>
                </a:solidFill>
              </a:rPr>
              <a:t>Hint : </a:t>
            </a:r>
            <a:r>
              <a:rPr lang="en-US" altLang="zh-CN" sz="2900" dirty="0"/>
              <a:t>Math has no constructor. No methods have to create a Math object first.</a:t>
            </a:r>
            <a:endParaRPr lang="en-US" altLang="zh-CN" sz="29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9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5524" y="154459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Math.min() and Math.max()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45524" y="1000898"/>
            <a:ext cx="10515600" cy="96382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2900" dirty="0"/>
              <a:t>Math.min() and Math.max() can be used to find the lowest or highest value in a list of arguments: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081" y="1983623"/>
            <a:ext cx="3842180" cy="3353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94" y="5738998"/>
            <a:ext cx="2714625" cy="990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73" y="2003397"/>
            <a:ext cx="3850246" cy="3333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108" y="5724710"/>
            <a:ext cx="292417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35280"/>
            <a:ext cx="10515600" cy="982980"/>
          </a:xfrm>
        </p:spPr>
        <p:txBody>
          <a:bodyPr/>
          <a:lstStyle/>
          <a:p>
            <a:pPr algn="ctr"/>
            <a:r>
              <a:rPr lang="en-US" altLang="zh-CN" dirty="0"/>
              <a:t>Math.random()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95373"/>
            <a:ext cx="10515600" cy="910721"/>
          </a:xfrm>
        </p:spPr>
        <p:txBody>
          <a:bodyPr>
            <a:normAutofit/>
          </a:bodyPr>
          <a:lstStyle/>
          <a:p>
            <a:r>
              <a:rPr lang="en-US" altLang="zh-CN" dirty="0"/>
              <a:t>Math.random() returns a random number between 0 (inclusive),  and 1 (exclusive):</a:t>
            </a:r>
            <a:endParaRPr lang="en-US" altLang="zh-CN" dirty="0"/>
          </a:p>
        </p:txBody>
      </p:sp>
      <p:sp>
        <p:nvSpPr>
          <p:cNvPr id="6" name="内容占位符 4"/>
          <p:cNvSpPr txBox="1"/>
          <p:nvPr/>
        </p:nvSpPr>
        <p:spPr>
          <a:xfrm>
            <a:off x="838200" y="6186236"/>
            <a:ext cx="10515600" cy="51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900" dirty="0">
                <a:solidFill>
                  <a:srgbClr val="FFFF00"/>
                </a:solidFill>
              </a:rPr>
              <a:t>Hint : </a:t>
            </a:r>
            <a:r>
              <a:rPr lang="en-US" altLang="zh-CN" sz="2900" dirty="0"/>
              <a:t>Math.random() always returns a number lower than 1.</a:t>
            </a:r>
            <a:endParaRPr lang="en-US" altLang="zh-CN" sz="29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9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47" y="2511388"/>
            <a:ext cx="4914900" cy="32670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92" y="3536342"/>
            <a:ext cx="441960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Math.round()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5"/>
            <a:ext cx="10515600" cy="796469"/>
          </a:xfrm>
        </p:spPr>
        <p:txBody>
          <a:bodyPr>
            <a:normAutofit/>
          </a:bodyPr>
          <a:lstStyle/>
          <a:p>
            <a:r>
              <a:rPr lang="en-US" altLang="zh-CN" sz="2900" dirty="0"/>
              <a:t>Math.round() rounds a number to the nearest integer: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38" y="2745344"/>
            <a:ext cx="5105400" cy="3095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657" y="3653306"/>
            <a:ext cx="39433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Math.ceil()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6"/>
            <a:ext cx="10515600" cy="784112"/>
          </a:xfrm>
        </p:spPr>
        <p:txBody>
          <a:bodyPr>
            <a:normAutofit/>
          </a:bodyPr>
          <a:lstStyle/>
          <a:p>
            <a:r>
              <a:rPr lang="en-US" altLang="zh-CN" sz="2900" dirty="0"/>
              <a:t>Math.ceil() rounds a number </a:t>
            </a:r>
            <a:r>
              <a:rPr lang="en-US" altLang="zh-CN" sz="2900" dirty="0">
                <a:solidFill>
                  <a:srgbClr val="FFFF00"/>
                </a:solidFill>
              </a:rPr>
              <a:t>up</a:t>
            </a:r>
            <a:r>
              <a:rPr lang="en-US" altLang="zh-CN" sz="2900" dirty="0"/>
              <a:t> to the nearest integer: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29" y="2646489"/>
            <a:ext cx="6248400" cy="3133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30" y="3758339"/>
            <a:ext cx="3971925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Math.floor()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5"/>
            <a:ext cx="10515600" cy="1768075"/>
          </a:xfrm>
        </p:spPr>
        <p:txBody>
          <a:bodyPr>
            <a:normAutofit/>
          </a:bodyPr>
          <a:lstStyle/>
          <a:p>
            <a:r>
              <a:rPr lang="en-US" altLang="zh-CN" sz="2900" dirty="0"/>
              <a:t>Math.floor() rounds a number </a:t>
            </a:r>
            <a:r>
              <a:rPr lang="en-US" altLang="zh-CN" sz="2900" dirty="0">
                <a:solidFill>
                  <a:srgbClr val="FFFF00"/>
                </a:solidFill>
              </a:rPr>
              <a:t>down</a:t>
            </a:r>
            <a:r>
              <a:rPr lang="en-US" altLang="zh-CN" sz="2900" dirty="0"/>
              <a:t> to the nearest integer: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38" y="3282320"/>
            <a:ext cx="6534150" cy="3200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138" y="4368170"/>
            <a:ext cx="43053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JavaScript Dates</a:t>
            </a:r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</p:spPr>
        <p:txBody>
          <a:bodyPr/>
          <a:lstStyle/>
          <a:p>
            <a:pPr algn="ctr"/>
            <a:r>
              <a:rPr lang="en-US" altLang="zh-CN" dirty="0"/>
              <a:t>JavaScript Date Formats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95373"/>
            <a:ext cx="10515600" cy="4578856"/>
          </a:xfrm>
        </p:spPr>
        <p:txBody>
          <a:bodyPr>
            <a:normAutofit/>
          </a:bodyPr>
          <a:lstStyle/>
          <a:p>
            <a:r>
              <a:rPr lang="en-US" altLang="zh-CN" dirty="0"/>
              <a:t>The Date object lets you work with dates (years, months, days, hours, minutes, seconds, and milliseconds)</a:t>
            </a:r>
            <a:endParaRPr lang="en-US" altLang="zh-CN" dirty="0"/>
          </a:p>
          <a:p>
            <a:r>
              <a:rPr lang="en-US" altLang="zh-CN" dirty="0"/>
              <a:t>A JavaScript date can be written as a string: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Wed Mar 24 2021 08:48:05 GMT+0800 (</a:t>
            </a:r>
            <a:r>
              <a:rPr lang="zh-CN" altLang="en-US" b="1" dirty="0"/>
              <a:t>中国标准时间</a:t>
            </a:r>
            <a:r>
              <a:rPr lang="en-US" altLang="zh-CN" b="1" dirty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or as a number: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1616546885576</a:t>
            </a:r>
            <a:endParaRPr lang="en-US" altLang="zh-CN" b="1" dirty="0"/>
          </a:p>
          <a:p>
            <a:r>
              <a:rPr lang="en-US" altLang="zh-CN" dirty="0"/>
              <a:t>Dates written as numbers, specifies the number of milliseconds since January 1, 1970, 00:00:00.</a:t>
            </a:r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Displaying Dates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278765" y="1223010"/>
            <a:ext cx="11837035" cy="99441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900" dirty="0"/>
              <a:t>In this example,  we use a script to display dates inside a &lt;p&gt; element with id="demo":</a:t>
            </a:r>
            <a:endParaRPr lang="en-US" altLang="zh-CN" sz="29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025" y="2570749"/>
            <a:ext cx="5615147" cy="29130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46" y="3538851"/>
            <a:ext cx="5889526" cy="563591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279400" y="5665470"/>
            <a:ext cx="11556365" cy="967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 script above says: assign the value of Date() to the content (innerHTML) of the element with id="demo". </a:t>
            </a: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Creating Date Objects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514245"/>
            <a:ext cx="10515600" cy="2966315"/>
          </a:xfrm>
        </p:spPr>
        <p:txBody>
          <a:bodyPr>
            <a:normAutofit/>
          </a:bodyPr>
          <a:lstStyle/>
          <a:p>
            <a:pPr algn="just"/>
            <a:r>
              <a:rPr lang="en-US" altLang="zh-CN" sz="2900" dirty="0"/>
              <a:t>The Date object lets us work with dates.</a:t>
            </a:r>
            <a:endParaRPr lang="en-US" altLang="zh-CN" sz="2900" dirty="0"/>
          </a:p>
          <a:p>
            <a:pPr algn="just"/>
            <a:r>
              <a:rPr lang="en-US" altLang="zh-CN" sz="2900" dirty="0"/>
              <a:t>A date consists of a year, a month, a day, an hour, a minute, a second, and milliseconds.</a:t>
            </a:r>
            <a:endParaRPr lang="en-US" altLang="zh-CN" sz="2900" dirty="0"/>
          </a:p>
          <a:p>
            <a:pPr algn="just"/>
            <a:r>
              <a:rPr lang="en-US" altLang="zh-CN" sz="2900" dirty="0"/>
              <a:t>Date objects are created with the new Date() constructor.</a:t>
            </a:r>
            <a:endParaRPr lang="en-US" altLang="zh-CN" sz="2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7302"/>
          </a:xfrm>
        </p:spPr>
        <p:txBody>
          <a:bodyPr/>
          <a:lstStyle/>
          <a:p>
            <a:pPr algn="ctr"/>
            <a:r>
              <a:rPr lang="en-US" altLang="zh-CN" dirty="0"/>
              <a:t>Creating Date Objects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95373"/>
            <a:ext cx="10515600" cy="141764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Using new Date(), creates a new date object with the </a:t>
            </a:r>
            <a:r>
              <a:rPr lang="en-US" altLang="zh-CN" dirty="0">
                <a:solidFill>
                  <a:srgbClr val="FFFF00"/>
                </a:solidFill>
              </a:rPr>
              <a:t>current date and time</a:t>
            </a:r>
            <a:r>
              <a:rPr lang="en-US" altLang="zh-CN" dirty="0"/>
              <a:t>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1" y="2913017"/>
            <a:ext cx="5594656" cy="35394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41" y="4309123"/>
            <a:ext cx="5471603" cy="51618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626"/>
          </a:xfrm>
        </p:spPr>
        <p:txBody>
          <a:bodyPr/>
          <a:lstStyle/>
          <a:p>
            <a:pPr algn="ctr"/>
            <a:r>
              <a:rPr lang="en-US" altLang="zh-CN" dirty="0"/>
              <a:t>Creating Date Objects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1341" y="1181439"/>
            <a:ext cx="11207577" cy="170502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dirty="0"/>
              <a:t>Using new Date(number), creates a new date object as </a:t>
            </a:r>
            <a:r>
              <a:rPr lang="en-US" altLang="zh-CN" dirty="0">
                <a:solidFill>
                  <a:srgbClr val="FFFF00"/>
                </a:solidFill>
              </a:rPr>
              <a:t>zero time plus the number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/>
            <a:r>
              <a:rPr lang="en-US" altLang="zh-CN" dirty="0"/>
              <a:t>Zero time is 01 January 1970 00:00:00 UTC. The number is specified in milliseconds: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341" y="2836579"/>
            <a:ext cx="4757351" cy="288541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47" y="4083698"/>
            <a:ext cx="6574941" cy="632526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687506" y="5913457"/>
            <a:ext cx="11051412" cy="7823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JavaScript dates are calculated in milliseconds from 01 January, 1970 00:00:00 Universal Time (UTC). One day contains 86,400,000 millisecond.</a:t>
            </a: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4790"/>
            <a:ext cx="10515600" cy="772160"/>
          </a:xfrm>
        </p:spPr>
        <p:txBody>
          <a:bodyPr/>
          <a:lstStyle/>
          <a:p>
            <a:pPr algn="ctr"/>
            <a:r>
              <a:rPr lang="en-US" altLang="zh-CN" dirty="0"/>
              <a:t>Creating Date Objects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44170" y="1137285"/>
            <a:ext cx="11541125" cy="17049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dirty="0"/>
              <a:t>Using new Date(</a:t>
            </a:r>
            <a:r>
              <a:rPr lang="en-US" altLang="zh-CN" dirty="0">
                <a:solidFill>
                  <a:srgbClr val="FFFF00"/>
                </a:solidFill>
              </a:rPr>
              <a:t>7 numbers</a:t>
            </a:r>
            <a:r>
              <a:rPr lang="en-US" altLang="zh-CN" dirty="0"/>
              <a:t>), creates a new date object with the </a:t>
            </a:r>
            <a:r>
              <a:rPr lang="en-US" altLang="zh-CN" dirty="0">
                <a:solidFill>
                  <a:srgbClr val="FFFF00"/>
                </a:solidFill>
              </a:rPr>
              <a:t>specified date and time</a:t>
            </a:r>
            <a:r>
              <a:rPr lang="en-US" altLang="zh-CN" dirty="0"/>
              <a:t>:</a:t>
            </a:r>
            <a:endParaRPr lang="en-US" altLang="zh-CN" dirty="0"/>
          </a:p>
          <a:p>
            <a:pPr algn="just"/>
            <a:r>
              <a:rPr lang="en-US" altLang="zh-CN" dirty="0"/>
              <a:t>Zero time is 01 January 1970 00:00:00 UTC. The number is specified in milliseconds:</a:t>
            </a:r>
            <a:endParaRPr lang="en-US" altLang="zh-CN" dirty="0"/>
          </a:p>
        </p:txBody>
      </p:sp>
      <p:sp>
        <p:nvSpPr>
          <p:cNvPr id="8" name="内容占位符 4"/>
          <p:cNvSpPr txBox="1"/>
          <p:nvPr/>
        </p:nvSpPr>
        <p:spPr>
          <a:xfrm>
            <a:off x="687506" y="5976801"/>
            <a:ext cx="10977272" cy="751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JavaScript dates are calculated in milliseconds from 01 January, 1970 00:00:00 Universal Time (UTC). One day contains 86,400,000 millisecond.</a:t>
            </a: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06" y="2982293"/>
            <a:ext cx="4592594" cy="28538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720" y="4156047"/>
            <a:ext cx="6061683" cy="5456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Date Methods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2036760"/>
            <a:ext cx="10515600" cy="4429355"/>
          </a:xfrm>
        </p:spPr>
        <p:txBody>
          <a:bodyPr>
            <a:normAutofit/>
          </a:bodyPr>
          <a:lstStyle/>
          <a:p>
            <a:pPr algn="just"/>
            <a:r>
              <a:rPr lang="en-US" altLang="zh-CN" sz="2900" dirty="0"/>
              <a:t>When a Date object is created, a number of </a:t>
            </a:r>
            <a:r>
              <a:rPr lang="en-US" altLang="zh-CN" sz="2900" dirty="0">
                <a:solidFill>
                  <a:srgbClr val="FFFF00"/>
                </a:solidFill>
              </a:rPr>
              <a:t>methods</a:t>
            </a:r>
            <a:r>
              <a:rPr lang="en-US" altLang="zh-CN" sz="2900" dirty="0"/>
              <a:t> allow you to operate on it.</a:t>
            </a:r>
            <a:endParaRPr lang="en-US" altLang="zh-CN" sz="2900" dirty="0"/>
          </a:p>
          <a:p>
            <a:pPr marL="0" indent="0" algn="just">
              <a:buNone/>
            </a:pPr>
            <a:endParaRPr lang="en-US" altLang="zh-CN" sz="2900" dirty="0"/>
          </a:p>
          <a:p>
            <a:pPr algn="just"/>
            <a:r>
              <a:rPr lang="en-US" altLang="zh-CN" sz="2900" dirty="0"/>
              <a:t>Date methods allow you to get and set the year, month, day, hour, minute, second, and millisecond of objects, using either local time or UTC (universal, or GMT) time.</a:t>
            </a:r>
            <a:endParaRPr lang="en-US" altLang="zh-CN" sz="2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Displaying Dates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67494" y="1231464"/>
            <a:ext cx="11314673" cy="1152975"/>
          </a:xfrm>
        </p:spPr>
        <p:txBody>
          <a:bodyPr>
            <a:normAutofit/>
          </a:bodyPr>
          <a:lstStyle/>
          <a:p>
            <a:r>
              <a:rPr lang="en-US" altLang="zh-CN" sz="2900" dirty="0"/>
              <a:t>When you display a date object in HTML, it is automatically converted to a string, with the </a:t>
            </a:r>
            <a:r>
              <a:rPr lang="en-US" altLang="zh-CN" sz="2900" dirty="0">
                <a:solidFill>
                  <a:srgbClr val="FFFF00"/>
                </a:solidFill>
              </a:rPr>
              <a:t>toString() </a:t>
            </a:r>
            <a:r>
              <a:rPr lang="en-US" altLang="zh-CN" sz="2900" dirty="0"/>
              <a:t>method.</a:t>
            </a: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  <a:p>
            <a:pPr marL="0" indent="0">
              <a:buNone/>
            </a:pPr>
            <a:endParaRPr lang="en-US" altLang="zh-CN" sz="29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022" y="2606018"/>
            <a:ext cx="4010025" cy="1343025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770235" y="3953145"/>
            <a:ext cx="10515600" cy="54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Is the same as: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71" y="4501750"/>
            <a:ext cx="4886325" cy="1333500"/>
          </a:xfrm>
          <a:prstGeom prst="rect">
            <a:avLst/>
          </a:prstGeom>
        </p:spPr>
      </p:pic>
      <p:sp>
        <p:nvSpPr>
          <p:cNvPr id="9" name="内容占位符 4"/>
          <p:cNvSpPr txBox="1"/>
          <p:nvPr/>
        </p:nvSpPr>
        <p:spPr>
          <a:xfrm>
            <a:off x="770235" y="6064974"/>
            <a:ext cx="10515600" cy="54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Result: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733" y="6158991"/>
            <a:ext cx="403860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0870"/>
          </a:xfrm>
        </p:spPr>
        <p:txBody>
          <a:bodyPr/>
          <a:lstStyle/>
          <a:p>
            <a:pPr algn="ctr"/>
            <a:r>
              <a:rPr lang="en-US" altLang="zh-CN" dirty="0"/>
              <a:t>Date Get Methods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362096"/>
            <a:ext cx="10515600" cy="9628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Get methods are used for getting a part of a date. Here are the most common (alphabetically):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577" y="2528801"/>
            <a:ext cx="8160842" cy="414384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Date Set Methods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535091"/>
            <a:ext cx="10515600" cy="962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Set methods are used for setting a part of a date. Here are the most common (alphabetically):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815" y="2694481"/>
            <a:ext cx="721995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357"/>
          </a:xfrm>
        </p:spPr>
        <p:txBody>
          <a:bodyPr/>
          <a:lstStyle/>
          <a:p>
            <a:pPr algn="ctr"/>
            <a:r>
              <a:rPr lang="en-US" altLang="zh-CN" dirty="0"/>
              <a:t>Date Input - Parsing Dates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3741" y="1185482"/>
            <a:ext cx="10956324" cy="1829718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If you have a valid date string, you can use the Date.parse() method to convert it to milliseconds.</a:t>
            </a:r>
            <a:endParaRPr lang="en-US" altLang="zh-CN" dirty="0"/>
          </a:p>
          <a:p>
            <a:pPr algn="just"/>
            <a:r>
              <a:rPr lang="en-US" altLang="zh-CN" dirty="0">
                <a:solidFill>
                  <a:srgbClr val="FFFF00"/>
                </a:solidFill>
              </a:rPr>
              <a:t>Date.parse() </a:t>
            </a:r>
            <a:r>
              <a:rPr lang="en-US" altLang="zh-CN" dirty="0"/>
              <a:t>returns the number of milliseconds between the date and January 1, 1970: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3828" y="2921278"/>
            <a:ext cx="7296150" cy="2590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828" y="5811618"/>
            <a:ext cx="7307081" cy="74364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4437"/>
          </a:xfrm>
        </p:spPr>
        <p:txBody>
          <a:bodyPr/>
          <a:lstStyle/>
          <a:p>
            <a:pPr algn="ctr"/>
            <a:r>
              <a:rPr lang="en-US" altLang="zh-CN" dirty="0"/>
              <a:t>Date Input - Parsing Dates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319986"/>
            <a:ext cx="10515600" cy="981260"/>
          </a:xfrm>
        </p:spPr>
        <p:txBody>
          <a:bodyPr>
            <a:normAutofit/>
          </a:bodyPr>
          <a:lstStyle/>
          <a:p>
            <a:r>
              <a:rPr lang="en-US" altLang="zh-CN" dirty="0"/>
              <a:t>You can then use the number of milliseconds to </a:t>
            </a:r>
            <a:r>
              <a:rPr lang="en-US" altLang="zh-CN" dirty="0">
                <a:solidFill>
                  <a:srgbClr val="FFFF00"/>
                </a:solidFill>
              </a:rPr>
              <a:t>convert it to a date </a:t>
            </a:r>
            <a:r>
              <a:rPr lang="en-US" altLang="zh-CN" dirty="0"/>
              <a:t>object: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885" y="1926089"/>
            <a:ext cx="7136230" cy="35170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170" y="5567529"/>
            <a:ext cx="5722881" cy="117308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4118"/>
          </a:xfrm>
        </p:spPr>
        <p:txBody>
          <a:bodyPr/>
          <a:lstStyle/>
          <a:p>
            <a:pPr algn="ctr"/>
            <a:r>
              <a:rPr lang="en-US" altLang="zh-CN" dirty="0"/>
              <a:t>Compare Dates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17373" y="1284417"/>
            <a:ext cx="10515600" cy="1088138"/>
          </a:xfrm>
        </p:spPr>
        <p:txBody>
          <a:bodyPr>
            <a:normAutofit/>
          </a:bodyPr>
          <a:lstStyle/>
          <a:p>
            <a:r>
              <a:rPr lang="en-US" altLang="zh-CN" dirty="0"/>
              <a:t>Dates can easily be compared.</a:t>
            </a:r>
            <a:endParaRPr lang="en-US" altLang="zh-CN" dirty="0"/>
          </a:p>
          <a:p>
            <a:r>
              <a:rPr lang="en-US" altLang="zh-CN" dirty="0"/>
              <a:t>The following example compares today's date with January 14, 2100: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950" y="2328446"/>
            <a:ext cx="3632306" cy="3467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86931"/>
            <a:ext cx="4114372" cy="610116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602392" y="6132709"/>
            <a:ext cx="10987216" cy="552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Hint :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JavaScript counts months from 0 to 11. January is 0. December is 11.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JavaScript Arrays</a:t>
            </a:r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88304" y="2420633"/>
            <a:ext cx="10515600" cy="1081572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Using an array literal is the easiest way to create a JavaScript Array.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Syntax: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823" y="3698266"/>
            <a:ext cx="8590476" cy="799114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974440" y="4874918"/>
            <a:ext cx="10515600" cy="584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Example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22" y="5622634"/>
            <a:ext cx="9833478" cy="100704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4440" y="1333740"/>
            <a:ext cx="10379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2800" dirty="0"/>
              <a:t>An array is a special variable, which can hold more than one value at a time</a:t>
            </a:r>
            <a:r>
              <a:rPr lang="zh-CN" altLang="en-US" sz="2800" dirty="0"/>
              <a:t>，</a:t>
            </a:r>
            <a:r>
              <a:rPr lang="en-US" altLang="zh-CN" sz="2800" dirty="0"/>
              <a:t>and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you can access the values by referring to an index number.</a:t>
            </a:r>
            <a:endParaRPr lang="en-US" altLang="zh-CN" sz="2800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513"/>
          </a:xfrm>
        </p:spPr>
        <p:txBody>
          <a:bodyPr/>
          <a:lstStyle/>
          <a:p>
            <a:pPr algn="ctr"/>
            <a:r>
              <a:rPr lang="en-US" altLang="zh-CN" dirty="0"/>
              <a:t>What is an Array?</a:t>
            </a: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You Can Have Different Objects in One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87259"/>
            <a:ext cx="10515600" cy="245911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JavaScript variables can be objects. Arrays are special kinds of objects.</a:t>
            </a:r>
            <a:endParaRPr lang="en-US" altLang="zh-CN" dirty="0"/>
          </a:p>
          <a:p>
            <a:pPr algn="just"/>
            <a:r>
              <a:rPr lang="en-US" altLang="zh-CN" dirty="0"/>
              <a:t>Because of this, you can have variables of different types in the same Array.</a:t>
            </a:r>
            <a:endParaRPr lang="en-US" altLang="zh-CN" dirty="0"/>
          </a:p>
          <a:p>
            <a:pPr algn="just"/>
            <a:r>
              <a:rPr lang="en-US" altLang="zh-CN" dirty="0"/>
              <a:t>You can have objects in an Array. You can have functions in an Array. You can have arrays in an Array: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858" y="4542940"/>
            <a:ext cx="3368225" cy="102511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443"/>
          </a:xfrm>
        </p:spPr>
        <p:txBody>
          <a:bodyPr/>
          <a:lstStyle/>
          <a:p>
            <a:pPr algn="ctr"/>
            <a:r>
              <a:rPr lang="en-US" altLang="zh-CN" dirty="0"/>
              <a:t>The length Property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98422" y="1209110"/>
            <a:ext cx="10515600" cy="1034071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length property of an array returns the length of an array (the number of array elements).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9797" y="2110553"/>
            <a:ext cx="5285219" cy="2956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463" y="5259226"/>
            <a:ext cx="4910512" cy="967222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838198" y="6235839"/>
            <a:ext cx="10515600" cy="5170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Hint :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The length property is always one more than the highest array index.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659"/>
          </a:xfrm>
        </p:spPr>
        <p:txBody>
          <a:bodyPr/>
          <a:lstStyle/>
          <a:p>
            <a:pPr algn="ctr"/>
            <a:r>
              <a:rPr lang="en-US" altLang="zh-CN" dirty="0"/>
              <a:t>Adding Array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379283"/>
            <a:ext cx="10515600" cy="83875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dirty="0"/>
              <a:t>The easiest way to add a new element to an array is using the push method: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73992"/>
            <a:ext cx="4591050" cy="3867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590" y="4002742"/>
            <a:ext cx="407670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</p:spPr>
        <p:txBody>
          <a:bodyPr/>
          <a:lstStyle/>
          <a:p>
            <a:pPr algn="ctr"/>
            <a:r>
              <a:rPr lang="en-US" altLang="zh-CN" dirty="0"/>
              <a:t>Adding Array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01805"/>
            <a:ext cx="10515600" cy="609513"/>
          </a:xfrm>
        </p:spPr>
        <p:txBody>
          <a:bodyPr>
            <a:normAutofit/>
          </a:bodyPr>
          <a:lstStyle/>
          <a:p>
            <a:r>
              <a:rPr lang="en-US" altLang="zh-CN" dirty="0"/>
              <a:t>New element can also be added to an array using the length property: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313" y="1876302"/>
            <a:ext cx="7493989" cy="35150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48683" y="5695569"/>
            <a:ext cx="10646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The length property provides an easy way to append new elements to an array without using the push() method.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372"/>
          </a:xfrm>
        </p:spPr>
        <p:txBody>
          <a:bodyPr/>
          <a:lstStyle/>
          <a:p>
            <a:pPr algn="ctr"/>
            <a:r>
              <a:rPr lang="en-US" altLang="zh-CN" dirty="0"/>
              <a:t>Adding Array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5735" y="1229498"/>
            <a:ext cx="11392929" cy="102561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Adding elements with high indexes can create undefined "holes" in an array:</a:t>
            </a:r>
            <a:endParaRPr lang="en-US" altLang="zh-CN" sz="3200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67" y="2504950"/>
            <a:ext cx="6806650" cy="40564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439" y="3732531"/>
            <a:ext cx="4514225" cy="9630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799"/>
          </a:xfrm>
        </p:spPr>
        <p:txBody>
          <a:bodyPr/>
          <a:lstStyle/>
          <a:p>
            <a:pPr algn="ctr"/>
            <a:r>
              <a:rPr lang="en-US" altLang="zh-CN" dirty="0"/>
              <a:t>Looping Array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45308"/>
            <a:ext cx="10515600" cy="649162"/>
          </a:xfrm>
        </p:spPr>
        <p:txBody>
          <a:bodyPr>
            <a:normAutofit/>
          </a:bodyPr>
          <a:lstStyle/>
          <a:p>
            <a:r>
              <a:rPr lang="en-US" altLang="zh-CN" dirty="0"/>
              <a:t>The best way to loop through an array, is using a "for" loop: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03" y="2362732"/>
            <a:ext cx="5972175" cy="4038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030" y="3448968"/>
            <a:ext cx="5000625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JavaScript Arrays Methods</a:t>
            </a:r>
            <a:endParaRPr lang="en-US" altLang="zh-C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4"/>
          </a:xfrm>
        </p:spPr>
        <p:txBody>
          <a:bodyPr/>
          <a:lstStyle/>
          <a:p>
            <a:pPr algn="ctr"/>
            <a:r>
              <a:rPr lang="en-US" altLang="zh-CN" dirty="0"/>
              <a:t>Converting Arrays to Strings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52848" y="1423410"/>
            <a:ext cx="10515600" cy="9628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The JavaScript method </a:t>
            </a:r>
            <a:r>
              <a:rPr lang="en-US" altLang="zh-CN" dirty="0">
                <a:solidFill>
                  <a:srgbClr val="FFFF00"/>
                </a:solidFill>
              </a:rPr>
              <a:t>toString() </a:t>
            </a:r>
            <a:r>
              <a:rPr lang="en-US" altLang="zh-CN" dirty="0"/>
              <a:t>converts an array to a string of (comma separated) array values.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357" y="2397920"/>
            <a:ext cx="6551140" cy="29010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96" y="5462008"/>
            <a:ext cx="9288619" cy="128478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977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Converting Arrays to Strings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1703" y="1505336"/>
            <a:ext cx="10981038" cy="1461583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join() </a:t>
            </a:r>
            <a:r>
              <a:rPr lang="en-US" altLang="zh-CN" dirty="0"/>
              <a:t>method also joins all array elements into a string.</a:t>
            </a:r>
            <a:endParaRPr lang="en-US" altLang="zh-CN" dirty="0"/>
          </a:p>
          <a:p>
            <a:pPr algn="just"/>
            <a:r>
              <a:rPr lang="en-US" altLang="zh-CN" dirty="0"/>
              <a:t>It behaves just like toString(), but in addition you can specify the separator: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10" y="2916236"/>
            <a:ext cx="6867051" cy="3589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966" y="3783151"/>
            <a:ext cx="4752356" cy="8629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Popping and Pushing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482950"/>
            <a:ext cx="10740081" cy="2478287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When you work with arrays, it is easy to remove elements and add new elements.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This is what popping and pushing is:</a:t>
            </a:r>
            <a:endParaRPr lang="en-US" altLang="zh-CN" sz="3200" dirty="0"/>
          </a:p>
          <a:p>
            <a:pPr algn="just"/>
            <a:r>
              <a:rPr lang="en-US" altLang="zh-CN" sz="3200" dirty="0"/>
              <a:t>Popping items </a:t>
            </a:r>
            <a:r>
              <a:rPr lang="en-US" altLang="zh-CN" sz="3200" dirty="0">
                <a:solidFill>
                  <a:srgbClr val="FFFF00"/>
                </a:solidFill>
              </a:rPr>
              <a:t>out</a:t>
            </a:r>
            <a:r>
              <a:rPr lang="en-US" altLang="zh-CN" sz="3200" dirty="0"/>
              <a:t> of an array, or pushing items </a:t>
            </a:r>
            <a:r>
              <a:rPr lang="en-US" altLang="zh-CN" sz="3200" dirty="0">
                <a:solidFill>
                  <a:srgbClr val="FFFF00"/>
                </a:solidFill>
              </a:rPr>
              <a:t>into</a:t>
            </a:r>
            <a:r>
              <a:rPr lang="en-US" altLang="zh-CN" sz="3200" dirty="0"/>
              <a:t> an array.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7606" y="185351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Popping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9568" y="1233337"/>
            <a:ext cx="11247215" cy="883562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pop() </a:t>
            </a:r>
            <a:r>
              <a:rPr lang="en-US" altLang="zh-CN" dirty="0"/>
              <a:t>method removes the last element from an array, and returns the value that was "popped out":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16" y="2219517"/>
            <a:ext cx="5941325" cy="445313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48" y="3606692"/>
            <a:ext cx="5145535" cy="167878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410"/>
          </a:xfrm>
        </p:spPr>
        <p:txBody>
          <a:bodyPr/>
          <a:lstStyle/>
          <a:p>
            <a:pPr algn="ctr"/>
            <a:r>
              <a:rPr lang="en-US" altLang="zh-CN" dirty="0"/>
              <a:t>Pushing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41637" y="1412962"/>
            <a:ext cx="11042821" cy="962819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FF00"/>
                </a:solidFill>
              </a:rPr>
              <a:t>push() </a:t>
            </a:r>
            <a:r>
              <a:rPr lang="en-US" altLang="zh-CN" sz="3200" dirty="0"/>
              <a:t>method adds a new element to an array (at the end), and returns the new array length: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90" y="2413722"/>
            <a:ext cx="5148482" cy="43083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549" y="4023694"/>
            <a:ext cx="5593094" cy="151831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270"/>
          </a:xfrm>
        </p:spPr>
        <p:txBody>
          <a:bodyPr/>
          <a:lstStyle/>
          <a:p>
            <a:pPr algn="ctr"/>
            <a:r>
              <a:rPr lang="en-US" altLang="zh-CN" dirty="0"/>
              <a:t>Shifting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6308" y="1087396"/>
            <a:ext cx="11269362" cy="1408669"/>
          </a:xfrm>
        </p:spPr>
        <p:txBody>
          <a:bodyPr>
            <a:normAutofit fontScale="92500"/>
          </a:bodyPr>
          <a:lstStyle/>
          <a:p>
            <a:pPr algn="just"/>
            <a:r>
              <a:rPr lang="en-US" altLang="zh-CN" dirty="0"/>
              <a:t>Shifting is equivalent to popping, working on the first element instead of the last.</a:t>
            </a:r>
            <a:endParaRPr lang="en-US" altLang="zh-CN" dirty="0"/>
          </a:p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shift() </a:t>
            </a:r>
            <a:r>
              <a:rPr lang="en-US" altLang="zh-CN" dirty="0"/>
              <a:t>method removes the first array element and "shifts" all other elements to a lower index, </a:t>
            </a:r>
            <a:r>
              <a:rPr lang="en-US" altLang="zh-CN" sz="2800" dirty="0"/>
              <a:t>returns the string that was "shifted out".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7264" y="2496065"/>
            <a:ext cx="6777472" cy="30213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697" y="5607813"/>
            <a:ext cx="7391400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43071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Shifting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56054" y="858157"/>
            <a:ext cx="11324968" cy="970643"/>
          </a:xfrm>
        </p:spPr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unshift()</a:t>
            </a:r>
            <a:r>
              <a:rPr lang="en-US" altLang="zh-CN" dirty="0"/>
              <a:t> method adds a new element to an array (at the beginning), and "unshifts" older elements,</a:t>
            </a:r>
            <a:r>
              <a:rPr lang="en-US" altLang="zh-CN" sz="2800" dirty="0"/>
              <a:t> returns the new array length.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3781" y="1692791"/>
            <a:ext cx="6165176" cy="31594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61" y="5108830"/>
            <a:ext cx="9206118" cy="1637959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0297"/>
          </a:xfrm>
        </p:spPr>
        <p:txBody>
          <a:bodyPr/>
          <a:lstStyle/>
          <a:p>
            <a:pPr algn="ctr"/>
            <a:r>
              <a:rPr lang="en-US" altLang="zh-CN" dirty="0"/>
              <a:t>Splicing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18985" y="1615044"/>
            <a:ext cx="11189042" cy="720383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FF00"/>
                </a:solidFill>
              </a:rPr>
              <a:t>splice() </a:t>
            </a:r>
            <a:r>
              <a:rPr lang="en-US" altLang="zh-CN" sz="3200" dirty="0"/>
              <a:t>method can be used to add new items to an array:</a:t>
            </a:r>
            <a:endParaRPr lang="en-US" altLang="zh-CN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356" y="2389961"/>
            <a:ext cx="5208505" cy="4177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2" y="3496275"/>
            <a:ext cx="5951353" cy="155763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Splicing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931644"/>
            <a:ext cx="10515600" cy="2905063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first parameter (2) defines the position </a:t>
            </a:r>
            <a:r>
              <a:rPr lang="en-US" altLang="zh-CN" dirty="0">
                <a:solidFill>
                  <a:srgbClr val="FFFF00"/>
                </a:solidFill>
              </a:rPr>
              <a:t>where</a:t>
            </a:r>
            <a:r>
              <a:rPr lang="en-US" altLang="zh-CN" dirty="0"/>
              <a:t> new elements should be </a:t>
            </a:r>
            <a:r>
              <a:rPr lang="en-US" altLang="zh-CN" dirty="0">
                <a:solidFill>
                  <a:srgbClr val="FFFF00"/>
                </a:solidFill>
              </a:rPr>
              <a:t>added</a:t>
            </a:r>
            <a:r>
              <a:rPr lang="en-US" altLang="zh-CN" dirty="0"/>
              <a:t> (spliced in).</a:t>
            </a:r>
            <a:endParaRPr lang="en-US" altLang="zh-CN" dirty="0"/>
          </a:p>
          <a:p>
            <a:pPr algn="just"/>
            <a:r>
              <a:rPr lang="en-US" altLang="zh-CN" dirty="0"/>
              <a:t>The second parameter (0) defines </a:t>
            </a:r>
            <a:r>
              <a:rPr lang="en-US" altLang="zh-CN" dirty="0">
                <a:solidFill>
                  <a:srgbClr val="FFFF00"/>
                </a:solidFill>
              </a:rPr>
              <a:t>how many</a:t>
            </a:r>
            <a:r>
              <a:rPr lang="en-US" altLang="zh-CN" dirty="0"/>
              <a:t> elements should be </a:t>
            </a:r>
            <a:r>
              <a:rPr lang="en-US" altLang="zh-CN" dirty="0">
                <a:solidFill>
                  <a:srgbClr val="FFFF00"/>
                </a:solidFill>
              </a:rPr>
              <a:t>removed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/>
            <a:r>
              <a:rPr lang="en-US" altLang="zh-CN" dirty="0"/>
              <a:t>The rest of the parameters ("Lemon" , "Kiwi") define the new elements to be </a:t>
            </a:r>
            <a:r>
              <a:rPr lang="en-US" altLang="zh-CN" dirty="0">
                <a:solidFill>
                  <a:srgbClr val="FFFF00"/>
                </a:solidFill>
              </a:rPr>
              <a:t>added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Using splice() to Remove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8477" y="1608865"/>
            <a:ext cx="10515600" cy="99841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With clever parameter setting, you can use splice() to remove elements without leaving "holes" in the array: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030001"/>
            <a:ext cx="5210175" cy="3648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7" y="4339688"/>
            <a:ext cx="466725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Using splice() to Remove Elements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248828"/>
            <a:ext cx="10515600" cy="2905063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first parameter (0) defines the position where new elements should be </a:t>
            </a:r>
            <a:r>
              <a:rPr lang="en-US" altLang="zh-CN" dirty="0">
                <a:solidFill>
                  <a:srgbClr val="FFFF00"/>
                </a:solidFill>
              </a:rPr>
              <a:t>added</a:t>
            </a:r>
            <a:r>
              <a:rPr lang="en-US" altLang="zh-CN" dirty="0"/>
              <a:t> (spliced in).</a:t>
            </a:r>
            <a:endParaRPr lang="en-US" altLang="zh-CN" dirty="0"/>
          </a:p>
          <a:p>
            <a:pPr algn="just"/>
            <a:r>
              <a:rPr lang="en-US" altLang="zh-CN" dirty="0"/>
              <a:t>The second parameter (1) defines </a:t>
            </a:r>
            <a:r>
              <a:rPr lang="en-US" altLang="zh-CN" dirty="0">
                <a:solidFill>
                  <a:srgbClr val="FFFF00"/>
                </a:solidFill>
              </a:rPr>
              <a:t>how many </a:t>
            </a:r>
            <a:r>
              <a:rPr lang="en-US" altLang="zh-CN" dirty="0"/>
              <a:t>elements should be </a:t>
            </a:r>
            <a:r>
              <a:rPr lang="en-US" altLang="zh-CN" dirty="0">
                <a:solidFill>
                  <a:srgbClr val="FFFF00"/>
                </a:solidFill>
              </a:rPr>
              <a:t>removed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/>
            <a:r>
              <a:rPr lang="en-US" altLang="zh-CN" dirty="0"/>
              <a:t>The rest of the parameters are omitted. No new elements will be added.</a:t>
            </a:r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653"/>
          </a:xfrm>
        </p:spPr>
        <p:txBody>
          <a:bodyPr/>
          <a:lstStyle/>
          <a:p>
            <a:pPr algn="ctr"/>
            <a:r>
              <a:rPr lang="en-US" altLang="zh-CN" dirty="0"/>
              <a:t>Sorting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377778"/>
            <a:ext cx="10515600" cy="553567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FF00"/>
                </a:solidFill>
              </a:rPr>
              <a:t>sort() </a:t>
            </a:r>
            <a:r>
              <a:rPr lang="en-US" altLang="zh-CN" sz="3200" dirty="0"/>
              <a:t>method sorts an array alphabetically: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06" y="2200981"/>
            <a:ext cx="5083787" cy="4385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15" y="4006613"/>
            <a:ext cx="5351470" cy="156628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4138"/>
          </a:xfrm>
        </p:spPr>
        <p:txBody>
          <a:bodyPr/>
          <a:lstStyle/>
          <a:p>
            <a:pPr algn="ctr"/>
            <a:r>
              <a:rPr lang="en-US" altLang="zh-CN" dirty="0"/>
              <a:t>Reversing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04980"/>
            <a:ext cx="10515600" cy="1103442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FF00"/>
                </a:solidFill>
              </a:rPr>
              <a:t>reverse() </a:t>
            </a:r>
            <a:r>
              <a:rPr lang="en-US" altLang="zh-CN" sz="3200" dirty="0"/>
              <a:t>method reverses the elements in an array.</a:t>
            </a:r>
            <a:endParaRPr lang="en-US" altLang="zh-CN" sz="3200" dirty="0"/>
          </a:p>
          <a:p>
            <a:pPr algn="just"/>
            <a:r>
              <a:rPr lang="en-US" altLang="zh-CN" sz="3200" dirty="0"/>
              <a:t>You can use it to sort an array in descending order:</a:t>
            </a:r>
            <a:endParaRPr lang="en-US" altLang="zh-CN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79" y="2508421"/>
            <a:ext cx="4939143" cy="42692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77" y="3961232"/>
            <a:ext cx="5248163" cy="155605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Numeric Sort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928194"/>
            <a:ext cx="10515600" cy="3498829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By default, the sort() function sorts values as </a:t>
            </a:r>
            <a:r>
              <a:rPr lang="en-US" altLang="zh-CN" dirty="0">
                <a:solidFill>
                  <a:srgbClr val="FFFF00"/>
                </a:solidFill>
              </a:rPr>
              <a:t>strings</a:t>
            </a:r>
            <a:r>
              <a:rPr lang="en-US" altLang="zh-CN" dirty="0"/>
              <a:t>.</a:t>
            </a:r>
            <a:endParaRPr lang="en-US" altLang="zh-CN" dirty="0"/>
          </a:p>
          <a:p>
            <a:pPr algn="just"/>
            <a:r>
              <a:rPr lang="en-US" altLang="zh-CN" dirty="0"/>
              <a:t>This works well for strings ("Apple" comes before "Banana").</a:t>
            </a:r>
            <a:endParaRPr lang="en-US" altLang="zh-CN" dirty="0"/>
          </a:p>
          <a:p>
            <a:pPr algn="just"/>
            <a:r>
              <a:rPr lang="en-US" altLang="zh-CN" dirty="0"/>
              <a:t>However, if numbers are sorted as strings, "25" is bigger than "100", because "2" is bigger than "1".</a:t>
            </a:r>
            <a:endParaRPr lang="en-US" altLang="zh-CN" dirty="0"/>
          </a:p>
          <a:p>
            <a:pPr algn="just"/>
            <a:r>
              <a:rPr lang="en-US" altLang="zh-CN" dirty="0"/>
              <a:t>Because of this, the sort() method will produce incorrect result when sorting numbers.</a:t>
            </a:r>
            <a:endParaRPr lang="en-US" altLang="zh-CN" dirty="0"/>
          </a:p>
          <a:p>
            <a:pPr algn="just"/>
            <a:r>
              <a:rPr lang="en-US" altLang="zh-CN" dirty="0"/>
              <a:t>You can fix this by providing a </a:t>
            </a:r>
            <a:r>
              <a:rPr lang="en-US" altLang="zh-CN" dirty="0">
                <a:solidFill>
                  <a:srgbClr val="FFFF00"/>
                </a:solidFill>
              </a:rPr>
              <a:t>compare function</a:t>
            </a:r>
            <a:r>
              <a:rPr lang="en-US" altLang="zh-CN" dirty="0"/>
              <a:t>:</a:t>
            </a:r>
            <a:endParaRPr lang="en-US" altLang="zh-CN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Compare Function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79621" y="1708362"/>
            <a:ext cx="10991335" cy="179486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purpose of the compare function is to define an alternative sort order.</a:t>
            </a:r>
            <a:endParaRPr lang="en-US" altLang="zh-CN" dirty="0"/>
          </a:p>
          <a:p>
            <a:pPr algn="just"/>
            <a:r>
              <a:rPr lang="en-US" altLang="zh-CN" dirty="0"/>
              <a:t>The compare function should return a negative, zero, or positive value, depending on the arguments:</a:t>
            </a:r>
            <a:endParaRPr lang="en-US" altLang="zh-CN" dirty="0"/>
          </a:p>
        </p:txBody>
      </p:sp>
      <p:sp>
        <p:nvSpPr>
          <p:cNvPr id="8" name="内容占位符 4"/>
          <p:cNvSpPr txBox="1"/>
          <p:nvPr/>
        </p:nvSpPr>
        <p:spPr>
          <a:xfrm>
            <a:off x="535459" y="5204422"/>
            <a:ext cx="11464636" cy="137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When the sort() function compares two values, it sends the values to the compare function, and sorts the values according to the returned (negative, zero, positive) value.</a:t>
            </a:r>
            <a:endParaRPr kumimoji="0" lang="en-US" altLang="zh-CN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2728" y="3965431"/>
            <a:ext cx="4732504" cy="53463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Compare Function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708361"/>
            <a:ext cx="10515600" cy="36949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algn="just"/>
            <a:r>
              <a:rPr lang="en-US" altLang="zh-CN" dirty="0"/>
              <a:t>When comparing 40 and 100, the sort() method calls the compare function(40,100).</a:t>
            </a:r>
            <a:endParaRPr lang="en-US" altLang="zh-CN" dirty="0"/>
          </a:p>
          <a:p>
            <a:pPr algn="just"/>
            <a:r>
              <a:rPr lang="en-US" altLang="zh-CN" dirty="0"/>
              <a:t>The function calculates 40-100, and returns -60 (a negative value).</a:t>
            </a:r>
            <a:endParaRPr lang="en-US" altLang="zh-CN" dirty="0"/>
          </a:p>
          <a:p>
            <a:pPr algn="just"/>
            <a:r>
              <a:rPr lang="en-US" altLang="zh-CN" dirty="0"/>
              <a:t>The sort function will sort 40 as a value lower than 100.</a:t>
            </a:r>
            <a:endParaRPr lang="en-US" altLang="zh-CN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0870"/>
          </a:xfrm>
        </p:spPr>
        <p:txBody>
          <a:bodyPr/>
          <a:lstStyle/>
          <a:p>
            <a:pPr algn="ctr"/>
            <a:r>
              <a:rPr lang="en-US" altLang="zh-CN" dirty="0"/>
              <a:t>Numeric Sort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859" y="1621323"/>
            <a:ext cx="6303186" cy="49710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179" y="3121818"/>
            <a:ext cx="5026528" cy="132661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Numeric Sort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4633" y="1466035"/>
            <a:ext cx="10515600" cy="503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or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56" y="2248929"/>
            <a:ext cx="5494456" cy="43125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25" y="3992952"/>
            <a:ext cx="5142631" cy="133280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621"/>
          </a:xfrm>
        </p:spPr>
        <p:txBody>
          <a:bodyPr/>
          <a:lstStyle/>
          <a:p>
            <a:pPr algn="ctr"/>
            <a:r>
              <a:rPr lang="en-US" altLang="zh-CN" dirty="0"/>
              <a:t>Numeric Sort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88773" y="1684187"/>
            <a:ext cx="10515600" cy="559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Use the same trick to sort an array descending: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17" y="2562396"/>
            <a:ext cx="5373583" cy="40917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34" y="3927817"/>
            <a:ext cx="5714021" cy="1502977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Numeric Sort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518581"/>
            <a:ext cx="10515600" cy="57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or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848" y="2261229"/>
            <a:ext cx="5547896" cy="43681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18" y="3645700"/>
            <a:ext cx="5341207" cy="148853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Joining Arrays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94775" y="1690688"/>
            <a:ext cx="10515600" cy="1081572"/>
          </a:xfrm>
        </p:spPr>
        <p:txBody>
          <a:bodyPr>
            <a:normAutofit/>
          </a:bodyPr>
          <a:lstStyle/>
          <a:p>
            <a:r>
              <a:rPr lang="en-US" altLang="zh-CN" dirty="0"/>
              <a:t>The concat() method can take any number of array arguments, and creates a new array by concatenating these arrays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120" y="2904765"/>
            <a:ext cx="3981450" cy="3867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355" y="3992768"/>
            <a:ext cx="3362325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194"/>
          </a:xfrm>
        </p:spPr>
        <p:txBody>
          <a:bodyPr/>
          <a:lstStyle/>
          <a:p>
            <a:pPr algn="ctr"/>
            <a:r>
              <a:rPr lang="en-US" altLang="zh-CN" dirty="0"/>
              <a:t>Slicing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76881" y="1223320"/>
            <a:ext cx="11232292" cy="148533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slice() </a:t>
            </a:r>
            <a:r>
              <a:rPr lang="en-US" altLang="zh-CN" dirty="0"/>
              <a:t>method slices out a piece of an array into a new array.</a:t>
            </a:r>
            <a:endParaRPr lang="en-US" altLang="zh-CN" dirty="0"/>
          </a:p>
          <a:p>
            <a:pPr algn="just"/>
            <a:r>
              <a:rPr lang="en-US" altLang="zh-CN" dirty="0"/>
              <a:t>This example slices out a part of an array </a:t>
            </a:r>
            <a:r>
              <a:rPr lang="en-US" altLang="zh-CN" dirty="0">
                <a:solidFill>
                  <a:srgbClr val="FF0000"/>
                </a:solidFill>
              </a:rPr>
              <a:t>starting from </a:t>
            </a:r>
            <a:r>
              <a:rPr lang="en-US" altLang="zh-CN" dirty="0"/>
              <a:t>array element 1 ("Orange"):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2389" y="2609799"/>
            <a:ext cx="7672762" cy="27409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81" y="5651819"/>
            <a:ext cx="7751577" cy="102083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653"/>
          </a:xfrm>
        </p:spPr>
        <p:txBody>
          <a:bodyPr/>
          <a:lstStyle/>
          <a:p>
            <a:pPr algn="ctr"/>
            <a:r>
              <a:rPr lang="en-US" altLang="zh-CN" dirty="0"/>
              <a:t>Slicing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95998" y="1327213"/>
            <a:ext cx="10791567" cy="962820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This example slices out a part of an array starting from array element 3 ("Apple"):</a:t>
            </a:r>
            <a:endParaRPr lang="en-US" altLang="zh-CN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542" y="2626518"/>
            <a:ext cx="7520915" cy="26808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542" y="5491545"/>
            <a:ext cx="7512480" cy="106371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7940"/>
          </a:xfrm>
        </p:spPr>
        <p:txBody>
          <a:bodyPr/>
          <a:lstStyle/>
          <a:p>
            <a:pPr algn="ctr"/>
            <a:r>
              <a:rPr lang="en-US" altLang="zh-CN" dirty="0"/>
              <a:t>Slicing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67265" y="1353066"/>
            <a:ext cx="10686535" cy="1485334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slice() method can take two arguments like slice(1,3).</a:t>
            </a:r>
            <a:endParaRPr lang="en-US" altLang="zh-CN" dirty="0"/>
          </a:p>
          <a:p>
            <a:pPr algn="just"/>
            <a:r>
              <a:rPr lang="en-US" altLang="zh-CN" dirty="0"/>
              <a:t>The method then selects elements from the start argument, and up to (but not including) the end argument.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5066" y="2766098"/>
            <a:ext cx="7232530" cy="24629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79" y="5359107"/>
            <a:ext cx="10627574" cy="133570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189"/>
          </a:xfrm>
        </p:spPr>
        <p:txBody>
          <a:bodyPr/>
          <a:lstStyle/>
          <a:p>
            <a:pPr algn="ctr"/>
            <a:r>
              <a:rPr lang="en-US" altLang="zh-CN" dirty="0"/>
              <a:t>Slicing an Array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95338" y="1456236"/>
            <a:ext cx="10515600" cy="962820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If the end argument is omitted, like in the first examples, the slice() method slices out the rest of the array.</a:t>
            </a:r>
            <a:endParaRPr lang="en-US" altLang="zh-CN" sz="3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931" y="2615300"/>
            <a:ext cx="6946137" cy="25466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081" y="5554424"/>
            <a:ext cx="7637909" cy="101319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>
                <a:effectLst/>
                <a:latin typeface="Segoe UI" panose="020B0502040204020203" pitchFamily="34" charset="0"/>
              </a:rPr>
              <a:t>JavaScript Scope</a:t>
            </a:r>
            <a:endParaRPr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99368" y="383909"/>
            <a:ext cx="44053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Scope</a:t>
            </a:r>
            <a:endParaRPr lang="en-US" altLang="zh-CN" sz="4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24466" y="2097212"/>
            <a:ext cx="99410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JavaScript, objects and functions are also variables.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JavaScript, scope is the set of variables, objects, and functions you have access to.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JavaScript has function scope: The scope changes inside functions.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54794" y="224043"/>
            <a:ext cx="51008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JavaScript Variables</a:t>
            </a:r>
            <a:endParaRPr lang="en-US" altLang="zh-CN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47222" y="1000036"/>
            <a:ext cx="99356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declared within a JavaScript function, become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the function. Local variables have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They can only be accessed within the function.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484" y="2330027"/>
            <a:ext cx="5699279" cy="28057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16" y="3217848"/>
            <a:ext cx="3843383" cy="103010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47222" y="5553089"/>
            <a:ext cx="100999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local variables are only recognized inside their functions, variables with the same name can be used in different functions. Local variables are created when a function starts, and deleted when the function is completed.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42966" y="214807"/>
            <a:ext cx="5306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JavaScript Variables</a:t>
            </a:r>
            <a:endParaRPr lang="en-US" altLang="zh-CN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9855" y="1151039"/>
            <a:ext cx="102688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 outside a function, becomes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global variable has 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scripts and functions on a web page can access it. </a:t>
            </a:r>
            <a:endParaRPr lang="en-US" altLang="zh-C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55" y="3238061"/>
            <a:ext cx="5923809" cy="32672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22" y="3568378"/>
            <a:ext cx="4158341" cy="901341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87472" y="251752"/>
            <a:ext cx="41985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Global</a:t>
            </a:r>
            <a:endParaRPr lang="en-US" altLang="zh-CN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8982" y="1027837"/>
            <a:ext cx="104740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assign a value to a variable that has not been declared, it will automatically become a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variable. This code example will declare carName as a global variable, even if it is executed inside a function.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629" y="2357920"/>
            <a:ext cx="4806917" cy="342448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394" y="3448745"/>
            <a:ext cx="5329298" cy="983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002" y="5983898"/>
            <a:ext cx="4609524" cy="542857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09404" y="334878"/>
            <a:ext cx="69731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Lifetime of JavaScript Variables</a:t>
            </a:r>
            <a:endParaRPr lang="en-US" altLang="zh-CN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8795" y="1498891"/>
            <a:ext cx="1052177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lifetime of a JavaScript variable starts when it is declared.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Local variables are deleted when the function is completed.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Global variables are deleted when you close the page.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arguments (parameters) work as local variables inside functions.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60086" y="260989"/>
            <a:ext cx="5271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 in HTML</a:t>
            </a:r>
            <a:endParaRPr lang="en-US" altLang="zh-CN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8730" y="1027773"/>
            <a:ext cx="111457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JavaScript, the global scope is the complete JavaScript environment. In HTML, the global scope is the window object: All global variables belong to the window object.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67" y="1927739"/>
            <a:ext cx="4895238" cy="39238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71" y="2118978"/>
            <a:ext cx="4714286" cy="13047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13" y="6059472"/>
            <a:ext cx="8862430" cy="7333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WQyMzkyOWRjOGE1NzM3ODdhMDA3YmE1MDAyZWE4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15228</Words>
  <Application>WPS 演示</Application>
  <PresentationFormat>宽屏</PresentationFormat>
  <Paragraphs>579</Paragraphs>
  <Slides>98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98</vt:i4>
      </vt:variant>
    </vt:vector>
  </HeadingPairs>
  <TitlesOfParts>
    <vt:vector size="113" baseType="lpstr">
      <vt:lpstr>Arial</vt:lpstr>
      <vt:lpstr>宋体</vt:lpstr>
      <vt:lpstr>Wingdings</vt:lpstr>
      <vt:lpstr>Calibri</vt:lpstr>
      <vt:lpstr>等线</vt:lpstr>
      <vt:lpstr>Segoe UI</vt:lpstr>
      <vt:lpstr>Times New Roman</vt:lpstr>
      <vt:lpstr>Verdana</vt:lpstr>
      <vt:lpstr>等线 Light</vt:lpstr>
      <vt:lpstr>微软雅黑</vt:lpstr>
      <vt:lpstr>Arial Unicode MS</vt:lpstr>
      <vt:lpstr>Calibri Light</vt:lpstr>
      <vt:lpstr>Calibri</vt:lpstr>
      <vt:lpstr>Office 主题​​</vt:lpstr>
      <vt:lpstr>Office Theme</vt:lpstr>
      <vt:lpstr>JavaScript Strings</vt:lpstr>
      <vt:lpstr>PowerPoint 演示文稿</vt:lpstr>
      <vt:lpstr>JavaScript  String Methods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JavaScript Numbers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JavaScript Number Methods</vt:lpstr>
      <vt:lpstr>The toString() Method</vt:lpstr>
      <vt:lpstr>The valueOf() Method</vt:lpstr>
      <vt:lpstr>The valueOf() Method</vt:lpstr>
      <vt:lpstr>Converting Variables to Numbers</vt:lpstr>
      <vt:lpstr>The Number() Method</vt:lpstr>
      <vt:lpstr>The parseInt() Method</vt:lpstr>
      <vt:lpstr>The parseFloat() Method</vt:lpstr>
      <vt:lpstr>JavaScript Math</vt:lpstr>
      <vt:lpstr>The Math Object</vt:lpstr>
      <vt:lpstr>Math.min() and Math.max()</vt:lpstr>
      <vt:lpstr>Math.random()</vt:lpstr>
      <vt:lpstr>Math.round()</vt:lpstr>
      <vt:lpstr>Math.ceil()</vt:lpstr>
      <vt:lpstr>Math.floor()</vt:lpstr>
      <vt:lpstr>JavaScript Dates</vt:lpstr>
      <vt:lpstr>JavaScript Date Formats</vt:lpstr>
      <vt:lpstr>Displaying Dates</vt:lpstr>
      <vt:lpstr>Creating Date Objects</vt:lpstr>
      <vt:lpstr>Creating Date Objects</vt:lpstr>
      <vt:lpstr>Creating Date Objects</vt:lpstr>
      <vt:lpstr>Creating Date Objects</vt:lpstr>
      <vt:lpstr>Date Methods</vt:lpstr>
      <vt:lpstr>Displaying Dates</vt:lpstr>
      <vt:lpstr>Date Get Methods</vt:lpstr>
      <vt:lpstr>Date Set Methods</vt:lpstr>
      <vt:lpstr>Date Input - Parsing Dates</vt:lpstr>
      <vt:lpstr>Date Input - Parsing Dates</vt:lpstr>
      <vt:lpstr>Compare Dates</vt:lpstr>
      <vt:lpstr>JavaScript Arrays</vt:lpstr>
      <vt:lpstr>What is an Array?</vt:lpstr>
      <vt:lpstr>You Can Have Different Objects in One Array</vt:lpstr>
      <vt:lpstr>The length Property</vt:lpstr>
      <vt:lpstr>Adding Array Elements</vt:lpstr>
      <vt:lpstr>Adding Array Elements</vt:lpstr>
      <vt:lpstr>Adding Array Elements</vt:lpstr>
      <vt:lpstr>Looping Array Elements</vt:lpstr>
      <vt:lpstr>JavaScript Arrays Methods</vt:lpstr>
      <vt:lpstr>Converting Arrays to Strings</vt:lpstr>
      <vt:lpstr>Converting Arrays to Strings</vt:lpstr>
      <vt:lpstr>Popping and Pushing</vt:lpstr>
      <vt:lpstr>Popping</vt:lpstr>
      <vt:lpstr>Pushing</vt:lpstr>
      <vt:lpstr>Shifting Elements</vt:lpstr>
      <vt:lpstr>Shifting Elements</vt:lpstr>
      <vt:lpstr>Splicing an Array</vt:lpstr>
      <vt:lpstr>Splicing an Array</vt:lpstr>
      <vt:lpstr>Using splice() to Remove Elements</vt:lpstr>
      <vt:lpstr>Using splice() to Remove Elements</vt:lpstr>
      <vt:lpstr>Sorting an Array</vt:lpstr>
      <vt:lpstr>Reversing an Array</vt:lpstr>
      <vt:lpstr>Numeric Sort</vt:lpstr>
      <vt:lpstr>The Compare Function</vt:lpstr>
      <vt:lpstr>The Compare Function</vt:lpstr>
      <vt:lpstr>Numeric Sort</vt:lpstr>
      <vt:lpstr>Numeric Sort</vt:lpstr>
      <vt:lpstr>Numeric Sort</vt:lpstr>
      <vt:lpstr>Numeric Sort</vt:lpstr>
      <vt:lpstr>Joining Arrays</vt:lpstr>
      <vt:lpstr>Slicing an Array</vt:lpstr>
      <vt:lpstr>Slicing an Array</vt:lpstr>
      <vt:lpstr>Slicing an Array</vt:lpstr>
      <vt:lpstr>Slicing an Array</vt:lpstr>
      <vt:lpstr>JavaScript Scope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 Scope</dc:title>
  <dc:creator>Administrator</dc:creator>
  <cp:lastModifiedBy>陈羽中</cp:lastModifiedBy>
  <cp:revision>118</cp:revision>
  <dcterms:created xsi:type="dcterms:W3CDTF">2021-03-22T08:16:00Z</dcterms:created>
  <dcterms:modified xsi:type="dcterms:W3CDTF">2025-06-18T08:51:44Z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743C9D965F1641C5ABA622FC29A03C25_12</vt:lpwstr>
  </property>
  <property fmtid="{D5CDD505-2E9C-101B-9397-08002B2CF9AE}" pid="3" name="KSOProductBuildVer">
    <vt:lpwstr>2052-12.1.0.15990</vt:lpwstr>
  </property>
</Properties>
</file>