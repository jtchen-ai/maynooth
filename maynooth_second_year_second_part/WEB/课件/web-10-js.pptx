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8"/>
  </p:notesMasterIdLst>
  <p:sldIdLst>
    <p:sldId id="409" r:id="rId3"/>
    <p:sldId id="411" r:id="rId4"/>
    <p:sldId id="412" r:id="rId5"/>
    <p:sldId id="413" r:id="rId6"/>
    <p:sldId id="414" r:id="rId7"/>
    <p:sldId id="415" r:id="rId8"/>
    <p:sldId id="416" r:id="rId9"/>
    <p:sldId id="417" r:id="rId10"/>
    <p:sldId id="419" r:id="rId11"/>
    <p:sldId id="420" r:id="rId12"/>
    <p:sldId id="421" r:id="rId13"/>
    <p:sldId id="422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45" r:id="rId23"/>
    <p:sldId id="446" r:id="rId24"/>
    <p:sldId id="447" r:id="rId25"/>
    <p:sldId id="448" r:id="rId26"/>
    <p:sldId id="449" r:id="rId27"/>
    <p:sldId id="450" r:id="rId28"/>
    <p:sldId id="452" r:id="rId29"/>
    <p:sldId id="453" r:id="rId30"/>
    <p:sldId id="454" r:id="rId31"/>
    <p:sldId id="455" r:id="rId32"/>
    <p:sldId id="456" r:id="rId33"/>
    <p:sldId id="457" r:id="rId34"/>
    <p:sldId id="460" r:id="rId35"/>
    <p:sldId id="461" r:id="rId36"/>
    <p:sldId id="463" r:id="rId37"/>
    <p:sldId id="443" r:id="rId38"/>
    <p:sldId id="444" r:id="rId39"/>
    <p:sldId id="464" r:id="rId40"/>
    <p:sldId id="466" r:id="rId41"/>
    <p:sldId id="467" r:id="rId42"/>
    <p:sldId id="468" r:id="rId43"/>
    <p:sldId id="469" r:id="rId44"/>
    <p:sldId id="473" r:id="rId45"/>
    <p:sldId id="475" r:id="rId46"/>
    <p:sldId id="477" r:id="rId47"/>
    <p:sldId id="479" r:id="rId48"/>
    <p:sldId id="480" r:id="rId49"/>
    <p:sldId id="481" r:id="rId50"/>
    <p:sldId id="482" r:id="rId51"/>
    <p:sldId id="550" r:id="rId52"/>
    <p:sldId id="551" r:id="rId53"/>
    <p:sldId id="503" r:id="rId54"/>
    <p:sldId id="504" r:id="rId55"/>
    <p:sldId id="507" r:id="rId56"/>
    <p:sldId id="508" r:id="rId57"/>
    <p:sldId id="509" r:id="rId58"/>
    <p:sldId id="510" r:id="rId59"/>
    <p:sldId id="511" r:id="rId60"/>
    <p:sldId id="512" r:id="rId61"/>
    <p:sldId id="513" r:id="rId62"/>
    <p:sldId id="514" r:id="rId63"/>
    <p:sldId id="515" r:id="rId64"/>
    <p:sldId id="516" r:id="rId65"/>
    <p:sldId id="517" r:id="rId66"/>
    <p:sldId id="518" r:id="rId67"/>
    <p:sldId id="483" r:id="rId68"/>
    <p:sldId id="519" r:id="rId69"/>
    <p:sldId id="520" r:id="rId70"/>
    <p:sldId id="521" r:id="rId71"/>
    <p:sldId id="522" r:id="rId72"/>
    <p:sldId id="523" r:id="rId73"/>
    <p:sldId id="524" r:id="rId74"/>
    <p:sldId id="525" r:id="rId75"/>
    <p:sldId id="526" r:id="rId76"/>
    <p:sldId id="527" r:id="rId77"/>
    <p:sldId id="529" r:id="rId78"/>
    <p:sldId id="531" r:id="rId79"/>
    <p:sldId id="533" r:id="rId80"/>
    <p:sldId id="534" r:id="rId81"/>
    <p:sldId id="536" r:id="rId82"/>
    <p:sldId id="537" r:id="rId83"/>
    <p:sldId id="538" r:id="rId84"/>
    <p:sldId id="541" r:id="rId85"/>
    <p:sldId id="542" r:id="rId86"/>
    <p:sldId id="543" r:id="rId87"/>
    <p:sldId id="544" r:id="rId89"/>
    <p:sldId id="545" r:id="rId90"/>
    <p:sldId id="546" r:id="rId91"/>
  </p:sldIdLst>
  <p:sldSz cx="12192000" cy="6858000"/>
  <p:notesSz cx="6858000" cy="9144000"/>
  <p:custDataLst>
    <p:tags r:id="rId9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F1423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80747" autoAdjust="0"/>
  </p:normalViewPr>
  <p:slideViewPr>
    <p:cSldViewPr snapToGrid="0" showGuides="1">
      <p:cViewPr varScale="1">
        <p:scale>
          <a:sx n="130" d="100"/>
          <a:sy n="130" d="100"/>
        </p:scale>
        <p:origin x="3876" y="132"/>
      </p:cViewPr>
      <p:guideLst>
        <p:guide orient="horz" pos="214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gs" Target="tags/tag126.xml"/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notesMaster" Target="notesMasters/notesMaster1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69C583-F66F-47E4-8F98-29FF839AEAF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5FCD47-3982-4087-A4D2-750D9B00563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Square bracket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5FCD47-3982-4087-A4D2-750D9B0056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-228600">
              <a:spcAft>
                <a:spcPts val="1000"/>
              </a:spcAft>
              <a:defRPr spc="300"/>
            </a:lvl1pPr>
            <a:lvl2pPr indent="-228600">
              <a:defRPr spc="300"/>
            </a:lvl2pPr>
            <a:lvl3pPr indent="-228600">
              <a:defRPr spc="300"/>
            </a:lvl3pPr>
            <a:lvl4pPr indent="-228600">
              <a:defRPr spc="300"/>
            </a:lvl4pPr>
            <a:lvl5pPr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bg1"/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</a:tabLst>
        <a:defRPr sz="16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bg1">
              <a:lumMod val="8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4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6.xml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0.xml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tags" Target="../tags/tag91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3.xml"/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9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0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1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5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56.png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9.xml"/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0.xml"/><Relationship Id="rId2" Type="http://schemas.openxmlformats.org/officeDocument/2006/relationships/image" Target="../media/image61.png"/><Relationship Id="rId1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1.xml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2.xml"/><Relationship Id="rId2" Type="http://schemas.openxmlformats.org/officeDocument/2006/relationships/image" Target="../media/image65.png"/><Relationship Id="rId1" Type="http://schemas.openxmlformats.org/officeDocument/2006/relationships/image" Target="../media/image6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6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6.xml"/><Relationship Id="rId1" Type="http://schemas.openxmlformats.org/officeDocument/2006/relationships/image" Target="../media/image67.png"/></Relationships>
</file>

<file path=ppt/slides/_rels/slide4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7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8.xml"/><Relationship Id="rId2" Type="http://schemas.openxmlformats.org/officeDocument/2006/relationships/image" Target="../media/image71.png"/><Relationship Id="rId1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9.xml"/><Relationship Id="rId2" Type="http://schemas.openxmlformats.org/officeDocument/2006/relationships/image" Target="../media/image73.png"/><Relationship Id="rId1" Type="http://schemas.openxmlformats.org/officeDocument/2006/relationships/image" Target="../media/image7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0.xml"/><Relationship Id="rId1" Type="http://schemas.openxmlformats.org/officeDocument/2006/relationships/image" Target="../media/image74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2.xml"/><Relationship Id="rId2" Type="http://schemas.openxmlformats.org/officeDocument/2006/relationships/image" Target="../media/image75.png"/><Relationship Id="rId1" Type="http://schemas.openxmlformats.org/officeDocument/2006/relationships/tags" Target="../tags/tag121.xml"/></Relationships>
</file>

<file path=ppt/slides/_rels/slide5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24.xml"/><Relationship Id="rId2" Type="http://schemas.openxmlformats.org/officeDocument/2006/relationships/image" Target="../media/image76.png"/><Relationship Id="rId1" Type="http://schemas.openxmlformats.org/officeDocument/2006/relationships/tags" Target="../tags/tag12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1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4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1" Type="http://schemas.openxmlformats.org/officeDocument/2006/relationships/image" Target="../media/image89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1" Type="http://schemas.openxmlformats.org/officeDocument/2006/relationships/image" Target="../media/image9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image" Target="../media/image9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25.xml"/><Relationship Id="rId1" Type="http://schemas.openxmlformats.org/officeDocument/2006/relationships/image" Target="../media/image9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1" Type="http://schemas.openxmlformats.org/officeDocument/2006/relationships/image" Target="../media/image10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1" Type="http://schemas.openxmlformats.org/officeDocument/2006/relationships/image" Target="../media/image111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1" Type="http://schemas.openxmlformats.org/officeDocument/2006/relationships/image" Target="../media/image11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1" Type="http://schemas.openxmlformats.org/officeDocument/2006/relationships/image" Target="../media/image117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1" Type="http://schemas.openxmlformats.org/officeDocument/2006/relationships/image" Target="../media/image119.pn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1.png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image" Target="../media/image122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6.png"/><Relationship Id="rId1" Type="http://schemas.openxmlformats.org/officeDocument/2006/relationships/image" Target="../media/image12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9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1" Type="http://schemas.openxmlformats.org/officeDocument/2006/relationships/image" Target="../media/image130.png"/></Relationships>
</file>

<file path=ppt/slides/_rels/slide8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1" Type="http://schemas.openxmlformats.org/officeDocument/2006/relationships/image" Target="../media/image135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 dirty="0">
                <a:latin typeface="Calibri Light" panose="020F0302020204030204" charset="0"/>
                <a:cs typeface="Calibri Light" panose="020F0302020204030204" charset="0"/>
              </a:rPr>
              <a:t>JavaScript Introduction</a:t>
            </a:r>
            <a:endParaRPr lang="zh-CN" altLang="zh-CN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54258" y="326143"/>
            <a:ext cx="10969200" cy="705600"/>
          </a:xfrm>
        </p:spPr>
        <p:txBody>
          <a:bodyPr>
            <a:noAutofit/>
          </a:bodyPr>
          <a:lstStyle/>
          <a:p>
            <a:pPr algn="ctr"/>
            <a:r>
              <a:rPr lang="zh-CN" altLang="en-US" sz="4000" b="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JavaScript Can Change HTML Content</a:t>
            </a:r>
            <a:endParaRPr lang="zh-CN" altLang="en-US" sz="4000" b="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191445"/>
            <a:ext cx="10969200" cy="1421242"/>
          </a:xfrm>
        </p:spPr>
        <p:txBody>
          <a:bodyPr/>
          <a:lstStyle/>
          <a:p>
            <a:r>
              <a:rPr lang="zh-CN" altLang="en-US" sz="20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One of many HTML methods is getElementById().</a:t>
            </a:r>
            <a:endParaRPr lang="zh-CN" altLang="en-US" sz="20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r>
              <a:rPr lang="zh-CN" altLang="en-US" sz="20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This example uses the method to "find" an HTML element (with id="demo"), and changes the element content (innerHTML) to "Hello JavaScript":</a:t>
            </a:r>
            <a:endParaRPr lang="zh-CN" altLang="en-US" sz="20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3192780"/>
            <a:ext cx="5478780" cy="28575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140" y="2959735"/>
            <a:ext cx="4114800" cy="13563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140" y="5045710"/>
            <a:ext cx="3962400" cy="120396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8836293" y="4453255"/>
            <a:ext cx="8890" cy="45529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1425" y="216605"/>
            <a:ext cx="10969200" cy="705600"/>
          </a:xfrm>
        </p:spPr>
        <p:txBody>
          <a:bodyPr>
            <a:noAutofit/>
          </a:bodyPr>
          <a:lstStyle/>
          <a:p>
            <a:pPr algn="ctr"/>
            <a:r>
              <a:rPr lang="zh-CN" altLang="en-US" sz="4000" b="0" dirty="0">
                <a:latin typeface="Calibri Light" panose="020F0302020204030204" charset="0"/>
                <a:cs typeface="Calibri Light" panose="020F0302020204030204" charset="0"/>
              </a:rPr>
              <a:t>JavaScript Can Change HTML Attributes</a:t>
            </a:r>
            <a:endParaRPr lang="zh-CN" altLang="en-US" sz="4000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9110" y="2303145"/>
            <a:ext cx="6851650" cy="41922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090" y="1804035"/>
            <a:ext cx="4093845" cy="2082800"/>
          </a:xfrm>
          <a:prstGeom prst="rect">
            <a:avLst/>
          </a:prstGeom>
        </p:spPr>
      </p:pic>
      <p:cxnSp>
        <p:nvCxnSpPr>
          <p:cNvPr id="6" name="直接箭头连接符 5"/>
          <p:cNvCxnSpPr/>
          <p:nvPr/>
        </p:nvCxnSpPr>
        <p:spPr>
          <a:xfrm>
            <a:off x="9890125" y="3960495"/>
            <a:ext cx="8890" cy="60007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435" y="4706620"/>
            <a:ext cx="4127500" cy="19056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63550" y="1053465"/>
            <a:ext cx="113074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chemeClr val="bg1"/>
                </a:solidFill>
              </a:rPr>
              <a:t>This example changes an HTML image, by changing the src attribute of an &lt;img&gt; </a:t>
            </a:r>
            <a:r>
              <a:rPr lang="zh-CN" altLang="en-US" sz="2400"/>
              <a:t>tag:</a:t>
            </a:r>
            <a:endParaRPr lang="zh-CN" altLang="en-US" sz="2400"/>
          </a:p>
        </p:txBody>
      </p:sp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25190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Can Change HTML Styles (CSS)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09980"/>
            <a:ext cx="10968990" cy="923925"/>
          </a:xfrm>
        </p:spPr>
        <p:txBody>
          <a:bodyPr>
            <a:noAutofit/>
          </a:bodyPr>
          <a:lstStyle/>
          <a:p>
            <a:r>
              <a:rPr lang="zh-CN" altLang="en-US" sz="240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Changing the style of an HTML element, is a variant of changing an HTML attribute:</a:t>
            </a:r>
            <a:endParaRPr lang="zh-CN" altLang="en-US" sz="240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705" y="2421890"/>
            <a:ext cx="5494020" cy="3398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8745" y="2421890"/>
            <a:ext cx="3954780" cy="1257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745" y="4481195"/>
            <a:ext cx="5547360" cy="163068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8432165" y="3824605"/>
            <a:ext cx="8890" cy="54673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161995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Can Validate Data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812" y="1277478"/>
            <a:ext cx="6267883" cy="591063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is often used to validate input: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0527" y="1028700"/>
            <a:ext cx="5580663" cy="5702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555" y="2164715"/>
            <a:ext cx="4556760" cy="14173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55" y="4555490"/>
            <a:ext cx="4549140" cy="146304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2817495" y="3797300"/>
            <a:ext cx="8890" cy="50990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 dirty="0">
                <a:latin typeface="Calibri Light" panose="020F0302020204030204" charset="0"/>
                <a:cs typeface="Calibri Light" panose="020F0302020204030204" charset="0"/>
              </a:rPr>
              <a:t>JavaScript Where To</a:t>
            </a:r>
            <a:endParaRPr lang="zh-CN" altLang="zh-CN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The &lt;script&gt; Tag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99" y="1490400"/>
            <a:ext cx="11236689" cy="2840968"/>
          </a:xfrm>
        </p:spPr>
        <p:txBody>
          <a:bodyPr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</a:rPr>
              <a:t>JavaScript can be placed in the &lt;body&gt; and the &lt;head&gt; sections of an HTML page.</a:t>
            </a:r>
            <a:endParaRPr lang="zh-CN" altLang="en-US" sz="2800" dirty="0">
              <a:solidFill>
                <a:schemeClr val="bg1"/>
              </a:solidFill>
            </a:endParaRPr>
          </a:p>
          <a:p>
            <a:pPr algn="just"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</a:rPr>
              <a:t>In HTML, JavaScript code must be inserted between &lt;script&gt; and &lt;/script&gt; tags.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2684" y="4947886"/>
            <a:ext cx="7366000" cy="83058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99" y="379800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0" dirty="0">
                <a:latin typeface="+mn-lt"/>
                <a:cs typeface="Calibri Light" panose="020F0302020204030204" charset="0"/>
              </a:rPr>
              <a:t>JavaScript Functions and Events</a:t>
            </a:r>
            <a:endParaRPr lang="zh-CN" altLang="en-US" sz="4000" b="0" dirty="0">
              <a:latin typeface="+mn-lt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485" y="1490345"/>
            <a:ext cx="11315065" cy="3863975"/>
          </a:xfrm>
        </p:spPr>
        <p:txBody>
          <a:bodyPr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A JavaScript function is a block of JavaScript code, that can be executed when "asked" for.</a:t>
            </a:r>
            <a:endParaRPr lang="zh-CN" altLang="en-US" sz="28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For example, a function can be executed when an event occurs, like when the user clicks a button.</a:t>
            </a:r>
            <a:endParaRPr lang="zh-CN" altLang="en-US" sz="28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sym typeface="+mn-ea"/>
              </a:rPr>
              <a:t>You can place any number of scripts in an HTML document.</a:t>
            </a:r>
            <a:endParaRPr lang="zh-CN" altLang="en-US" sz="2800" dirty="0">
              <a:solidFill>
                <a:schemeClr val="bg1"/>
              </a:solidFill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sym typeface="+mn-ea"/>
              </a:rPr>
              <a:t>Scripts can be placed in the &lt;body&gt;, or in the &lt;head&gt; section of an HTML page, or in both.</a:t>
            </a:r>
            <a:endParaRPr lang="zh-CN" altLang="en-US" sz="28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192645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in &lt;head&gt;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936380"/>
            <a:ext cx="11239530" cy="1367667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In this example, a JavaScript function is placed in the &lt;head&gt; section of an HTML page.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The function is invoked (called) when a button is clicked: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4943" y="2863215"/>
            <a:ext cx="3522345" cy="12649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943" y="5259705"/>
            <a:ext cx="3522345" cy="123444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8675303" y="4391660"/>
            <a:ext cx="0" cy="61976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85" y="2706104"/>
            <a:ext cx="5534025" cy="3695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275" y="140650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0" dirty="0">
                <a:latin typeface="Calibri Light" panose="020F0302020204030204" charset="0"/>
                <a:cs typeface="Calibri Light" panose="020F0302020204030204" charset="0"/>
              </a:rPr>
              <a:t>JavaScript in &lt;body&gt;</a:t>
            </a:r>
            <a:endParaRPr lang="zh-CN" altLang="en-US" sz="4000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9169" y="1039216"/>
            <a:ext cx="11145525" cy="1521104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In this example, a JavaScript function is placed in the &lt;body&gt; section of an HTML page.</a:t>
            </a:r>
            <a:endParaRPr lang="zh-CN" altLang="en-US" sz="2400" dirty="0">
              <a:solidFill>
                <a:schemeClr val="bg1"/>
              </a:solidFill>
            </a:endParaRPr>
          </a:p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The function is invoked (called) when a button is clicked: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2662555"/>
            <a:ext cx="5425440" cy="30632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125" y="2662555"/>
            <a:ext cx="2933700" cy="1143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745" y="4537075"/>
            <a:ext cx="2926080" cy="1188720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>
            <a:off x="8217535" y="3879215"/>
            <a:ext cx="8890" cy="55562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73785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0" dirty="0">
                <a:latin typeface="Calibri Light" panose="020F0302020204030204" charset="0"/>
                <a:cs typeface="Calibri Light" panose="020F0302020204030204" charset="0"/>
              </a:rPr>
              <a:t>External JavaScript</a:t>
            </a:r>
            <a:endParaRPr lang="zh-CN" altLang="en-US" sz="4000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43330"/>
            <a:ext cx="11258550" cy="475615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Scripts can also be placed in external files: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External scripts are practical when the same code is used in many different web pages.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JavaScript files have the file extension .js.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To use an external script, put the name of the script file in the src (source) attribute of a &lt;script&gt; tag: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" y="2095500"/>
            <a:ext cx="9163685" cy="10934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1425" y="243910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External JavaScript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1355" y="1162685"/>
            <a:ext cx="5407025" cy="38468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890" y="1162685"/>
            <a:ext cx="4922520" cy="16230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2890" y="3476625"/>
            <a:ext cx="4838700" cy="163830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9029700" y="2948940"/>
            <a:ext cx="5080" cy="44831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529282" y="5476623"/>
            <a:ext cx="11273486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You can place an external script reference in &lt;head&gt; or &lt;body&gt; as you like.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微软雅黑" panose="020B0503020204020204" pitchFamily="34" charset="-122"/>
                <a:cs typeface="+mn-cs"/>
              </a:rPr>
              <a:t>The script will behave as if it was located exactly where the &lt;script&gt; tag is located.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微软雅黑" panose="020B0503020204020204" pitchFamily="34" charset="-122"/>
              <a:cs typeface="+mn-cs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73784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External JavaScript Advantages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99" y="1490399"/>
            <a:ext cx="11092311" cy="277479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</a:rPr>
              <a:t>Placing JavaScripts in external files has some advantages: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chemeClr val="bg1"/>
                </a:solidFill>
                <a:latin typeface="+mn-lt"/>
              </a:rPr>
              <a:t>   </a:t>
            </a: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 It separates HTML and code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    It makes HTML and JavaScript easier to read and maintain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</a:rPr>
              <a:t>    Cached JavaScript files can speed up page loads</a:t>
            </a:r>
            <a:endParaRPr lang="zh-CN" altLang="en-US" sz="2400" dirty="0">
              <a:solidFill>
                <a:schemeClr val="bg1"/>
              </a:solidFill>
              <a:latin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>
                <a:latin typeface="Calibri Light" panose="020F0302020204030204" charset="0"/>
                <a:cs typeface="Calibri Light" panose="020F0302020204030204" charset="0"/>
              </a:rPr>
              <a:t>JavaScript Output</a:t>
            </a:r>
            <a:endParaRPr lang="zh-CN" altLang="zh-CN" b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03863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JavaScript Display Possibilities</a:t>
            </a:r>
            <a:endParaRPr lang="zh-CN" altLang="en-US" b="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857695" cy="381552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JavaScript can "display" data in different ways:</a:t>
            </a:r>
            <a:endParaRPr lang="zh-CN" altLang="en-US" sz="28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Writing into an alert box, using </a:t>
            </a:r>
            <a:r>
              <a:rPr lang="zh-CN" altLang="en-US" sz="28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window.alert().</a:t>
            </a:r>
            <a:endParaRPr lang="zh-CN" altLang="en-US" sz="28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Writing into the HTML output using </a:t>
            </a:r>
            <a:r>
              <a:rPr lang="zh-CN" altLang="en-US" sz="28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document.write().</a:t>
            </a:r>
            <a:endParaRPr lang="zh-CN" altLang="en-US" sz="28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Writing into an HTML element, using </a:t>
            </a:r>
            <a:r>
              <a:rPr lang="zh-CN" altLang="en-US" sz="28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innerHTML.</a:t>
            </a:r>
            <a:endParaRPr lang="zh-CN" altLang="en-US" sz="28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lnSpc>
                <a:spcPct val="15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Writing into the browser console, using </a:t>
            </a:r>
            <a:r>
              <a:rPr lang="zh-CN" altLang="en-US" sz="28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console.log().</a:t>
            </a:r>
            <a:endParaRPr lang="zh-CN" altLang="en-US" sz="28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6289" y="361752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Using window.alert()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82779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You can use an alert box to display data: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524" y="2516874"/>
            <a:ext cx="3444324" cy="41557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863" y="2790725"/>
            <a:ext cx="5054808" cy="30024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21911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+mn-lt"/>
                <a:cs typeface="Calibri Light" panose="020F0302020204030204" charset="0"/>
              </a:rPr>
              <a:t>Using document.write()</a:t>
            </a:r>
            <a:endParaRPr lang="zh-CN" altLang="en-US" b="0" dirty="0">
              <a:latin typeface="+mn-lt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747474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For testing purposes, it is convenient to use </a:t>
            </a:r>
            <a:r>
              <a:rPr lang="zh-CN" altLang="en-US" sz="24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document.write():</a:t>
            </a:r>
            <a:endParaRPr lang="zh-CN" altLang="en-US" sz="24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294" y="2491105"/>
            <a:ext cx="3161531" cy="36918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946" y="2785879"/>
            <a:ext cx="4689577" cy="2056832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0" dirty="0">
                <a:latin typeface="+mn-lt"/>
                <a:cs typeface="Calibri Light" panose="020F0302020204030204" charset="0"/>
              </a:rPr>
              <a:t>Using document.write()</a:t>
            </a:r>
            <a:endParaRPr lang="zh-CN" altLang="en-US" b="0" dirty="0">
              <a:latin typeface="+mn-lt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399"/>
            <a:ext cx="10969200" cy="1000137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Using document.write() after an HTML document is fully loaded, will </a:t>
            </a:r>
            <a:r>
              <a:rPr lang="zh-CN" altLang="en-US" sz="24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delete all existing HTML:</a:t>
            </a:r>
            <a:endParaRPr lang="zh-CN" altLang="en-US" sz="24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2811145"/>
            <a:ext cx="4724400" cy="23469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5215" y="2811145"/>
            <a:ext cx="2948940" cy="1257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215" y="4813935"/>
            <a:ext cx="2819400" cy="1127760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>
            <a:off x="8836660" y="4179570"/>
            <a:ext cx="8890" cy="501015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05" y="222885"/>
            <a:ext cx="10968990" cy="977265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Using innerHTML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5940" y="1061720"/>
            <a:ext cx="11381740" cy="225171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To access an HTML element, JavaScript can use the document.getElementById(id) method.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The id attribute defines the HTML element. The innerHTML property defines the HTML content: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127" y="3582669"/>
            <a:ext cx="4905234" cy="31429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515" y="3582669"/>
            <a:ext cx="4842259" cy="2035676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210820"/>
            <a:ext cx="10968990" cy="1102995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Using console.log()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313815"/>
            <a:ext cx="11279505" cy="1567180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In your browser, you can use the console.log() method to display data.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Activate the browser console with F12, and select "Console" in the menu.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804" y="3179378"/>
            <a:ext cx="4541520" cy="32004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559" y="3227504"/>
            <a:ext cx="4678680" cy="14706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2227" y="343706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Character Set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2516116"/>
          </a:xfrm>
        </p:spPr>
        <p:txBody>
          <a:bodyPr>
            <a:normAutofit/>
          </a:bodyPr>
          <a:lstStyle/>
          <a:p>
            <a:pPr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uses the 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Unicode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character set.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Unicode covers (almost) all the characters, punctuations, and symbols in the world.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>
                <a:latin typeface="Calibri Light" panose="020F0302020204030204" charset="0"/>
                <a:cs typeface="Calibri Light" panose="020F0302020204030204" charset="0"/>
              </a:rPr>
              <a:t>JavaScript Statements</a:t>
            </a:r>
            <a:endParaRPr lang="zh-CN" altLang="zh-CN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7630" y="199865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0" dirty="0">
                <a:latin typeface="Calibri Light" panose="020F0302020204030204" charset="0"/>
                <a:cs typeface="Calibri Light" panose="020F0302020204030204" charset="0"/>
              </a:rPr>
              <a:t>JavaScript Statements</a:t>
            </a:r>
            <a:endParaRPr lang="zh-CN" altLang="en-US" sz="4000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098550"/>
            <a:ext cx="11119485" cy="1278255"/>
          </a:xfrm>
        </p:spPr>
        <p:txBody>
          <a:bodyPr>
            <a:no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This statement tells the browser to write "Hello Dolly." inside an HTML element with id="demo":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028" y="2695117"/>
            <a:ext cx="8712571" cy="19642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815" y="5246370"/>
            <a:ext cx="8473440" cy="12128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225" y="302285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Programs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323" y="1164244"/>
            <a:ext cx="11238030" cy="2266212"/>
          </a:xfrm>
        </p:spPr>
        <p:txBody>
          <a:bodyPr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Most JavaScript programs contain many JavaScript statements.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algn="just"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The statements are executed, one by one, in the same order as they are written.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algn="just"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In this example x, y, and z are given values, and finally z is displayed: 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607743" y="3289162"/>
            <a:ext cx="7249837" cy="194679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106" y="5645410"/>
            <a:ext cx="7539844" cy="1040776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7631" y="237953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Semicolons ;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873" y="1078990"/>
            <a:ext cx="10969200" cy="971061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Semicolons separate JavaScript statements.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Add a semicolon at the end of each executable statement: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164" y="2313382"/>
            <a:ext cx="5630783" cy="208389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392" y="2872505"/>
            <a:ext cx="5281602" cy="98894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107" y="5485580"/>
            <a:ext cx="7182243" cy="872863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85164" y="4660897"/>
            <a:ext cx="98275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When separated by semicolons, multiple statements on one line are allowed: 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65410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White Space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83005"/>
            <a:ext cx="10968990" cy="5066665"/>
          </a:xfrm>
        </p:spPr>
        <p:txBody>
          <a:bodyPr/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ignores multiple spaces. You can add white space to your script to make it more readable.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following lines are equivalent: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zh-CN" altLang="en-US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375" y="2880995"/>
            <a:ext cx="4593590" cy="12255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067" y="5097805"/>
            <a:ext cx="4288562" cy="76134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36781" y="4327636"/>
            <a:ext cx="77811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 good practice is to put spaces around operators ( = + - * / ):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35020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JavaScript Code Blocks</a:t>
            </a:r>
            <a:endParaRPr lang="zh-CN" altLang="en-US" b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6385" y="940620"/>
            <a:ext cx="11455100" cy="1892730"/>
          </a:xfrm>
        </p:spPr>
        <p:txBody>
          <a:bodyPr>
            <a:noAutofit/>
          </a:bodyPr>
          <a:lstStyle/>
          <a:p>
            <a:pPr algn="just"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statements can be grouped together in code blocks, inside curly brackets {...}.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purpose of code blocks is to define statements to be executed together.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just"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One place you will find statements grouped together in blocks, are in JavaScript functions: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400" y="3805716"/>
            <a:ext cx="5052060" cy="25450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385" y="2949834"/>
            <a:ext cx="4145280" cy="15576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385" y="5173996"/>
            <a:ext cx="4229100" cy="1598295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9655025" y="4623973"/>
            <a:ext cx="0" cy="500380"/>
          </a:xfrm>
          <a:prstGeom prst="straightConnector1">
            <a:avLst/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153105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Keywords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858575"/>
            <a:ext cx="10969200" cy="1261435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statements often start with a keyword to identify the JavaScript action to be performed.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Here is a list of some of the keywords you will learn about in this tutorial: 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9954" y="2475080"/>
            <a:ext cx="7075805" cy="43072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>
                <a:latin typeface="Calibri Light" panose="020F0302020204030204" charset="0"/>
                <a:cs typeface="Calibri Light" panose="020F0302020204030204" charset="0"/>
              </a:rPr>
              <a:t>JavaScript Comments</a:t>
            </a:r>
            <a:endParaRPr lang="zh-CN" altLang="zh-CN" b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99" y="197190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Single Line Comments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9387" y="1245784"/>
            <a:ext cx="11319569" cy="186434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Single line comments start with //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Any text between // and the end of the line, will be ignored by JavaScript (will not be executed)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This example uses a single line comment before each line, to explain the code: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3425" y="3385820"/>
            <a:ext cx="5151120" cy="30556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50" y="3385820"/>
            <a:ext cx="2979420" cy="124968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64865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Single Line Comments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90955"/>
            <a:ext cx="10968990" cy="1145540"/>
          </a:xfrm>
        </p:spPr>
        <p:txBody>
          <a:bodyPr>
            <a:no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This example uses a single line comment at the end of each line, to explain the code: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66" y="2926286"/>
            <a:ext cx="5196840" cy="28498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8486" y="3246618"/>
            <a:ext cx="3162300" cy="8001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146197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Multi-line Comments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956310"/>
            <a:ext cx="11276330" cy="1815465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Multi-line comments start with /* and end with */.</a:t>
            </a:r>
            <a:endParaRPr lang="zh-CN" altLang="en-US" sz="240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Any text between /* and */ will be ignored by JavaScript.</a:t>
            </a:r>
            <a:endParaRPr lang="zh-CN" altLang="en-US" sz="240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 Light" panose="020F0302020204030204" charset="0"/>
                <a:cs typeface="Calibri Light" panose="020F0302020204030204" charset="0"/>
              </a:rPr>
              <a:t>This example uses a multi-line comment (a comment block) to explain the code:</a:t>
            </a:r>
            <a:endParaRPr lang="zh-CN" altLang="en-US" sz="2400" dirty="0">
              <a:solidFill>
                <a:schemeClr val="bg1"/>
              </a:solidFill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130" y="2964180"/>
            <a:ext cx="5173980" cy="37719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655" y="2964180"/>
            <a:ext cx="3124200" cy="11887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>
                <a:latin typeface="Calibri Light" panose="020F0302020204030204" charset="0"/>
                <a:cs typeface="Calibri Light" panose="020F0302020204030204" charset="0"/>
              </a:rPr>
              <a:t>JavaScript Variables</a:t>
            </a:r>
            <a:endParaRPr lang="zh-CN" altLang="zh-CN" b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1806" y="410377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Variables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388110"/>
            <a:ext cx="11197590" cy="51384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variables are containers for storing data values.</a:t>
            </a: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In this example, x, y, and z, are variables:</a:t>
            </a: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zh-CN" alt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From the example above, you can expect:</a:t>
            </a: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x stores the value 5</a:t>
            </a: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y stores the value 6</a:t>
            </a: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32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   z stores the value 11</a:t>
            </a:r>
            <a:endParaRPr lang="zh-CN" altLang="en-US" sz="32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285" y="2636520"/>
            <a:ext cx="3303270" cy="16795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1090" y="198190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Identifiers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0050" y="1230630"/>
            <a:ext cx="11393170" cy="545084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All JavaScript 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variables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must be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identified 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with 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unique names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These unique names are called 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identifiers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Identifiers can be short names (like x and y), or more descriptive names (age, sum, totalVolume).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general rules for constructing names for variables (unique identifiers) are: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Names can contain letters, digits, underscores, and dollar signs.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Names must begin with a letter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Names can also begin with $ and _ 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Names are case sensitive (y and Y are different variables)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lvl="1">
              <a:lnSpc>
                <a:spcPct val="120000"/>
              </a:lnSpc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Reserved words (like JavaScript keywords) cannot be used as names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2227" y="313626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+mn-lt"/>
                <a:cs typeface="Calibri Light" panose="020F0302020204030204" charset="0"/>
              </a:rPr>
              <a:t>JavaScript is Case Sensitive</a:t>
            </a:r>
            <a:endParaRPr lang="zh-CN" altLang="en-US" b="0" dirty="0">
              <a:latin typeface="+mn-lt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927947"/>
          </a:xfrm>
        </p:spPr>
        <p:txBody>
          <a:bodyPr>
            <a:noAutofit/>
          </a:bodyPr>
          <a:lstStyle/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All JavaScript identifiers are case sensitive. 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The variables lastName and lastname, are two different variables.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079" y="2972836"/>
            <a:ext cx="10111740" cy="2759075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792079" y="5861066"/>
            <a:ext cx="93024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JavaScript does not interpret 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VAR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or 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Var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as the keyword 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var.</a:t>
            </a:r>
            <a:endParaRPr lang="zh-CN" altLang="en-US" sz="2400" b="1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43910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and Camel Case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84605"/>
            <a:ext cx="11080115" cy="491172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Historically, programmers have used three ways of joining multiple words into one variable name:</a:t>
            </a:r>
            <a:endParaRPr lang="zh-CN" altLang="en-US" sz="24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Hyphens:</a:t>
            </a:r>
            <a:endParaRPr lang="zh-CN" altLang="en-US" sz="22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first-name, last-name, master-card, inter-city.</a:t>
            </a:r>
            <a:endParaRPr lang="zh-CN" altLang="en-US" sz="22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Underscore:</a:t>
            </a:r>
            <a:endParaRPr lang="zh-CN" altLang="en-US" sz="22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first_name, last_name, master_card, inter_city.</a:t>
            </a:r>
            <a:endParaRPr lang="zh-CN" altLang="en-US" sz="22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</a:pPr>
            <a:r>
              <a:rPr lang="zh-CN" altLang="en-US" sz="2400" b="1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Camel Case:</a:t>
            </a:r>
            <a:endParaRPr lang="zh-CN" altLang="en-US" sz="2400" b="1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FirstName, LastName, MasterCard, InterCity.</a:t>
            </a:r>
            <a:endParaRPr lang="zh-CN" altLang="en-US" sz="22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In programming languages, especially in JavaScript, camel case often starts with a lowercase letter:</a:t>
            </a:r>
            <a:endParaRPr lang="zh-CN" altLang="en-US" sz="22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  <a:p>
            <a:pPr lvl="1">
              <a:spcAft>
                <a:spcPts val="0"/>
              </a:spcAft>
            </a:pPr>
            <a:r>
              <a:rPr lang="zh-CN" altLang="en-US" sz="2200" dirty="0">
                <a:solidFill>
                  <a:schemeClr val="bg1"/>
                </a:solidFill>
                <a:latin typeface="+mn-lt"/>
                <a:cs typeface="Calibri" panose="020F0502020204030204" charset="0"/>
              </a:rPr>
              <a:t>firstName, lastName, masterCard, interCity.</a:t>
            </a:r>
            <a:endParaRPr lang="zh-CN" altLang="en-US" sz="2200" dirty="0">
              <a:solidFill>
                <a:schemeClr val="bg1"/>
              </a:solidFill>
              <a:latin typeface="+mn-lt"/>
              <a:cs typeface="Calibri" panose="020F05020202040302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30905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The Assignment Operator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In JavaScript, the equal sign (=) is an "assignment" operator, not an "equal to" operator.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(It calculates the value of x + 5 and puts the result into x. The value of x is incremented by 5.)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8005" y="4100195"/>
            <a:ext cx="7118985" cy="18161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262960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Declaring (Creating) JavaScript Variables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1244600"/>
            <a:ext cx="11339830" cy="355854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Creating a variable in JavaScript is called "declaring" a variable.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You declare a JavaScript variable with the 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var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keyword:</a:t>
            </a:r>
            <a:endParaRPr lang="en-US" altLang="zh-CN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After the declaration, the variable has no value. (Technically it has the value of undefined)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To assign a value to the variable, use the equal sign: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altLang="zh-CN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23" y="2035579"/>
            <a:ext cx="2552877" cy="62608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739" y="3914984"/>
            <a:ext cx="3422254" cy="54635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230" y="4996180"/>
            <a:ext cx="5254625" cy="15735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238760"/>
            <a:ext cx="10968990" cy="95885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One Statement, Many Variables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49045"/>
            <a:ext cx="11343005" cy="500062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You can declare many variables in one statement.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Start the statement with 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var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and separate the variables by </a:t>
            </a:r>
            <a:r>
              <a:rPr lang="zh-CN" altLang="en-US" sz="28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comma</a:t>
            </a:r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: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8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 declaration can span multiple lines: </a:t>
            </a:r>
            <a:endParaRPr lang="zh-CN" altLang="en-US" sz="28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3495" y="2751160"/>
            <a:ext cx="8132331" cy="4799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860" y="4211955"/>
            <a:ext cx="6420485" cy="19189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98120"/>
            <a:ext cx="10968990" cy="1115695"/>
          </a:xfrm>
        </p:spPr>
        <p:txBody>
          <a:bodyPr/>
          <a:lstStyle/>
          <a:p>
            <a:pPr algn="ctr"/>
            <a:r>
              <a:rPr lang="zh-CN" altLang="en-US" b="0" dirty="0"/>
              <a:t>Value = undefined</a:t>
            </a:r>
            <a:endParaRPr lang="zh-CN" altLang="en-US" b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2306981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</a:rPr>
              <a:t>A variable declared without a value will have the value </a:t>
            </a:r>
            <a:r>
              <a:rPr lang="zh-CN" altLang="en-US" sz="2800" b="1" dirty="0">
                <a:solidFill>
                  <a:schemeClr val="bg1"/>
                </a:solidFill>
              </a:rPr>
              <a:t>undefined</a:t>
            </a:r>
            <a:r>
              <a:rPr lang="zh-CN" altLang="en-US" sz="2800" dirty="0">
                <a:solidFill>
                  <a:schemeClr val="bg1"/>
                </a:solidFill>
              </a:rPr>
              <a:t>.</a:t>
            </a:r>
            <a:endParaRPr lang="zh-CN" altLang="en-US" sz="2800" dirty="0">
              <a:solidFill>
                <a:schemeClr val="bg1"/>
              </a:solidFill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800" dirty="0">
                <a:solidFill>
                  <a:schemeClr val="bg1"/>
                </a:solidFill>
              </a:rPr>
              <a:t>The variable carName will have the value undefined after the execution of this statement: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330" y="4173220"/>
            <a:ext cx="6012180" cy="1371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335" y="4173220"/>
            <a:ext cx="5006340" cy="6858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74625"/>
            <a:ext cx="10968990" cy="113919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Re-Declaring JavaScript Variables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231265"/>
            <a:ext cx="10968990" cy="143764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If you re-declare a JavaScript variable, it will not lose its value.</a:t>
            </a:r>
            <a:r>
              <a:rPr lang="en-US" altLang="zh-CN" sz="2400" dirty="0">
                <a:solidFill>
                  <a:schemeClr val="bg1"/>
                </a:solidFill>
              </a:rPr>
              <a:t> 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algn="just">
              <a:lnSpc>
                <a:spcPct val="10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</a:rPr>
              <a:t>The variable carName will still have the value "Volvo" after the execution of these statements: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4529" y="2976168"/>
            <a:ext cx="6019800" cy="1600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054" y="5082349"/>
            <a:ext cx="8098335" cy="1176219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zh-CN" b="0">
                <a:latin typeface="Calibri Light" panose="020F0302020204030204" charset="0"/>
                <a:cs typeface="Calibri Light" panose="020F0302020204030204" charset="0"/>
              </a:rPr>
              <a:t>JavaScript Operators</a:t>
            </a:r>
            <a:endParaRPr lang="zh-CN" altLang="zh-CN" b="0">
              <a:latin typeface="Calibri Light" panose="020F0302020204030204" charset="0"/>
              <a:cs typeface="Calibri Light" panose="020F03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28035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Arithmetic Operators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085905"/>
            <a:ext cx="10969200" cy="97842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Arithmetic operators are used to perform arithmetic on numbers (literals or variables).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6046" y="2562010"/>
            <a:ext cx="5550704" cy="4007691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63200"/>
            <a:ext cx="10969200" cy="70560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Assignment Operators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Assignment operators assign values to JavaScript variables.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9045" y="2566035"/>
            <a:ext cx="9387205" cy="33991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42970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String Operators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1165225"/>
            <a:ext cx="10968990" cy="5084445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+ operator can also be used to add (concatenate) strings.</a:t>
            </a:r>
            <a:r>
              <a:rPr lang="en-US" altLang="zh-CN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When used on strings, the + operator is called the concatenation operator.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result of 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txt3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will be: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100" y="2426970"/>
            <a:ext cx="5118735" cy="15767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8703" y="4987902"/>
            <a:ext cx="4847646" cy="111586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264865"/>
            <a:ext cx="10969200" cy="705600"/>
          </a:xfrm>
        </p:spPr>
        <p:txBody>
          <a:bodyPr/>
          <a:lstStyle/>
          <a:p>
            <a:pPr algn="ctr"/>
            <a:r>
              <a:rPr lang="zh-CN" altLang="en-US" b="0">
                <a:latin typeface="Calibri Light" panose="020F0302020204030204" charset="0"/>
                <a:cs typeface="Calibri Light" panose="020F0302020204030204" charset="0"/>
              </a:rPr>
              <a:t>JavaScript String Operators</a:t>
            </a:r>
            <a:endParaRPr lang="zh-CN" altLang="en-US" b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+= assignment operator can also be used to add (concatenate) strings: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zh-CN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result of 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txt1</a:t>
            </a:r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will be: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5495" y="2212975"/>
            <a:ext cx="5949315" cy="15773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9997" y="4642234"/>
            <a:ext cx="6845402" cy="966474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101600"/>
            <a:ext cx="10968990" cy="1018540"/>
          </a:xfrm>
        </p:spPr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Adding Strings and Numbers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adding a number and a string will return a string: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result of x, y, and z will be:</a:t>
            </a: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zh-CN" altLang="en-US" sz="2400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  <a:p>
            <a:r>
              <a:rPr lang="zh-CN" altLang="en-US" sz="2400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The rule is:</a:t>
            </a:r>
            <a:r>
              <a:rPr lang="zh-CN" altLang="en-US" sz="2400" b="1" dirty="0">
                <a:solidFill>
                  <a:schemeClr val="bg1"/>
                </a:solidFill>
                <a:latin typeface="Calibri" panose="020F0502020204030204" charset="0"/>
                <a:cs typeface="Calibri" panose="020F0502020204030204" charset="0"/>
              </a:rPr>
              <a:t> If you add a number and a string, the result will be a string!</a:t>
            </a:r>
            <a:endParaRPr lang="zh-CN" altLang="en-US" sz="2400" b="1" dirty="0">
              <a:solidFill>
                <a:schemeClr val="bg1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5154" y="2048800"/>
            <a:ext cx="4055155" cy="12872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2760" y="3579650"/>
            <a:ext cx="2044874" cy="1561283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60750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Comparison and Logical Operators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4099" y="1257206"/>
            <a:ext cx="5395033" cy="49710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60750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Comparison and Logical Operators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rcRect r="44751"/>
          <a:stretch>
            <a:fillRect/>
          </a:stretch>
        </p:blipFill>
        <p:spPr>
          <a:xfrm>
            <a:off x="133350" y="2192655"/>
            <a:ext cx="4378325" cy="30930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743450" y="1450975"/>
            <a:ext cx="7205980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if </a:t>
            </a: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the operands are of different types, return false.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If both operands are objects, return true only if they refer to the same object.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If both operands are null or both operands are undefined, return true.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If either operand is NaN, return false.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Otherwise, compare the two operand's values: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800100" lvl="1" indent="-342900">
              <a:buFont typeface="Wingdings" panose="05000000000000000000" charset="0"/>
              <a:buChar char="ü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Numbers must have the same numeric values.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800100" lvl="1" indent="-342900">
              <a:buFont typeface="Wingdings" panose="05000000000000000000" charset="0"/>
              <a:buChar char="ü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Strings must have the same characters in the same order.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  <a:p>
            <a:pPr marL="800100" lvl="1" indent="-342900">
              <a:buFont typeface="Wingdings" panose="05000000000000000000" charset="0"/>
              <a:buChar char="ü"/>
            </a:pPr>
            <a:r>
              <a:rPr lang="zh-CN" altLang="en-US"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Booleans must be both true or both false.</a:t>
            </a:r>
            <a:endParaRPr lang="zh-CN" altLang="en-US"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360750"/>
            <a:ext cx="10969200" cy="705600"/>
          </a:xfrm>
        </p:spPr>
        <p:txBody>
          <a:bodyPr>
            <a:normAutofit/>
          </a:bodyPr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Comparison and Logical Operators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0" y="2102485"/>
            <a:ext cx="6403975" cy="24999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 algn="just">
              <a:buFont typeface="Wingdings" panose="05000000000000000000" charset="0"/>
              <a:buChar char="l"/>
            </a:pPr>
            <a:r>
              <a:rPr sz="2400" spc="150" dirty="0">
                <a:solidFill>
                  <a:schemeClr val="bg1"/>
                </a:solidFill>
                <a:uFillTx/>
                <a:latin typeface="Calibri" panose="020F0502020204030204" charset="0"/>
                <a:ea typeface="微软雅黑" panose="020B0503020204020204" pitchFamily="34" charset="-122"/>
                <a:cs typeface="Calibri" panose="020F0502020204030204" charset="0"/>
              </a:rPr>
              <a:t>The equality (==) operator checks whether its two operands are equal, returning a Boolean result. Unlike the strict equality operator, it attempts to convert and compare operands that are of different type</a:t>
            </a:r>
            <a:endParaRPr sz="2400" spc="150" dirty="0">
              <a:solidFill>
                <a:schemeClr val="bg1"/>
              </a:solidFill>
              <a:uFillTx/>
              <a:latin typeface="Calibri" panose="020F0502020204030204" charset="0"/>
              <a:ea typeface="微软雅黑" panose="020B0503020204020204" pitchFamily="34" charset="-122"/>
              <a:cs typeface="Calibri" panose="020F05020202040302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6355" y="1732280"/>
            <a:ext cx="5055235" cy="374205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JavaScript Data Types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4110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Data Types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1213" y="1491781"/>
            <a:ext cx="1029719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variables can hold many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data types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 numbers, strings, arrays, objects and more: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8528" y="3001818"/>
            <a:ext cx="6834941" cy="1847273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26145" y="244824"/>
            <a:ext cx="71397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Concept of Data Types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5045" y="1537585"/>
            <a:ext cx="7561905" cy="261904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282" y="4640189"/>
            <a:ext cx="6371429" cy="114285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479963" y="309479"/>
            <a:ext cx="72320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Concept of Data Types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3741" y="1260871"/>
            <a:ext cx="1044279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evaluates expressions from left to right. Different sequences can produce different results: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740" y="3218249"/>
            <a:ext cx="6671891" cy="32291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573" y="3417841"/>
            <a:ext cx="3862755" cy="153855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62" y="1299494"/>
            <a:ext cx="5809701" cy="34530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896" y="1804036"/>
            <a:ext cx="3913505" cy="16031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373746" y="438788"/>
            <a:ext cx="7444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Concept of Data Types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83303" y="4997026"/>
            <a:ext cx="103321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 the first example, JavaScript treats 16 and 4 as numbers, until it reaches "Volvo". In the second example, since the first operand is a string, all operands are treated as strings.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9100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Has Dynamic Types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0334" y="1464070"/>
            <a:ext cx="105359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has dynamic types. This means that the same variable can be used as different types: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5336" y="3177877"/>
            <a:ext cx="7658625" cy="2722041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3002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Strings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1103" y="1427218"/>
            <a:ext cx="1060587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string (or a text string) is a series of characters like "John Doe". Strings are written with quotes. You can use single or double quotes: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2696" y="3273819"/>
            <a:ext cx="9242659" cy="256785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0" y="2725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Strings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20224" y="1103854"/>
            <a:ext cx="1037290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can use quotes inside a string, as long as they don't match the quotes surrounding the string: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648" y="2131324"/>
            <a:ext cx="4736757" cy="457815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9092" y="2992184"/>
            <a:ext cx="4124896" cy="288443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37770" y="461863"/>
            <a:ext cx="39164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Numbers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36708" y="1572598"/>
            <a:ext cx="1006422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has only one type of numbers. Numbers can be written with, or without decimals: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3227" y="3316340"/>
            <a:ext cx="8715808" cy="297379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259326" y="251751"/>
            <a:ext cx="5673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Numbers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0843" y="1304744"/>
            <a:ext cx="1101031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Extra large or extra small numbers can be written with scientific (exponential) notation: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3109" y="2974195"/>
            <a:ext cx="7973468" cy="339748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0734" y="3212038"/>
            <a:ext cx="3340466" cy="227436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12738" y="381061"/>
            <a:ext cx="41665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JavaScript Booleans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19236" y="1726221"/>
            <a:ext cx="1036708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Booleans can only have two values: true or false. Booleans are often used in conditional testing.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0217" y="3366707"/>
            <a:ext cx="5709931" cy="2527387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02881" y="353352"/>
            <a:ext cx="358623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Arrays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93080" y="1249418"/>
            <a:ext cx="1126401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arrays are written with square brackets. Array items are separated by commas. The following code declares (creates) an array called cars, containing three items (car names):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9692" y="3086245"/>
            <a:ext cx="4504762" cy="2476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8129" y="3688844"/>
            <a:ext cx="1704762" cy="11428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93080" y="5736412"/>
            <a:ext cx="1085631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Array indexes are zero-based, which means the first item is [0], second is [1], and so on.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69832" y="390298"/>
            <a:ext cx="385233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等线" panose="02010600030101010101" charset="-122"/>
                <a:cs typeface="+mn-cs"/>
              </a:rPr>
              <a:t>JavaScript Objects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783" y="1230898"/>
            <a:ext cx="1124071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objects are written with curly braces. Object properties are written as name: value pairs, separated by commas.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7514" y="2379274"/>
            <a:ext cx="4533333" cy="338095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213" y="2772021"/>
            <a:ext cx="3826416" cy="153789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26582" y="5895497"/>
            <a:ext cx="1088687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object (person) in the example above has 4 properties: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firstName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lastName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age, and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eyeColor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060828" y="399533"/>
            <a:ext cx="40703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typeof Operator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0344" y="1285970"/>
            <a:ext cx="1117131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can use the JavaScript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typeof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operator to find the type of a JavaScript variable: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517" y="2448237"/>
            <a:ext cx="6539735" cy="27411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873" y="2596565"/>
            <a:ext cx="4463911" cy="154444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1195" y="5778158"/>
            <a:ext cx="10385766" cy="81484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b="0" dirty="0">
                <a:latin typeface="Calibri Light" panose="020F0302020204030204" charset="0"/>
                <a:cs typeface="Calibri Light" panose="020F0302020204030204" charset="0"/>
              </a:rPr>
              <a:t>JavaScript Type Operators</a:t>
            </a:r>
            <a:endParaRPr lang="zh-CN" altLang="en-US" b="0" dirty="0">
              <a:latin typeface="Calibri Light" panose="020F0302020204030204" charset="0"/>
              <a:cs typeface="Calibri Light" panose="020F0302020204030204" charset="0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3776" y="2942586"/>
            <a:ext cx="11829024" cy="1850733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29041" y="334880"/>
            <a:ext cx="21339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Undefined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62971" y="1184671"/>
            <a:ext cx="1083884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 JavaScript, a variable without a value, has the value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undefined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The typeof is also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undefined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9794" y="2224952"/>
            <a:ext cx="6786258" cy="252836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278" y="5115230"/>
            <a:ext cx="6446901" cy="161172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029041" y="187097"/>
            <a:ext cx="21339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Undefined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9975" y="1094539"/>
            <a:ext cx="109917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Any variable can be emptied, by setting the value to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undefined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The type will also be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undefined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56" y="2698912"/>
            <a:ext cx="5885714" cy="30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825" y="3088068"/>
            <a:ext cx="4542857" cy="147619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18957" y="316407"/>
            <a:ext cx="27540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Empty Values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1982" y="1216405"/>
            <a:ext cx="106175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An empty value has nothing to do with undefined. An empty string variable has both a value and a type.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460" y="2424179"/>
            <a:ext cx="5221024" cy="411057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857" y="3444586"/>
            <a:ext cx="3524126" cy="188456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570017" y="270224"/>
            <a:ext cx="10150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Null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9783" y="968331"/>
            <a:ext cx="11019394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 JavaScript null is "nothing". It is supposed to be something that doesn't exist. the data type of null is an object.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0487" y="2204523"/>
            <a:ext cx="9512173" cy="7437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04397" y="3084524"/>
            <a:ext cx="57098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can empty an object by setting it to null: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342" y="3898164"/>
            <a:ext cx="5876190" cy="264761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006" y="4575892"/>
            <a:ext cx="4133333" cy="1152381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415281" y="1178274"/>
            <a:ext cx="99360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can also empty an object by setting it to undefined: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93297" y="218723"/>
            <a:ext cx="10054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Null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9369" y="1758449"/>
            <a:ext cx="7110560" cy="318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9100" y="5144857"/>
            <a:ext cx="6111098" cy="157627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9814" y="421243"/>
            <a:ext cx="76655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Difference Between Undefined and Null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3953" y="2379539"/>
            <a:ext cx="5924762" cy="416686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4862" y="2717925"/>
            <a:ext cx="3930710" cy="2867486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JavaScript Functions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048000" y="30364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 Functions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90220" y="949960"/>
            <a:ext cx="11210290" cy="9531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JavaScript function is a block of code designed to perform a particular task. A JavaScript function is executed when "something" invokes it (calls it).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6989" y="2325502"/>
            <a:ext cx="7542857" cy="29619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6475" y="5440273"/>
            <a:ext cx="6219048" cy="1180952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61303" y="146326"/>
            <a:ext cx="52693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Function Syntax</a:t>
            </a:r>
            <a:endParaRPr kumimoji="0" lang="zh-CN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1762" y="980892"/>
            <a:ext cx="111242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 JavaScript function is defined with 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function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keyword, followed by a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name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followed by parentheses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()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Function names can contain letters, digits, underscores, and dollar signs (same rules as variables). The parentheses may include parameter names separated by commas: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parameter1,  parameter2, ...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 The code to be executed, by the function, is placed inside curly brackets: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{}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4095" y="3235592"/>
            <a:ext cx="5923809" cy="110476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59124" y="4418466"/>
            <a:ext cx="111009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Function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parameters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are the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names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listed in the function definition. Function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arguments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are the real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values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received by the function when it is invoked. Inside the function, the arguments behave as local variables.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214" y="5837194"/>
            <a:ext cx="7571428" cy="600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96845" y="224043"/>
            <a:ext cx="31983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Function Return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7806" y="954651"/>
            <a:ext cx="103437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When JavaScript reaches a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return statement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the function will stop executing. If the function was invoked from a statement, JavaScript will "return" to execute the code after the invoking statement. Functions often compute a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return value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The return value is "returned" back to the "caller":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9259" y="2678384"/>
            <a:ext cx="7438095" cy="284875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673" y="5611415"/>
            <a:ext cx="6219048" cy="1133333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47593" y="341745"/>
            <a:ext cx="70968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() Operator Invokes the Function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33850" y="1101589"/>
            <a:ext cx="107456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Using the example above, toCelsius refers to the function object, and toCelsius() refers to the function result.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5885" y="2116791"/>
            <a:ext cx="6238095" cy="285714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885" y="5210131"/>
            <a:ext cx="6347093" cy="14702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</a:rPr>
              <a:t>JavaScript Objects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008984" y="297935"/>
            <a:ext cx="81740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Real Life Objects, Properties, and Methods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37697" y="1110826"/>
            <a:ext cx="105476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In real life, a car is an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object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 A car has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properties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like weight and color, and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methods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like start and stop: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7055" y="2108383"/>
            <a:ext cx="9679709" cy="28000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84290" y="5476423"/>
            <a:ext cx="1045444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All cars have the same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properties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but the property values differ from car to car. All cars have the same 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methods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but the methods are performed at different times.</a:t>
            </a:r>
            <a:b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b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278836" y="187098"/>
            <a:ext cx="363432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JavaScript Objects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81432" y="916909"/>
            <a:ext cx="109087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Objects are variables too. But objects can contain many values. This code assigns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many values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(Fiat, 500, white) to a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variable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named car: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565" y="2103667"/>
            <a:ext cx="5244689" cy="302163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368" y="2943446"/>
            <a:ext cx="3948837" cy="1768335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840509" y="5174820"/>
            <a:ext cx="1051098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values are written as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name: value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pairs (name and value separated by a colon).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835" y="6099524"/>
            <a:ext cx="4657143" cy="666667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94252" y="260988"/>
            <a:ext cx="34034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Object Properties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62757" y="1393139"/>
            <a:ext cx="99439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The name: values pairs (in JavaScript objects) are called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properties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2094" y="2442654"/>
            <a:ext cx="10162854" cy="8082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805" y="3569721"/>
            <a:ext cx="8488011" cy="2854376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22493" y="196334"/>
            <a:ext cx="31470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Object Methods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32860" y="1009272"/>
            <a:ext cx="105359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Methods are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actions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 that can be performed on objects. Methods are stored in properties as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function definitions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.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3179" y="2194052"/>
            <a:ext cx="8821470" cy="279146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47" y="5617429"/>
            <a:ext cx="11213534" cy="917327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95391" y="358501"/>
            <a:ext cx="54168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Accessing Object Properties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71654" y="1258516"/>
            <a:ext cx="81855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can access object properties in two ways: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9803" y="2420140"/>
            <a:ext cx="6799196" cy="3479778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52936" y="258399"/>
            <a:ext cx="74045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Accessing Object Properties Example1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606" y="1856394"/>
            <a:ext cx="5934958" cy="44512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965" y="3034597"/>
            <a:ext cx="4457143" cy="1495238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64584" y="390944"/>
            <a:ext cx="74045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Accessing Object Properties Example2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2930" y="1726322"/>
            <a:ext cx="5928068" cy="46570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1502" y="2828298"/>
            <a:ext cx="4866667" cy="1552381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25039" y="398770"/>
            <a:ext cx="51603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Accessing Object Methods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65830" y="1746420"/>
            <a:ext cx="93138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You access an object method with the following syntax: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5752" y="3509297"/>
            <a:ext cx="7838959" cy="1965454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37361" y="205570"/>
            <a:ext cx="6917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Accessing Object Methods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8857" y="964771"/>
            <a:ext cx="6714286" cy="39583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1238" y="5166825"/>
            <a:ext cx="5209524" cy="143809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37361" y="150152"/>
            <a:ext cx="69172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Accessing Object Methods Example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7807" y="1120017"/>
            <a:ext cx="99941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If you access the fullName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property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, without (), it will return the 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function definition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charset="-122"/>
                <a:cs typeface="Times New Roman" panose="02020603050405020304" pitchFamily="18" charset="0"/>
              </a:rPr>
              <a:t>: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090" y="2586900"/>
            <a:ext cx="6142181" cy="369270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3670" y="3313545"/>
            <a:ext cx="4187002" cy="150556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5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5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5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PLACING_PICTURE_USER_VIEWPORT" val="{&quot;height&quot;:3840,&quot;width&quot;:10416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91.xml><?xml version="1.0" encoding="utf-8"?>
<p:tagLst xmlns:p="http://schemas.openxmlformats.org/presentationml/2006/main">
  <p:tag name="KSO_WM_UNIT_PLACING_PICTURE_USER_VIEWPORT" val="{&quot;height&quot;:2652,&quot;width&quot;:9876}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5_1*a*1"/>
  <p:tag name="KSO_WM_TEMPLATE_CATEGORY" val="custom"/>
  <p:tag name="KSO_WM_TEMPLATE_INDEX" val="20205175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ID" val="custom20205175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5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5"/>
</p:tagLst>
</file>

<file path=ppt/tags/tag126.xml><?xml version="1.0" encoding="utf-8"?>
<p:tagLst xmlns:p="http://schemas.openxmlformats.org/presentationml/2006/main">
  <p:tag name="commondata" val="eyJoZGlkIjoiNTRkOGIzNjk2ODJjYjgwMzk0ODkwYjk3ZGE3MTA4Y2M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13953</Words>
  <Application>WPS 演示</Application>
  <PresentationFormat>宽屏</PresentationFormat>
  <Paragraphs>434</Paragraphs>
  <Slides>88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88</vt:i4>
      </vt:variant>
    </vt:vector>
  </HeadingPairs>
  <TitlesOfParts>
    <vt:vector size="100" baseType="lpstr">
      <vt:lpstr>Arial</vt:lpstr>
      <vt:lpstr>宋体</vt:lpstr>
      <vt:lpstr>Wingdings</vt:lpstr>
      <vt:lpstr>微软雅黑</vt:lpstr>
      <vt:lpstr>Wingdings</vt:lpstr>
      <vt:lpstr>Calibri Light</vt:lpstr>
      <vt:lpstr>Calibri</vt:lpstr>
      <vt:lpstr>Arial Unicode MS</vt:lpstr>
      <vt:lpstr>等线</vt:lpstr>
      <vt:lpstr>Segoe UI</vt:lpstr>
      <vt:lpstr>Times New Roman</vt:lpstr>
      <vt:lpstr>Office 主题​​</vt:lpstr>
      <vt:lpstr>JavaScript Introduction</vt:lpstr>
      <vt:lpstr>JavaScript Can Change HTML Content</vt:lpstr>
      <vt:lpstr>JavaScript Can Change HTML Attributes</vt:lpstr>
      <vt:lpstr>JavaScript Can Change HTML Styles (CSS)</vt:lpstr>
      <vt:lpstr>JavaScript Can Validate Data</vt:lpstr>
      <vt:lpstr>JavaScript Where To</vt:lpstr>
      <vt:lpstr>The &lt;script&gt; Tag</vt:lpstr>
      <vt:lpstr>JavaScript Functions and Events</vt:lpstr>
      <vt:lpstr>JavaScript in &lt;head&gt;</vt:lpstr>
      <vt:lpstr>JavaScript in &lt;body&gt;</vt:lpstr>
      <vt:lpstr>External JavaScript</vt:lpstr>
      <vt:lpstr>External JavaScript</vt:lpstr>
      <vt:lpstr>External JavaScript Advantages</vt:lpstr>
      <vt:lpstr>JavaScript Output</vt:lpstr>
      <vt:lpstr>JavaScript Display Possibilities</vt:lpstr>
      <vt:lpstr>Using window.alert()</vt:lpstr>
      <vt:lpstr>Using document.write()</vt:lpstr>
      <vt:lpstr>Using document.write()</vt:lpstr>
      <vt:lpstr>Using innerHTML</vt:lpstr>
      <vt:lpstr>Using console.log()</vt:lpstr>
      <vt:lpstr>JavaScript Character Set</vt:lpstr>
      <vt:lpstr>JavaScript Statements</vt:lpstr>
      <vt:lpstr>JavaScript Statements</vt:lpstr>
      <vt:lpstr>JavaScript Programs</vt:lpstr>
      <vt:lpstr>Semicolons ;</vt:lpstr>
      <vt:lpstr>JavaScript White Space</vt:lpstr>
      <vt:lpstr>JavaScript Code Blocks</vt:lpstr>
      <vt:lpstr>JavaScript Keywords</vt:lpstr>
      <vt:lpstr>JavaScript Comments</vt:lpstr>
      <vt:lpstr>Single Line Comments</vt:lpstr>
      <vt:lpstr>Single Line Comments</vt:lpstr>
      <vt:lpstr>Multi-line Comments</vt:lpstr>
      <vt:lpstr>JavaScript Variables</vt:lpstr>
      <vt:lpstr>JavaScript Variables</vt:lpstr>
      <vt:lpstr>JavaScript Identifiers</vt:lpstr>
      <vt:lpstr>JavaScript is Case Sensitive</vt:lpstr>
      <vt:lpstr>JavaScript and Camel Case</vt:lpstr>
      <vt:lpstr>The Assignment Operator</vt:lpstr>
      <vt:lpstr>Declaring (Creating) JavaScript Variables</vt:lpstr>
      <vt:lpstr>One Statement, Many Variables</vt:lpstr>
      <vt:lpstr>Value = undefined</vt:lpstr>
      <vt:lpstr>Re-Declaring JavaScript Variables</vt:lpstr>
      <vt:lpstr>JavaScript Operators</vt:lpstr>
      <vt:lpstr>JavaScript Arithmetic Operators</vt:lpstr>
      <vt:lpstr>JavaScript Assignment Operators</vt:lpstr>
      <vt:lpstr>JavaScript String Operators</vt:lpstr>
      <vt:lpstr>JavaScript String Operators</vt:lpstr>
      <vt:lpstr>Adding Strings and Numbers</vt:lpstr>
      <vt:lpstr>JavaScript Comparison and Logical Operators</vt:lpstr>
      <vt:lpstr>JavaScript Comparison and Logical Operators</vt:lpstr>
      <vt:lpstr>JavaScript Comparison and Logical Operators</vt:lpstr>
      <vt:lpstr>JavaScript Data Types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JavaScript Type Operators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JavaScript Functions</vt:lpstr>
      <vt:lpstr>PowerPoint 演示文稿</vt:lpstr>
      <vt:lpstr>PowerPoint 演示文稿</vt:lpstr>
      <vt:lpstr>PowerPoint 演示文稿</vt:lpstr>
      <vt:lpstr>PowerPoint 演示文稿</vt:lpstr>
      <vt:lpstr>JavaScript Objects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Introduction</dc:title>
  <dc:creator/>
  <cp:lastModifiedBy>陈羽中</cp:lastModifiedBy>
  <cp:revision>282</cp:revision>
  <dcterms:created xsi:type="dcterms:W3CDTF">2019-06-19T02:08:00Z</dcterms:created>
  <dcterms:modified xsi:type="dcterms:W3CDTF">2025-06-04T12:58:44Z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CFC3882690FE4A5F90AD97F75436BDD0</vt:lpwstr>
  </property>
</Properties>
</file>