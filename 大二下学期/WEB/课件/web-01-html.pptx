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6"/>
  </p:notesMasterIdLst>
  <p:sldIdLst>
    <p:sldId id="319" r:id="rId6"/>
    <p:sldId id="320" r:id="rId7"/>
    <p:sldId id="321" r:id="rId8"/>
    <p:sldId id="257" r:id="rId9"/>
    <p:sldId id="258" r:id="rId10"/>
    <p:sldId id="261" r:id="rId11"/>
    <p:sldId id="262" r:id="rId12"/>
    <p:sldId id="263" r:id="rId13"/>
    <p:sldId id="264" r:id="rId14"/>
    <p:sldId id="265" r:id="rId15"/>
    <p:sldId id="266" r:id="rId17"/>
    <p:sldId id="267" r:id="rId18"/>
    <p:sldId id="268" r:id="rId19"/>
    <p:sldId id="269" r:id="rId20"/>
    <p:sldId id="270" r:id="rId21"/>
    <p:sldId id="271" r:id="rId22"/>
    <p:sldId id="272" r:id="rId23"/>
    <p:sldId id="279" r:id="rId24"/>
    <p:sldId id="280" r:id="rId25"/>
    <p:sldId id="418"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22" r:id="rId50"/>
    <p:sldId id="323" r:id="rId51"/>
    <p:sldId id="324" r:id="rId52"/>
    <p:sldId id="325" r:id="rId53"/>
    <p:sldId id="326" r:id="rId54"/>
    <p:sldId id="327" r:id="rId55"/>
    <p:sldId id="328" r:id="rId56"/>
    <p:sldId id="329" r:id="rId57"/>
    <p:sldId id="330" r:id="rId58"/>
    <p:sldId id="331" r:id="rId59"/>
    <p:sldId id="334" r:id="rId60"/>
    <p:sldId id="335" r:id="rId61"/>
    <p:sldId id="336" r:id="rId62"/>
    <p:sldId id="337" r:id="rId63"/>
    <p:sldId id="338" r:id="rId64"/>
    <p:sldId id="339" r:id="rId65"/>
    <p:sldId id="340" r:id="rId66"/>
    <p:sldId id="341" r:id="rId67"/>
    <p:sldId id="342" r:id="rId68"/>
    <p:sldId id="343" r:id="rId69"/>
    <p:sldId id="344" r:id="rId70"/>
    <p:sldId id="345" r:id="rId71"/>
    <p:sldId id="346" r:id="rId72"/>
    <p:sldId id="347" r:id="rId73"/>
    <p:sldId id="348" r:id="rId74"/>
    <p:sldId id="349" r:id="rId75"/>
    <p:sldId id="350" r:id="rId76"/>
    <p:sldId id="351" r:id="rId77"/>
    <p:sldId id="352" r:id="rId78"/>
    <p:sldId id="353" r:id="rId79"/>
    <p:sldId id="354" r:id="rId80"/>
    <p:sldId id="355" r:id="rId81"/>
    <p:sldId id="356" r:id="rId82"/>
    <p:sldId id="369" r:id="rId83"/>
    <p:sldId id="370" r:id="rId84"/>
    <p:sldId id="371" r:id="rId85"/>
    <p:sldId id="372" r:id="rId86"/>
    <p:sldId id="373" r:id="rId87"/>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077" autoAdjust="0"/>
  </p:normalViewPr>
  <p:slideViewPr>
    <p:cSldViewPr snapToGrid="0">
      <p:cViewPr varScale="1">
        <p:scale>
          <a:sx n="118" d="100"/>
          <a:sy n="118" d="100"/>
        </p:scale>
        <p:origin x="412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269.xml"/><Relationship Id="rId90" Type="http://schemas.openxmlformats.org/officeDocument/2006/relationships/tableStyles" Target="tableStyles.xml"/><Relationship Id="rId9" Type="http://schemas.openxmlformats.org/officeDocument/2006/relationships/slide" Target="slides/slide4.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notesMaster" Target="notesMasters/notesMaster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56FE5-103B-4E4A-ABA8-35D981F23E4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BAB18-E480-4A7E-AD3E-FFD65AD2365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From html version 1.0 to html</a:t>
            </a:r>
            <a:r>
              <a:rPr lang="en-US" altLang="zh-CN" baseline="0" dirty="0" smtClean="0"/>
              <a:t> 5 which was declared in 2014</a:t>
            </a:r>
            <a:endParaRPr lang="zh-CN" altLang="en-US" dirty="0"/>
          </a:p>
        </p:txBody>
      </p:sp>
      <p:sp>
        <p:nvSpPr>
          <p:cNvPr id="4" name="灯片编号占位符 3"/>
          <p:cNvSpPr>
            <a:spLocks noGrp="1"/>
          </p:cNvSpPr>
          <p:nvPr>
            <p:ph type="sldNum" sz="quarter" idx="10"/>
          </p:nvPr>
        </p:nvSpPr>
        <p:spPr/>
        <p:txBody>
          <a:bodyPr/>
          <a:lstStyle/>
          <a:p>
            <a:fld id="{054BAB18-E480-4A7E-AD3E-FFD65AD2365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For</a:t>
            </a:r>
            <a:r>
              <a:rPr lang="en-US" altLang="zh-CN" baseline="0" dirty="0" smtClean="0"/>
              <a:t> html5, you only need to declare &lt;!DOCTYPE html&gt;,   for HTML 4.01 and XHTML 1.0,  you need to include the corresponding </a:t>
            </a:r>
            <a:r>
              <a:rPr lang="en-US" altLang="zh-CN" baseline="0" dirty="0" err="1" smtClean="0"/>
              <a:t>dtd</a:t>
            </a:r>
            <a:r>
              <a:rPr lang="en-US" altLang="zh-CN" baseline="0" dirty="0" smtClean="0"/>
              <a:t> files.  </a:t>
            </a:r>
            <a:endParaRPr lang="zh-CN" altLang="en-US" dirty="0"/>
          </a:p>
        </p:txBody>
      </p:sp>
      <p:sp>
        <p:nvSpPr>
          <p:cNvPr id="4" name="灯片编号占位符 3"/>
          <p:cNvSpPr>
            <a:spLocks noGrp="1"/>
          </p:cNvSpPr>
          <p:nvPr>
            <p:ph type="sldNum" sz="quarter" idx="10"/>
          </p:nvPr>
        </p:nvSpPr>
        <p:spPr/>
        <p:txBody>
          <a:bodyPr/>
          <a:lstStyle/>
          <a:p>
            <a:fld id="{054BAB18-E480-4A7E-AD3E-FFD65AD2365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54BAB18-E480-4A7E-AD3E-FFD65AD2365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We have seen</a:t>
            </a:r>
            <a:r>
              <a:rPr lang="en-US" altLang="zh-CN" baseline="0" dirty="0" smtClean="0"/>
              <a:t> this example before. In conclusion, we should know that </a:t>
            </a:r>
            <a:endParaRPr lang="zh-CN" altLang="en-US" dirty="0"/>
          </a:p>
        </p:txBody>
      </p:sp>
      <p:sp>
        <p:nvSpPr>
          <p:cNvPr id="4" name="灯片编号占位符 3"/>
          <p:cNvSpPr>
            <a:spLocks noGrp="1"/>
          </p:cNvSpPr>
          <p:nvPr>
            <p:ph type="sldNum" sz="quarter" idx="10"/>
          </p:nvPr>
        </p:nvSpPr>
        <p:spPr/>
        <p:txBody>
          <a:bodyPr/>
          <a:lstStyle/>
          <a:p>
            <a:fld id="{054BAB18-E480-4A7E-AD3E-FFD65AD2365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smtClean="0">
                <a:solidFill>
                  <a:schemeClr val="tx1"/>
                </a:solidFill>
                <a:effectLst/>
                <a:latin typeface="+mn-lt"/>
                <a:ea typeface="+mn-ea"/>
                <a:cs typeface="+mn-cs"/>
              </a:rPr>
              <a:t>Subscript text appears half a character below the normal line, and is sometimes rendered in a smaller font.</a:t>
            </a:r>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DF52F29-A651-43EB-AB88-523A1BC118D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页脚占位符 16"/>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灯片编号占位符 17"/>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6"/>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7"/>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页脚占位符 7"/>
          <p:cNvSpPr>
            <a:spLocks noGrp="1"/>
          </p:cNvSpPr>
          <p:nvPr>
            <p:ph type="ftr" sz="quarter" idx="11"/>
            <p:custDataLst>
              <p:tags r:id="rId8"/>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custDataLst>
              <p:tags r:id="rId9"/>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4"/>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indent="-228600">
              <a:spcAft>
                <a:spcPts val="1000"/>
              </a:spcAft>
              <a:defRPr spc="300"/>
            </a:lvl1pPr>
            <a:lvl2pPr indent="-228600">
              <a:defRPr spc="300"/>
            </a:lvl2pPr>
            <a:lvl3pPr indent="-228600">
              <a:defRPr spc="300"/>
            </a:lvl3pPr>
            <a:lvl4pPr indent="-228600">
              <a:defRPr spc="300"/>
            </a:lvl4pPr>
            <a:lvl5pPr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页脚占位符 16"/>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灯片编号占位符 17"/>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6"/>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7"/>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页脚占位符 7"/>
          <p:cNvSpPr>
            <a:spLocks noGrp="1"/>
          </p:cNvSpPr>
          <p:nvPr>
            <p:ph type="ftr" sz="quarter" idx="11"/>
            <p:custDataLst>
              <p:tags r:id="rId8"/>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custDataLst>
              <p:tags r:id="rId9"/>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4"/>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indent="-228600">
              <a:spcAft>
                <a:spcPts val="1000"/>
              </a:spcAft>
              <a:defRPr spc="300"/>
            </a:lvl1pPr>
            <a:lvl2pPr indent="-228600">
              <a:defRPr spc="300"/>
            </a:lvl2pPr>
            <a:lvl3pPr indent="-228600">
              <a:defRPr spc="300"/>
            </a:lvl3pPr>
            <a:lvl4pPr indent="-228600">
              <a:defRPr spc="300"/>
            </a:lvl4pPr>
            <a:lvl5pPr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页脚占位符 16"/>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灯片编号占位符 17"/>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6"/>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7"/>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页脚占位符 7"/>
          <p:cNvSpPr>
            <a:spLocks noGrp="1"/>
          </p:cNvSpPr>
          <p:nvPr>
            <p:ph type="ftr" sz="quarter" idx="11"/>
            <p:custDataLst>
              <p:tags r:id="rId8"/>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custDataLst>
              <p:tags r:id="rId9"/>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4"/>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indent="-228600">
              <a:spcAft>
                <a:spcPts val="1000"/>
              </a:spcAft>
              <a:defRPr spc="300"/>
            </a:lvl1pPr>
            <a:lvl2pPr indent="-228600">
              <a:defRPr spc="300"/>
            </a:lvl2pPr>
            <a:lvl3pPr indent="-228600">
              <a:defRPr spc="300"/>
            </a:lvl3pPr>
            <a:lvl4pPr indent="-228600">
              <a:defRPr spc="300"/>
            </a:lvl4pPr>
            <a:lvl5pPr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8" Type="http://schemas.openxmlformats.org/officeDocument/2006/relationships/theme" Target="../theme/theme3.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8" Type="http://schemas.openxmlformats.org/officeDocument/2006/relationships/theme" Target="../theme/theme4.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B3DC9-4C5B-4D9F-84D5-E67E87066088}"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F14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bg1"/>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bg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bg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F14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bg1"/>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bg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7"/>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bg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F14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bg1"/>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bg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7"/>
    </p:custData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bg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8.xml"/><Relationship Id="rId1" Type="http://schemas.openxmlformats.org/officeDocument/2006/relationships/tags" Target="../tags/tag187.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97.xml"/><Relationship Id="rId3" Type="http://schemas.openxmlformats.org/officeDocument/2006/relationships/image" Target="../media/image5.png"/><Relationship Id="rId2" Type="http://schemas.openxmlformats.org/officeDocument/2006/relationships/tags" Target="../tags/tag196.xml"/><Relationship Id="rId1" Type="http://schemas.openxmlformats.org/officeDocument/2006/relationships/tags" Target="../tags/tag195.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tags" Target="../tags/tag200.xml"/><Relationship Id="rId3" Type="http://schemas.openxmlformats.org/officeDocument/2006/relationships/image" Target="../media/image6.png"/><Relationship Id="rId2" Type="http://schemas.openxmlformats.org/officeDocument/2006/relationships/tags" Target="../tags/tag199.xml"/><Relationship Id="rId1" Type="http://schemas.openxmlformats.org/officeDocument/2006/relationships/tags" Target="../tags/tag198.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03.xml"/><Relationship Id="rId3" Type="http://schemas.openxmlformats.org/officeDocument/2006/relationships/image" Target="../media/image7.png"/><Relationship Id="rId2" Type="http://schemas.openxmlformats.org/officeDocument/2006/relationships/tags" Target="../tags/tag202.xml"/><Relationship Id="rId1" Type="http://schemas.openxmlformats.org/officeDocument/2006/relationships/tags" Target="../tags/tag20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205.xml"/><Relationship Id="rId1" Type="http://schemas.openxmlformats.org/officeDocument/2006/relationships/tags" Target="../tags/tag204.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tags" Target="../tags/tag208.xml"/><Relationship Id="rId3" Type="http://schemas.openxmlformats.org/officeDocument/2006/relationships/image" Target="../media/image8.png"/><Relationship Id="rId2" Type="http://schemas.openxmlformats.org/officeDocument/2006/relationships/tags" Target="../tags/tag207.xml"/><Relationship Id="rId1" Type="http://schemas.openxmlformats.org/officeDocument/2006/relationships/tags" Target="../tags/tag206.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8.xml"/><Relationship Id="rId5" Type="http://schemas.openxmlformats.org/officeDocument/2006/relationships/tags" Target="../tags/tag212.xml"/><Relationship Id="rId4" Type="http://schemas.openxmlformats.org/officeDocument/2006/relationships/image" Target="../media/image9.png"/><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15.xml"/><Relationship Id="rId3" Type="http://schemas.openxmlformats.org/officeDocument/2006/relationships/image" Target="../media/image10.png"/><Relationship Id="rId2" Type="http://schemas.openxmlformats.org/officeDocument/2006/relationships/tags" Target="../tags/tag214.xml"/><Relationship Id="rId1" Type="http://schemas.openxmlformats.org/officeDocument/2006/relationships/tags" Target="../tags/tag213.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18.xml"/><Relationship Id="rId3" Type="http://schemas.openxmlformats.org/officeDocument/2006/relationships/image" Target="../media/image11.png"/><Relationship Id="rId2" Type="http://schemas.openxmlformats.org/officeDocument/2006/relationships/tags" Target="../tags/tag217.xml"/><Relationship Id="rId1" Type="http://schemas.openxmlformats.org/officeDocument/2006/relationships/tags" Target="../tags/tag216.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21.xml"/><Relationship Id="rId3" Type="http://schemas.openxmlformats.org/officeDocument/2006/relationships/image" Target="../media/image12.png"/><Relationship Id="rId2" Type="http://schemas.openxmlformats.org/officeDocument/2006/relationships/tags" Target="../tags/tag220.xml"/><Relationship Id="rId1" Type="http://schemas.openxmlformats.org/officeDocument/2006/relationships/tags" Target="../tags/tag219.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24.xml"/><Relationship Id="rId3" Type="http://schemas.openxmlformats.org/officeDocument/2006/relationships/image" Target="../media/image13.png"/><Relationship Id="rId2" Type="http://schemas.openxmlformats.org/officeDocument/2006/relationships/tags" Target="../tags/tag223.xml"/><Relationship Id="rId1" Type="http://schemas.openxmlformats.org/officeDocument/2006/relationships/tags" Target="../tags/tag22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27.xml"/><Relationship Id="rId3" Type="http://schemas.openxmlformats.org/officeDocument/2006/relationships/image" Target="../media/image14.png"/><Relationship Id="rId2" Type="http://schemas.openxmlformats.org/officeDocument/2006/relationships/tags" Target="../tags/tag226.xml"/><Relationship Id="rId1" Type="http://schemas.openxmlformats.org/officeDocument/2006/relationships/tags" Target="../tags/tag225.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30.xml"/><Relationship Id="rId3" Type="http://schemas.openxmlformats.org/officeDocument/2006/relationships/image" Target="../media/image15.png"/><Relationship Id="rId2" Type="http://schemas.openxmlformats.org/officeDocument/2006/relationships/tags" Target="../tags/tag229.xml"/><Relationship Id="rId1" Type="http://schemas.openxmlformats.org/officeDocument/2006/relationships/tags" Target="../tags/tag228.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238.xml"/><Relationship Id="rId1" Type="http://schemas.openxmlformats.org/officeDocument/2006/relationships/tags" Target="../tags/tag237.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244.xml"/><Relationship Id="rId3" Type="http://schemas.openxmlformats.org/officeDocument/2006/relationships/image" Target="../media/image16.png"/><Relationship Id="rId2" Type="http://schemas.openxmlformats.org/officeDocument/2006/relationships/tags" Target="../tags/tag243.xml"/><Relationship Id="rId1" Type="http://schemas.openxmlformats.org/officeDocument/2006/relationships/tags" Target="../tags/tag242.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24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tags" Target="../tags/tag246.xml"/><Relationship Id="rId1" Type="http://schemas.openxmlformats.org/officeDocument/2006/relationships/tags" Target="../tags/tag245.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250.xml"/><Relationship Id="rId3" Type="http://schemas.openxmlformats.org/officeDocument/2006/relationships/image" Target="../media/image19.png"/><Relationship Id="rId2" Type="http://schemas.openxmlformats.org/officeDocument/2006/relationships/tags" Target="../tags/tag249.xml"/><Relationship Id="rId1" Type="http://schemas.openxmlformats.org/officeDocument/2006/relationships/tags" Target="../tags/tag248.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256.xml"/><Relationship Id="rId3" Type="http://schemas.openxmlformats.org/officeDocument/2006/relationships/image" Target="../media/image20.png"/><Relationship Id="rId2" Type="http://schemas.openxmlformats.org/officeDocument/2006/relationships/tags" Target="../tags/tag255.xml"/><Relationship Id="rId1" Type="http://schemas.openxmlformats.org/officeDocument/2006/relationships/tags" Target="../tags/tag254.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265.xml"/><Relationship Id="rId3" Type="http://schemas.openxmlformats.org/officeDocument/2006/relationships/image" Target="../media/image21.png"/><Relationship Id="rId2" Type="http://schemas.openxmlformats.org/officeDocument/2006/relationships/tags" Target="../tags/tag264.xml"/><Relationship Id="rId1" Type="http://schemas.openxmlformats.org/officeDocument/2006/relationships/tags" Target="../tags/tag263.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6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Web Information Processing</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Course Introduction</a:t>
            </a:r>
            <a:endParaRPr lang="zh-CN" altLang="en-US" dirty="0"/>
          </a:p>
        </p:txBody>
      </p:sp>
      <p:sp>
        <p:nvSpPr>
          <p:cNvPr id="3" name="内容占位符 2"/>
          <p:cNvSpPr>
            <a:spLocks noGrp="1"/>
          </p:cNvSpPr>
          <p:nvPr>
            <p:ph idx="1"/>
          </p:nvPr>
        </p:nvSpPr>
        <p:spPr>
          <a:xfrm>
            <a:off x="591064" y="1547597"/>
            <a:ext cx="11135498" cy="5032375"/>
          </a:xfrm>
        </p:spPr>
        <p:txBody>
          <a:bodyPr>
            <a:noAutofit/>
          </a:bodyPr>
          <a:lstStyle/>
          <a:p>
            <a:pPr algn="just"/>
            <a:r>
              <a:rPr lang="en-US" altLang="zh-CN" sz="3600" dirty="0"/>
              <a:t>The course provides an introduction to client-server information processing followed by an in-depth overview of the components and architecture of HTTP-based web </a:t>
            </a:r>
            <a:r>
              <a:rPr lang="en-US" altLang="zh-CN" sz="3600" dirty="0" smtClean="0"/>
              <a:t>applications</a:t>
            </a:r>
            <a:r>
              <a:rPr lang="en-US" altLang="zh-CN" sz="3600" dirty="0" smtClean="0"/>
              <a:t>. </a:t>
            </a:r>
            <a:r>
              <a:rPr lang="en-US" altLang="zh-CN" sz="3600" dirty="0" smtClean="0"/>
              <a:t>All </a:t>
            </a:r>
            <a:r>
              <a:rPr lang="en-US" altLang="zh-CN" sz="3600" dirty="0"/>
              <a:t>the concepts described focus on progressive enhancements (separation of structure, presentation and </a:t>
            </a:r>
            <a:r>
              <a:rPr lang="en-US" altLang="zh-CN" sz="3600" dirty="0" smtClean="0"/>
              <a:t>behavior) </a:t>
            </a:r>
            <a:r>
              <a:rPr lang="en-US" altLang="zh-CN" sz="3600" dirty="0"/>
              <a:t>and best practices in interactive, database-driven, web application development. The course also provides an overview of MVC, </a:t>
            </a:r>
            <a:r>
              <a:rPr lang="en-US" altLang="zh-CN" sz="3600" dirty="0" smtClean="0"/>
              <a:t>design </a:t>
            </a:r>
            <a:r>
              <a:rPr lang="en-US" altLang="zh-CN" sz="3600" dirty="0"/>
              <a:t>practices in relation to web development.</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Main Content</a:t>
            </a:r>
            <a:endParaRPr lang="zh-CN" altLang="en-US" dirty="0"/>
          </a:p>
        </p:txBody>
      </p:sp>
      <p:sp>
        <p:nvSpPr>
          <p:cNvPr id="3" name="内容占位符 2"/>
          <p:cNvSpPr>
            <a:spLocks noGrp="1"/>
          </p:cNvSpPr>
          <p:nvPr>
            <p:ph idx="1"/>
          </p:nvPr>
        </p:nvSpPr>
        <p:spPr>
          <a:xfrm>
            <a:off x="838200" y="1825625"/>
            <a:ext cx="10515600" cy="2400386"/>
          </a:xfrm>
        </p:spPr>
        <p:txBody>
          <a:bodyPr/>
          <a:lstStyle/>
          <a:p>
            <a:r>
              <a:rPr lang="en-US" altLang="zh-CN" dirty="0" smtClean="0"/>
              <a:t>HTML </a:t>
            </a:r>
            <a:endParaRPr lang="en-US" altLang="zh-CN" dirty="0" smtClean="0"/>
          </a:p>
          <a:p>
            <a:r>
              <a:rPr lang="en-US" altLang="zh-CN" dirty="0" smtClean="0"/>
              <a:t>CSS</a:t>
            </a:r>
            <a:endParaRPr lang="en-US" altLang="zh-CN" dirty="0" smtClean="0"/>
          </a:p>
          <a:p>
            <a:r>
              <a:rPr lang="en-US" altLang="zh-CN" dirty="0" smtClean="0"/>
              <a:t>JavaScript</a:t>
            </a:r>
            <a:endParaRPr lang="en-US" altLang="zh-CN" dirty="0" smtClean="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HTML</a:t>
            </a:r>
            <a:r>
              <a:rPr lang="en-US" altLang="zh-CN" dirty="0" smtClean="0"/>
              <a:t>?</a:t>
            </a:r>
            <a:endParaRPr lang="zh-CN" altLang="en-US" dirty="0"/>
          </a:p>
        </p:txBody>
      </p:sp>
      <p:sp>
        <p:nvSpPr>
          <p:cNvPr id="3" name="内容占位符 2"/>
          <p:cNvSpPr>
            <a:spLocks noGrp="1"/>
          </p:cNvSpPr>
          <p:nvPr>
            <p:ph idx="1"/>
          </p:nvPr>
        </p:nvSpPr>
        <p:spPr/>
        <p:txBody>
          <a:bodyPr/>
          <a:lstStyle/>
          <a:p>
            <a:pPr marL="0" indent="0">
              <a:buNone/>
            </a:pPr>
            <a:r>
              <a:rPr lang="en-US" altLang="zh-CN" dirty="0"/>
              <a:t>HTML is a </a:t>
            </a:r>
            <a:r>
              <a:rPr lang="en-US" altLang="zh-CN" b="1" dirty="0"/>
              <a:t>markup</a:t>
            </a:r>
            <a:r>
              <a:rPr lang="en-US" altLang="zh-CN" dirty="0"/>
              <a:t> language for </a:t>
            </a:r>
            <a:r>
              <a:rPr lang="en-US" altLang="zh-CN" b="1" dirty="0"/>
              <a:t>describing</a:t>
            </a:r>
            <a:r>
              <a:rPr lang="en-US" altLang="zh-CN" dirty="0"/>
              <a:t> web documents (web pages).</a:t>
            </a:r>
            <a:endParaRPr lang="en-US" altLang="zh-CN" dirty="0"/>
          </a:p>
          <a:p>
            <a:r>
              <a:rPr lang="en-US" altLang="zh-CN" dirty="0"/>
              <a:t>HTML stands for </a:t>
            </a:r>
            <a:r>
              <a:rPr lang="en-US" altLang="zh-CN" b="1" dirty="0"/>
              <a:t>H</a:t>
            </a:r>
            <a:r>
              <a:rPr lang="en-US" altLang="zh-CN" dirty="0"/>
              <a:t>yper </a:t>
            </a:r>
            <a:r>
              <a:rPr lang="en-US" altLang="zh-CN" b="1" dirty="0"/>
              <a:t>T</a:t>
            </a:r>
            <a:r>
              <a:rPr lang="en-US" altLang="zh-CN" dirty="0"/>
              <a:t>ext </a:t>
            </a:r>
            <a:r>
              <a:rPr lang="en-US" altLang="zh-CN" b="1" dirty="0"/>
              <a:t>M</a:t>
            </a:r>
            <a:r>
              <a:rPr lang="en-US" altLang="zh-CN" dirty="0"/>
              <a:t>arkup </a:t>
            </a:r>
            <a:r>
              <a:rPr lang="en-US" altLang="zh-CN" b="1" dirty="0"/>
              <a:t>L</a:t>
            </a:r>
            <a:r>
              <a:rPr lang="en-US" altLang="zh-CN" dirty="0"/>
              <a:t>anguage</a:t>
            </a:r>
            <a:endParaRPr lang="en-US" altLang="zh-CN" dirty="0"/>
          </a:p>
          <a:p>
            <a:r>
              <a:rPr lang="en-US" altLang="zh-CN" dirty="0"/>
              <a:t>A markup language is a set of </a:t>
            </a:r>
            <a:r>
              <a:rPr lang="en-US" altLang="zh-CN" b="1" dirty="0"/>
              <a:t>markup tags</a:t>
            </a:r>
            <a:endParaRPr lang="en-US" altLang="zh-CN" dirty="0"/>
          </a:p>
          <a:p>
            <a:r>
              <a:rPr lang="en-US" altLang="zh-CN" dirty="0"/>
              <a:t>HTML documents are described by </a:t>
            </a:r>
            <a:r>
              <a:rPr lang="en-US" altLang="zh-CN" b="1" dirty="0"/>
              <a:t>HTML tags</a:t>
            </a:r>
            <a:endParaRPr lang="en-US" altLang="zh-CN" dirty="0"/>
          </a:p>
          <a:p>
            <a:r>
              <a:rPr lang="en-US" altLang="zh-CN" dirty="0"/>
              <a:t>Each HTML tag </a:t>
            </a:r>
            <a:r>
              <a:rPr lang="en-US" altLang="zh-CN" b="1" dirty="0"/>
              <a:t>describes</a:t>
            </a:r>
            <a:r>
              <a:rPr lang="en-US" altLang="zh-CN" dirty="0"/>
              <a:t> different document content</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898056"/>
          </a:xfrm>
        </p:spPr>
        <p:txBody>
          <a:bodyPr/>
          <a:lstStyle/>
          <a:p>
            <a:pPr algn="ctr"/>
            <a:r>
              <a:rPr lang="en-US" altLang="zh-CN" dirty="0"/>
              <a:t>HTML </a:t>
            </a:r>
            <a:r>
              <a:rPr lang="en-US" altLang="zh-CN" dirty="0" smtClean="0"/>
              <a:t>Example</a:t>
            </a:r>
            <a:endParaRPr lang="zh-CN" altLang="en-US" dirty="0"/>
          </a:p>
        </p:txBody>
      </p:sp>
      <p:sp>
        <p:nvSpPr>
          <p:cNvPr id="3" name="内容占位符 2"/>
          <p:cNvSpPr>
            <a:spLocks noGrp="1"/>
          </p:cNvSpPr>
          <p:nvPr>
            <p:ph idx="1"/>
          </p:nvPr>
        </p:nvSpPr>
        <p:spPr>
          <a:xfrm>
            <a:off x="85641" y="1376467"/>
            <a:ext cx="4437807" cy="553051"/>
          </a:xfrm>
        </p:spPr>
        <p:txBody>
          <a:bodyPr/>
          <a:lstStyle/>
          <a:p>
            <a:pPr marL="0" indent="0">
              <a:buNone/>
            </a:pPr>
            <a:r>
              <a:rPr lang="en-US" altLang="zh-CN" dirty="0"/>
              <a:t>A small HTML document</a:t>
            </a:r>
            <a:r>
              <a:rPr lang="en-US" altLang="zh-CN" dirty="0" smtClean="0"/>
              <a:t>:</a:t>
            </a:r>
            <a:endParaRPr lang="en-US" altLang="zh-CN" dirty="0"/>
          </a:p>
        </p:txBody>
      </p:sp>
      <p:pic>
        <p:nvPicPr>
          <p:cNvPr id="4" name="图片 3"/>
          <p:cNvPicPr>
            <a:picLocks noChangeAspect="1"/>
          </p:cNvPicPr>
          <p:nvPr/>
        </p:nvPicPr>
        <p:blipFill rotWithShape="1">
          <a:blip r:embed="rId1"/>
          <a:srcRect r="30283"/>
          <a:stretch>
            <a:fillRect/>
          </a:stretch>
        </p:blipFill>
        <p:spPr>
          <a:xfrm>
            <a:off x="85641" y="2270043"/>
            <a:ext cx="3830904" cy="3855163"/>
          </a:xfrm>
          <a:prstGeom prst="rect">
            <a:avLst/>
          </a:prstGeom>
        </p:spPr>
      </p:pic>
      <p:sp>
        <p:nvSpPr>
          <p:cNvPr id="5" name="内容占位符 2"/>
          <p:cNvSpPr txBox="1"/>
          <p:nvPr/>
        </p:nvSpPr>
        <p:spPr>
          <a:xfrm>
            <a:off x="4318449" y="1541100"/>
            <a:ext cx="7754868" cy="4961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sz="2400" dirty="0" smtClean="0"/>
              <a:t>The </a:t>
            </a:r>
            <a:r>
              <a:rPr lang="en-US" altLang="zh-CN" sz="2400" b="1" dirty="0" smtClean="0"/>
              <a:t>DOCTYPE</a:t>
            </a:r>
            <a:r>
              <a:rPr lang="en-US" altLang="zh-CN" sz="2400" dirty="0" smtClean="0"/>
              <a:t> declaration defines the document type to be HTML</a:t>
            </a:r>
            <a:endParaRPr lang="en-US" altLang="zh-CN" sz="2400" dirty="0" smtClean="0"/>
          </a:p>
          <a:p>
            <a:pPr algn="just"/>
            <a:r>
              <a:rPr lang="en-US" altLang="zh-CN" sz="2400" dirty="0" smtClean="0"/>
              <a:t>The text between </a:t>
            </a:r>
            <a:r>
              <a:rPr lang="en-US" altLang="zh-CN" sz="2400" b="1" dirty="0" smtClean="0"/>
              <a:t>&lt;html&gt;</a:t>
            </a:r>
            <a:r>
              <a:rPr lang="en-US" altLang="zh-CN" sz="2400" dirty="0" smtClean="0"/>
              <a:t> and </a:t>
            </a:r>
            <a:r>
              <a:rPr lang="en-US" altLang="zh-CN" sz="2400" b="1" dirty="0" smtClean="0"/>
              <a:t>&lt;/html&gt;</a:t>
            </a:r>
            <a:r>
              <a:rPr lang="en-US" altLang="zh-CN" sz="2400" dirty="0" smtClean="0"/>
              <a:t> describes an HTML document</a:t>
            </a:r>
            <a:endParaRPr lang="en-US" altLang="zh-CN" sz="2400" dirty="0" smtClean="0"/>
          </a:p>
          <a:p>
            <a:pPr algn="just"/>
            <a:r>
              <a:rPr lang="en-US" altLang="zh-CN" sz="2400" dirty="0" smtClean="0"/>
              <a:t>The text between </a:t>
            </a:r>
            <a:r>
              <a:rPr lang="en-US" altLang="zh-CN" sz="2400" b="1" dirty="0" smtClean="0"/>
              <a:t>&lt;head&gt;</a:t>
            </a:r>
            <a:r>
              <a:rPr lang="en-US" altLang="zh-CN" sz="2400" dirty="0" smtClean="0"/>
              <a:t> and </a:t>
            </a:r>
            <a:r>
              <a:rPr lang="en-US" altLang="zh-CN" sz="2400" b="1" dirty="0" smtClean="0"/>
              <a:t>&lt;/head&gt;</a:t>
            </a:r>
            <a:r>
              <a:rPr lang="en-US" altLang="zh-CN" sz="2400" dirty="0" smtClean="0"/>
              <a:t> provides information about the document</a:t>
            </a:r>
            <a:endParaRPr lang="en-US" altLang="zh-CN" sz="2400" dirty="0" smtClean="0"/>
          </a:p>
          <a:p>
            <a:pPr algn="just"/>
            <a:r>
              <a:rPr lang="en-US" altLang="zh-CN" sz="2400" dirty="0" smtClean="0"/>
              <a:t>The text between </a:t>
            </a:r>
            <a:r>
              <a:rPr lang="en-US" altLang="zh-CN" sz="2400" b="1" dirty="0" smtClean="0"/>
              <a:t>&lt;title&gt;</a:t>
            </a:r>
            <a:r>
              <a:rPr lang="en-US" altLang="zh-CN" sz="2400" dirty="0" smtClean="0"/>
              <a:t> and </a:t>
            </a:r>
            <a:r>
              <a:rPr lang="en-US" altLang="zh-CN" sz="2400" b="1" dirty="0" smtClean="0"/>
              <a:t>&lt;/title&gt;</a:t>
            </a:r>
            <a:r>
              <a:rPr lang="en-US" altLang="zh-CN" sz="2400" dirty="0" smtClean="0"/>
              <a:t> provides a title for the document</a:t>
            </a:r>
            <a:endParaRPr lang="en-US" altLang="zh-CN" sz="2400" dirty="0" smtClean="0"/>
          </a:p>
          <a:p>
            <a:pPr algn="just"/>
            <a:r>
              <a:rPr lang="en-US" altLang="zh-CN" sz="2400" dirty="0" smtClean="0"/>
              <a:t>The text between </a:t>
            </a:r>
            <a:r>
              <a:rPr lang="en-US" altLang="zh-CN" sz="2400" b="1" dirty="0" smtClean="0"/>
              <a:t>&lt;body&gt;</a:t>
            </a:r>
            <a:r>
              <a:rPr lang="en-US" altLang="zh-CN" sz="2400" dirty="0" smtClean="0"/>
              <a:t> and </a:t>
            </a:r>
            <a:r>
              <a:rPr lang="en-US" altLang="zh-CN" sz="2400" b="1" dirty="0" smtClean="0"/>
              <a:t>&lt;/body&gt;</a:t>
            </a:r>
            <a:r>
              <a:rPr lang="en-US" altLang="zh-CN" sz="2400" dirty="0" smtClean="0"/>
              <a:t> describes the visible page content</a:t>
            </a:r>
            <a:endParaRPr lang="en-US" altLang="zh-CN" sz="2400" dirty="0" smtClean="0"/>
          </a:p>
          <a:p>
            <a:pPr algn="just"/>
            <a:r>
              <a:rPr lang="en-US" altLang="zh-CN" sz="2400" dirty="0" smtClean="0"/>
              <a:t>The text between </a:t>
            </a:r>
            <a:r>
              <a:rPr lang="en-US" altLang="zh-CN" sz="2400" b="1" dirty="0" smtClean="0"/>
              <a:t>&lt;h1&gt;</a:t>
            </a:r>
            <a:r>
              <a:rPr lang="en-US" altLang="zh-CN" sz="2400" dirty="0" smtClean="0"/>
              <a:t> and </a:t>
            </a:r>
            <a:r>
              <a:rPr lang="en-US" altLang="zh-CN" sz="2400" b="1" dirty="0" smtClean="0"/>
              <a:t>&lt;/h1&gt;</a:t>
            </a:r>
            <a:r>
              <a:rPr lang="en-US" altLang="zh-CN" sz="2400" dirty="0" smtClean="0"/>
              <a:t> describes a heading</a:t>
            </a:r>
            <a:endParaRPr lang="en-US" altLang="zh-CN" sz="2400" dirty="0" smtClean="0"/>
          </a:p>
          <a:p>
            <a:pPr algn="just"/>
            <a:r>
              <a:rPr lang="en-US" altLang="zh-CN" sz="2400" dirty="0" smtClean="0"/>
              <a:t>The text between </a:t>
            </a:r>
            <a:r>
              <a:rPr lang="en-US" altLang="zh-CN" sz="2400" b="1" dirty="0" smtClean="0"/>
              <a:t>&lt;p&gt;</a:t>
            </a:r>
            <a:r>
              <a:rPr lang="en-US" altLang="zh-CN" sz="2400" dirty="0" smtClean="0"/>
              <a:t> and </a:t>
            </a:r>
            <a:r>
              <a:rPr lang="en-US" altLang="zh-CN" sz="2400" b="1" dirty="0" smtClean="0"/>
              <a:t>&lt;/p&gt;</a:t>
            </a:r>
            <a:r>
              <a:rPr lang="en-US" altLang="zh-CN" sz="2400" dirty="0" smtClean="0"/>
              <a:t> describes a paragraph</a:t>
            </a: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a:t>
            </a:r>
            <a:r>
              <a:rPr lang="en-US" altLang="zh-CN" dirty="0" smtClean="0"/>
              <a:t>Tags</a:t>
            </a:r>
            <a:endParaRPr lang="zh-CN" altLang="en-US" dirty="0"/>
          </a:p>
        </p:txBody>
      </p:sp>
      <p:sp>
        <p:nvSpPr>
          <p:cNvPr id="3" name="内容占位符 2"/>
          <p:cNvSpPr>
            <a:spLocks noGrp="1"/>
          </p:cNvSpPr>
          <p:nvPr>
            <p:ph idx="1"/>
          </p:nvPr>
        </p:nvSpPr>
        <p:spPr>
          <a:xfrm>
            <a:off x="838200" y="1621738"/>
            <a:ext cx="10515600" cy="4389824"/>
          </a:xfrm>
        </p:spPr>
        <p:txBody>
          <a:bodyPr/>
          <a:lstStyle/>
          <a:p>
            <a:pPr algn="just"/>
            <a:r>
              <a:rPr lang="en-US" altLang="zh-CN" dirty="0"/>
              <a:t>HTML tags are </a:t>
            </a:r>
            <a:r>
              <a:rPr lang="en-US" altLang="zh-CN" b="1" dirty="0"/>
              <a:t>keywords</a:t>
            </a:r>
            <a:r>
              <a:rPr lang="en-US" altLang="zh-CN" dirty="0"/>
              <a:t> (tag names) surrounded by </a:t>
            </a:r>
            <a:r>
              <a:rPr lang="en-US" altLang="zh-CN" b="1" dirty="0"/>
              <a:t>angle brackets</a:t>
            </a:r>
            <a:r>
              <a:rPr lang="en-US" altLang="zh-CN" dirty="0"/>
              <a:t>:</a:t>
            </a:r>
            <a:endParaRPr lang="en-US" altLang="zh-CN" dirty="0"/>
          </a:p>
          <a:p>
            <a:pPr marL="0" indent="0" algn="just">
              <a:buNone/>
            </a:pPr>
            <a:r>
              <a:rPr lang="en-US" altLang="zh-CN" dirty="0"/>
              <a:t>&lt;</a:t>
            </a:r>
            <a:r>
              <a:rPr lang="en-US" altLang="zh-CN" dirty="0" err="1">
                <a:solidFill>
                  <a:srgbClr val="FF0000"/>
                </a:solidFill>
              </a:rPr>
              <a:t>tagname</a:t>
            </a:r>
            <a:r>
              <a:rPr lang="en-US" altLang="zh-CN" dirty="0"/>
              <a:t>&gt;content&lt;</a:t>
            </a:r>
            <a:r>
              <a:rPr lang="en-US" altLang="zh-CN" dirty="0">
                <a:solidFill>
                  <a:srgbClr val="FF0000"/>
                </a:solidFill>
              </a:rPr>
              <a:t>/</a:t>
            </a:r>
            <a:r>
              <a:rPr lang="en-US" altLang="zh-CN" dirty="0" err="1">
                <a:solidFill>
                  <a:srgbClr val="FF0000"/>
                </a:solidFill>
              </a:rPr>
              <a:t>tagname</a:t>
            </a:r>
            <a:r>
              <a:rPr lang="en-US" altLang="zh-CN" dirty="0"/>
              <a:t>&gt;</a:t>
            </a:r>
            <a:endParaRPr lang="en-US" altLang="zh-CN" dirty="0"/>
          </a:p>
          <a:p>
            <a:pPr algn="just"/>
            <a:r>
              <a:rPr lang="en-US" altLang="zh-CN" dirty="0"/>
              <a:t>HTML tags normally come </a:t>
            </a:r>
            <a:r>
              <a:rPr lang="en-US" altLang="zh-CN" b="1" dirty="0"/>
              <a:t>in pairs</a:t>
            </a:r>
            <a:r>
              <a:rPr lang="en-US" altLang="zh-CN" dirty="0"/>
              <a:t> like &lt;p&gt; and &lt;/p&gt;</a:t>
            </a:r>
            <a:endParaRPr lang="en-US" altLang="zh-CN" dirty="0"/>
          </a:p>
          <a:p>
            <a:pPr algn="just"/>
            <a:r>
              <a:rPr lang="en-US" altLang="zh-CN" dirty="0"/>
              <a:t>The first tag in a pair is the </a:t>
            </a:r>
            <a:r>
              <a:rPr lang="en-US" altLang="zh-CN" b="1" dirty="0"/>
              <a:t>start tag,</a:t>
            </a:r>
            <a:r>
              <a:rPr lang="en-US" altLang="zh-CN" dirty="0"/>
              <a:t> the second tag is the </a:t>
            </a:r>
            <a:r>
              <a:rPr lang="en-US" altLang="zh-CN" b="1" dirty="0"/>
              <a:t>end tag</a:t>
            </a:r>
            <a:endParaRPr lang="en-US" altLang="zh-CN" dirty="0"/>
          </a:p>
          <a:p>
            <a:pPr algn="just"/>
            <a:r>
              <a:rPr lang="en-US" altLang="zh-CN" dirty="0"/>
              <a:t>The end tag is written like the start tag, but with a </a:t>
            </a:r>
            <a:r>
              <a:rPr lang="en-US" altLang="zh-CN" b="1" dirty="0"/>
              <a:t>slash</a:t>
            </a:r>
            <a:r>
              <a:rPr lang="en-US" altLang="zh-CN" dirty="0"/>
              <a:t> before the tag </a:t>
            </a:r>
            <a:r>
              <a:rPr lang="en-US" altLang="zh-CN" dirty="0" smtClean="0"/>
              <a:t>name</a:t>
            </a:r>
            <a:endParaRPr lang="en-US" altLang="zh-CN" dirty="0" smtClean="0"/>
          </a:p>
          <a:p>
            <a:pPr algn="just"/>
            <a:r>
              <a:rPr lang="en-US" altLang="zh-CN" dirty="0"/>
              <a:t>The start tag is often called the </a:t>
            </a:r>
            <a:r>
              <a:rPr lang="en-US" altLang="zh-CN" b="1" dirty="0"/>
              <a:t>opening tag</a:t>
            </a:r>
            <a:r>
              <a:rPr lang="en-US" altLang="zh-CN" dirty="0"/>
              <a:t>. The end tag is often called the </a:t>
            </a:r>
            <a:r>
              <a:rPr lang="en-US" altLang="zh-CN" b="1" dirty="0"/>
              <a:t>closing tag</a:t>
            </a:r>
            <a:endParaRPr lang="en-US" altLang="zh-CN" dirty="0"/>
          </a:p>
          <a:p>
            <a:pPr algn="just"/>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lstStyle/>
          <a:p>
            <a:pPr algn="ctr"/>
            <a:r>
              <a:rPr lang="en-US" altLang="zh-CN" dirty="0"/>
              <a:t>Web </a:t>
            </a:r>
            <a:r>
              <a:rPr lang="en-US" altLang="zh-CN" dirty="0" smtClean="0"/>
              <a:t>Browsers</a:t>
            </a:r>
            <a:endParaRPr lang="zh-CN" altLang="en-US" dirty="0"/>
          </a:p>
        </p:txBody>
      </p:sp>
      <p:sp>
        <p:nvSpPr>
          <p:cNvPr id="3" name="内容占位符 2"/>
          <p:cNvSpPr>
            <a:spLocks noGrp="1"/>
          </p:cNvSpPr>
          <p:nvPr>
            <p:ph idx="1"/>
          </p:nvPr>
        </p:nvSpPr>
        <p:spPr>
          <a:xfrm>
            <a:off x="582627" y="1115113"/>
            <a:ext cx="11158915" cy="1819618"/>
          </a:xfrm>
        </p:spPr>
        <p:txBody>
          <a:bodyPr/>
          <a:lstStyle/>
          <a:p>
            <a:pPr algn="just"/>
            <a:r>
              <a:rPr lang="en-US" altLang="zh-CN" dirty="0"/>
              <a:t>The purpose of a web browser (Chrome, IE, Firefox, Safari) is to read HTML documents and display them.</a:t>
            </a:r>
            <a:endParaRPr lang="en-US" altLang="zh-CN" dirty="0"/>
          </a:p>
          <a:p>
            <a:pPr algn="just"/>
            <a:r>
              <a:rPr lang="en-US" altLang="zh-CN" dirty="0"/>
              <a:t>The browser does not display the HTML tags, but uses them to determine how to display the document</a:t>
            </a:r>
            <a:r>
              <a:rPr lang="en-US" altLang="zh-CN" dirty="0" smtClean="0"/>
              <a:t>:</a:t>
            </a:r>
            <a:endParaRPr lang="en-US" altLang="zh-CN"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85230" y="3007560"/>
            <a:ext cx="6523842" cy="37088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76729"/>
          </a:xfrm>
        </p:spPr>
        <p:txBody>
          <a:bodyPr/>
          <a:lstStyle/>
          <a:p>
            <a:pPr algn="ctr"/>
            <a:r>
              <a:rPr lang="en-US" altLang="zh-CN" dirty="0"/>
              <a:t>HTML Page </a:t>
            </a:r>
            <a:r>
              <a:rPr lang="en-US" altLang="zh-CN" dirty="0" smtClean="0"/>
              <a:t>Structure</a:t>
            </a:r>
            <a:endParaRPr lang="zh-CN" altLang="en-US" dirty="0"/>
          </a:p>
        </p:txBody>
      </p:sp>
      <p:sp>
        <p:nvSpPr>
          <p:cNvPr id="3" name="内容占位符 2"/>
          <p:cNvSpPr>
            <a:spLocks noGrp="1"/>
          </p:cNvSpPr>
          <p:nvPr>
            <p:ph idx="1"/>
          </p:nvPr>
        </p:nvSpPr>
        <p:spPr>
          <a:xfrm>
            <a:off x="1011194" y="1312820"/>
            <a:ext cx="10515600" cy="528337"/>
          </a:xfrm>
        </p:spPr>
        <p:txBody>
          <a:bodyPr/>
          <a:lstStyle/>
          <a:p>
            <a:r>
              <a:rPr lang="en-US" altLang="zh-CN" dirty="0"/>
              <a:t>Below is a visualization of an HTML page structure:</a:t>
            </a:r>
            <a:endParaRPr lang="zh-CN" altLang="en-US" dirty="0"/>
          </a:p>
        </p:txBody>
      </p:sp>
      <p:pic>
        <p:nvPicPr>
          <p:cNvPr id="4" name="图片 3"/>
          <p:cNvPicPr>
            <a:picLocks noChangeAspect="1"/>
          </p:cNvPicPr>
          <p:nvPr/>
        </p:nvPicPr>
        <p:blipFill>
          <a:blip r:embed="rId1"/>
          <a:stretch>
            <a:fillRect/>
          </a:stretch>
        </p:blipFill>
        <p:spPr>
          <a:xfrm>
            <a:off x="576553" y="1977889"/>
            <a:ext cx="11200000" cy="3780953"/>
          </a:xfrm>
          <a:prstGeom prst="rect">
            <a:avLst/>
          </a:prstGeom>
        </p:spPr>
      </p:pic>
      <p:sp>
        <p:nvSpPr>
          <p:cNvPr id="5" name="矩形 4"/>
          <p:cNvSpPr/>
          <p:nvPr/>
        </p:nvSpPr>
        <p:spPr>
          <a:xfrm>
            <a:off x="1044147" y="6125545"/>
            <a:ext cx="10309653" cy="461665"/>
          </a:xfrm>
          <a:prstGeom prst="rect">
            <a:avLst/>
          </a:prstGeom>
        </p:spPr>
        <p:txBody>
          <a:bodyPr wrap="square">
            <a:spAutoFit/>
          </a:bodyPr>
          <a:lstStyle/>
          <a:p>
            <a:r>
              <a:rPr lang="en-US" altLang="zh-CN" sz="2400" b="0" i="0" dirty="0" smtClean="0">
                <a:solidFill>
                  <a:srgbClr val="FFFF00"/>
                </a:solidFill>
                <a:effectLst/>
              </a:rPr>
              <a:t>Hint</a:t>
            </a:r>
            <a:r>
              <a:rPr lang="zh-CN" altLang="en-US" sz="2400" b="0" i="0" dirty="0" smtClean="0">
                <a:solidFill>
                  <a:srgbClr val="FFFF00"/>
                </a:solidFill>
                <a:effectLst/>
              </a:rPr>
              <a:t>： </a:t>
            </a:r>
            <a:r>
              <a:rPr lang="en-US" altLang="zh-CN" sz="2400" b="0" i="0" dirty="0" smtClean="0">
                <a:solidFill>
                  <a:srgbClr val="FFFF00"/>
                </a:solidFill>
                <a:effectLst/>
              </a:rPr>
              <a:t>Only the &lt;body&gt; area (the white area) is displayed by the browser</a:t>
            </a:r>
            <a:endParaRPr lang="zh-CN" altLang="en-US" sz="24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96410"/>
          </a:xfrm>
        </p:spPr>
        <p:txBody>
          <a:bodyPr/>
          <a:lstStyle/>
          <a:p>
            <a:pPr algn="ctr"/>
            <a:r>
              <a:rPr lang="en-US" altLang="zh-CN" dirty="0" smtClean="0"/>
              <a:t>&lt;!</a:t>
            </a:r>
            <a:r>
              <a:rPr lang="en-US" altLang="zh-CN" dirty="0"/>
              <a:t>DOCTYPE&gt; </a:t>
            </a:r>
            <a:r>
              <a:rPr lang="en-US" altLang="zh-CN" dirty="0" smtClean="0"/>
              <a:t>Declaration</a:t>
            </a:r>
            <a:endParaRPr lang="zh-CN" altLang="en-US" dirty="0"/>
          </a:p>
        </p:txBody>
      </p:sp>
      <p:sp>
        <p:nvSpPr>
          <p:cNvPr id="3" name="内容占位符 2"/>
          <p:cNvSpPr>
            <a:spLocks noGrp="1"/>
          </p:cNvSpPr>
          <p:nvPr>
            <p:ph idx="1"/>
          </p:nvPr>
        </p:nvSpPr>
        <p:spPr>
          <a:xfrm>
            <a:off x="838200" y="1291281"/>
            <a:ext cx="10857470" cy="2900834"/>
          </a:xfrm>
        </p:spPr>
        <p:txBody>
          <a:bodyPr/>
          <a:lstStyle/>
          <a:p>
            <a:r>
              <a:rPr lang="en-US" altLang="zh-CN" dirty="0"/>
              <a:t>The &lt;!DOCTYPE&gt; declaration helps the browser to display a web page correctly.</a:t>
            </a:r>
            <a:endParaRPr lang="en-US" altLang="zh-CN" dirty="0"/>
          </a:p>
          <a:p>
            <a:r>
              <a:rPr lang="en-US" altLang="zh-CN" dirty="0"/>
              <a:t>There are different document types on the web.</a:t>
            </a:r>
            <a:endParaRPr lang="en-US" altLang="zh-CN" dirty="0"/>
          </a:p>
          <a:p>
            <a:r>
              <a:rPr lang="en-US" altLang="zh-CN" dirty="0"/>
              <a:t>To display a document correctly, the browser must know both type and version.</a:t>
            </a:r>
            <a:endParaRPr lang="en-US" altLang="zh-CN" dirty="0"/>
          </a:p>
          <a:p>
            <a:r>
              <a:rPr lang="en-US" altLang="zh-CN" dirty="0"/>
              <a:t>The </a:t>
            </a:r>
            <a:r>
              <a:rPr lang="en-US" altLang="zh-CN" dirty="0" err="1"/>
              <a:t>doctype</a:t>
            </a:r>
            <a:r>
              <a:rPr lang="en-US" altLang="zh-CN" dirty="0"/>
              <a:t> declaration is not case sensitive. All cases are acceptable</a:t>
            </a:r>
            <a:r>
              <a:rPr lang="en-US" altLang="zh-CN" dirty="0" smtClean="0"/>
              <a:t>:</a:t>
            </a:r>
            <a:endParaRPr lang="en-US" altLang="zh-CN" dirty="0"/>
          </a:p>
        </p:txBody>
      </p:sp>
      <p:pic>
        <p:nvPicPr>
          <p:cNvPr id="4" name="图片 3"/>
          <p:cNvPicPr>
            <a:picLocks noChangeAspect="1"/>
          </p:cNvPicPr>
          <p:nvPr/>
        </p:nvPicPr>
        <p:blipFill>
          <a:blip r:embed="rId1"/>
          <a:stretch>
            <a:fillRect/>
          </a:stretch>
        </p:blipFill>
        <p:spPr>
          <a:xfrm>
            <a:off x="3947983" y="4192115"/>
            <a:ext cx="4472822" cy="24912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HTML </a:t>
            </a:r>
            <a:r>
              <a:rPr lang="en-US" altLang="zh-CN" dirty="0" smtClean="0"/>
              <a:t>Versions</a:t>
            </a:r>
            <a:endParaRPr lang="zh-CN" altLang="en-US" dirty="0"/>
          </a:p>
        </p:txBody>
      </p:sp>
      <p:sp>
        <p:nvSpPr>
          <p:cNvPr id="3" name="内容占位符 2"/>
          <p:cNvSpPr>
            <a:spLocks noGrp="1"/>
          </p:cNvSpPr>
          <p:nvPr>
            <p:ph idx="1"/>
          </p:nvPr>
        </p:nvSpPr>
        <p:spPr>
          <a:xfrm>
            <a:off x="838200" y="1825625"/>
            <a:ext cx="10515600" cy="787829"/>
          </a:xfrm>
        </p:spPr>
        <p:txBody>
          <a:bodyPr>
            <a:normAutofit lnSpcReduction="10000"/>
          </a:bodyPr>
          <a:lstStyle/>
          <a:p>
            <a:r>
              <a:rPr lang="en-US" altLang="zh-CN" dirty="0"/>
              <a:t>Since the early days of the web, there have been many versions of HTML:</a:t>
            </a:r>
            <a:endParaRPr lang="zh-CN" altLang="en-US" dirty="0"/>
          </a:p>
        </p:txBody>
      </p:sp>
      <p:graphicFrame>
        <p:nvGraphicFramePr>
          <p:cNvPr id="4" name="表格 3"/>
          <p:cNvGraphicFramePr>
            <a:graphicFrameLocks noGrp="1"/>
          </p:cNvGraphicFramePr>
          <p:nvPr/>
        </p:nvGraphicFramePr>
        <p:xfrm>
          <a:off x="1005016" y="3142267"/>
          <a:ext cx="10515600" cy="3071530"/>
        </p:xfrm>
        <a:graphic>
          <a:graphicData uri="http://schemas.openxmlformats.org/drawingml/2006/table">
            <a:tbl>
              <a:tblPr/>
              <a:tblGrid>
                <a:gridCol w="5257800"/>
                <a:gridCol w="5257800"/>
              </a:tblGrid>
              <a:tr h="375174">
                <a:tc>
                  <a:txBody>
                    <a:bodyPr/>
                    <a:lstStyle/>
                    <a:p>
                      <a:pPr algn="l" fontAlgn="t"/>
                      <a:r>
                        <a:rPr lang="en-US" sz="2000" dirty="0">
                          <a:solidFill>
                            <a:srgbClr val="FF0000"/>
                          </a:solidFill>
                          <a:effectLst/>
                        </a:rPr>
                        <a:t>Version</a:t>
                      </a:r>
                      <a:endParaRPr lang="en-US" sz="2000" dirty="0">
                        <a:solidFill>
                          <a:srgbClr val="FF0000"/>
                        </a:solidFill>
                        <a:effectLst/>
                      </a:endParaRPr>
                    </a:p>
                  </a:txBody>
                  <a:tcPr marL="66995" marR="66995" marT="66995" marB="66995">
                    <a:lnL>
                      <a:noFill/>
                    </a:lnL>
                    <a:lnR>
                      <a:noFill/>
                    </a:lnR>
                    <a:lnT>
                      <a:noFill/>
                    </a:lnT>
                    <a:lnB>
                      <a:noFill/>
                    </a:lnB>
                    <a:solidFill>
                      <a:srgbClr val="FFFFFF"/>
                    </a:solidFill>
                  </a:tcPr>
                </a:tc>
                <a:tc>
                  <a:txBody>
                    <a:bodyPr/>
                    <a:lstStyle/>
                    <a:p>
                      <a:pPr algn="l" fontAlgn="t"/>
                      <a:r>
                        <a:rPr lang="en-US" sz="2000" dirty="0">
                          <a:solidFill>
                            <a:srgbClr val="FF0000"/>
                          </a:solidFill>
                          <a:effectLst/>
                        </a:rPr>
                        <a:t>Year</a:t>
                      </a:r>
                      <a:endParaRPr lang="en-US" sz="2000" dirty="0">
                        <a:solidFill>
                          <a:srgbClr val="FF0000"/>
                        </a:solidFill>
                        <a:effectLst/>
                      </a:endParaRPr>
                    </a:p>
                  </a:txBody>
                  <a:tcPr marL="66995" marR="66995" marT="66995" marB="66995">
                    <a:lnL>
                      <a:noFill/>
                    </a:lnL>
                    <a:lnR>
                      <a:noFill/>
                    </a:lnR>
                    <a:lnT>
                      <a:noFill/>
                    </a:lnT>
                    <a:lnB>
                      <a:noFill/>
                    </a:lnB>
                    <a:solidFill>
                      <a:srgbClr val="FFFFFF"/>
                    </a:solidFill>
                  </a:tcPr>
                </a:tc>
              </a:tr>
              <a:tr h="375174">
                <a:tc>
                  <a:txBody>
                    <a:bodyPr/>
                    <a:lstStyle/>
                    <a:p>
                      <a:pPr algn="l" fontAlgn="t"/>
                      <a:r>
                        <a:rPr lang="en-US" sz="2000" dirty="0">
                          <a:solidFill>
                            <a:srgbClr val="FF0000"/>
                          </a:solidFill>
                          <a:effectLst/>
                        </a:rPr>
                        <a:t>HTML</a:t>
                      </a:r>
                      <a:endParaRPr lang="en-US" sz="2000" dirty="0">
                        <a:solidFill>
                          <a:srgbClr val="FF0000"/>
                        </a:solidFill>
                        <a:effectLst/>
                      </a:endParaRPr>
                    </a:p>
                  </a:txBody>
                  <a:tcPr marL="66995" marR="66995" marT="66995" marB="66995">
                    <a:lnL>
                      <a:noFill/>
                    </a:lnL>
                    <a:lnR>
                      <a:noFill/>
                    </a:lnR>
                    <a:lnT>
                      <a:noFill/>
                    </a:lnT>
                    <a:lnB>
                      <a:noFill/>
                    </a:lnB>
                    <a:solidFill>
                      <a:srgbClr val="F1F1F1"/>
                    </a:solidFill>
                  </a:tcPr>
                </a:tc>
                <a:tc>
                  <a:txBody>
                    <a:bodyPr/>
                    <a:lstStyle/>
                    <a:p>
                      <a:pPr algn="l" fontAlgn="t"/>
                      <a:r>
                        <a:rPr lang="en-US" altLang="zh-CN" sz="2000">
                          <a:solidFill>
                            <a:srgbClr val="FF0000"/>
                          </a:solidFill>
                          <a:effectLst/>
                        </a:rPr>
                        <a:t>1991</a:t>
                      </a:r>
                      <a:endParaRPr lang="en-US" altLang="zh-CN" sz="2000">
                        <a:solidFill>
                          <a:srgbClr val="FF0000"/>
                        </a:solidFill>
                        <a:effectLst/>
                      </a:endParaRPr>
                    </a:p>
                  </a:txBody>
                  <a:tcPr marL="66995" marR="66995" marT="66995" marB="66995">
                    <a:lnL>
                      <a:noFill/>
                    </a:lnL>
                    <a:lnR>
                      <a:noFill/>
                    </a:lnR>
                    <a:lnT>
                      <a:noFill/>
                    </a:lnT>
                    <a:lnB>
                      <a:noFill/>
                    </a:lnB>
                    <a:solidFill>
                      <a:srgbClr val="F1F1F1"/>
                    </a:solidFill>
                  </a:tcPr>
                </a:tc>
              </a:tr>
              <a:tr h="375174">
                <a:tc>
                  <a:txBody>
                    <a:bodyPr/>
                    <a:lstStyle/>
                    <a:p>
                      <a:pPr algn="l" fontAlgn="t"/>
                      <a:r>
                        <a:rPr lang="en-US" sz="2000">
                          <a:solidFill>
                            <a:srgbClr val="FF0000"/>
                          </a:solidFill>
                          <a:effectLst/>
                        </a:rPr>
                        <a:t>HTML 2.0</a:t>
                      </a:r>
                      <a:endParaRPr lang="en-US" sz="2000">
                        <a:solidFill>
                          <a:srgbClr val="FF0000"/>
                        </a:solidFill>
                        <a:effectLst/>
                      </a:endParaRPr>
                    </a:p>
                  </a:txBody>
                  <a:tcPr marL="66995" marR="66995" marT="66995" marB="66995">
                    <a:lnL>
                      <a:noFill/>
                    </a:lnL>
                    <a:lnR>
                      <a:noFill/>
                    </a:lnR>
                    <a:lnT>
                      <a:noFill/>
                    </a:lnT>
                    <a:lnB>
                      <a:noFill/>
                    </a:lnB>
                    <a:solidFill>
                      <a:srgbClr val="FFFFFF"/>
                    </a:solidFill>
                  </a:tcPr>
                </a:tc>
                <a:tc>
                  <a:txBody>
                    <a:bodyPr/>
                    <a:lstStyle/>
                    <a:p>
                      <a:pPr algn="l" fontAlgn="t"/>
                      <a:r>
                        <a:rPr lang="en-US" altLang="zh-CN" sz="2000">
                          <a:solidFill>
                            <a:srgbClr val="FF0000"/>
                          </a:solidFill>
                          <a:effectLst/>
                        </a:rPr>
                        <a:t>1995</a:t>
                      </a:r>
                      <a:endParaRPr lang="en-US" altLang="zh-CN" sz="2000">
                        <a:solidFill>
                          <a:srgbClr val="FF0000"/>
                        </a:solidFill>
                        <a:effectLst/>
                      </a:endParaRPr>
                    </a:p>
                  </a:txBody>
                  <a:tcPr marL="66995" marR="66995" marT="66995" marB="66995">
                    <a:lnL>
                      <a:noFill/>
                    </a:lnL>
                    <a:lnR>
                      <a:noFill/>
                    </a:lnR>
                    <a:lnT>
                      <a:noFill/>
                    </a:lnT>
                    <a:lnB>
                      <a:noFill/>
                    </a:lnB>
                    <a:solidFill>
                      <a:srgbClr val="FFFFFF"/>
                    </a:solidFill>
                  </a:tcPr>
                </a:tc>
              </a:tr>
              <a:tr h="375174">
                <a:tc>
                  <a:txBody>
                    <a:bodyPr/>
                    <a:lstStyle/>
                    <a:p>
                      <a:pPr algn="l" fontAlgn="t"/>
                      <a:r>
                        <a:rPr lang="en-US" sz="2000">
                          <a:solidFill>
                            <a:srgbClr val="FF0000"/>
                          </a:solidFill>
                          <a:effectLst/>
                        </a:rPr>
                        <a:t>HTML 3.2</a:t>
                      </a:r>
                      <a:endParaRPr lang="en-US" sz="2000">
                        <a:solidFill>
                          <a:srgbClr val="FF0000"/>
                        </a:solidFill>
                        <a:effectLst/>
                      </a:endParaRPr>
                    </a:p>
                  </a:txBody>
                  <a:tcPr marL="66995" marR="66995" marT="66995" marB="66995">
                    <a:lnL>
                      <a:noFill/>
                    </a:lnL>
                    <a:lnR>
                      <a:noFill/>
                    </a:lnR>
                    <a:lnT>
                      <a:noFill/>
                    </a:lnT>
                    <a:lnB>
                      <a:noFill/>
                    </a:lnB>
                    <a:solidFill>
                      <a:srgbClr val="F1F1F1"/>
                    </a:solidFill>
                  </a:tcPr>
                </a:tc>
                <a:tc>
                  <a:txBody>
                    <a:bodyPr/>
                    <a:lstStyle/>
                    <a:p>
                      <a:pPr algn="l" fontAlgn="t"/>
                      <a:r>
                        <a:rPr lang="en-US" altLang="zh-CN" sz="2000">
                          <a:solidFill>
                            <a:srgbClr val="FF0000"/>
                          </a:solidFill>
                          <a:effectLst/>
                        </a:rPr>
                        <a:t>1997</a:t>
                      </a:r>
                      <a:endParaRPr lang="en-US" altLang="zh-CN" sz="2000">
                        <a:solidFill>
                          <a:srgbClr val="FF0000"/>
                        </a:solidFill>
                        <a:effectLst/>
                      </a:endParaRPr>
                    </a:p>
                  </a:txBody>
                  <a:tcPr marL="66995" marR="66995" marT="66995" marB="66995">
                    <a:lnL>
                      <a:noFill/>
                    </a:lnL>
                    <a:lnR>
                      <a:noFill/>
                    </a:lnR>
                    <a:lnT>
                      <a:noFill/>
                    </a:lnT>
                    <a:lnB>
                      <a:noFill/>
                    </a:lnB>
                    <a:solidFill>
                      <a:srgbClr val="F1F1F1"/>
                    </a:solidFill>
                  </a:tcPr>
                </a:tc>
              </a:tr>
              <a:tr h="375174">
                <a:tc>
                  <a:txBody>
                    <a:bodyPr/>
                    <a:lstStyle/>
                    <a:p>
                      <a:pPr algn="l" fontAlgn="t"/>
                      <a:r>
                        <a:rPr lang="en-US" sz="2000">
                          <a:solidFill>
                            <a:srgbClr val="FF0000"/>
                          </a:solidFill>
                          <a:effectLst/>
                        </a:rPr>
                        <a:t>HTML 4.01</a:t>
                      </a:r>
                      <a:endParaRPr lang="en-US" sz="2000">
                        <a:solidFill>
                          <a:srgbClr val="FF0000"/>
                        </a:solidFill>
                        <a:effectLst/>
                      </a:endParaRPr>
                    </a:p>
                  </a:txBody>
                  <a:tcPr marL="66995" marR="66995" marT="66995" marB="66995">
                    <a:lnL>
                      <a:noFill/>
                    </a:lnL>
                    <a:lnR>
                      <a:noFill/>
                    </a:lnR>
                    <a:lnT>
                      <a:noFill/>
                    </a:lnT>
                    <a:lnB>
                      <a:noFill/>
                    </a:lnB>
                    <a:solidFill>
                      <a:srgbClr val="FFFFFF"/>
                    </a:solidFill>
                  </a:tcPr>
                </a:tc>
                <a:tc>
                  <a:txBody>
                    <a:bodyPr/>
                    <a:lstStyle/>
                    <a:p>
                      <a:pPr algn="l" fontAlgn="t"/>
                      <a:r>
                        <a:rPr lang="en-US" altLang="zh-CN" sz="2000">
                          <a:solidFill>
                            <a:srgbClr val="FF0000"/>
                          </a:solidFill>
                          <a:effectLst/>
                        </a:rPr>
                        <a:t>1999</a:t>
                      </a:r>
                      <a:endParaRPr lang="en-US" altLang="zh-CN" sz="2000">
                        <a:solidFill>
                          <a:srgbClr val="FF0000"/>
                        </a:solidFill>
                        <a:effectLst/>
                      </a:endParaRPr>
                    </a:p>
                  </a:txBody>
                  <a:tcPr marL="66995" marR="66995" marT="66995" marB="66995">
                    <a:lnL>
                      <a:noFill/>
                    </a:lnL>
                    <a:lnR>
                      <a:noFill/>
                    </a:lnR>
                    <a:lnT>
                      <a:noFill/>
                    </a:lnT>
                    <a:lnB>
                      <a:noFill/>
                    </a:lnB>
                    <a:solidFill>
                      <a:srgbClr val="FFFFFF"/>
                    </a:solidFill>
                  </a:tcPr>
                </a:tc>
              </a:tr>
              <a:tr h="375174">
                <a:tc>
                  <a:txBody>
                    <a:bodyPr/>
                    <a:lstStyle/>
                    <a:p>
                      <a:pPr algn="l" fontAlgn="t"/>
                      <a:r>
                        <a:rPr lang="en-US" sz="2000">
                          <a:solidFill>
                            <a:srgbClr val="FF0000"/>
                          </a:solidFill>
                          <a:effectLst/>
                        </a:rPr>
                        <a:t>XHTML</a:t>
                      </a:r>
                      <a:endParaRPr lang="en-US" sz="2000">
                        <a:solidFill>
                          <a:srgbClr val="FF0000"/>
                        </a:solidFill>
                        <a:effectLst/>
                      </a:endParaRPr>
                    </a:p>
                  </a:txBody>
                  <a:tcPr marL="66995" marR="66995" marT="66995" marB="66995">
                    <a:lnL>
                      <a:noFill/>
                    </a:lnL>
                    <a:lnR>
                      <a:noFill/>
                    </a:lnR>
                    <a:lnT>
                      <a:noFill/>
                    </a:lnT>
                    <a:lnB>
                      <a:noFill/>
                    </a:lnB>
                    <a:solidFill>
                      <a:srgbClr val="F1F1F1"/>
                    </a:solidFill>
                  </a:tcPr>
                </a:tc>
                <a:tc>
                  <a:txBody>
                    <a:bodyPr/>
                    <a:lstStyle/>
                    <a:p>
                      <a:pPr algn="l" fontAlgn="t"/>
                      <a:r>
                        <a:rPr lang="en-US" altLang="zh-CN" sz="2000">
                          <a:solidFill>
                            <a:srgbClr val="FF0000"/>
                          </a:solidFill>
                          <a:effectLst/>
                        </a:rPr>
                        <a:t>2000</a:t>
                      </a:r>
                      <a:endParaRPr lang="en-US" altLang="zh-CN" sz="2000">
                        <a:solidFill>
                          <a:srgbClr val="FF0000"/>
                        </a:solidFill>
                        <a:effectLst/>
                      </a:endParaRPr>
                    </a:p>
                  </a:txBody>
                  <a:tcPr marL="66995" marR="66995" marT="66995" marB="66995">
                    <a:lnL>
                      <a:noFill/>
                    </a:lnL>
                    <a:lnR>
                      <a:noFill/>
                    </a:lnR>
                    <a:lnT>
                      <a:noFill/>
                    </a:lnT>
                    <a:lnB>
                      <a:noFill/>
                    </a:lnB>
                    <a:solidFill>
                      <a:srgbClr val="F1F1F1"/>
                    </a:solidFill>
                  </a:tcPr>
                </a:tc>
              </a:tr>
              <a:tr h="375174">
                <a:tc>
                  <a:txBody>
                    <a:bodyPr/>
                    <a:lstStyle/>
                    <a:p>
                      <a:pPr algn="l" fontAlgn="t"/>
                      <a:r>
                        <a:rPr lang="en-US" sz="2000">
                          <a:solidFill>
                            <a:srgbClr val="FF0000"/>
                          </a:solidFill>
                          <a:effectLst/>
                        </a:rPr>
                        <a:t>HTML5</a:t>
                      </a:r>
                      <a:endParaRPr lang="en-US" sz="2000">
                        <a:solidFill>
                          <a:srgbClr val="FF0000"/>
                        </a:solidFill>
                        <a:effectLst/>
                      </a:endParaRPr>
                    </a:p>
                  </a:txBody>
                  <a:tcPr marL="66995" marR="66995" marT="66995" marB="66995">
                    <a:lnL>
                      <a:noFill/>
                    </a:lnL>
                    <a:lnR>
                      <a:noFill/>
                    </a:lnR>
                    <a:lnT>
                      <a:noFill/>
                    </a:lnT>
                    <a:lnB>
                      <a:noFill/>
                    </a:lnB>
                    <a:solidFill>
                      <a:srgbClr val="FFFFFF"/>
                    </a:solidFill>
                  </a:tcPr>
                </a:tc>
                <a:tc>
                  <a:txBody>
                    <a:bodyPr/>
                    <a:lstStyle/>
                    <a:p>
                      <a:pPr algn="l" fontAlgn="t"/>
                      <a:r>
                        <a:rPr lang="en-US" altLang="zh-CN" sz="2000" dirty="0">
                          <a:solidFill>
                            <a:srgbClr val="FF0000"/>
                          </a:solidFill>
                          <a:effectLst/>
                        </a:rPr>
                        <a:t>2014</a:t>
                      </a:r>
                      <a:endParaRPr lang="en-US" altLang="zh-CN" sz="2000" dirty="0">
                        <a:solidFill>
                          <a:srgbClr val="FF0000"/>
                        </a:solidFill>
                        <a:effectLst/>
                      </a:endParaRPr>
                    </a:p>
                  </a:txBody>
                  <a:tcPr marL="66995" marR="66995" marT="66995" marB="66995">
                    <a:lnL>
                      <a:noFill/>
                    </a:lnL>
                    <a:lnR>
                      <a:noFill/>
                    </a:lnR>
                    <a:lnT>
                      <a:noFill/>
                    </a:lnT>
                    <a:lnB>
                      <a:noFill/>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864372"/>
          </a:xfrm>
        </p:spPr>
        <p:txBody>
          <a:bodyPr/>
          <a:lstStyle/>
          <a:p>
            <a:pPr algn="ctr"/>
            <a:r>
              <a:rPr lang="en-US" altLang="zh-CN" dirty="0"/>
              <a:t>Common Declarations</a:t>
            </a:r>
            <a:endParaRPr lang="en-US" altLang="zh-CN" dirty="0"/>
          </a:p>
        </p:txBody>
      </p:sp>
      <p:sp>
        <p:nvSpPr>
          <p:cNvPr id="3" name="内容占位符 2"/>
          <p:cNvSpPr>
            <a:spLocks noGrp="1"/>
          </p:cNvSpPr>
          <p:nvPr>
            <p:ph idx="1"/>
          </p:nvPr>
        </p:nvSpPr>
        <p:spPr>
          <a:xfrm>
            <a:off x="541637" y="1690688"/>
            <a:ext cx="11265243" cy="4351338"/>
          </a:xfrm>
        </p:spPr>
        <p:txBody>
          <a:bodyPr>
            <a:normAutofit fontScale="92500" lnSpcReduction="10000"/>
          </a:bodyPr>
          <a:lstStyle/>
          <a:p>
            <a:r>
              <a:rPr lang="en-US" altLang="zh-CN" dirty="0" smtClean="0">
                <a:solidFill>
                  <a:srgbClr val="FFFF00"/>
                </a:solidFill>
              </a:rPr>
              <a:t>HTML5</a:t>
            </a:r>
            <a:endParaRPr lang="en-US" altLang="zh-CN" dirty="0" smtClean="0">
              <a:solidFill>
                <a:srgbClr val="FFFF00"/>
              </a:solidFill>
            </a:endParaRPr>
          </a:p>
          <a:p>
            <a:pPr marL="0" indent="0">
              <a:buNone/>
            </a:pPr>
            <a:r>
              <a:rPr lang="en-US" altLang="zh-CN" dirty="0"/>
              <a:t>&lt;!DOCTYPE html&gt;</a:t>
            </a:r>
            <a:endParaRPr lang="en-US" altLang="zh-CN" dirty="0" smtClean="0"/>
          </a:p>
          <a:p>
            <a:pPr marL="0" indent="0">
              <a:buNone/>
            </a:pPr>
            <a:endParaRPr lang="en-US" altLang="zh-CN" dirty="0"/>
          </a:p>
          <a:p>
            <a:r>
              <a:rPr lang="en-US" altLang="zh-CN" dirty="0">
                <a:solidFill>
                  <a:srgbClr val="FFFF00"/>
                </a:solidFill>
              </a:rPr>
              <a:t>HTML </a:t>
            </a:r>
            <a:r>
              <a:rPr lang="en-US" altLang="zh-CN" dirty="0" smtClean="0">
                <a:solidFill>
                  <a:srgbClr val="FFFF00"/>
                </a:solidFill>
              </a:rPr>
              <a:t>4.01</a:t>
            </a:r>
            <a:endParaRPr lang="en-US" altLang="zh-CN" dirty="0" smtClean="0">
              <a:solidFill>
                <a:srgbClr val="FFFF00"/>
              </a:solidFill>
            </a:endParaRPr>
          </a:p>
          <a:p>
            <a:pPr marL="0" indent="0">
              <a:buNone/>
            </a:pPr>
            <a:r>
              <a:rPr lang="en-US" altLang="zh-CN" dirty="0"/>
              <a:t>&lt;!DOCTYPE HTML PUBLIC "-//W3C//DTD HTML 4.01 Transitional//EN" "http://www.w3.org/TR/html4/loose.dtd"&gt;</a:t>
            </a:r>
            <a:endParaRPr lang="en-US" altLang="zh-CN" dirty="0"/>
          </a:p>
          <a:p>
            <a:pPr marL="0" indent="0">
              <a:buNone/>
            </a:pPr>
            <a:endParaRPr lang="en-US" altLang="zh-CN" dirty="0"/>
          </a:p>
          <a:p>
            <a:r>
              <a:rPr lang="en-US" altLang="zh-CN" dirty="0">
                <a:solidFill>
                  <a:srgbClr val="FFFF00"/>
                </a:solidFill>
              </a:rPr>
              <a:t>XHTML </a:t>
            </a:r>
            <a:r>
              <a:rPr lang="en-US" altLang="zh-CN" dirty="0" smtClean="0">
                <a:solidFill>
                  <a:srgbClr val="FFFF00"/>
                </a:solidFill>
              </a:rPr>
              <a:t>1.0</a:t>
            </a:r>
            <a:endParaRPr lang="en-US" altLang="zh-CN" dirty="0" smtClean="0">
              <a:solidFill>
                <a:srgbClr val="FFFF00"/>
              </a:solidFill>
            </a:endParaRPr>
          </a:p>
          <a:p>
            <a:pPr marL="0" indent="0">
              <a:buNone/>
            </a:pPr>
            <a:r>
              <a:rPr lang="en-US" altLang="zh-CN" dirty="0"/>
              <a:t>&lt;!DOCTYPE html PUBLIC "-//W3C//DTD XHTML 1.0 Transitional//EN" "http://www.w3.org/TR/xhtml1/DTD/xhtml1-transitional.dtd"&gt;</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914400"/>
            <a:ext cx="9799320" cy="2104390"/>
          </a:xfrm>
        </p:spPr>
        <p:txBody>
          <a:bodyPr/>
          <a:lstStyle/>
          <a:p>
            <a:r>
              <a:rPr lang="en-US" altLang="zh-CN" b="0" dirty="0" smtClean="0">
                <a:latin typeface="Calibri Light" panose="020F0302020204030204" charset="0"/>
                <a:cs typeface="Calibri Light" panose="020F0302020204030204" charset="0"/>
                <a:sym typeface="+mn-ea"/>
              </a:rPr>
              <a:t>HTML EDITORS</a:t>
            </a:r>
            <a:endParaRPr lang="en-US" altLang="zh-CN" b="0" dirty="0" smtClean="0">
              <a:latin typeface="Calibri Light" panose="020F0302020204030204" charset="0"/>
              <a:cs typeface="Calibri Light" panose="020F0302020204030204" charset="0"/>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330" y="393646"/>
            <a:ext cx="10968990" cy="1061444"/>
          </a:xfrm>
        </p:spPr>
        <p:txBody>
          <a:bodyPr>
            <a:normAutofit/>
          </a:bodyPr>
          <a:lstStyle/>
          <a:p>
            <a:pPr algn="ctr"/>
            <a:r>
              <a:rPr lang="en-US" altLang="zh-CN" sz="4400" b="0" spc="0" dirty="0">
                <a:solidFill>
                  <a:schemeClr val="bg1"/>
                </a:solidFill>
                <a:latin typeface="Calibri Light" panose="020F0302020204030204" charset="0"/>
                <a:ea typeface="+mj-ea"/>
                <a:cs typeface="Calibri Light" panose="020F0302020204030204" charset="0"/>
              </a:rPr>
              <a:t>Write </a:t>
            </a:r>
            <a:r>
              <a:rPr lang="en-US" altLang="zh-CN" sz="4400" b="0" spc="0" dirty="0" smtClean="0">
                <a:solidFill>
                  <a:schemeClr val="bg1"/>
                </a:solidFill>
                <a:latin typeface="Calibri Light" panose="020F0302020204030204" charset="0"/>
                <a:ea typeface="+mj-ea"/>
                <a:cs typeface="Calibri Light" panose="020F0302020204030204" charset="0"/>
              </a:rPr>
              <a:t>HTML</a:t>
            </a:r>
            <a:endParaRPr lang="en-US" altLang="zh-CN" sz="2800" b="0" spc="0" dirty="0">
              <a:solidFill>
                <a:schemeClr val="bg1"/>
              </a:solidFill>
              <a:latin typeface="Calibri" panose="020F0502020204030204" charset="0"/>
              <a:ea typeface="+mj-ea"/>
              <a:cs typeface="Calibri" panose="020F0502020204030204" charset="0"/>
            </a:endParaRPr>
          </a:p>
        </p:txBody>
      </p:sp>
      <p:sp>
        <p:nvSpPr>
          <p:cNvPr id="2" name="内容占位符 1"/>
          <p:cNvSpPr>
            <a:spLocks noGrp="1"/>
          </p:cNvSpPr>
          <p:nvPr>
            <p:ph idx="1"/>
            <p:custDataLst>
              <p:tags r:id="rId2"/>
            </p:custDataLst>
          </p:nvPr>
        </p:nvSpPr>
        <p:spPr>
          <a:xfrm>
            <a:off x="1235462" y="2245663"/>
            <a:ext cx="9832975" cy="2755707"/>
          </a:xfrm>
        </p:spPr>
        <p:txBody>
          <a:bodyPr/>
          <a:lstStyle/>
          <a:p>
            <a:r>
              <a:rPr lang="zh-CN" altLang="en-US" sz="2800" dirty="0">
                <a:solidFill>
                  <a:schemeClr val="bg1"/>
                </a:solidFill>
                <a:latin typeface="Calibri" panose="020F0502020204030204" charset="0"/>
                <a:cs typeface="Calibri" panose="020F0502020204030204" charset="0"/>
              </a:rPr>
              <a:t>Microsoft WebMatrix</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Sublime </a:t>
            </a:r>
            <a:r>
              <a:rPr lang="zh-CN" altLang="en-US" sz="2800" dirty="0" smtClean="0">
                <a:solidFill>
                  <a:schemeClr val="bg1"/>
                </a:solidFill>
                <a:latin typeface="Calibri" panose="020F0502020204030204" charset="0"/>
                <a:cs typeface="Calibri" panose="020F0502020204030204" charset="0"/>
              </a:rPr>
              <a:t>Text</a:t>
            </a:r>
            <a:endParaRPr lang="en-US" altLang="zh-CN" sz="2800" dirty="0" smtClean="0">
              <a:solidFill>
                <a:schemeClr val="bg1"/>
              </a:solidFill>
              <a:latin typeface="Calibri" panose="020F0502020204030204" charset="0"/>
              <a:cs typeface="Calibri" panose="020F0502020204030204" charset="0"/>
            </a:endParaRPr>
          </a:p>
          <a:p>
            <a:r>
              <a:rPr lang="en-US" altLang="zh-CN" sz="2800" dirty="0" err="1" smtClean="0">
                <a:solidFill>
                  <a:schemeClr val="bg1"/>
                </a:solidFill>
                <a:latin typeface="Calibri" panose="020F0502020204030204" charset="0"/>
                <a:cs typeface="Calibri" panose="020F0502020204030204" charset="0"/>
              </a:rPr>
              <a:t>Webstorm</a:t>
            </a:r>
            <a:endParaRPr lang="en-US" altLang="zh-CN" sz="2800" dirty="0" smtClean="0">
              <a:solidFill>
                <a:schemeClr val="bg1"/>
              </a:solidFill>
              <a:latin typeface="Calibri" panose="020F0502020204030204" charset="0"/>
              <a:cs typeface="Calibri" panose="020F0502020204030204" charset="0"/>
            </a:endParaRPr>
          </a:p>
          <a:p>
            <a:r>
              <a:rPr lang="en-US" altLang="zh-CN" sz="2800" dirty="0" smtClean="0">
                <a:solidFill>
                  <a:schemeClr val="bg1"/>
                </a:solidFill>
                <a:latin typeface="Calibri" panose="020F0502020204030204" charset="0"/>
                <a:cs typeface="Calibri" panose="020F0502020204030204" charset="0"/>
              </a:rPr>
              <a:t>VS CODE</a:t>
            </a:r>
            <a:endParaRPr lang="zh-CN" altLang="en-US" sz="2800" dirty="0">
              <a:solidFill>
                <a:schemeClr val="bg1"/>
              </a:solidFill>
              <a:latin typeface="Calibri" panose="020F0502020204030204" charset="0"/>
              <a:cs typeface="Calibri" panose="020F0502020204030204" charset="0"/>
            </a:endParaRPr>
          </a:p>
        </p:txBody>
      </p:sp>
      <p:sp>
        <p:nvSpPr>
          <p:cNvPr id="4" name="矩形 3"/>
          <p:cNvSpPr/>
          <p:nvPr/>
        </p:nvSpPr>
        <p:spPr>
          <a:xfrm>
            <a:off x="1235462" y="1648400"/>
            <a:ext cx="8939114" cy="523220"/>
          </a:xfrm>
          <a:prstGeom prst="rect">
            <a:avLst/>
          </a:prstGeom>
        </p:spPr>
        <p:txBody>
          <a:bodyPr wrap="none">
            <a:spAutoFit/>
          </a:bodyPr>
          <a:lstStyle/>
          <a:p>
            <a:r>
              <a:rPr lang="en-US" altLang="zh-CN" sz="2800" dirty="0">
                <a:solidFill>
                  <a:schemeClr val="bg1"/>
                </a:solidFill>
                <a:latin typeface="Calibri" panose="020F0502020204030204" charset="0"/>
                <a:cs typeface="Calibri" panose="020F0502020204030204" charset="0"/>
              </a:rPr>
              <a:t>HTML can be edited by using professional HTML editors like:</a:t>
            </a:r>
            <a:endParaRPr lang="zh-CN" altLang="en-US" sz="2800" dirty="0"/>
          </a:p>
        </p:txBody>
      </p:sp>
      <p:sp>
        <p:nvSpPr>
          <p:cNvPr id="5" name="矩形 4"/>
          <p:cNvSpPr/>
          <p:nvPr/>
        </p:nvSpPr>
        <p:spPr>
          <a:xfrm>
            <a:off x="1235462" y="5182422"/>
            <a:ext cx="10230320" cy="1384995"/>
          </a:xfrm>
          <a:prstGeom prst="rect">
            <a:avLst/>
          </a:prstGeom>
        </p:spPr>
        <p:txBody>
          <a:bodyPr wrap="square">
            <a:spAutoFit/>
          </a:bodyPr>
          <a:lstStyle/>
          <a:p>
            <a:pPr algn="just"/>
            <a:r>
              <a:rPr lang="en-US" altLang="zh-CN" sz="2800" dirty="0">
                <a:solidFill>
                  <a:schemeClr val="bg1"/>
                </a:solidFill>
                <a:latin typeface="Calibri" panose="020F0502020204030204" charset="0"/>
                <a:cs typeface="Calibri" panose="020F0502020204030204" charset="0"/>
              </a:rPr>
              <a:t>However, for learning HTML we recommend a text editor like </a:t>
            </a:r>
            <a:r>
              <a:rPr lang="en-US" altLang="zh-CN" sz="2800" dirty="0" smtClean="0">
                <a:solidFill>
                  <a:schemeClr val="bg1"/>
                </a:solidFill>
                <a:latin typeface="Calibri" panose="020F0502020204030204" charset="0"/>
                <a:cs typeface="Calibri" panose="020F0502020204030204" charset="0"/>
              </a:rPr>
              <a:t>Notepad, </a:t>
            </a:r>
            <a:r>
              <a:rPr lang="en-US" altLang="zh-CN" sz="2800" dirty="0" err="1" smtClean="0">
                <a:solidFill>
                  <a:schemeClr val="bg1"/>
                </a:solidFill>
                <a:latin typeface="Calibri" panose="020F0502020204030204" charset="0"/>
                <a:cs typeface="Calibri" panose="020F0502020204030204" charset="0"/>
              </a:rPr>
              <a:t>EditPlus</a:t>
            </a:r>
            <a:r>
              <a:rPr lang="en-US" altLang="zh-CN" sz="2800" dirty="0" smtClean="0">
                <a:solidFill>
                  <a:schemeClr val="bg1"/>
                </a:solidFill>
                <a:latin typeface="Calibri" panose="020F0502020204030204" charset="0"/>
                <a:cs typeface="Calibri" panose="020F0502020204030204" charset="0"/>
              </a:rPr>
              <a:t>, or </a:t>
            </a:r>
            <a:r>
              <a:rPr lang="en-US" altLang="zh-CN" sz="2800" dirty="0" err="1">
                <a:solidFill>
                  <a:schemeClr val="bg1"/>
                </a:solidFill>
                <a:latin typeface="Calibri" panose="020F0502020204030204" charset="0"/>
                <a:cs typeface="Calibri" panose="020F0502020204030204" charset="0"/>
              </a:rPr>
              <a:t>TextEdit</a:t>
            </a:r>
            <a:r>
              <a:rPr lang="en-US" altLang="zh-CN" sz="2800" dirty="0">
                <a:solidFill>
                  <a:schemeClr val="bg1"/>
                </a:solidFill>
                <a:latin typeface="Calibri" panose="020F0502020204030204" charset="0"/>
                <a:cs typeface="Calibri" panose="020F0502020204030204" charset="0"/>
              </a:rPr>
              <a:t> (Mac). We believe using a simple text editor is a good way to learn HTML.</a:t>
            </a:r>
            <a:endParaRPr lang="en-US" altLang="zh-CN"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6340" y="549910"/>
            <a:ext cx="9799320" cy="605155"/>
          </a:xfrm>
        </p:spPr>
        <p:txBody>
          <a:bodyPr>
            <a:normAutofit fontScale="90000"/>
          </a:bodyPr>
          <a:lstStyle/>
          <a:p>
            <a:r>
              <a:rPr lang="en-US" altLang="zh-CN" sz="4890" b="0" dirty="0">
                <a:latin typeface="Calibri Light" panose="020F0302020204030204" charset="0"/>
                <a:cs typeface="Calibri Light" panose="020F0302020204030204" charset="0"/>
              </a:rPr>
              <a:t>How to use Notepad</a:t>
            </a:r>
            <a:endParaRPr lang="en-US" altLang="zh-CN" sz="4890" b="0" dirty="0">
              <a:latin typeface="Calibri Light" panose="020F0302020204030204" charset="0"/>
              <a:cs typeface="Calibri Light" panose="020F0302020204030204" charset="0"/>
            </a:endParaRPr>
          </a:p>
        </p:txBody>
      </p:sp>
      <p:sp>
        <p:nvSpPr>
          <p:cNvPr id="3" name="副标题 2"/>
          <p:cNvSpPr>
            <a:spLocks noGrp="1"/>
          </p:cNvSpPr>
          <p:nvPr>
            <p:ph type="subTitle" idx="1"/>
            <p:custDataLst>
              <p:tags r:id="rId2"/>
            </p:custDataLst>
          </p:nvPr>
        </p:nvSpPr>
        <p:spPr>
          <a:xfrm>
            <a:off x="1196339" y="1844703"/>
            <a:ext cx="10269441" cy="4524292"/>
          </a:xfrm>
        </p:spPr>
        <p:txBody>
          <a:bodyPr>
            <a:noAutofit/>
          </a:bodyPr>
          <a:lstStyle/>
          <a:p>
            <a:pPr algn="l"/>
            <a:r>
              <a:rPr lang="zh-CN" altLang="en-US" sz="2800" dirty="0" smtClean="0">
                <a:solidFill>
                  <a:schemeClr val="bg1"/>
                </a:solidFill>
                <a:latin typeface="Calibri" panose="020F0502020204030204" charset="0"/>
                <a:cs typeface="Calibri" panose="020F0502020204030204" charset="0"/>
                <a:sym typeface="+mn-ea"/>
              </a:rPr>
              <a:t>Step </a:t>
            </a:r>
            <a:r>
              <a:rPr lang="zh-CN" altLang="en-US" sz="2800" dirty="0">
                <a:solidFill>
                  <a:schemeClr val="bg1"/>
                </a:solidFill>
                <a:latin typeface="Calibri" panose="020F0502020204030204" charset="0"/>
                <a:cs typeface="Calibri" panose="020F0502020204030204" charset="0"/>
                <a:sym typeface="+mn-ea"/>
              </a:rPr>
              <a:t>1: Open </a:t>
            </a:r>
            <a:r>
              <a:rPr lang="zh-CN" altLang="en-US" sz="2800" dirty="0" smtClean="0">
                <a:solidFill>
                  <a:schemeClr val="bg1"/>
                </a:solidFill>
                <a:latin typeface="Calibri" panose="020F0502020204030204" charset="0"/>
                <a:cs typeface="Calibri" panose="020F0502020204030204" charset="0"/>
                <a:sym typeface="+mn-ea"/>
              </a:rPr>
              <a:t>Notepad</a:t>
            </a:r>
            <a:endParaRPr lang="zh-CN" altLang="en-US" sz="2800" b="0" dirty="0">
              <a:solidFill>
                <a:schemeClr val="bg1"/>
              </a:solidFill>
              <a:latin typeface="Calibri" panose="020F0502020204030204" charset="0"/>
              <a:cs typeface="Calibri" panose="020F0502020204030204" charset="0"/>
            </a:endParaRPr>
          </a:p>
          <a:p>
            <a:pPr marL="457200" indent="-457200" algn="l">
              <a:buFont typeface="Wingdings" panose="05000000000000000000" pitchFamily="2" charset="2"/>
              <a:buChar char="l"/>
            </a:pPr>
            <a:r>
              <a:rPr lang="zh-CN" altLang="en-US" sz="2800" dirty="0">
                <a:solidFill>
                  <a:schemeClr val="bg1"/>
                </a:solidFill>
                <a:latin typeface="Calibri" panose="020F0502020204030204" charset="0"/>
                <a:cs typeface="Calibri" panose="020F0502020204030204" charset="0"/>
              </a:rPr>
              <a:t>To open Notepad in Windows 7 or earlier:</a:t>
            </a:r>
            <a:endParaRPr lang="zh-CN" altLang="en-US" sz="2800" dirty="0">
              <a:solidFill>
                <a:schemeClr val="bg1"/>
              </a:solidFill>
              <a:latin typeface="Calibri" panose="020F0502020204030204" charset="0"/>
              <a:cs typeface="Calibri" panose="020F0502020204030204" charset="0"/>
            </a:endParaRPr>
          </a:p>
          <a:p>
            <a:pPr algn="l"/>
            <a:r>
              <a:rPr lang="zh-CN" altLang="en-US" sz="2800" dirty="0">
                <a:solidFill>
                  <a:schemeClr val="bg1"/>
                </a:solidFill>
                <a:latin typeface="Calibri" panose="020F0502020204030204" charset="0"/>
                <a:cs typeface="Calibri" panose="020F0502020204030204" charset="0"/>
              </a:rPr>
              <a:t>Click Start (bottom left on your screen). Click All Programs. Click Accessories. Click Notepad.</a:t>
            </a:r>
            <a:endParaRPr lang="zh-CN" altLang="en-US" dirty="0">
              <a:solidFill>
                <a:schemeClr val="bg1"/>
              </a:solidFill>
            </a:endParaRPr>
          </a:p>
          <a:p>
            <a:pPr marL="457200" indent="-457200" algn="l">
              <a:buClrTx/>
              <a:buSzTx/>
              <a:buFont typeface="Wingdings" panose="05000000000000000000" pitchFamily="2" charset="2"/>
              <a:buChar char="l"/>
            </a:pPr>
            <a:r>
              <a:rPr lang="zh-CN" altLang="en-US" sz="2800" dirty="0">
                <a:solidFill>
                  <a:schemeClr val="bg1"/>
                </a:solidFill>
                <a:latin typeface="Calibri" panose="020F0502020204030204" charset="0"/>
                <a:cs typeface="Calibri" panose="020F0502020204030204" charset="0"/>
              </a:rPr>
              <a:t>To open Notepad in Windows 8 or later:</a:t>
            </a:r>
            <a:endParaRPr lang="zh-CN" altLang="en-US" sz="2800" dirty="0">
              <a:solidFill>
                <a:schemeClr val="bg1"/>
              </a:solidFill>
              <a:latin typeface="Calibri" panose="020F0502020204030204" charset="0"/>
              <a:cs typeface="Calibri" panose="020F0502020204030204" charset="0"/>
            </a:endParaRPr>
          </a:p>
          <a:p>
            <a:pPr algn="l">
              <a:buClrTx/>
              <a:buSzTx/>
              <a:buNone/>
            </a:pPr>
            <a:r>
              <a:rPr lang="zh-CN" altLang="en-US" sz="2800" dirty="0">
                <a:solidFill>
                  <a:schemeClr val="bg1"/>
                </a:solidFill>
                <a:latin typeface="Calibri" panose="020F0502020204030204" charset="0"/>
                <a:cs typeface="Calibri" panose="020F0502020204030204" charset="0"/>
              </a:rPr>
              <a:t>Open the Start Screen (the window symbol at the bottom left on your screen). Type Notepad.</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806450" y="622300"/>
            <a:ext cx="10783570" cy="928370"/>
          </a:xfrm>
        </p:spPr>
        <p:txBody>
          <a:bodyPr>
            <a:normAutofit fontScale="90000"/>
          </a:bodyPr>
          <a:lstStyle/>
          <a:p>
            <a:pPr algn="ctr"/>
            <a:r>
              <a:rPr lang="en-US" altLang="zh-CN" sz="4890" b="0">
                <a:latin typeface="Calibri Light" panose="020F0302020204030204" charset="0"/>
                <a:cs typeface="Calibri Light" panose="020F0302020204030204" charset="0"/>
                <a:sym typeface="+mn-ea"/>
              </a:rPr>
              <a:t>How to use Notepad</a:t>
            </a:r>
            <a:br>
              <a:rPr lang="en-US" altLang="zh-CN" sz="4890" b="0">
                <a:latin typeface="Calibri Light" panose="020F0302020204030204" charset="0"/>
                <a:cs typeface="Calibri Light" panose="020F0302020204030204" charset="0"/>
              </a:rPr>
            </a:br>
            <a:endParaRPr lang="zh-CN" altLang="zh-CN" sz="4890" b="0">
              <a:latin typeface="Calibri Light" panose="020F0302020204030204" charset="0"/>
              <a:cs typeface="Calibri Light" panose="020F0302020204030204" charset="0"/>
            </a:endParaRPr>
          </a:p>
        </p:txBody>
      </p:sp>
      <p:sp>
        <p:nvSpPr>
          <p:cNvPr id="3" name="副标题 2"/>
          <p:cNvSpPr>
            <a:spLocks noGrp="1"/>
          </p:cNvSpPr>
          <p:nvPr>
            <p:ph type="subTitle" idx="1"/>
            <p:custDataLst>
              <p:tags r:id="rId2"/>
            </p:custDataLst>
          </p:nvPr>
        </p:nvSpPr>
        <p:spPr>
          <a:xfrm>
            <a:off x="1196340" y="1221105"/>
            <a:ext cx="9799320" cy="2200275"/>
          </a:xfrm>
        </p:spPr>
        <p:txBody>
          <a:bodyPr/>
          <a:lstStyle/>
          <a:p>
            <a:pPr algn="l"/>
            <a:r>
              <a:rPr lang="zh-CN" altLang="en-US" sz="2800">
                <a:solidFill>
                  <a:schemeClr val="bg1"/>
                </a:solidFill>
                <a:latin typeface="Calibri" panose="020F0502020204030204" charset="0"/>
                <a:cs typeface="Calibri" panose="020F0502020204030204" charset="0"/>
                <a:sym typeface="+mn-ea"/>
              </a:rPr>
              <a:t>Step 2: Write Some HTML</a:t>
            </a:r>
            <a:endParaRPr lang="zh-CN" altLang="en-US" sz="2800">
              <a:solidFill>
                <a:schemeClr val="bg1"/>
              </a:solidFill>
              <a:latin typeface="Calibri" panose="020F0502020204030204" charset="0"/>
              <a:cs typeface="Calibri" panose="020F0502020204030204" charset="0"/>
            </a:endParaRPr>
          </a:p>
          <a:p>
            <a:pPr algn="l"/>
            <a:r>
              <a:rPr lang="zh-CN" altLang="en-US" sz="2800">
                <a:solidFill>
                  <a:schemeClr val="bg1"/>
                </a:solidFill>
                <a:latin typeface="Calibri" panose="020F0502020204030204" charset="0"/>
                <a:cs typeface="Calibri" panose="020F0502020204030204" charset="0"/>
              </a:rPr>
              <a:t>Write or copy some HTML into Notepad.</a:t>
            </a:r>
            <a:endParaRPr lang="zh-CN" altLang="en-US" sz="280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3115945" y="2793365"/>
            <a:ext cx="5375910" cy="305562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608400" y="1501200"/>
            <a:ext cx="5176800" cy="4748400"/>
          </a:xfrm>
        </p:spPr>
        <p:txBody>
          <a:bodyPr>
            <a:normAutofit fontScale="60000" lnSpcReduction="20000"/>
          </a:bodyPr>
          <a:lstStyle/>
          <a:p>
            <a:pPr marL="0" indent="0" algn="l" fontAlgn="auto">
              <a:lnSpc>
                <a:spcPct val="130000"/>
              </a:lnSpc>
              <a:spcBef>
                <a:spcPts val="0"/>
              </a:spcBef>
              <a:spcAft>
                <a:spcPts val="1000"/>
              </a:spcAft>
              <a:buNone/>
            </a:pPr>
            <a:r>
              <a:rPr lang="en-US" altLang="zh-CN" sz="4665" spc="200" dirty="0">
                <a:solidFill>
                  <a:schemeClr val="bg1"/>
                </a:solidFill>
                <a:latin typeface="Calibri" panose="020F0502020204030204" charset="0"/>
                <a:cs typeface="Calibri" panose="020F0502020204030204" charset="0"/>
                <a:sym typeface="Arial" panose="020B0604020202020204" pitchFamily="34" charset="0"/>
              </a:rPr>
              <a:t>Step 3: Save the HTML Page</a:t>
            </a:r>
            <a:endParaRPr lang="zh-CN" altLang="en-US" sz="4665" dirty="0">
              <a:solidFill>
                <a:schemeClr val="bg1"/>
              </a:solidFill>
              <a:latin typeface="Calibri" panose="020F0502020204030204" charset="0"/>
              <a:cs typeface="Calibri" panose="020F0502020204030204" charset="0"/>
              <a:sym typeface="Arial" panose="020B0604020202020204" pitchFamily="34" charset="0"/>
            </a:endParaRPr>
          </a:p>
          <a:p>
            <a:pPr algn="l" fontAlgn="auto">
              <a:lnSpc>
                <a:spcPct val="130000"/>
              </a:lnSpc>
              <a:spcBef>
                <a:spcPts val="0"/>
              </a:spcBef>
              <a:spcAft>
                <a:spcPts val="1000"/>
              </a:spcAft>
            </a:pPr>
            <a:r>
              <a:rPr lang="zh-CN" altLang="en-US" sz="2800" dirty="0">
                <a:solidFill>
                  <a:schemeClr val="bg1"/>
                </a:solidFill>
                <a:latin typeface="Calibri" panose="020F0502020204030204" charset="0"/>
                <a:cs typeface="Calibri" panose="020F0502020204030204" charset="0"/>
                <a:sym typeface="Arial" panose="020B0604020202020204" pitchFamily="34" charset="0"/>
              </a:rPr>
              <a:t>Save the file on your computer.</a:t>
            </a:r>
            <a:endParaRPr lang="zh-CN" altLang="en-US" sz="2800" dirty="0">
              <a:solidFill>
                <a:schemeClr val="bg1"/>
              </a:solidFill>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algn="l" fontAlgn="auto">
              <a:lnSpc>
                <a:spcPct val="130000"/>
              </a:lnSpc>
              <a:spcBef>
                <a:spcPts val="0"/>
              </a:spcBef>
              <a:spcAft>
                <a:spcPts val="1000"/>
              </a:spcAft>
            </a:pPr>
            <a:r>
              <a:rPr lang="zh-CN" altLang="en-US" sz="2800" dirty="0">
                <a:solidFill>
                  <a:schemeClr val="bg1"/>
                </a:solidFill>
                <a:latin typeface="Calibri" panose="020F0502020204030204" charset="0"/>
                <a:cs typeface="Calibri" panose="020F0502020204030204" charset="0"/>
                <a:sym typeface="Arial" panose="020B0604020202020204" pitchFamily="34" charset="0"/>
              </a:rPr>
              <a:t>Select File &gt; Save as in the Notepad menu.</a:t>
            </a:r>
            <a:endParaRPr lang="zh-CN" altLang="en-US" sz="2800" dirty="0">
              <a:solidFill>
                <a:schemeClr val="bg1"/>
              </a:solidFill>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algn="l" fontAlgn="auto">
              <a:lnSpc>
                <a:spcPct val="130000"/>
              </a:lnSpc>
              <a:spcBef>
                <a:spcPts val="0"/>
              </a:spcBef>
              <a:spcAft>
                <a:spcPts val="1000"/>
              </a:spcAft>
            </a:pPr>
            <a:r>
              <a:rPr lang="zh-CN" altLang="en-US" sz="2800" dirty="0">
                <a:solidFill>
                  <a:schemeClr val="bg1"/>
                </a:solidFill>
                <a:latin typeface="Calibri" panose="020F0502020204030204" charset="0"/>
                <a:cs typeface="Calibri" panose="020F0502020204030204" charset="0"/>
                <a:sym typeface="Arial" panose="020B0604020202020204" pitchFamily="34" charset="0"/>
              </a:rPr>
              <a:t>Name the file "index.html" or any other name ending with </a:t>
            </a:r>
            <a:r>
              <a:rPr lang="zh-CN" altLang="en-US" sz="2800" dirty="0">
                <a:solidFill>
                  <a:srgbClr val="FFFF00"/>
                </a:solidFill>
                <a:latin typeface="Calibri" panose="020F0502020204030204" charset="0"/>
                <a:cs typeface="Calibri" panose="020F0502020204030204" charset="0"/>
                <a:sym typeface="Arial" panose="020B0604020202020204" pitchFamily="34" charset="0"/>
              </a:rPr>
              <a:t>html</a:t>
            </a:r>
            <a:r>
              <a:rPr lang="zh-CN" altLang="en-US" sz="2800" dirty="0">
                <a:solidFill>
                  <a:schemeClr val="bg1"/>
                </a:solidFill>
                <a:latin typeface="Calibri" panose="020F0502020204030204" charset="0"/>
                <a:cs typeface="Calibri" panose="020F0502020204030204" charset="0"/>
                <a:sym typeface="Arial" panose="020B0604020202020204" pitchFamily="34" charset="0"/>
              </a:rPr>
              <a:t> or </a:t>
            </a:r>
            <a:r>
              <a:rPr lang="zh-CN" altLang="en-US" sz="2800" dirty="0">
                <a:solidFill>
                  <a:srgbClr val="FFFF00"/>
                </a:solidFill>
                <a:latin typeface="Calibri" panose="020F0502020204030204" charset="0"/>
                <a:cs typeface="Calibri" panose="020F0502020204030204" charset="0"/>
                <a:sym typeface="Arial" panose="020B0604020202020204" pitchFamily="34" charset="0"/>
              </a:rPr>
              <a:t>htm</a:t>
            </a:r>
            <a:r>
              <a:rPr lang="zh-CN" altLang="en-US" sz="2800" dirty="0">
                <a:solidFill>
                  <a:schemeClr val="bg1"/>
                </a:solidFill>
                <a:latin typeface="Calibri" panose="020F0502020204030204" charset="0"/>
                <a:cs typeface="Calibri" panose="020F0502020204030204" charset="0"/>
                <a:sym typeface="Arial" panose="020B0604020202020204" pitchFamily="34" charset="0"/>
              </a:rPr>
              <a:t>.</a:t>
            </a:r>
            <a:endParaRPr lang="zh-CN" altLang="en-US" sz="2800" dirty="0">
              <a:solidFill>
                <a:schemeClr val="bg1"/>
              </a:solidFill>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algn="l" fontAlgn="auto">
              <a:lnSpc>
                <a:spcPct val="130000"/>
              </a:lnSpc>
              <a:spcBef>
                <a:spcPts val="0"/>
              </a:spcBef>
              <a:spcAft>
                <a:spcPts val="1000"/>
              </a:spcAft>
            </a:pPr>
            <a:r>
              <a:rPr lang="zh-CN" altLang="en-US" sz="2800" dirty="0">
                <a:solidFill>
                  <a:srgbClr val="FFFF00"/>
                </a:solidFill>
                <a:latin typeface="Calibri" panose="020F0502020204030204" charset="0"/>
                <a:cs typeface="Calibri" panose="020F0502020204030204" charset="0"/>
                <a:sym typeface="Arial" panose="020B0604020202020204" pitchFamily="34" charset="0"/>
              </a:rPr>
              <a:t>UTF-8</a:t>
            </a:r>
            <a:r>
              <a:rPr lang="zh-CN" altLang="en-US" sz="2800" dirty="0">
                <a:solidFill>
                  <a:schemeClr val="bg1"/>
                </a:solidFill>
                <a:latin typeface="Calibri" panose="020F0502020204030204" charset="0"/>
                <a:cs typeface="Calibri" panose="020F0502020204030204" charset="0"/>
                <a:sym typeface="Arial" panose="020B0604020202020204" pitchFamily="34" charset="0"/>
              </a:rPr>
              <a:t> is the preferred encoding for HTML files.</a:t>
            </a:r>
            <a:endParaRPr lang="zh-CN" altLang="en-US" sz="2800" dirty="0">
              <a:solidFill>
                <a:schemeClr val="bg1"/>
              </a:solidFill>
              <a:latin typeface="Calibri" panose="020F0502020204030204" charset="0"/>
              <a:cs typeface="Calibri" panose="020F0502020204030204" charset="0"/>
              <a:sym typeface="Arial" panose="020B0604020202020204" pitchFamily="34" charset="0"/>
            </a:endParaRPr>
          </a:p>
          <a:p>
            <a:pPr algn="l" fontAlgn="auto">
              <a:lnSpc>
                <a:spcPct val="130000"/>
              </a:lnSpc>
              <a:spcBef>
                <a:spcPts val="0"/>
              </a:spcBef>
              <a:spcAft>
                <a:spcPts val="1000"/>
              </a:spcAft>
            </a:pPr>
            <a:r>
              <a:rPr lang="zh-CN" altLang="en-US" sz="2800" dirty="0">
                <a:solidFill>
                  <a:schemeClr val="bg1"/>
                </a:solidFill>
                <a:latin typeface="Calibri" panose="020F0502020204030204" charset="0"/>
                <a:cs typeface="Calibri" panose="020F0502020204030204" charset="0"/>
                <a:sym typeface="Arial" panose="020B0604020202020204" pitchFamily="34" charset="0"/>
              </a:rPr>
              <a:t>ANSI encoding covers US and Western European characters only.</a:t>
            </a:r>
            <a:endParaRPr lang="zh-CN" altLang="en-US" sz="2800" dirty="0">
              <a:solidFill>
                <a:schemeClr val="bg1"/>
              </a:solidFill>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marL="0" indent="0" algn="l" fontAlgn="auto">
              <a:lnSpc>
                <a:spcPct val="130000"/>
              </a:lnSpc>
              <a:spcBef>
                <a:spcPts val="0"/>
              </a:spcBef>
              <a:spcAft>
                <a:spcPts val="1000"/>
              </a:spcAft>
              <a:buNone/>
            </a:pPr>
            <a:endParaRPr lang="zh-CN" altLang="en-US" dirty="0">
              <a:solidFill>
                <a:schemeClr val="bg1"/>
              </a:solidFill>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endParaRPr lang="zh-CN" altLang="en-US" dirty="0"/>
          </a:p>
        </p:txBody>
      </p:sp>
      <p:sp>
        <p:nvSpPr>
          <p:cNvPr id="5" name="标题 4"/>
          <p:cNvSpPr>
            <a:spLocks noGrp="1"/>
          </p:cNvSpPr>
          <p:nvPr>
            <p:ph type="title"/>
            <p:custDataLst>
              <p:tags r:id="rId2"/>
            </p:custDataLst>
          </p:nvPr>
        </p:nvSpPr>
        <p:spPr>
          <a:xfrm>
            <a:off x="608400" y="617290"/>
            <a:ext cx="10969200" cy="705600"/>
          </a:xfrm>
        </p:spPr>
        <p:txBody>
          <a:bodyPr>
            <a:noAutofit/>
          </a:bodyPr>
          <a:lstStyle/>
          <a:p>
            <a:pPr algn="ctr"/>
            <a:r>
              <a:rPr lang="en-US" altLang="zh-CN" sz="4400" b="0">
                <a:latin typeface="Calibri Light" panose="020F0302020204030204" charset="0"/>
                <a:cs typeface="Calibri Light" panose="020F0302020204030204" charset="0"/>
                <a:sym typeface="+mn-ea"/>
              </a:rPr>
              <a:t>How to use Notepad</a:t>
            </a:r>
            <a:br>
              <a:rPr lang="en-US" altLang="zh-CN" sz="4400" b="0">
                <a:latin typeface="Calibri Light" panose="020F0302020204030204" charset="0"/>
                <a:cs typeface="Calibri Light" panose="020F0302020204030204" charset="0"/>
                <a:sym typeface="+mn-ea"/>
              </a:rPr>
            </a:br>
            <a:endParaRPr lang="en-US" altLang="zh-CN" sz="4400" b="0" spc="200" dirty="0">
              <a:latin typeface="Calibri Light" panose="020F0302020204030204" charset="0"/>
              <a:cs typeface="Calibri Light" panose="020F0302020204030204" charset="0"/>
              <a:sym typeface="Arial" panose="020B0604020202020204" pitchFamily="34" charset="0"/>
            </a:endParaRPr>
          </a:p>
        </p:txBody>
      </p:sp>
      <p:pic>
        <p:nvPicPr>
          <p:cNvPr id="2" name="图片 1"/>
          <p:cNvPicPr>
            <a:picLocks noChangeAspect="1"/>
          </p:cNvPicPr>
          <p:nvPr/>
        </p:nvPicPr>
        <p:blipFill>
          <a:blip r:embed="rId3"/>
          <a:stretch>
            <a:fillRect/>
          </a:stretch>
        </p:blipFill>
        <p:spPr>
          <a:xfrm>
            <a:off x="6098540" y="2416175"/>
            <a:ext cx="5826125" cy="202628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467360" y="1530985"/>
            <a:ext cx="4876800" cy="3666491"/>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en-US" altLang="zh-CN" sz="2800" b="0" i="0" u="none" strike="noStrike" kern="1200" cap="none" spc="20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Step 4: View HTML Page in Your Browser</a:t>
            </a:r>
            <a:endParaRPr kumimoji="0" lang="zh-CN" altLang="en-US" sz="2800" b="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400" b="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Open the saved HTML file in your favorite browser.</a:t>
            </a:r>
            <a:endParaRPr kumimoji="0" lang="zh-CN" altLang="en-US" sz="2400" b="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400" b="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The result will look much like this:</a:t>
            </a:r>
            <a:endParaRPr kumimoji="0" lang="zh-CN" altLang="en-US" sz="2400" b="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p:txBody>
      </p:sp>
      <p:sp>
        <p:nvSpPr>
          <p:cNvPr id="18" name="文本框 17"/>
          <p:cNvSpPr txBox="1"/>
          <p:nvPr>
            <p:custDataLst>
              <p:tags r:id="rId2"/>
            </p:custDataLst>
          </p:nvPr>
        </p:nvSpPr>
        <p:spPr>
          <a:xfrm>
            <a:off x="3657600" y="1150620"/>
            <a:ext cx="4876800" cy="1101725"/>
          </a:xfrm>
          <a:prstGeom prst="rect">
            <a:avLst/>
          </a:prstGeom>
          <a:noFill/>
        </p:spPr>
        <p:txBody>
          <a:bodyPr wrap="square"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mn-ea"/>
              </a:rPr>
              <a:t>How to use Notepad</a:t>
            </a:r>
            <a:br>
              <a:rPr kumimoji="0" lang="en-US" altLang="zh-CN" sz="4400" b="0" i="0" u="none" strike="noStrike" kern="1200" cap="none" spc="0" normalizeH="0" baseline="0" noProof="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mn-ea"/>
              </a:rPr>
            </a:br>
            <a:endParaRPr kumimoji="0" lang="en-US" altLang="zh-CN" sz="4400" b="0" i="0" u="none" strike="noStrike" kern="1200" cap="none" spc="200" normalizeH="0" baseline="0" noProof="0" dirty="0">
              <a:ln>
                <a:noFill/>
              </a:ln>
              <a:solidFill>
                <a:srgbClr val="000000"/>
              </a:solidFill>
              <a:effectLst/>
              <a:uLnTx/>
              <a:uFillTx/>
              <a:latin typeface="Calibri Light" panose="020F0302020204030204" charset="0"/>
              <a:ea typeface="微软雅黑" panose="020B0503020204020204" pitchFamily="34" charset="-122"/>
              <a:cs typeface="Calibri Light" panose="020F030202020403020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4400" b="0" i="0" u="none" strike="noStrike" kern="1200" cap="none" spc="20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Arial" panose="020B0604020202020204" pitchFamily="34" charset="0"/>
            </a:endParaRPr>
          </a:p>
        </p:txBody>
      </p:sp>
      <p:pic>
        <p:nvPicPr>
          <p:cNvPr id="2" name="图片 1"/>
          <p:cNvPicPr>
            <a:picLocks noChangeAspect="1"/>
          </p:cNvPicPr>
          <p:nvPr/>
        </p:nvPicPr>
        <p:blipFill>
          <a:blip r:embed="rId3"/>
          <a:stretch>
            <a:fillRect/>
          </a:stretch>
        </p:blipFill>
        <p:spPr>
          <a:xfrm>
            <a:off x="5744845" y="1530985"/>
            <a:ext cx="6125210" cy="367601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zh-CN" sz="4800" b="0" dirty="0">
                <a:latin typeface="Calibri Light" panose="020F0302020204030204" charset="0"/>
                <a:cs typeface="Calibri Light" panose="020F0302020204030204" charset="0"/>
              </a:rPr>
              <a:t>HTML Elements</a:t>
            </a:r>
            <a:endParaRPr lang="zh-CN" altLang="zh-CN" sz="4800" b="0" dirty="0">
              <a:latin typeface="Calibri Light" panose="020F0302020204030204" charset="0"/>
              <a:cs typeface="Calibri Light" panose="020F0302020204030204" charset="0"/>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612775" y="1174115"/>
            <a:ext cx="11092180" cy="289306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30000"/>
              </a:lnSpc>
              <a:spcAft>
                <a:spcPts val="1000"/>
              </a:spcAft>
              <a:buFont typeface="Wingdings" panose="05000000000000000000" pitchFamily="2" charset="2"/>
              <a:buChar char="l"/>
              <a:defRPr/>
            </a:pPr>
            <a:r>
              <a:rPr lang="en-US" altLang="zh-CN" sz="2800" dirty="0">
                <a:solidFill>
                  <a:srgbClr val="FFFFFF"/>
                </a:solidFill>
                <a:latin typeface="Calibri" panose="020F0502020204030204" charset="0"/>
                <a:ea typeface="微软雅黑" panose="020B0503020204020204" pitchFamily="34" charset="-122"/>
                <a:cs typeface="Calibri" panose="020F0502020204030204" charset="0"/>
              </a:rPr>
              <a:t>HTML documents are made up by HTML elements. </a:t>
            </a:r>
            <a:r>
              <a:rPr lang="zh-CN" altLang="en-US" sz="2800" dirty="0">
                <a:solidFill>
                  <a:srgbClr val="FFFFFF"/>
                </a:solidFill>
                <a:latin typeface="Calibri" panose="020F0502020204030204" charset="0"/>
                <a:ea typeface="微软雅黑" panose="020B0503020204020204" pitchFamily="34" charset="-122"/>
                <a:cs typeface="Calibri" panose="020F0502020204030204" charset="0"/>
                <a:sym typeface="Arial" panose="020B0604020202020204" pitchFamily="34" charset="0"/>
              </a:rPr>
              <a:t>HTML elements are written with a start tag, with an end tag, with the content </a:t>
            </a:r>
            <a:r>
              <a:rPr lang="zh-CN" altLang="en-US" sz="2800" dirty="0" smtClean="0">
                <a:solidFill>
                  <a:srgbClr val="FFFFFF"/>
                </a:solidFill>
                <a:latin typeface="Calibri" panose="020F0502020204030204" charset="0"/>
                <a:ea typeface="微软雅黑" panose="020B0503020204020204" pitchFamily="34" charset="-122"/>
                <a:cs typeface="Calibri" panose="020F0502020204030204" charset="0"/>
                <a:sym typeface="Arial" panose="020B0604020202020204" pitchFamily="34" charset="0"/>
              </a:rPr>
              <a:t>between</a:t>
            </a:r>
            <a:r>
              <a:rPr lang="zh-CN" altLang="en-US" sz="2800" dirty="0">
                <a:solidFill>
                  <a:srgbClr val="FFFFFF"/>
                </a:solidFill>
                <a:latin typeface="Calibri" panose="020F0502020204030204" charset="0"/>
                <a:ea typeface="微软雅黑" panose="020B0503020204020204" pitchFamily="34" charset="-122"/>
                <a:cs typeface="Calibri" panose="020F0502020204030204" charset="0"/>
                <a:sym typeface="Arial" panose="020B0604020202020204" pitchFamily="34" charset="0"/>
              </a:rPr>
              <a:t> </a:t>
            </a:r>
            <a:r>
              <a:rPr kumimoji="0" lang="zh-CN" altLang="en-US" sz="2800" i="0" u="none" strike="noStrike" kern="1200" cap="none" spc="0" normalizeH="0" baseline="0" noProof="0" dirty="0" smtClean="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&lt;</a:t>
            </a:r>
            <a:r>
              <a:rPr kumimoji="0" lang="zh-CN" altLang="en-US" sz="2800" i="0" u="none" strike="noStrike" kern="1200" cap="none" spc="0" normalizeH="0" baseline="0" noProof="0" dirty="0">
                <a:ln>
                  <a:noFill/>
                </a:ln>
                <a:solidFill>
                  <a:srgbClr val="C0000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tagname</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&gt;</a:t>
            </a:r>
            <a:r>
              <a:rPr kumimoji="0" lang="zh-CN" altLang="en-US" sz="280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content</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&lt;</a:t>
            </a:r>
            <a:r>
              <a:rPr kumimoji="0" lang="zh-CN" altLang="en-US" sz="2800" i="0" u="none" strike="noStrike" kern="1200" cap="none" spc="0" normalizeH="0" baseline="0" noProof="0" dirty="0">
                <a:ln>
                  <a:noFill/>
                </a:ln>
                <a:solidFill>
                  <a:srgbClr val="C0000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/tagname</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&gt;</a:t>
            </a:r>
            <a:endParaRPr kumimoji="0" lang="zh-CN" altLang="en-US" sz="280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marL="342900" marR="0" lvl="0" indent="-342900" algn="l" defTabSz="914400" rtl="0" eaLnBrk="1" fontAlgn="auto" latinLnBrk="0" hangingPunct="1">
              <a:lnSpc>
                <a:spcPct val="130000"/>
              </a:lnSpc>
              <a:spcBef>
                <a:spcPts val="0"/>
              </a:spcBef>
              <a:spcAft>
                <a:spcPts val="1000"/>
              </a:spcAft>
              <a:buClrTx/>
              <a:buSzTx/>
              <a:buFont typeface="Wingdings" panose="05000000000000000000" pitchFamily="2" charset="2"/>
              <a:buChar char="l"/>
              <a:defRPr/>
            </a:pPr>
            <a:r>
              <a:rPr kumimoji="0" lang="zh-CN" altLang="en-US" sz="280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The HTML element is everything from the start tag to the end tag:</a:t>
            </a:r>
            <a:endParaRPr kumimoji="0" lang="zh-CN" altLang="en-US" sz="280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800" i="0" u="none" strike="noStrike" kern="1200" cap="none" spc="0" normalizeH="0" baseline="0" noProof="0" dirty="0" smtClean="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   &lt;</a:t>
            </a:r>
            <a:r>
              <a:rPr kumimoji="0" lang="zh-CN" altLang="en-US" sz="2800" i="0" u="none" strike="noStrike" kern="1200" cap="none" spc="0" normalizeH="0" baseline="0" noProof="0" dirty="0">
                <a:ln>
                  <a:noFill/>
                </a:ln>
                <a:solidFill>
                  <a:srgbClr val="C0000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p</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&gt;</a:t>
            </a:r>
            <a:r>
              <a:rPr kumimoji="0" lang="zh-CN" altLang="en-US" sz="2800" i="0" u="none" strike="noStrike" kern="1200" cap="none" spc="0" normalizeH="0" baseline="0" noProof="0" dirty="0">
                <a:ln>
                  <a:noFill/>
                </a:ln>
                <a:solidFill>
                  <a:srgbClr val="FFFFFF"/>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My first HTML paragraph.</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&lt;</a:t>
            </a:r>
            <a:r>
              <a:rPr kumimoji="0" lang="zh-CN" altLang="en-US" sz="2800" i="0" u="none" strike="noStrike" kern="1200" cap="none" spc="0" normalizeH="0" baseline="0" noProof="0" dirty="0">
                <a:ln>
                  <a:noFill/>
                </a:ln>
                <a:solidFill>
                  <a:srgbClr val="C0000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/p</a:t>
            </a:r>
            <a:r>
              <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rPr>
              <a:t>&gt; </a:t>
            </a:r>
            <a:endParaRPr kumimoji="0" lang="zh-CN" altLang="en-US" sz="2800" i="0" u="none" strike="noStrike" kern="1200" cap="none" spc="0" normalizeH="0" baseline="0" noProof="0" dirty="0">
              <a:ln>
                <a:noFill/>
              </a:ln>
              <a:solidFill>
                <a:srgbClr val="0070C0"/>
              </a:solidFill>
              <a:effectLst/>
              <a:uLnTx/>
              <a:uFillTx/>
              <a:latin typeface="Calibri" panose="020F0502020204030204" charset="0"/>
              <a:ea typeface="微软雅黑" panose="020B0503020204020204" pitchFamily="34" charset="-122"/>
              <a:cs typeface="Calibri" panose="020F0502020204030204" charset="0"/>
              <a:sym typeface="Arial" panose="020B0604020202020204" pitchFamily="34" charset="0"/>
            </a:endParaRPr>
          </a:p>
        </p:txBody>
      </p:sp>
      <p:sp>
        <p:nvSpPr>
          <p:cNvPr id="18" name="文本框 17"/>
          <p:cNvSpPr txBox="1"/>
          <p:nvPr>
            <p:custDataLst>
              <p:tags r:id="rId2"/>
            </p:custDataLst>
          </p:nvPr>
        </p:nvSpPr>
        <p:spPr>
          <a:xfrm>
            <a:off x="3657600" y="335280"/>
            <a:ext cx="4876800" cy="709930"/>
          </a:xfrm>
          <a:prstGeom prst="rect">
            <a:avLst/>
          </a:prstGeom>
          <a:noFill/>
        </p:spPr>
        <p:txBody>
          <a:bodyPr wrap="square" rtlCol="0" anchor="b" anchorCtr="0">
            <a:normAutofit fontScale="975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20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Arial" panose="020B0604020202020204" pitchFamily="34" charset="0"/>
              </a:rPr>
              <a:t>HTML Elements</a:t>
            </a:r>
            <a:endParaRPr kumimoji="0" lang="en-US" altLang="zh-CN" sz="4400" b="0" i="0" u="none" strike="noStrike" kern="1200" cap="none" spc="20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Arial" panose="020B0604020202020204" pitchFamily="34" charset="0"/>
            </a:endParaRPr>
          </a:p>
        </p:txBody>
      </p:sp>
      <p:pic>
        <p:nvPicPr>
          <p:cNvPr id="2" name="图片 1"/>
          <p:cNvPicPr>
            <a:picLocks noChangeAspect="1"/>
          </p:cNvPicPr>
          <p:nvPr/>
        </p:nvPicPr>
        <p:blipFill>
          <a:blip r:embed="rId3"/>
          <a:stretch>
            <a:fillRect/>
          </a:stretch>
        </p:blipFill>
        <p:spPr>
          <a:xfrm>
            <a:off x="853122" y="4775255"/>
            <a:ext cx="10485755" cy="149225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612774" y="1682115"/>
            <a:ext cx="5108403" cy="462597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All </a:t>
            </a:r>
            <a:r>
              <a:rPr kumimoji="0" lang="en-US" altLang="zh-CN"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HTML </a:t>
            </a: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documents must start with a type declaration: </a:t>
            </a:r>
            <a:r>
              <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rPr>
              <a:t>&lt;!DOCTYPE html&gt;.</a:t>
            </a:r>
            <a:endPar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endParaRPr>
          </a:p>
          <a:p>
            <a:pPr marL="0" marR="0" lvl="0" indent="0" algn="l" defTabSz="914400" rtl="0" eaLnBrk="1" fontAlgn="auto" latinLnBrk="0" hangingPunct="1">
              <a:lnSpc>
                <a:spcPct val="130000"/>
              </a:lnSpc>
              <a:spcBef>
                <a:spcPts val="0"/>
              </a:spcBef>
              <a:spcAft>
                <a:spcPts val="1000"/>
              </a:spcAft>
              <a:buClrTx/>
              <a:buSzTx/>
              <a:buFontTx/>
              <a:buNone/>
              <a:defRPr/>
            </a:pPr>
            <a:endPar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endParaRPr>
          </a:p>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The HTML document itself begins with </a:t>
            </a:r>
            <a:r>
              <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rPr>
              <a:t>&lt;html&gt;</a:t>
            </a: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 and ends with </a:t>
            </a:r>
            <a:r>
              <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rPr>
              <a:t>&lt;/html&gt;</a:t>
            </a: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a:t>
            </a:r>
            <a:endPar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endParaRPr>
          </a:p>
          <a:p>
            <a:pPr marL="0" marR="0" lvl="0" indent="0" algn="l" defTabSz="914400" rtl="0" eaLnBrk="1" fontAlgn="auto" latinLnBrk="0" hangingPunct="1">
              <a:lnSpc>
                <a:spcPct val="130000"/>
              </a:lnSpc>
              <a:spcBef>
                <a:spcPts val="0"/>
              </a:spcBef>
              <a:spcAft>
                <a:spcPts val="1000"/>
              </a:spcAft>
              <a:buClrTx/>
              <a:buSzTx/>
              <a:buFontTx/>
              <a:buNone/>
              <a:defRPr/>
            </a:pPr>
            <a:endPar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endParaRPr>
          </a:p>
          <a:p>
            <a:pPr marL="0" marR="0" lvl="0" indent="0" algn="l" defTabSz="914400" rtl="0" eaLnBrk="1" fontAlgn="auto" latinLnBrk="0" hangingPunct="1">
              <a:lnSpc>
                <a:spcPct val="130000"/>
              </a:lnSpc>
              <a:spcBef>
                <a:spcPts val="0"/>
              </a:spcBef>
              <a:spcAft>
                <a:spcPts val="1000"/>
              </a:spcAft>
              <a:buClrTx/>
              <a:buSzTx/>
              <a:buFontTx/>
              <a:buNone/>
              <a:defRPr/>
            </a:pP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The visible part of the HTML document is between </a:t>
            </a:r>
            <a:r>
              <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rPr>
              <a:t>&lt;body&gt;</a:t>
            </a: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 and </a:t>
            </a:r>
            <a:r>
              <a:rPr kumimoji="0" lang="zh-CN" altLang="en-US" sz="2400" b="0" i="0" u="none" strike="noStrike" kern="1200" cap="none" spc="0" normalizeH="0" baseline="0" noProof="0" dirty="0">
                <a:ln>
                  <a:noFill/>
                </a:ln>
                <a:solidFill>
                  <a:srgbClr val="FFFF00"/>
                </a:solidFill>
                <a:effectLst/>
                <a:uLnTx/>
                <a:uFillTx/>
                <a:latin typeface="Calibri Light" panose="020F0302020204030204" charset="0"/>
                <a:ea typeface="微软雅黑" panose="020B0503020204020204" pitchFamily="34" charset="-122"/>
                <a:cs typeface="Calibri" panose="020F0502020204030204" charset="0"/>
                <a:sym typeface="+mn-ea"/>
              </a:rPr>
              <a:t>&lt;/body&gt;</a:t>
            </a:r>
            <a:r>
              <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rPr>
              <a:t>. </a:t>
            </a:r>
            <a:endParaRPr kumimoji="0" lang="zh-CN" altLang="en-US" sz="2400" b="0" i="0" u="none" strike="noStrike" kern="1200" cap="none" spc="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panose="020F0502020204030204" charset="0"/>
              <a:sym typeface="+mn-ea"/>
            </a:endParaRPr>
          </a:p>
        </p:txBody>
      </p:sp>
      <p:sp>
        <p:nvSpPr>
          <p:cNvPr id="18" name="文本框 17"/>
          <p:cNvSpPr txBox="1"/>
          <p:nvPr>
            <p:custDataLst>
              <p:tags r:id="rId2"/>
            </p:custDataLst>
          </p:nvPr>
        </p:nvSpPr>
        <p:spPr>
          <a:xfrm>
            <a:off x="3657600" y="431165"/>
            <a:ext cx="4876800" cy="883285"/>
          </a:xfrm>
          <a:prstGeom prst="rect">
            <a:avLst/>
          </a:prstGeom>
          <a:noFill/>
        </p:spPr>
        <p:txBody>
          <a:bodyPr wrap="square" rtlCol="0" anchor="b" anchorCtr="0">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400" spc="200" noProof="0" dirty="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Arial" panose="020B0604020202020204" pitchFamily="34" charset="0"/>
              </a:rPr>
              <a:t>HTML Elements</a:t>
            </a:r>
            <a:endParaRPr kumimoji="0" lang="en-US" altLang="zh-CN" sz="4400" b="1" i="0" u="none" strike="noStrike" kern="1200" cap="none" spc="200" normalizeH="0" baseline="0" noProof="0" dirty="0">
              <a:ln>
                <a:noFill/>
              </a:ln>
              <a:solidFill>
                <a:srgbClr val="FFFFFF"/>
              </a:solidFill>
              <a:effectLst/>
              <a:uLnTx/>
              <a:uFillTx/>
              <a:latin typeface="Calibri Light" panose="020F0302020204030204" charset="0"/>
              <a:ea typeface="微软雅黑" panose="020B0503020204020204" pitchFamily="34" charset="-122"/>
              <a:cs typeface="Calibri Light" panose="020F0302020204030204" charset="0"/>
              <a:sym typeface="+mn-ea"/>
            </a:endParaRPr>
          </a:p>
        </p:txBody>
      </p:sp>
      <p:pic>
        <p:nvPicPr>
          <p:cNvPr id="4" name="图片 3"/>
          <p:cNvPicPr>
            <a:picLocks noChangeAspect="1"/>
          </p:cNvPicPr>
          <p:nvPr>
            <p:custDataLst>
              <p:tags r:id="rId3"/>
            </p:custDataLst>
          </p:nvPr>
        </p:nvPicPr>
        <p:blipFill>
          <a:blip r:embed="rId4"/>
          <a:stretch>
            <a:fillRect/>
          </a:stretch>
        </p:blipFill>
        <p:spPr>
          <a:xfrm>
            <a:off x="6096000" y="1756455"/>
            <a:ext cx="5690235" cy="477012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316935"/>
            <a:ext cx="10969200" cy="705600"/>
          </a:xfrm>
        </p:spPr>
        <p:txBody>
          <a:bodyPr>
            <a:noAutofit/>
          </a:bodyPr>
          <a:lstStyle/>
          <a:p>
            <a:pPr algn="ctr"/>
            <a:r>
              <a:rPr lang="zh-CN" altLang="en-US" sz="4400" b="0" dirty="0">
                <a:latin typeface="Calibri Light" panose="020F0302020204030204" charset="0"/>
                <a:cs typeface="Calibri Light" panose="020F0302020204030204" charset="0"/>
              </a:rPr>
              <a:t>Nested HTML Elements</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7787" y="1259812"/>
            <a:ext cx="10969200" cy="1809391"/>
          </a:xfrm>
        </p:spPr>
        <p:txBody>
          <a:bodyPr>
            <a:noAutofit/>
          </a:bodyPr>
          <a:lstStyle/>
          <a:p>
            <a:r>
              <a:rPr lang="zh-CN" altLang="en-US" sz="2800" dirty="0">
                <a:solidFill>
                  <a:srgbClr val="FFFFFF"/>
                </a:solidFill>
                <a:latin typeface="Calibri" panose="020F0502020204030204" charset="0"/>
                <a:cs typeface="Calibri" panose="020F0502020204030204" charset="0"/>
              </a:rPr>
              <a:t>HTML elements can be nested (elements can contain elements).</a:t>
            </a:r>
            <a:endParaRPr lang="zh-CN" altLang="en-US" sz="2800" dirty="0">
              <a:solidFill>
                <a:srgbClr val="FFFFFF"/>
              </a:solidFill>
              <a:latin typeface="Calibri" panose="020F0502020204030204" charset="0"/>
              <a:cs typeface="Calibri" panose="020F0502020204030204" charset="0"/>
            </a:endParaRPr>
          </a:p>
          <a:p>
            <a:r>
              <a:rPr lang="zh-CN" altLang="en-US" sz="2800" dirty="0">
                <a:solidFill>
                  <a:srgbClr val="FFFFFF"/>
                </a:solidFill>
                <a:latin typeface="Calibri" panose="020F0502020204030204" charset="0"/>
                <a:cs typeface="Calibri" panose="020F0502020204030204" charset="0"/>
              </a:rPr>
              <a:t>All HTML documents consist of nested HTML elements.</a:t>
            </a:r>
            <a:endParaRPr lang="zh-CN" altLang="en-US" sz="2800" dirty="0">
              <a:solidFill>
                <a:srgbClr val="FFFFFF"/>
              </a:solidFill>
              <a:latin typeface="Calibri" panose="020F0502020204030204" charset="0"/>
              <a:cs typeface="Calibri" panose="020F0502020204030204" charset="0"/>
            </a:endParaRPr>
          </a:p>
          <a:p>
            <a:pPr marL="0" indent="0">
              <a:buNone/>
            </a:pPr>
            <a:r>
              <a:rPr lang="zh-CN" altLang="en-US" sz="2800" dirty="0">
                <a:solidFill>
                  <a:srgbClr val="FFFFFF"/>
                </a:solidFill>
                <a:latin typeface="Calibri" panose="020F0502020204030204" charset="0"/>
                <a:cs typeface="Calibri" panose="020F0502020204030204" charset="0"/>
              </a:rPr>
              <a:t>This example contains 4 HTML elements:</a:t>
            </a:r>
            <a:endParaRPr lang="zh-CN" altLang="en-US" sz="2800" dirty="0">
              <a:solidFill>
                <a:srgbClr val="FFFFFF"/>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3452011" y="3306480"/>
            <a:ext cx="4939429" cy="3342433"/>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09617"/>
            <a:ext cx="10969200" cy="705600"/>
          </a:xfrm>
        </p:spPr>
        <p:txBody>
          <a:bodyPr>
            <a:noAutofit/>
          </a:bodyPr>
          <a:lstStyle/>
          <a:p>
            <a:pPr algn="ctr"/>
            <a:r>
              <a:rPr lang="zh-CN" altLang="en-US" sz="4400" b="0" dirty="0">
                <a:latin typeface="Calibri Light" panose="020F0302020204030204" charset="0"/>
                <a:cs typeface="Calibri Light" panose="020F0302020204030204" charset="0"/>
              </a:rPr>
              <a:t>Nested HTML Elements</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422283" y="1377111"/>
            <a:ext cx="11392088" cy="2442329"/>
          </a:xfrm>
        </p:spPr>
        <p:txBody>
          <a:bodyPr>
            <a:noAutofit/>
          </a:bodyPr>
          <a:lstStyle/>
          <a:p>
            <a:pPr algn="just"/>
            <a:r>
              <a:rPr lang="zh-CN" altLang="en-US" sz="2800" dirty="0">
                <a:solidFill>
                  <a:schemeClr val="bg1"/>
                </a:solidFill>
                <a:latin typeface="Calibri" panose="020F0502020204030204" charset="0"/>
                <a:cs typeface="Calibri" panose="020F0502020204030204" charset="0"/>
              </a:rPr>
              <a:t>The &lt;html&gt; element defines the whole document.</a:t>
            </a:r>
            <a:endParaRPr lang="zh-CN" altLang="en-US" sz="2800" dirty="0">
              <a:solidFill>
                <a:schemeClr val="bg1"/>
              </a:solidFill>
              <a:latin typeface="Calibri" panose="020F0502020204030204" charset="0"/>
              <a:cs typeface="Calibri" panose="020F0502020204030204" charset="0"/>
            </a:endParaRPr>
          </a:p>
          <a:p>
            <a:pPr algn="just"/>
            <a:r>
              <a:rPr lang="zh-CN" altLang="en-US" sz="2800" dirty="0">
                <a:solidFill>
                  <a:schemeClr val="bg1"/>
                </a:solidFill>
                <a:latin typeface="Calibri" panose="020F0502020204030204" charset="0"/>
                <a:cs typeface="Calibri" panose="020F0502020204030204" charset="0"/>
              </a:rPr>
              <a:t>It has a start tag &lt;html&gt; and an end tag &lt;/html&gt;.</a:t>
            </a:r>
            <a:endParaRPr lang="zh-CN" altLang="en-US" sz="2800" dirty="0">
              <a:solidFill>
                <a:schemeClr val="bg1"/>
              </a:solidFill>
              <a:latin typeface="Calibri" panose="020F0502020204030204" charset="0"/>
              <a:cs typeface="Calibri" panose="020F0502020204030204" charset="0"/>
            </a:endParaRPr>
          </a:p>
          <a:p>
            <a:pPr algn="just"/>
            <a:r>
              <a:rPr lang="zh-CN" altLang="en-US" sz="2800" dirty="0">
                <a:solidFill>
                  <a:schemeClr val="bg1"/>
                </a:solidFill>
                <a:latin typeface="Calibri" panose="020F0502020204030204" charset="0"/>
                <a:cs typeface="Calibri" panose="020F0502020204030204" charset="0"/>
              </a:rPr>
              <a:t>The element content is another HTML element (the &lt;body&gt; element).</a:t>
            </a:r>
            <a:endParaRPr lang="zh-CN" altLang="en-US" sz="2800" dirty="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3653061" y="3578829"/>
            <a:ext cx="4792566" cy="2999996"/>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fontScale="90000"/>
          </a:bodyPr>
          <a:lstStyle/>
          <a:p>
            <a:pPr algn="ctr"/>
            <a:r>
              <a:rPr lang="zh-CN" altLang="en-US" sz="5400" b="0" dirty="0">
                <a:latin typeface="Calibri Light" panose="020F0302020204030204" charset="0"/>
                <a:cs typeface="Calibri Light" panose="020F0302020204030204" charset="0"/>
              </a:rPr>
              <a:t>Nested HTML Elements</a:t>
            </a:r>
            <a:endParaRPr lang="zh-CN" altLang="en-US" sz="489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490399"/>
            <a:ext cx="10969200" cy="2087687"/>
          </a:xfrm>
        </p:spPr>
        <p:txBody>
          <a:bodyPr>
            <a:normAutofit/>
          </a:bodyPr>
          <a:lstStyle/>
          <a:p>
            <a:r>
              <a:rPr lang="zh-CN" altLang="en-US" sz="2800" dirty="0">
                <a:solidFill>
                  <a:schemeClr val="bg1"/>
                </a:solidFill>
                <a:latin typeface="Calibri Light" panose="020F0302020204030204" charset="0"/>
                <a:cs typeface="Calibri" panose="020F0502020204030204" charset="0"/>
              </a:rPr>
              <a:t>The </a:t>
            </a:r>
            <a:r>
              <a:rPr lang="zh-CN" altLang="en-US" sz="2800" b="1" dirty="0">
                <a:solidFill>
                  <a:schemeClr val="bg1"/>
                </a:solidFill>
                <a:latin typeface="Calibri Light" panose="020F0302020204030204" charset="0"/>
                <a:cs typeface="Calibri" panose="020F0502020204030204" charset="0"/>
              </a:rPr>
              <a:t>&lt;body&gt;</a:t>
            </a:r>
            <a:r>
              <a:rPr lang="zh-CN" altLang="en-US" sz="2800" dirty="0">
                <a:solidFill>
                  <a:schemeClr val="bg1"/>
                </a:solidFill>
                <a:latin typeface="Calibri Light" panose="020F0302020204030204" charset="0"/>
                <a:cs typeface="Calibri" panose="020F0502020204030204" charset="0"/>
              </a:rPr>
              <a:t> element defines the </a:t>
            </a:r>
            <a:r>
              <a:rPr lang="zh-CN" altLang="en-US" sz="2800" b="1" dirty="0">
                <a:solidFill>
                  <a:schemeClr val="bg1"/>
                </a:solidFill>
                <a:latin typeface="Calibri Light" panose="020F0302020204030204" charset="0"/>
                <a:cs typeface="Calibri" panose="020F0502020204030204" charset="0"/>
              </a:rPr>
              <a:t>document body</a:t>
            </a:r>
            <a:r>
              <a:rPr lang="zh-CN" altLang="en-US" sz="2800" dirty="0">
                <a:solidFill>
                  <a:schemeClr val="bg1"/>
                </a:solidFill>
                <a:latin typeface="Calibri Light" panose="020F0302020204030204" charset="0"/>
                <a:cs typeface="Calibri" panose="020F0502020204030204" charset="0"/>
              </a:rPr>
              <a: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It has a </a:t>
            </a:r>
            <a:r>
              <a:rPr lang="zh-CN" altLang="en-US" sz="2800" b="1" dirty="0">
                <a:solidFill>
                  <a:schemeClr val="bg1"/>
                </a:solidFill>
                <a:latin typeface="Calibri Light" panose="020F0302020204030204" charset="0"/>
                <a:cs typeface="Calibri" panose="020F0502020204030204" charset="0"/>
              </a:rPr>
              <a:t>start</a:t>
            </a:r>
            <a:r>
              <a:rPr lang="zh-CN" altLang="en-US" sz="2800" dirty="0">
                <a:solidFill>
                  <a:schemeClr val="bg1"/>
                </a:solidFill>
                <a:latin typeface="Calibri Light" panose="020F0302020204030204" charset="0"/>
                <a:cs typeface="Calibri" panose="020F0502020204030204" charset="0"/>
              </a:rPr>
              <a:t> tag &lt;body&gt; and an </a:t>
            </a:r>
            <a:r>
              <a:rPr lang="zh-CN" altLang="en-US" sz="2800" b="1" dirty="0">
                <a:solidFill>
                  <a:schemeClr val="bg1"/>
                </a:solidFill>
                <a:latin typeface="Calibri Light" panose="020F0302020204030204" charset="0"/>
                <a:cs typeface="Calibri" panose="020F0502020204030204" charset="0"/>
              </a:rPr>
              <a:t>end</a:t>
            </a:r>
            <a:r>
              <a:rPr lang="zh-CN" altLang="en-US" sz="2800" dirty="0">
                <a:solidFill>
                  <a:schemeClr val="bg1"/>
                </a:solidFill>
                <a:latin typeface="Calibri Light" panose="020F0302020204030204" charset="0"/>
                <a:cs typeface="Calibri" panose="020F0502020204030204" charset="0"/>
              </a:rPr>
              <a:t> tag &lt;/body&gt;.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The element </a:t>
            </a:r>
            <a:r>
              <a:rPr lang="zh-CN" altLang="en-US" sz="2800" b="1" dirty="0">
                <a:solidFill>
                  <a:schemeClr val="bg1"/>
                </a:solidFill>
                <a:latin typeface="Calibri Light" panose="020F0302020204030204" charset="0"/>
                <a:cs typeface="Calibri" panose="020F0502020204030204" charset="0"/>
              </a:rPr>
              <a:t>content</a:t>
            </a:r>
            <a:r>
              <a:rPr lang="zh-CN" altLang="en-US" sz="2800" dirty="0">
                <a:solidFill>
                  <a:schemeClr val="bg1"/>
                </a:solidFill>
                <a:latin typeface="Calibri Light" panose="020F0302020204030204" charset="0"/>
                <a:cs typeface="Calibri" panose="020F0502020204030204" charset="0"/>
              </a:rPr>
              <a:t> is two other HTML elements (&lt;h1&gt; and &lt;p&gt;).</a:t>
            </a:r>
            <a:endParaRPr lang="zh-CN" altLang="en-US" sz="2800" dirty="0">
              <a:solidFill>
                <a:schemeClr val="bg1"/>
              </a:solidFill>
              <a:latin typeface="Calibri Light" panose="020F03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3005510" y="4121205"/>
            <a:ext cx="5837555" cy="229044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94649"/>
            <a:ext cx="10969200" cy="705600"/>
          </a:xfrm>
        </p:spPr>
        <p:txBody>
          <a:bodyPr>
            <a:noAutofit/>
          </a:bodyPr>
          <a:lstStyle/>
          <a:p>
            <a:pPr algn="ctr"/>
            <a:r>
              <a:rPr lang="zh-CN" altLang="en-US" sz="4400" b="0" dirty="0">
                <a:latin typeface="Calibri Light" panose="020F0302020204030204" charset="0"/>
                <a:cs typeface="Calibri Light" panose="020F0302020204030204" charset="0"/>
              </a:rPr>
              <a:t>Nested HTML Elements</a:t>
            </a:r>
            <a:endParaRPr lang="zh-CN" altLang="en-US" sz="4400" b="0" dirty="0">
              <a:solidFill>
                <a:schemeClr val="bg1"/>
              </a:solidFill>
              <a:latin typeface="Calibri Light" panose="020F0302020204030204" charset="0"/>
              <a:cs typeface="Calibri Light" panose="020F0302020204030204" charset="0"/>
              <a:sym typeface="+mn-ea"/>
            </a:endParaRPr>
          </a:p>
        </p:txBody>
      </p:sp>
      <p:sp>
        <p:nvSpPr>
          <p:cNvPr id="2" name="内容占位符 1"/>
          <p:cNvSpPr>
            <a:spLocks noGrp="1"/>
          </p:cNvSpPr>
          <p:nvPr>
            <p:ph idx="1"/>
            <p:custDataLst>
              <p:tags r:id="rId2"/>
            </p:custDataLst>
          </p:nvPr>
        </p:nvSpPr>
        <p:spPr>
          <a:xfrm>
            <a:off x="608400" y="1490400"/>
            <a:ext cx="10969200" cy="1976369"/>
          </a:xfrm>
        </p:spPr>
        <p:txBody>
          <a:bodyPr>
            <a:noAutofit/>
          </a:bodyPr>
          <a:lstStyle/>
          <a:p>
            <a:r>
              <a:rPr lang="zh-CN" altLang="en-US" sz="2800" dirty="0">
                <a:solidFill>
                  <a:schemeClr val="bg1"/>
                </a:solidFill>
                <a:latin typeface="Calibri Light" panose="020F0302020204030204" charset="0"/>
                <a:cs typeface="Calibri" panose="020F0502020204030204" charset="0"/>
              </a:rPr>
              <a:t>The</a:t>
            </a:r>
            <a:r>
              <a:rPr lang="zh-CN" altLang="en-US" sz="2800" b="1" dirty="0">
                <a:solidFill>
                  <a:schemeClr val="bg1"/>
                </a:solidFill>
                <a:latin typeface="Calibri Light" panose="020F0302020204030204" charset="0"/>
                <a:cs typeface="Calibri" panose="020F0502020204030204" charset="0"/>
              </a:rPr>
              <a:t> &lt;h1&gt;</a:t>
            </a:r>
            <a:r>
              <a:rPr lang="zh-CN" altLang="en-US" sz="2800" dirty="0">
                <a:solidFill>
                  <a:schemeClr val="bg1"/>
                </a:solidFill>
                <a:latin typeface="Calibri Light" panose="020F0302020204030204" charset="0"/>
                <a:cs typeface="Calibri" panose="020F0502020204030204" charset="0"/>
              </a:rPr>
              <a:t> element defines a </a:t>
            </a:r>
            <a:r>
              <a:rPr lang="zh-CN" altLang="en-US" sz="2800" b="1" dirty="0">
                <a:solidFill>
                  <a:schemeClr val="bg1"/>
                </a:solidFill>
                <a:latin typeface="Calibri Light" panose="020F0302020204030204" charset="0"/>
                <a:cs typeface="Calibri" panose="020F0502020204030204" charset="0"/>
              </a:rPr>
              <a:t>heading</a:t>
            </a:r>
            <a:r>
              <a:rPr lang="zh-CN" altLang="en-US" sz="2800" dirty="0">
                <a:solidFill>
                  <a:schemeClr val="bg1"/>
                </a:solidFill>
                <a:latin typeface="Calibri Light" panose="020F0302020204030204" charset="0"/>
                <a:cs typeface="Calibri" panose="020F0502020204030204" charset="0"/>
              </a:rPr>
              <a: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It has a</a:t>
            </a:r>
            <a:r>
              <a:rPr lang="zh-CN" altLang="en-US" sz="2800" b="1" dirty="0">
                <a:solidFill>
                  <a:schemeClr val="bg1"/>
                </a:solidFill>
                <a:latin typeface="Calibri Light" panose="020F0302020204030204" charset="0"/>
                <a:cs typeface="Calibri" panose="020F0502020204030204" charset="0"/>
              </a:rPr>
              <a:t> start</a:t>
            </a:r>
            <a:r>
              <a:rPr lang="zh-CN" altLang="en-US" sz="2800" dirty="0">
                <a:solidFill>
                  <a:schemeClr val="bg1"/>
                </a:solidFill>
                <a:latin typeface="Calibri Light" panose="020F0302020204030204" charset="0"/>
                <a:cs typeface="Calibri" panose="020F0502020204030204" charset="0"/>
              </a:rPr>
              <a:t> tag &lt;h1&gt; and an</a:t>
            </a:r>
            <a:r>
              <a:rPr lang="zh-CN" altLang="en-US" sz="2800" b="1" dirty="0">
                <a:solidFill>
                  <a:schemeClr val="bg1"/>
                </a:solidFill>
                <a:latin typeface="Calibri Light" panose="020F0302020204030204" charset="0"/>
                <a:cs typeface="Calibri" panose="020F0502020204030204" charset="0"/>
              </a:rPr>
              <a:t> end</a:t>
            </a:r>
            <a:r>
              <a:rPr lang="zh-CN" altLang="en-US" sz="2800" dirty="0">
                <a:solidFill>
                  <a:schemeClr val="bg1"/>
                </a:solidFill>
                <a:latin typeface="Calibri Light" panose="020F0302020204030204" charset="0"/>
                <a:cs typeface="Calibri" panose="020F0502020204030204" charset="0"/>
              </a:rPr>
              <a:t> tag &lt;/h1&gt;.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The element </a:t>
            </a:r>
            <a:r>
              <a:rPr lang="zh-CN" altLang="en-US" sz="2800" b="1" dirty="0">
                <a:solidFill>
                  <a:schemeClr val="bg1"/>
                </a:solidFill>
                <a:latin typeface="Calibri Light" panose="020F0302020204030204" charset="0"/>
                <a:cs typeface="Calibri" panose="020F0502020204030204" charset="0"/>
              </a:rPr>
              <a:t>content</a:t>
            </a:r>
            <a:r>
              <a:rPr lang="zh-CN" altLang="en-US" sz="2800" dirty="0">
                <a:solidFill>
                  <a:schemeClr val="bg1"/>
                </a:solidFill>
                <a:latin typeface="Calibri Light" panose="020F0302020204030204" charset="0"/>
                <a:cs typeface="Calibri" panose="020F0502020204030204" charset="0"/>
              </a:rPr>
              <a:t> is: My First Heading.</a:t>
            </a:r>
            <a:endParaRPr lang="zh-CN" altLang="en-US" sz="2800" dirty="0">
              <a:solidFill>
                <a:schemeClr val="bg1"/>
              </a:solidFill>
              <a:latin typeface="Calibri Light" panose="020F03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2262505" y="4109720"/>
            <a:ext cx="7660005" cy="75819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77078"/>
            <a:ext cx="10969200" cy="836922"/>
          </a:xfrm>
        </p:spPr>
        <p:txBody>
          <a:bodyPr>
            <a:noAutofit/>
          </a:bodyPr>
          <a:lstStyle/>
          <a:p>
            <a:pPr algn="ctr"/>
            <a:r>
              <a:rPr lang="zh-CN" altLang="en-US" sz="4400" b="0" dirty="0">
                <a:latin typeface="Calibri Light" panose="020F0302020204030204" charset="0"/>
                <a:cs typeface="Calibri Light" panose="020F0302020204030204" charset="0"/>
              </a:rPr>
              <a:t>Nested HTML Elements</a:t>
            </a:r>
            <a:endParaRPr lang="zh-CN" altLang="en-US" sz="4400" b="0" dirty="0">
              <a:solidFill>
                <a:schemeClr val="bg1"/>
              </a:solidFill>
              <a:latin typeface="Calibri Light" panose="020F0302020204030204" charset="0"/>
              <a:cs typeface="Calibri Light" panose="020F0302020204030204" charset="0"/>
              <a:sym typeface="+mn-ea"/>
            </a:endParaRPr>
          </a:p>
        </p:txBody>
      </p:sp>
      <p:sp>
        <p:nvSpPr>
          <p:cNvPr id="2" name="内容占位符 1"/>
          <p:cNvSpPr>
            <a:spLocks noGrp="1"/>
          </p:cNvSpPr>
          <p:nvPr>
            <p:ph idx="1"/>
            <p:custDataLst>
              <p:tags r:id="rId2"/>
            </p:custDataLst>
          </p:nvPr>
        </p:nvSpPr>
        <p:spPr>
          <a:xfrm>
            <a:off x="608400" y="1490400"/>
            <a:ext cx="10969200" cy="1873002"/>
          </a:xfrm>
        </p:spPr>
        <p:txBody>
          <a:bodyPr>
            <a:noAutofit/>
          </a:bodyPr>
          <a:lstStyle/>
          <a:p>
            <a:r>
              <a:rPr lang="zh-CN" altLang="en-US" sz="2800" dirty="0">
                <a:solidFill>
                  <a:schemeClr val="bg1"/>
                </a:solidFill>
                <a:latin typeface="Calibri Light" panose="020F0302020204030204" charset="0"/>
                <a:cs typeface="Calibri" panose="020F0502020204030204" charset="0"/>
              </a:rPr>
              <a:t>The </a:t>
            </a:r>
            <a:r>
              <a:rPr lang="zh-CN" altLang="en-US" sz="2800" b="1" dirty="0">
                <a:solidFill>
                  <a:schemeClr val="bg1"/>
                </a:solidFill>
                <a:latin typeface="Calibri Light" panose="020F0302020204030204" charset="0"/>
                <a:cs typeface="Calibri" panose="020F0502020204030204" charset="0"/>
              </a:rPr>
              <a:t>&lt;p&gt;</a:t>
            </a:r>
            <a:r>
              <a:rPr lang="zh-CN" altLang="en-US" sz="2800" dirty="0">
                <a:solidFill>
                  <a:schemeClr val="bg1"/>
                </a:solidFill>
                <a:latin typeface="Calibri Light" panose="020F0302020204030204" charset="0"/>
                <a:cs typeface="Calibri" panose="020F0502020204030204" charset="0"/>
              </a:rPr>
              <a:t> element defines a </a:t>
            </a:r>
            <a:r>
              <a:rPr lang="zh-CN" altLang="en-US" sz="2800" b="1" dirty="0">
                <a:solidFill>
                  <a:schemeClr val="bg1"/>
                </a:solidFill>
                <a:latin typeface="Calibri Light" panose="020F0302020204030204" charset="0"/>
                <a:cs typeface="Calibri" panose="020F0502020204030204" charset="0"/>
              </a:rPr>
              <a:t>paragraph</a:t>
            </a:r>
            <a:r>
              <a:rPr lang="zh-CN" altLang="en-US" sz="2800" dirty="0">
                <a:solidFill>
                  <a:schemeClr val="bg1"/>
                </a:solidFill>
                <a:latin typeface="Calibri Light" panose="020F0302020204030204" charset="0"/>
                <a:cs typeface="Calibri" panose="020F0502020204030204" charset="0"/>
              </a:rPr>
              <a: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It has a </a:t>
            </a:r>
            <a:r>
              <a:rPr lang="zh-CN" altLang="en-US" sz="2800" b="1" dirty="0">
                <a:solidFill>
                  <a:schemeClr val="bg1"/>
                </a:solidFill>
                <a:latin typeface="Calibri Light" panose="020F0302020204030204" charset="0"/>
                <a:cs typeface="Calibri" panose="020F0502020204030204" charset="0"/>
              </a:rPr>
              <a:t>start</a:t>
            </a:r>
            <a:r>
              <a:rPr lang="zh-CN" altLang="en-US" sz="2800" dirty="0">
                <a:solidFill>
                  <a:schemeClr val="bg1"/>
                </a:solidFill>
                <a:latin typeface="Calibri Light" panose="020F0302020204030204" charset="0"/>
                <a:cs typeface="Calibri" panose="020F0502020204030204" charset="0"/>
              </a:rPr>
              <a:t> tag &lt;p&gt; and an </a:t>
            </a:r>
            <a:r>
              <a:rPr lang="zh-CN" altLang="en-US" sz="2800" b="1" dirty="0">
                <a:solidFill>
                  <a:schemeClr val="bg1"/>
                </a:solidFill>
                <a:latin typeface="Calibri Light" panose="020F0302020204030204" charset="0"/>
                <a:cs typeface="Calibri" panose="020F0502020204030204" charset="0"/>
              </a:rPr>
              <a:t>end</a:t>
            </a:r>
            <a:r>
              <a:rPr lang="zh-CN" altLang="en-US" sz="2800" dirty="0">
                <a:solidFill>
                  <a:schemeClr val="bg1"/>
                </a:solidFill>
                <a:latin typeface="Calibri Light" panose="020F0302020204030204" charset="0"/>
                <a:cs typeface="Calibri" panose="020F0502020204030204" charset="0"/>
              </a:rPr>
              <a:t> tag &lt;/p&gt;.</a:t>
            </a:r>
            <a:endParaRPr lang="zh-CN" altLang="en-US" sz="2800" dirty="0">
              <a:solidFill>
                <a:schemeClr val="bg1"/>
              </a:solidFill>
              <a:latin typeface="Calibri Light" panose="020F0302020204030204" charset="0"/>
              <a:cs typeface="Calibri" panose="020F0502020204030204" charset="0"/>
            </a:endParaRPr>
          </a:p>
          <a:p>
            <a:r>
              <a:rPr lang="zh-CN" altLang="en-US" sz="2800" dirty="0">
                <a:solidFill>
                  <a:schemeClr val="bg1"/>
                </a:solidFill>
                <a:latin typeface="Calibri Light" panose="020F0302020204030204" charset="0"/>
                <a:cs typeface="Calibri" panose="020F0502020204030204" charset="0"/>
              </a:rPr>
              <a:t>The element </a:t>
            </a:r>
            <a:r>
              <a:rPr lang="zh-CN" altLang="en-US" sz="2800" b="1" dirty="0">
                <a:solidFill>
                  <a:schemeClr val="bg1"/>
                </a:solidFill>
                <a:latin typeface="Calibri Light" panose="020F0302020204030204" charset="0"/>
                <a:cs typeface="Calibri" panose="020F0502020204030204" charset="0"/>
              </a:rPr>
              <a:t>content</a:t>
            </a:r>
            <a:r>
              <a:rPr lang="zh-CN" altLang="en-US" sz="2800" dirty="0">
                <a:solidFill>
                  <a:schemeClr val="bg1"/>
                </a:solidFill>
                <a:latin typeface="Calibri Light" panose="020F0302020204030204" charset="0"/>
                <a:cs typeface="Calibri" panose="020F0502020204030204" charset="0"/>
              </a:rPr>
              <a:t> is: My first paragraph.</a:t>
            </a:r>
            <a:endParaRPr lang="zh-CN" altLang="en-US" sz="2800" dirty="0">
              <a:solidFill>
                <a:schemeClr val="bg1"/>
              </a:solidFill>
              <a:latin typeface="Calibri Light" panose="020F03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1495259" y="4640332"/>
            <a:ext cx="9004300" cy="89471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543663" y="214166"/>
            <a:ext cx="10969200" cy="705600"/>
          </a:xfrm>
        </p:spPr>
        <p:txBody>
          <a:bodyPr>
            <a:noAutofit/>
          </a:bodyPr>
          <a:lstStyle/>
          <a:p>
            <a:pPr algn="ctr"/>
            <a:r>
              <a:rPr lang="zh-CN" altLang="en-US" sz="4400" b="0" dirty="0">
                <a:latin typeface="Calibri Light" panose="020F0302020204030204" charset="0"/>
                <a:cs typeface="Calibri Light" panose="020F0302020204030204" charset="0"/>
              </a:rPr>
              <a:t>Nested HTML Elements</a:t>
            </a:r>
            <a:endParaRPr lang="zh-CN" altLang="en-US" sz="440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388862" y="1150533"/>
            <a:ext cx="11385050" cy="5533487"/>
          </a:xfrm>
        </p:spPr>
        <p:txBody>
          <a:bodyPr>
            <a:normAutofit fontScale="67500" lnSpcReduction="20000"/>
          </a:bodyPr>
          <a:lstStyle/>
          <a:p>
            <a:pPr>
              <a:lnSpc>
                <a:spcPct val="150000"/>
              </a:lnSpc>
            </a:pPr>
            <a:r>
              <a:rPr lang="zh-CN" altLang="en-US" sz="3700" dirty="0">
                <a:solidFill>
                  <a:schemeClr val="bg1"/>
                </a:solidFill>
                <a:latin typeface="Calibri" panose="020F0502020204030204" charset="0"/>
                <a:cs typeface="Calibri" panose="020F0502020204030204" charset="0"/>
              </a:rPr>
              <a:t>Some HTML elements will display correctly, even if you forget the end tag:</a:t>
            </a:r>
            <a:endParaRPr lang="zh-CN" altLang="en-US" sz="3700" dirty="0">
              <a:solidFill>
                <a:schemeClr val="bg1"/>
              </a:solidFill>
              <a:latin typeface="Calibri" panose="020F0502020204030204" charset="0"/>
              <a:cs typeface="Calibri" panose="020F0502020204030204" charset="0"/>
            </a:endParaRPr>
          </a:p>
          <a:p>
            <a:endParaRPr lang="zh-CN" altLang="en-US" sz="2400" dirty="0">
              <a:solidFill>
                <a:schemeClr val="bg1"/>
              </a:solidFill>
              <a:latin typeface="Calibri Light" panose="020F0302020204030204" charset="0"/>
              <a:cs typeface="Calibri" panose="020F0502020204030204" charset="0"/>
            </a:endParaRPr>
          </a:p>
          <a:p>
            <a:pPr marL="0" indent="0">
              <a:buNone/>
            </a:pPr>
            <a:endParaRPr lang="zh-CN" altLang="en-US" sz="2400" dirty="0">
              <a:solidFill>
                <a:schemeClr val="bg1"/>
              </a:solidFill>
              <a:latin typeface="Calibri Light" panose="020F0302020204030204" charset="0"/>
              <a:cs typeface="Calibri" panose="020F0502020204030204" charset="0"/>
            </a:endParaRPr>
          </a:p>
          <a:p>
            <a:endParaRPr lang="zh-CN" altLang="en-US" sz="2400" dirty="0">
              <a:solidFill>
                <a:schemeClr val="bg1"/>
              </a:solidFill>
              <a:latin typeface="Calibri Light" panose="020F0302020204030204" charset="0"/>
              <a:cs typeface="Calibri" panose="020F0502020204030204" charset="0"/>
            </a:endParaRPr>
          </a:p>
          <a:p>
            <a:endParaRPr lang="zh-CN" altLang="en-US" sz="2400" dirty="0">
              <a:solidFill>
                <a:schemeClr val="bg1"/>
              </a:solidFill>
              <a:latin typeface="Calibri Light" panose="020F0302020204030204" charset="0"/>
              <a:cs typeface="Calibri" panose="020F0502020204030204" charset="0"/>
            </a:endParaRPr>
          </a:p>
          <a:p>
            <a:pPr marL="0" indent="0">
              <a:buNone/>
            </a:pPr>
            <a:endParaRPr lang="zh-CN" altLang="en-US" sz="2400" dirty="0">
              <a:solidFill>
                <a:schemeClr val="bg1"/>
              </a:solidFill>
              <a:latin typeface="Calibri Light" panose="020F0302020204030204" charset="0"/>
              <a:cs typeface="Calibri" panose="020F0502020204030204" charset="0"/>
            </a:endParaRPr>
          </a:p>
          <a:p>
            <a:pPr>
              <a:lnSpc>
                <a:spcPct val="150000"/>
              </a:lnSpc>
            </a:pPr>
            <a:endParaRPr lang="en-US" altLang="zh-CN" sz="3700" dirty="0" smtClean="0">
              <a:solidFill>
                <a:schemeClr val="bg1"/>
              </a:solidFill>
              <a:latin typeface="Calibri" panose="020F0502020204030204" charset="0"/>
              <a:cs typeface="Calibri" panose="020F0502020204030204" charset="0"/>
            </a:endParaRPr>
          </a:p>
          <a:p>
            <a:pPr>
              <a:lnSpc>
                <a:spcPct val="150000"/>
              </a:lnSpc>
            </a:pPr>
            <a:r>
              <a:rPr lang="zh-CN" altLang="en-US" sz="3700" dirty="0" smtClean="0">
                <a:solidFill>
                  <a:schemeClr val="bg1"/>
                </a:solidFill>
                <a:latin typeface="Calibri" panose="020F0502020204030204" charset="0"/>
                <a:cs typeface="Calibri" panose="020F0502020204030204" charset="0"/>
              </a:rPr>
              <a:t>The </a:t>
            </a:r>
            <a:r>
              <a:rPr lang="zh-CN" altLang="en-US" sz="3700" dirty="0">
                <a:solidFill>
                  <a:schemeClr val="bg1"/>
                </a:solidFill>
                <a:latin typeface="Calibri" panose="020F0502020204030204" charset="0"/>
                <a:cs typeface="Calibri" panose="020F0502020204030204" charset="0"/>
              </a:rPr>
              <a:t>example above works in all browsers, because the closing tag is considered optional.</a:t>
            </a:r>
            <a:endParaRPr lang="zh-CN" altLang="en-US" sz="3700" dirty="0">
              <a:solidFill>
                <a:schemeClr val="bg1"/>
              </a:solidFill>
              <a:latin typeface="Calibri" panose="020F0502020204030204" charset="0"/>
              <a:cs typeface="Calibri" panose="020F0502020204030204" charset="0"/>
            </a:endParaRPr>
          </a:p>
          <a:p>
            <a:pPr>
              <a:lnSpc>
                <a:spcPct val="150000"/>
              </a:lnSpc>
            </a:pPr>
            <a:r>
              <a:rPr lang="zh-CN" altLang="en-US" sz="3700" dirty="0">
                <a:solidFill>
                  <a:schemeClr val="bg1"/>
                </a:solidFill>
                <a:latin typeface="Calibri" panose="020F0502020204030204" charset="0"/>
                <a:cs typeface="Calibri" panose="020F0502020204030204" charset="0"/>
              </a:rPr>
              <a:t>Never rely on this. It might produce unexpected results and/or errors if you forget the end tag.</a:t>
            </a:r>
            <a:endParaRPr lang="zh-CN" altLang="en-US" sz="3700" dirty="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2948631" y="1936413"/>
            <a:ext cx="5647055" cy="225107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527480" y="341363"/>
            <a:ext cx="10969200" cy="705600"/>
          </a:xfrm>
        </p:spPr>
        <p:txBody>
          <a:bodyPr>
            <a:noAutofit/>
          </a:bodyPr>
          <a:lstStyle/>
          <a:p>
            <a:pPr algn="ctr"/>
            <a:r>
              <a:rPr lang="zh-CN" altLang="en-US" sz="4400" b="0" dirty="0">
                <a:solidFill>
                  <a:schemeClr val="bg1"/>
                </a:solidFill>
                <a:latin typeface="Calibri Light" panose="020F0302020204030204" charset="0"/>
                <a:cs typeface="Calibri Light" panose="020F0302020204030204" charset="0"/>
              </a:rPr>
              <a:t>Empty HTML Elements</a:t>
            </a:r>
            <a:endParaRPr lang="zh-CN" altLang="en-US" sz="440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490400"/>
            <a:ext cx="11197880" cy="4759200"/>
          </a:xfrm>
        </p:spPr>
        <p:txBody>
          <a:bodyPr>
            <a:noAutofit/>
          </a:bodyPr>
          <a:lstStyle/>
          <a:p>
            <a:r>
              <a:rPr lang="zh-CN" altLang="en-US" sz="2800" dirty="0">
                <a:solidFill>
                  <a:schemeClr val="bg1"/>
                </a:solidFill>
                <a:latin typeface="Calibri" panose="020F0502020204030204" charset="0"/>
                <a:cs typeface="Calibri" panose="020F0502020204030204" charset="0"/>
              </a:rPr>
              <a:t>HTML elements with no content are called empty elements.</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&lt;br&gt; is an empty element without a closing tag (the &lt;br&gt; tag defines a line break).</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Empty elements can be "closed" in the opening tag like this: &lt;br /&gt;.</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HTML5 does not require empty elements to be closed. But if you want stricter validation, or you need to make your document readable by XML parsers, you should close all HTML elements.</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a:latin typeface="Calibri Light" panose="020F0302020204030204" charset="0"/>
                <a:cs typeface="Calibri Light" panose="020F0302020204030204" charset="0"/>
              </a:rPr>
              <a:t>HTML Tip: Use Lowercase Tags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1575" y="1784405"/>
            <a:ext cx="10969200" cy="2827352"/>
          </a:xfrm>
        </p:spPr>
        <p:txBody>
          <a:bodyPr>
            <a:normAutofit/>
          </a:bodyPr>
          <a:lstStyle/>
          <a:p>
            <a:r>
              <a:rPr lang="zh-CN" altLang="en-US" sz="2800" dirty="0">
                <a:solidFill>
                  <a:schemeClr val="bg1"/>
                </a:solidFill>
                <a:latin typeface="Calibri" panose="020F0502020204030204" charset="0"/>
                <a:cs typeface="Calibri" panose="020F0502020204030204" charset="0"/>
              </a:rPr>
              <a:t>HTML tags are not case sensitive: &lt;P&gt; means the same as &lt;p</a:t>
            </a:r>
            <a:r>
              <a:rPr lang="zh-CN" altLang="en-US" sz="2800" dirty="0" smtClean="0">
                <a:solidFill>
                  <a:schemeClr val="bg1"/>
                </a:solidFill>
                <a:latin typeface="Calibri" panose="020F0502020204030204" charset="0"/>
                <a:cs typeface="Calibri" panose="020F0502020204030204" charset="0"/>
              </a:rPr>
              <a:t>&gt;.</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The HTML5 standard does not require lowercase tags, but </a:t>
            </a:r>
            <a:r>
              <a:rPr lang="en-US" altLang="zh-CN" sz="2800" dirty="0">
                <a:solidFill>
                  <a:schemeClr val="bg1"/>
                </a:solidFill>
                <a:latin typeface="Calibri" panose="020F0502020204030204" charset="0"/>
                <a:cs typeface="Calibri" panose="020F0502020204030204" charset="0"/>
              </a:rPr>
              <a:t>we </a:t>
            </a:r>
            <a:r>
              <a:rPr lang="zh-CN" altLang="en-US" sz="2800" dirty="0">
                <a:solidFill>
                  <a:schemeClr val="bg1"/>
                </a:solidFill>
                <a:latin typeface="Calibri" panose="020F0502020204030204" charset="0"/>
                <a:cs typeface="Calibri" panose="020F0502020204030204" charset="0"/>
              </a:rPr>
              <a:t>recommends lowercase in HTML4, and demands lowercase for stricter document types like XHTML.</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zh-CN" b="0" dirty="0">
                <a:latin typeface="Calibri Light" panose="020F0302020204030204" charset="0"/>
                <a:cs typeface="Calibri Light" panose="020F0302020204030204" charset="0"/>
              </a:rPr>
              <a:t>HTML Attributes</a:t>
            </a:r>
            <a:endParaRPr lang="zh-CN" altLang="zh-CN" b="0" dirty="0">
              <a:latin typeface="Calibri Light" panose="020F0302020204030204" charset="0"/>
              <a:cs typeface="Calibri Light" panose="020F0302020204030204" charset="0"/>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solidFill>
                  <a:schemeClr val="bg1"/>
                </a:solidFill>
                <a:latin typeface="Calibri Light" panose="020F0302020204030204" charset="0"/>
                <a:cs typeface="Calibri Light" panose="020F0302020204030204" charset="0"/>
              </a:rPr>
              <a:t>HTML Attributes</a:t>
            </a:r>
            <a:endParaRPr lang="zh-CN" altLang="en-US" sz="440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399" y="1490400"/>
            <a:ext cx="11092683" cy="4028368"/>
          </a:xfrm>
        </p:spPr>
        <p:txBody>
          <a:bodyPr>
            <a:noAutofit/>
          </a:bodyPr>
          <a:lstStyle/>
          <a:p>
            <a:r>
              <a:rPr lang="zh-CN" altLang="en-US" sz="3200" dirty="0" smtClean="0">
                <a:solidFill>
                  <a:schemeClr val="bg1"/>
                </a:solidFill>
                <a:latin typeface="Calibri" panose="020F0502020204030204" charset="0"/>
                <a:cs typeface="Calibri" panose="020F0502020204030204" charset="0"/>
              </a:rPr>
              <a:t>HTML </a:t>
            </a:r>
            <a:r>
              <a:rPr lang="zh-CN" altLang="en-US" sz="3200" dirty="0">
                <a:solidFill>
                  <a:schemeClr val="bg1"/>
                </a:solidFill>
                <a:latin typeface="Calibri" panose="020F0502020204030204" charset="0"/>
                <a:cs typeface="Calibri" panose="020F0502020204030204" charset="0"/>
              </a:rPr>
              <a:t>elements can have attributes</a:t>
            </a:r>
            <a:endParaRPr lang="zh-CN" altLang="en-US" sz="3200" dirty="0">
              <a:solidFill>
                <a:schemeClr val="bg1"/>
              </a:solidFill>
              <a:latin typeface="Calibri" panose="020F0502020204030204" charset="0"/>
              <a:cs typeface="Calibri" panose="020F0502020204030204" charset="0"/>
            </a:endParaRPr>
          </a:p>
          <a:p>
            <a:r>
              <a:rPr lang="zh-CN" altLang="en-US" sz="3200" dirty="0">
                <a:solidFill>
                  <a:schemeClr val="bg1"/>
                </a:solidFill>
                <a:latin typeface="Calibri" panose="020F0502020204030204" charset="0"/>
                <a:cs typeface="Calibri" panose="020F0502020204030204" charset="0"/>
              </a:rPr>
              <a:t>Attributes provide additional information about an element</a:t>
            </a:r>
            <a:endParaRPr lang="zh-CN" altLang="en-US" sz="3200" dirty="0">
              <a:solidFill>
                <a:schemeClr val="bg1"/>
              </a:solidFill>
              <a:latin typeface="Calibri" panose="020F0502020204030204" charset="0"/>
              <a:cs typeface="Calibri" panose="020F0502020204030204" charset="0"/>
            </a:endParaRPr>
          </a:p>
          <a:p>
            <a:r>
              <a:rPr lang="zh-CN" altLang="en-US" sz="3200" dirty="0">
                <a:solidFill>
                  <a:schemeClr val="bg1"/>
                </a:solidFill>
                <a:latin typeface="Calibri" panose="020F0502020204030204" charset="0"/>
                <a:cs typeface="Calibri" panose="020F0502020204030204" charset="0"/>
              </a:rPr>
              <a:t>Attributes are always specified in the start tag</a:t>
            </a:r>
            <a:endParaRPr lang="zh-CN" altLang="en-US" sz="3200" dirty="0">
              <a:solidFill>
                <a:schemeClr val="bg1"/>
              </a:solidFill>
              <a:latin typeface="Calibri" panose="020F0502020204030204" charset="0"/>
              <a:cs typeface="Calibri" panose="020F0502020204030204" charset="0"/>
            </a:endParaRPr>
          </a:p>
          <a:p>
            <a:r>
              <a:rPr lang="zh-CN" altLang="en-US" sz="3200" dirty="0">
                <a:solidFill>
                  <a:schemeClr val="bg1"/>
                </a:solidFill>
                <a:latin typeface="Calibri" panose="020F0502020204030204" charset="0"/>
                <a:cs typeface="Calibri" panose="020F0502020204030204" charset="0"/>
              </a:rPr>
              <a:t>Attributes come in name/value pairs like: name="value</a:t>
            </a:r>
            <a:r>
              <a:rPr lang="zh-CN" altLang="en-US" sz="3200" dirty="0" smtClean="0">
                <a:solidFill>
                  <a:schemeClr val="bg1"/>
                </a:solidFill>
                <a:latin typeface="Calibri" panose="020F0502020204030204" charset="0"/>
                <a:cs typeface="Calibri" panose="020F0502020204030204" charset="0"/>
              </a:rPr>
              <a:t>"</a:t>
            </a:r>
            <a:endParaRPr lang="zh-CN" altLang="en-US" sz="32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6351" y="312677"/>
            <a:ext cx="10969200" cy="705600"/>
          </a:xfrm>
        </p:spPr>
        <p:txBody>
          <a:bodyPr>
            <a:noAutofit/>
          </a:bodyPr>
          <a:lstStyle/>
          <a:p>
            <a:pPr algn="ctr"/>
            <a:r>
              <a:rPr lang="zh-CN" altLang="en-US" sz="4400" b="0" dirty="0">
                <a:solidFill>
                  <a:schemeClr val="bg1"/>
                </a:solidFill>
                <a:latin typeface="Calibri Light" panose="020F0302020204030204" charset="0"/>
                <a:cs typeface="Calibri Light" panose="020F0302020204030204" charset="0"/>
              </a:rPr>
              <a:t>The lang Attribute</a:t>
            </a:r>
            <a:endParaRPr lang="zh-CN" altLang="en-US" sz="440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707665" y="1164396"/>
            <a:ext cx="11132327" cy="3503020"/>
          </a:xfrm>
        </p:spPr>
        <p:txBody>
          <a:bodyPr>
            <a:noAutofit/>
          </a:bodyPr>
          <a:lstStyle/>
          <a:p>
            <a:pPr>
              <a:lnSpc>
                <a:spcPct val="120000"/>
              </a:lnSpc>
            </a:pPr>
            <a:r>
              <a:rPr lang="zh-CN" altLang="en-US" sz="2400" dirty="0">
                <a:latin typeface="Calibri" panose="020F0502020204030204" charset="0"/>
                <a:cs typeface="Calibri" panose="020F0502020204030204" charset="0"/>
              </a:rPr>
              <a:t>The document language can be declared in the </a:t>
            </a:r>
            <a:r>
              <a:rPr lang="zh-CN" altLang="en-US" sz="2400" dirty="0">
                <a:solidFill>
                  <a:srgbClr val="FFFF00"/>
                </a:solidFill>
                <a:latin typeface="Calibri" panose="020F0502020204030204" charset="0"/>
                <a:cs typeface="Calibri" panose="020F0502020204030204" charset="0"/>
              </a:rPr>
              <a:t>&lt;html&gt;</a:t>
            </a:r>
            <a:r>
              <a:rPr lang="zh-CN" altLang="en-US" sz="2400" dirty="0">
                <a:latin typeface="Calibri" panose="020F0502020204030204" charset="0"/>
                <a:cs typeface="Calibri" panose="020F0502020204030204" charset="0"/>
              </a:rPr>
              <a:t> tag.</a:t>
            </a:r>
            <a:endParaRPr lang="zh-CN" altLang="en-US" sz="2400" dirty="0">
              <a:latin typeface="Calibri" panose="020F0502020204030204" charset="0"/>
              <a:cs typeface="Calibri" panose="020F0502020204030204" charset="0"/>
            </a:endParaRPr>
          </a:p>
          <a:p>
            <a:pPr>
              <a:lnSpc>
                <a:spcPct val="120000"/>
              </a:lnSpc>
            </a:pPr>
            <a:r>
              <a:rPr lang="zh-CN" altLang="en-US" sz="2400" dirty="0">
                <a:latin typeface="Calibri" panose="020F0502020204030204" charset="0"/>
                <a:cs typeface="Calibri" panose="020F0502020204030204" charset="0"/>
              </a:rPr>
              <a:t>The language is declared in the </a:t>
            </a:r>
            <a:r>
              <a:rPr lang="zh-CN" altLang="en-US" sz="2400" dirty="0">
                <a:solidFill>
                  <a:srgbClr val="FFFF00"/>
                </a:solidFill>
                <a:latin typeface="Calibri" panose="020F0502020204030204" charset="0"/>
                <a:cs typeface="Calibri" panose="020F0502020204030204" charset="0"/>
              </a:rPr>
              <a:t>lang</a:t>
            </a:r>
            <a:r>
              <a:rPr lang="zh-CN" altLang="en-US" sz="2400" dirty="0">
                <a:latin typeface="Calibri" panose="020F0502020204030204" charset="0"/>
                <a:cs typeface="Calibri" panose="020F0502020204030204" charset="0"/>
              </a:rPr>
              <a:t> </a:t>
            </a:r>
            <a:r>
              <a:rPr lang="zh-CN" altLang="en-US" sz="2400" dirty="0" smtClean="0">
                <a:latin typeface="Calibri" panose="020F0502020204030204" charset="0"/>
                <a:cs typeface="Calibri" panose="020F0502020204030204" charset="0"/>
              </a:rPr>
              <a:t>attribute</a:t>
            </a:r>
            <a:r>
              <a:rPr lang="en-US" altLang="zh-CN" sz="2400" dirty="0" smtClean="0">
                <a:latin typeface="Calibri" panose="020F0502020204030204" charset="0"/>
                <a:cs typeface="Calibri" panose="020F0502020204030204" charset="0"/>
              </a:rPr>
              <a:t>, which </a:t>
            </a:r>
            <a:r>
              <a:rPr lang="en-US" altLang="zh-CN" sz="2400" dirty="0"/>
              <a:t> specifies the language of the element's content.</a:t>
            </a:r>
            <a:endParaRPr lang="zh-CN" altLang="en-US" sz="2400" dirty="0">
              <a:latin typeface="Calibri" panose="020F0502020204030204" charset="0"/>
              <a:cs typeface="Calibri" panose="020F0502020204030204" charset="0"/>
            </a:endParaRPr>
          </a:p>
          <a:p>
            <a:pPr>
              <a:lnSpc>
                <a:spcPct val="120000"/>
              </a:lnSpc>
            </a:pPr>
            <a:r>
              <a:rPr lang="zh-CN" altLang="en-US" sz="2400" dirty="0">
                <a:latin typeface="Calibri" panose="020F0502020204030204" charset="0"/>
                <a:cs typeface="Calibri" panose="020F0502020204030204" charset="0"/>
              </a:rPr>
              <a:t>Declaring a language is important for accessibility applications (screen readers) and search engines</a:t>
            </a:r>
            <a:r>
              <a:rPr lang="zh-CN" altLang="en-US" sz="2400" dirty="0" smtClean="0">
                <a:latin typeface="Calibri" panose="020F0502020204030204" charset="0"/>
                <a:cs typeface="Calibri" panose="020F0502020204030204" charset="0"/>
              </a:rPr>
              <a:t>:</a:t>
            </a:r>
            <a:endParaRPr lang="en-US" altLang="zh-CN" sz="2400" dirty="0" smtClean="0">
              <a:latin typeface="Calibri" panose="020F0502020204030204" charset="0"/>
              <a:cs typeface="Calibri" panose="020F0502020204030204" charset="0"/>
            </a:endParaRPr>
          </a:p>
          <a:p>
            <a:pPr>
              <a:lnSpc>
                <a:spcPct val="120000"/>
              </a:lnSpc>
            </a:pPr>
            <a:r>
              <a:rPr lang="en-US" altLang="zh-CN" sz="2400" dirty="0"/>
              <a:t>Common examples are "</a:t>
            </a:r>
            <a:r>
              <a:rPr lang="en-US" altLang="zh-CN" sz="2400" dirty="0" err="1"/>
              <a:t>en</a:t>
            </a:r>
            <a:r>
              <a:rPr lang="en-US" altLang="zh-CN" sz="2400" dirty="0"/>
              <a:t>" for English, "</a:t>
            </a:r>
            <a:r>
              <a:rPr lang="en-US" altLang="zh-CN" sz="2400" dirty="0" err="1"/>
              <a:t>es</a:t>
            </a:r>
            <a:r>
              <a:rPr lang="en-US" altLang="zh-CN" sz="2400" dirty="0"/>
              <a:t>" for Spanish, "</a:t>
            </a:r>
            <a:r>
              <a:rPr lang="en-US" altLang="zh-CN" sz="2400" dirty="0" err="1"/>
              <a:t>fr</a:t>
            </a:r>
            <a:r>
              <a:rPr lang="en-US" altLang="zh-CN" sz="2400" dirty="0"/>
              <a:t>" for France and so on.</a:t>
            </a:r>
            <a:endParaRPr lang="zh-CN" altLang="en-US" sz="2400" dirty="0">
              <a:latin typeface="Calibri" panose="020F0502020204030204" charset="0"/>
              <a:cs typeface="Calibri" panose="020F0502020204030204" charset="0"/>
            </a:endParaRPr>
          </a:p>
        </p:txBody>
      </p:sp>
      <p:pic>
        <p:nvPicPr>
          <p:cNvPr id="4" name="图片 3"/>
          <p:cNvPicPr>
            <a:picLocks noChangeAspect="1"/>
          </p:cNvPicPr>
          <p:nvPr/>
        </p:nvPicPr>
        <p:blipFill rotWithShape="1">
          <a:blip r:embed="rId3"/>
          <a:srcRect r="16456"/>
          <a:stretch>
            <a:fillRect/>
          </a:stretch>
        </p:blipFill>
        <p:spPr>
          <a:xfrm>
            <a:off x="4436828" y="4469912"/>
            <a:ext cx="4071067" cy="2205207"/>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93715"/>
            <a:ext cx="10969200" cy="705600"/>
          </a:xfrm>
        </p:spPr>
        <p:txBody>
          <a:bodyPr>
            <a:noAutofit/>
          </a:bodyPr>
          <a:lstStyle/>
          <a:p>
            <a:pPr algn="ctr"/>
            <a:r>
              <a:rPr lang="zh-CN" altLang="en-US" sz="4400" b="0" dirty="0">
                <a:latin typeface="Calibri Light" panose="020F0302020204030204" charset="0"/>
                <a:cs typeface="Calibri Light" panose="020F0302020204030204" charset="0"/>
              </a:rPr>
              <a:t>The title Attribute</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299568"/>
            <a:ext cx="11103870" cy="2906672"/>
          </a:xfrm>
        </p:spPr>
        <p:txBody>
          <a:bodyPr>
            <a:noAutofit/>
          </a:bodyPr>
          <a:lstStyle/>
          <a:p>
            <a:r>
              <a:rPr lang="zh-CN" altLang="en-US" sz="2800" dirty="0">
                <a:solidFill>
                  <a:schemeClr val="bg1"/>
                </a:solidFill>
                <a:latin typeface="Calibri" panose="020F0502020204030204" charset="0"/>
                <a:cs typeface="Calibri" panose="020F0502020204030204" charset="0"/>
              </a:rPr>
              <a:t>HTML paragraphs are defined with the </a:t>
            </a:r>
            <a:r>
              <a:rPr lang="zh-CN" altLang="en-US" sz="2800" dirty="0">
                <a:solidFill>
                  <a:srgbClr val="FFFF00"/>
                </a:solidFill>
                <a:latin typeface="Calibri" panose="020F0502020204030204" charset="0"/>
                <a:cs typeface="Calibri" panose="020F0502020204030204" charset="0"/>
              </a:rPr>
              <a:t>&lt;p&gt;</a:t>
            </a:r>
            <a:r>
              <a:rPr lang="zh-CN" altLang="en-US" sz="2800" dirty="0">
                <a:solidFill>
                  <a:schemeClr val="bg1"/>
                </a:solidFill>
                <a:latin typeface="Calibri" panose="020F0502020204030204" charset="0"/>
                <a:cs typeface="Calibri" panose="020F0502020204030204" charset="0"/>
              </a:rPr>
              <a:t> tag.</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In this example, the </a:t>
            </a:r>
            <a:r>
              <a:rPr lang="zh-CN" altLang="en-US" sz="2800" dirty="0">
                <a:solidFill>
                  <a:srgbClr val="FFFF00"/>
                </a:solidFill>
                <a:latin typeface="Calibri" panose="020F0502020204030204" charset="0"/>
                <a:cs typeface="Calibri" panose="020F0502020204030204" charset="0"/>
              </a:rPr>
              <a:t>&lt;p&gt;</a:t>
            </a:r>
            <a:r>
              <a:rPr lang="zh-CN" altLang="en-US" sz="2800" dirty="0">
                <a:solidFill>
                  <a:schemeClr val="bg1"/>
                </a:solidFill>
                <a:latin typeface="Calibri" panose="020F0502020204030204" charset="0"/>
                <a:cs typeface="Calibri" panose="020F0502020204030204" charset="0"/>
              </a:rPr>
              <a:t> element has a </a:t>
            </a:r>
            <a:r>
              <a:rPr lang="zh-CN" altLang="en-US" sz="2800" dirty="0">
                <a:solidFill>
                  <a:srgbClr val="FFFF00"/>
                </a:solidFill>
                <a:latin typeface="Calibri" panose="020F0502020204030204" charset="0"/>
                <a:cs typeface="Calibri" panose="020F0502020204030204" charset="0"/>
              </a:rPr>
              <a:t>title</a:t>
            </a:r>
            <a:r>
              <a:rPr lang="zh-CN" altLang="en-US" sz="2800" dirty="0">
                <a:solidFill>
                  <a:schemeClr val="bg1"/>
                </a:solidFill>
                <a:latin typeface="Calibri" panose="020F0502020204030204" charset="0"/>
                <a:cs typeface="Calibri" panose="020F0502020204030204" charset="0"/>
              </a:rPr>
              <a:t> attribute</a:t>
            </a:r>
            <a:r>
              <a:rPr lang="zh-CN" altLang="en-US" sz="2800" dirty="0" smtClean="0">
                <a:solidFill>
                  <a:schemeClr val="bg1"/>
                </a:solidFill>
                <a:latin typeface="Calibri" panose="020F0502020204030204" charset="0"/>
                <a:cs typeface="Calibri" panose="020F0502020204030204" charset="0"/>
              </a:rPr>
              <a:t>.</a:t>
            </a:r>
            <a:endParaRPr lang="en-US" altLang="zh-CN" sz="2800" dirty="0" smtClean="0">
              <a:solidFill>
                <a:schemeClr val="bg1"/>
              </a:solidFill>
              <a:latin typeface="Calibri" panose="020F0502020204030204" charset="0"/>
              <a:cs typeface="Calibri" panose="020F0502020204030204" charset="0"/>
            </a:endParaRPr>
          </a:p>
          <a:p>
            <a:r>
              <a:rPr lang="en-US" altLang="zh-CN" sz="2800" dirty="0">
                <a:solidFill>
                  <a:schemeClr val="bg1"/>
                </a:solidFill>
                <a:latin typeface="Calibri" panose="020F0502020204030204" charset="0"/>
                <a:cs typeface="Calibri" panose="020F0502020204030204" charset="0"/>
              </a:rPr>
              <a:t>The title attribute specifies extra information about an element.</a:t>
            </a:r>
            <a:endParaRPr lang="en-US" altLang="zh-CN" sz="2800" dirty="0">
              <a:solidFill>
                <a:schemeClr val="bg1"/>
              </a:solidFill>
              <a:latin typeface="Calibri" panose="020F0502020204030204" charset="0"/>
              <a:cs typeface="Calibri" panose="020F0502020204030204" charset="0"/>
            </a:endParaRPr>
          </a:p>
          <a:p>
            <a:r>
              <a:rPr lang="en-US" altLang="zh-CN" sz="2800" dirty="0">
                <a:solidFill>
                  <a:schemeClr val="bg1"/>
                </a:solidFill>
                <a:latin typeface="Calibri" panose="020F0502020204030204" charset="0"/>
                <a:cs typeface="Calibri" panose="020F0502020204030204" charset="0"/>
              </a:rPr>
              <a:t>The information is most often shown as a tooltip text when the mouse moves over the element.</a:t>
            </a:r>
            <a:r>
              <a:rPr lang="zh-CN" altLang="en-US" sz="2800" dirty="0">
                <a:solidFill>
                  <a:schemeClr val="bg1"/>
                </a:solidFill>
                <a:latin typeface="Calibri" panose="020F0502020204030204" charset="0"/>
                <a:cs typeface="Calibri" panose="020F0502020204030204" charset="0"/>
              </a:rPr>
              <a:t> </a:t>
            </a:r>
            <a:endParaRPr lang="zh-CN" altLang="en-US" sz="2800" dirty="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464785" y="4707172"/>
            <a:ext cx="6714286" cy="1695238"/>
          </a:xfrm>
          <a:prstGeom prst="rect">
            <a:avLst/>
          </a:prstGeom>
        </p:spPr>
      </p:pic>
      <p:pic>
        <p:nvPicPr>
          <p:cNvPr id="5" name="图片 4"/>
          <p:cNvPicPr>
            <a:picLocks noChangeAspect="1"/>
          </p:cNvPicPr>
          <p:nvPr/>
        </p:nvPicPr>
        <p:blipFill>
          <a:blip r:embed="rId4"/>
          <a:stretch>
            <a:fillRect/>
          </a:stretch>
        </p:blipFill>
        <p:spPr>
          <a:xfrm>
            <a:off x="7577454" y="4907425"/>
            <a:ext cx="4400000" cy="895238"/>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latin typeface="Calibri Light" panose="020F0302020204030204" charset="0"/>
                <a:cs typeface="Calibri Light" panose="020F0302020204030204" charset="0"/>
              </a:rPr>
              <a:t>The href Attribute</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490400"/>
            <a:ext cx="10969200" cy="1093774"/>
          </a:xfrm>
        </p:spPr>
        <p:txBody>
          <a:bodyPr>
            <a:noAutofit/>
          </a:bodyPr>
          <a:lstStyle/>
          <a:p>
            <a:r>
              <a:rPr lang="zh-CN" altLang="en-US" sz="3200" dirty="0">
                <a:solidFill>
                  <a:schemeClr val="bg1"/>
                </a:solidFill>
                <a:latin typeface="Calibri" panose="020F0502020204030204" charset="0"/>
                <a:cs typeface="Calibri" panose="020F0502020204030204" charset="0"/>
              </a:rPr>
              <a:t>HTML links are defined with the &lt;a&gt; tag. The link address is specified in the href attribute</a:t>
            </a:r>
            <a:r>
              <a:rPr lang="zh-CN" altLang="en-US" sz="3200" dirty="0" smtClean="0">
                <a:solidFill>
                  <a:schemeClr val="bg1"/>
                </a:solidFill>
                <a:latin typeface="Calibri" panose="020F0502020204030204" charset="0"/>
                <a:cs typeface="Calibri" panose="020F0502020204030204" charset="0"/>
              </a:rPr>
              <a:t>:</a:t>
            </a:r>
            <a:endParaRPr lang="zh-CN" altLang="en-US" sz="3200" dirty="0">
              <a:solidFill>
                <a:schemeClr val="bg1"/>
              </a:solidFill>
              <a:latin typeface="Calibri" panose="020F0502020204030204" charset="0"/>
              <a:cs typeface="Calibri" panose="020F0502020204030204" charset="0"/>
            </a:endParaRPr>
          </a:p>
        </p:txBody>
      </p:sp>
      <p:sp>
        <p:nvSpPr>
          <p:cNvPr id="4" name="矩形 3"/>
          <p:cNvSpPr/>
          <p:nvPr/>
        </p:nvSpPr>
        <p:spPr>
          <a:xfrm>
            <a:off x="721608" y="3157084"/>
            <a:ext cx="8303300" cy="523220"/>
          </a:xfrm>
          <a:prstGeom prst="rect">
            <a:avLst/>
          </a:prstGeom>
        </p:spPr>
        <p:txBody>
          <a:bodyPr wrap="none">
            <a:spAutoFit/>
          </a:bodyPr>
          <a:lstStyle/>
          <a:p>
            <a:pPr algn="ctr"/>
            <a:r>
              <a:rPr lang="zh-CN" altLang="en-US" sz="2800" dirty="0">
                <a:solidFill>
                  <a:schemeClr val="bg1"/>
                </a:solidFill>
              </a:rPr>
              <a:t> &lt;a href="http://www.</a:t>
            </a:r>
            <a:r>
              <a:rPr lang="en-US" altLang="zh-CN" sz="2800" dirty="0">
                <a:solidFill>
                  <a:schemeClr val="bg1"/>
                </a:solidFill>
              </a:rPr>
              <a:t>fzu.edu.cn</a:t>
            </a:r>
            <a:r>
              <a:rPr lang="zh-CN" altLang="en-US" sz="2800" dirty="0">
                <a:solidFill>
                  <a:schemeClr val="bg1"/>
                </a:solidFill>
              </a:rPr>
              <a:t>"&gt;This is a link&lt;/a&gt; </a:t>
            </a:r>
            <a:endParaRPr lang="zh-CN" altLang="en-US" sz="2800" dirty="0">
              <a:solidFill>
                <a:schemeClr val="bg1"/>
              </a:solidFill>
            </a:endParaRPr>
          </a:p>
        </p:txBody>
      </p:sp>
      <p:pic>
        <p:nvPicPr>
          <p:cNvPr id="5" name="图片 4"/>
          <p:cNvPicPr>
            <a:picLocks noChangeAspect="1"/>
          </p:cNvPicPr>
          <p:nvPr/>
        </p:nvPicPr>
        <p:blipFill>
          <a:blip r:embed="rId3"/>
          <a:stretch>
            <a:fillRect/>
          </a:stretch>
        </p:blipFill>
        <p:spPr>
          <a:xfrm>
            <a:off x="930434" y="4825375"/>
            <a:ext cx="7625318" cy="125983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a:solidFill>
                  <a:schemeClr val="bg1"/>
                </a:solidFill>
                <a:latin typeface="Calibri Light" panose="020F0302020204030204" charset="0"/>
                <a:cs typeface="Calibri Light" panose="020F0302020204030204" charset="0"/>
              </a:rPr>
              <a:t>Size Attributes</a:t>
            </a:r>
            <a:endParaRPr lang="zh-CN" altLang="en-US" sz="4400" b="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Calibri" panose="020F0502020204030204" charset="0"/>
                <a:cs typeface="Calibri" panose="020F0502020204030204" charset="0"/>
              </a:rPr>
              <a:t>HTML images are defined with the </a:t>
            </a:r>
            <a:r>
              <a:rPr lang="zh-CN" altLang="en-US" sz="2800" dirty="0">
                <a:solidFill>
                  <a:srgbClr val="FFFF00"/>
                </a:solidFill>
                <a:latin typeface="Calibri" panose="020F0502020204030204" charset="0"/>
                <a:cs typeface="Calibri" panose="020F0502020204030204" charset="0"/>
              </a:rPr>
              <a:t>&lt;img&gt;</a:t>
            </a:r>
            <a:r>
              <a:rPr lang="zh-CN" altLang="en-US" sz="2800" dirty="0">
                <a:solidFill>
                  <a:schemeClr val="bg1"/>
                </a:solidFill>
                <a:latin typeface="Calibri" panose="020F0502020204030204" charset="0"/>
                <a:cs typeface="Calibri" panose="020F0502020204030204" charset="0"/>
              </a:rPr>
              <a:t> tag.</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The filename of the source </a:t>
            </a:r>
            <a:r>
              <a:rPr lang="zh-CN" altLang="en-US" sz="2800" dirty="0">
                <a:solidFill>
                  <a:srgbClr val="FFFF00"/>
                </a:solidFill>
                <a:latin typeface="Calibri" panose="020F0502020204030204" charset="0"/>
                <a:cs typeface="Calibri" panose="020F0502020204030204" charset="0"/>
              </a:rPr>
              <a:t>(src)</a:t>
            </a:r>
            <a:r>
              <a:rPr lang="zh-CN" altLang="en-US" sz="2800" dirty="0">
                <a:solidFill>
                  <a:schemeClr val="bg1"/>
                </a:solidFill>
                <a:latin typeface="Calibri" panose="020F0502020204030204" charset="0"/>
                <a:cs typeface="Calibri" panose="020F0502020204030204" charset="0"/>
              </a:rPr>
              <a:t>, and the size of the image (</a:t>
            </a:r>
            <a:r>
              <a:rPr lang="zh-CN" altLang="en-US" sz="2800" dirty="0">
                <a:solidFill>
                  <a:srgbClr val="FFFF00"/>
                </a:solidFill>
                <a:latin typeface="Calibri" panose="020F0502020204030204" charset="0"/>
                <a:cs typeface="Calibri" panose="020F0502020204030204" charset="0"/>
              </a:rPr>
              <a:t>width</a:t>
            </a:r>
            <a:r>
              <a:rPr lang="zh-CN" altLang="en-US" sz="2800" dirty="0">
                <a:solidFill>
                  <a:schemeClr val="bg1"/>
                </a:solidFill>
                <a:latin typeface="Calibri" panose="020F0502020204030204" charset="0"/>
                <a:cs typeface="Calibri" panose="020F0502020204030204" charset="0"/>
              </a:rPr>
              <a:t> and </a:t>
            </a:r>
            <a:r>
              <a:rPr lang="zh-CN" altLang="en-US" sz="2800" dirty="0">
                <a:solidFill>
                  <a:srgbClr val="FFFF00"/>
                </a:solidFill>
                <a:latin typeface="Calibri" panose="020F0502020204030204" charset="0"/>
                <a:cs typeface="Calibri" panose="020F0502020204030204" charset="0"/>
              </a:rPr>
              <a:t>height</a:t>
            </a:r>
            <a:r>
              <a:rPr lang="zh-CN" altLang="en-US" sz="2800" dirty="0">
                <a:solidFill>
                  <a:schemeClr val="bg1"/>
                </a:solidFill>
                <a:latin typeface="Calibri" panose="020F0502020204030204" charset="0"/>
                <a:cs typeface="Calibri" panose="020F0502020204030204" charset="0"/>
              </a:rPr>
              <a:t>) are all provided as </a:t>
            </a:r>
            <a:r>
              <a:rPr lang="zh-CN" altLang="en-US" sz="2800" dirty="0">
                <a:solidFill>
                  <a:srgbClr val="FFFF00"/>
                </a:solidFill>
                <a:latin typeface="Calibri" panose="020F0502020204030204" charset="0"/>
                <a:cs typeface="Calibri" panose="020F0502020204030204" charset="0"/>
              </a:rPr>
              <a:t>attributes</a:t>
            </a:r>
            <a:r>
              <a:rPr lang="zh-CN" altLang="en-US" sz="2800" dirty="0">
                <a:solidFill>
                  <a:schemeClr val="bg1"/>
                </a:solidFill>
                <a:latin typeface="Calibri" panose="020F0502020204030204" charset="0"/>
                <a:cs typeface="Calibri" panose="020F0502020204030204" charset="0"/>
              </a:rPr>
              <a:t>:</a:t>
            </a:r>
            <a:endParaRPr lang="zh-CN" altLang="en-US" sz="2800" dirty="0">
              <a:solidFill>
                <a:schemeClr val="bg1"/>
              </a:solidFill>
              <a:latin typeface="Calibri" panose="020F0502020204030204" charset="0"/>
              <a:cs typeface="Calibri" panose="020F0502020204030204" charset="0"/>
            </a:endParaRPr>
          </a:p>
          <a:p>
            <a:pPr marL="0" indent="0" algn="ctr">
              <a:buNone/>
            </a:pPr>
            <a:r>
              <a:rPr lang="zh-CN" altLang="en-US" sz="2800" dirty="0">
                <a:solidFill>
                  <a:schemeClr val="bg1"/>
                </a:solidFill>
                <a:latin typeface="Calibri" panose="020F0502020204030204" charset="0"/>
                <a:cs typeface="Calibri" panose="020F0502020204030204" charset="0"/>
              </a:rPr>
              <a:t> &lt;</a:t>
            </a:r>
            <a:r>
              <a:rPr lang="zh-CN" altLang="en-US" sz="2800" dirty="0">
                <a:solidFill>
                  <a:schemeClr val="accent6">
                    <a:lumMod val="50000"/>
                  </a:schemeClr>
                </a:solidFill>
                <a:latin typeface="Calibri" panose="020F0502020204030204" charset="0"/>
                <a:cs typeface="Calibri" panose="020F0502020204030204" charset="0"/>
              </a:rPr>
              <a:t>img</a:t>
            </a:r>
            <a:r>
              <a:rPr lang="zh-CN" altLang="en-US" sz="2800" dirty="0">
                <a:solidFill>
                  <a:schemeClr val="bg1"/>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src=</a:t>
            </a:r>
            <a:r>
              <a:rPr lang="zh-CN" altLang="en-US" sz="2800" dirty="0">
                <a:solidFill>
                  <a:schemeClr val="accent1"/>
                </a:solidFill>
                <a:latin typeface="Calibri" panose="020F0502020204030204" charset="0"/>
                <a:cs typeface="Calibri" panose="020F0502020204030204" charset="0"/>
              </a:rPr>
              <a:t>"</a:t>
            </a:r>
            <a:r>
              <a:rPr lang="en-US" altLang="zh-CN" sz="2800" dirty="0">
                <a:solidFill>
                  <a:schemeClr val="accent1"/>
                </a:solidFill>
                <a:latin typeface="Calibri" panose="020F0502020204030204" charset="0"/>
                <a:cs typeface="Calibri" panose="020F0502020204030204" charset="0"/>
              </a:rPr>
              <a:t>123</a:t>
            </a:r>
            <a:r>
              <a:rPr lang="zh-CN" altLang="en-US" sz="2800" dirty="0">
                <a:solidFill>
                  <a:schemeClr val="accent1"/>
                </a:solidFill>
                <a:latin typeface="Calibri" panose="020F0502020204030204" charset="0"/>
                <a:cs typeface="Calibri" panose="020F0502020204030204" charset="0"/>
              </a:rPr>
              <a:t>.jpg"</a:t>
            </a:r>
            <a:r>
              <a:rPr lang="zh-CN" altLang="en-US" sz="2800" dirty="0">
                <a:solidFill>
                  <a:schemeClr val="bg1"/>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width=</a:t>
            </a:r>
            <a:r>
              <a:rPr lang="zh-CN" altLang="en-US" sz="2800" dirty="0">
                <a:solidFill>
                  <a:schemeClr val="accent1"/>
                </a:solidFill>
                <a:latin typeface="Calibri" panose="020F0502020204030204" charset="0"/>
                <a:cs typeface="Calibri" panose="020F0502020204030204" charset="0"/>
              </a:rPr>
              <a:t>"104"</a:t>
            </a:r>
            <a:r>
              <a:rPr lang="zh-CN" altLang="en-US" sz="2800" dirty="0">
                <a:solidFill>
                  <a:schemeClr val="bg1"/>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height=</a:t>
            </a:r>
            <a:r>
              <a:rPr lang="zh-CN" altLang="en-US" sz="2800" dirty="0">
                <a:solidFill>
                  <a:schemeClr val="accent1"/>
                </a:solidFill>
                <a:latin typeface="Calibri" panose="020F0502020204030204" charset="0"/>
                <a:cs typeface="Calibri" panose="020F0502020204030204" charset="0"/>
              </a:rPr>
              <a:t>"142"</a:t>
            </a:r>
            <a:r>
              <a:rPr lang="zh-CN" altLang="en-US" sz="2800" dirty="0">
                <a:solidFill>
                  <a:schemeClr val="bg1"/>
                </a:solidFill>
                <a:latin typeface="Calibri" panose="020F0502020204030204" charset="0"/>
                <a:cs typeface="Calibri" panose="020F0502020204030204" charset="0"/>
              </a:rPr>
              <a:t>&gt; </a:t>
            </a:r>
            <a:endParaRPr lang="zh-CN" altLang="en-US" sz="2800" dirty="0">
              <a:solidFill>
                <a:schemeClr val="bg1"/>
              </a:solidFill>
              <a:latin typeface="Calibri" panose="020F0502020204030204" charset="0"/>
              <a:cs typeface="Calibri" panose="020F0502020204030204" charset="0"/>
            </a:endParaRPr>
          </a:p>
          <a:p>
            <a:pPr algn="l"/>
            <a:r>
              <a:rPr lang="zh-CN" altLang="en-US" sz="2800" dirty="0">
                <a:solidFill>
                  <a:schemeClr val="bg1"/>
                </a:solidFill>
                <a:latin typeface="Calibri" panose="020F0502020204030204" charset="0"/>
                <a:cs typeface="Calibri" panose="020F0502020204030204" charset="0"/>
              </a:rPr>
              <a:t>The image size is specified in pixels: width="104" means 104 screen pixels wide.</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14191"/>
            <a:ext cx="10969200" cy="662050"/>
          </a:xfrm>
        </p:spPr>
        <p:txBody>
          <a:bodyPr>
            <a:noAutofit/>
          </a:bodyPr>
          <a:lstStyle/>
          <a:p>
            <a:pPr algn="ctr"/>
            <a:r>
              <a:rPr lang="zh-CN" altLang="en-US" sz="4400" b="0" dirty="0">
                <a:latin typeface="Calibri Light" panose="020F0302020204030204" charset="0"/>
                <a:cs typeface="Calibri Light" panose="020F0302020204030204" charset="0"/>
              </a:rPr>
              <a:t>The alt Attribute</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490400"/>
            <a:ext cx="10969200" cy="4067562"/>
          </a:xfrm>
        </p:spPr>
        <p:txBody>
          <a:bodyPr>
            <a:normAutofit/>
          </a:bodyPr>
          <a:lstStyle/>
          <a:p>
            <a:r>
              <a:rPr lang="zh-CN" altLang="en-US" sz="2800" dirty="0">
                <a:solidFill>
                  <a:schemeClr val="bg1"/>
                </a:solidFill>
                <a:latin typeface="Calibri" panose="020F0502020204030204" charset="0"/>
                <a:cs typeface="Calibri" panose="020F0502020204030204" charset="0"/>
              </a:rPr>
              <a:t>The alt attribute specifies an alternative text to be used, when an HTML element cannot be displayed.</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The value of the attribute can be read by "screen readers". This way, someone "listening" to the webpage, i.e. a blind person, can "hear" the element</a:t>
            </a:r>
            <a:r>
              <a:rPr lang="zh-CN" altLang="en-US" sz="2800" dirty="0" smtClean="0">
                <a:solidFill>
                  <a:schemeClr val="bg1"/>
                </a:solidFill>
                <a:latin typeface="Calibri" panose="020F0502020204030204" charset="0"/>
                <a:cs typeface="Calibri" panose="020F0502020204030204" charset="0"/>
              </a:rPr>
              <a:t>.</a:t>
            </a:r>
            <a:endParaRPr lang="zh-CN" altLang="en-US" sz="2800" dirty="0">
              <a:solidFill>
                <a:schemeClr val="bg1"/>
              </a:solidFill>
              <a:latin typeface="Calibri" panose="020F0502020204030204" charset="0"/>
              <a:cs typeface="Calibri" panose="020F0502020204030204" charset="0"/>
            </a:endParaRPr>
          </a:p>
          <a:p>
            <a:pPr marL="0" indent="0" algn="ctr">
              <a:buNone/>
            </a:pPr>
            <a:r>
              <a:rPr lang="zh-CN" altLang="en-US" sz="2800" dirty="0" smtClean="0">
                <a:solidFill>
                  <a:schemeClr val="bg1"/>
                </a:solidFill>
                <a:latin typeface="Calibri" panose="020F0502020204030204" charset="0"/>
                <a:cs typeface="Calibri" panose="020F0502020204030204" charset="0"/>
                <a:sym typeface="+mn-ea"/>
              </a:rPr>
              <a:t>&lt;</a:t>
            </a:r>
            <a:r>
              <a:rPr lang="zh-CN" altLang="en-US" sz="2800" dirty="0">
                <a:solidFill>
                  <a:schemeClr val="accent6">
                    <a:lumMod val="50000"/>
                  </a:schemeClr>
                </a:solidFill>
                <a:latin typeface="Calibri" panose="020F0502020204030204" charset="0"/>
                <a:cs typeface="Calibri" panose="020F0502020204030204" charset="0"/>
                <a:sym typeface="+mn-ea"/>
              </a:rPr>
              <a:t>img</a:t>
            </a:r>
            <a:r>
              <a:rPr lang="zh-CN" altLang="en-US" sz="2800" dirty="0">
                <a:solidFill>
                  <a:schemeClr val="bg1"/>
                </a:solidFill>
                <a:latin typeface="Calibri" panose="020F0502020204030204" charset="0"/>
                <a:cs typeface="Calibri" panose="020F0502020204030204" charset="0"/>
                <a:sym typeface="+mn-ea"/>
              </a:rPr>
              <a:t> </a:t>
            </a:r>
            <a:r>
              <a:rPr lang="zh-CN" altLang="en-US" sz="2800" dirty="0">
                <a:solidFill>
                  <a:srgbClr val="C00000"/>
                </a:solidFill>
                <a:latin typeface="Calibri" panose="020F0502020204030204" charset="0"/>
                <a:cs typeface="Calibri" panose="020F0502020204030204" charset="0"/>
                <a:sym typeface="+mn-ea"/>
              </a:rPr>
              <a:t>src=</a:t>
            </a:r>
            <a:r>
              <a:rPr lang="zh-CN" altLang="en-US" sz="2800" dirty="0">
                <a:solidFill>
                  <a:schemeClr val="accent1"/>
                </a:solidFill>
                <a:latin typeface="Calibri" panose="020F0502020204030204" charset="0"/>
                <a:cs typeface="Calibri" panose="020F0502020204030204" charset="0"/>
                <a:sym typeface="+mn-ea"/>
              </a:rPr>
              <a:t>"</a:t>
            </a:r>
            <a:r>
              <a:rPr lang="en-US" altLang="zh-CN" sz="2800" dirty="0">
                <a:solidFill>
                  <a:schemeClr val="accent1"/>
                </a:solidFill>
                <a:latin typeface="Calibri" panose="020F0502020204030204" charset="0"/>
                <a:cs typeface="Calibri" panose="020F0502020204030204" charset="0"/>
                <a:sym typeface="+mn-ea"/>
              </a:rPr>
              <a:t>123</a:t>
            </a:r>
            <a:r>
              <a:rPr lang="zh-CN" altLang="en-US" sz="2800" dirty="0">
                <a:solidFill>
                  <a:schemeClr val="accent1"/>
                </a:solidFill>
                <a:latin typeface="Calibri" panose="020F0502020204030204" charset="0"/>
                <a:cs typeface="Calibri" panose="020F0502020204030204" charset="0"/>
                <a:sym typeface="+mn-ea"/>
              </a:rPr>
              <a:t>.jpg"</a:t>
            </a:r>
            <a:r>
              <a:rPr lang="zh-CN" altLang="en-US" sz="2800" dirty="0">
                <a:solidFill>
                  <a:schemeClr val="bg1"/>
                </a:solidFill>
                <a:latin typeface="Calibri" panose="020F0502020204030204" charset="0"/>
                <a:cs typeface="Calibri" panose="020F0502020204030204" charset="0"/>
                <a:sym typeface="+mn-ea"/>
              </a:rPr>
              <a:t> </a:t>
            </a:r>
            <a:r>
              <a:rPr lang="zh-CN" altLang="en-US" sz="2800" dirty="0">
                <a:solidFill>
                  <a:srgbClr val="C00000"/>
                </a:solidFill>
                <a:latin typeface="Calibri" panose="020F0502020204030204" charset="0"/>
                <a:cs typeface="Calibri" panose="020F0502020204030204" charset="0"/>
                <a:sym typeface="+mn-ea"/>
              </a:rPr>
              <a:t>alt=</a:t>
            </a:r>
            <a:r>
              <a:rPr lang="zh-CN" altLang="en-US" sz="2800" dirty="0">
                <a:solidFill>
                  <a:schemeClr val="accent1"/>
                </a:solidFill>
                <a:latin typeface="Calibri" panose="020F0502020204030204" charset="0"/>
                <a:cs typeface="Calibri" panose="020F0502020204030204" charset="0"/>
                <a:sym typeface="+mn-ea"/>
              </a:rPr>
              <a:t>"</a:t>
            </a:r>
            <a:r>
              <a:rPr lang="en-US" altLang="zh-CN" sz="2800" dirty="0">
                <a:solidFill>
                  <a:schemeClr val="accent1"/>
                </a:solidFill>
                <a:latin typeface="Calibri" panose="020F0502020204030204" charset="0"/>
                <a:cs typeface="Calibri" panose="020F0502020204030204" charset="0"/>
                <a:sym typeface="+mn-ea"/>
              </a:rPr>
              <a:t>123</a:t>
            </a:r>
            <a:r>
              <a:rPr lang="zh-CN" altLang="en-US" sz="2800" dirty="0">
                <a:solidFill>
                  <a:schemeClr val="accent1"/>
                </a:solidFill>
                <a:latin typeface="Calibri" panose="020F0502020204030204" charset="0"/>
                <a:cs typeface="Calibri" panose="020F0502020204030204" charset="0"/>
                <a:sym typeface="+mn-ea"/>
              </a:rPr>
              <a:t>.</a:t>
            </a:r>
            <a:r>
              <a:rPr lang="en-US" altLang="zh-CN" sz="2800" dirty="0">
                <a:solidFill>
                  <a:schemeClr val="accent1"/>
                </a:solidFill>
                <a:latin typeface="Calibri" panose="020F0502020204030204" charset="0"/>
                <a:cs typeface="Calibri" panose="020F0502020204030204" charset="0"/>
                <a:sym typeface="+mn-ea"/>
              </a:rPr>
              <a:t>com</a:t>
            </a:r>
            <a:r>
              <a:rPr lang="zh-CN" altLang="en-US" sz="2800" dirty="0">
                <a:solidFill>
                  <a:schemeClr val="accent1"/>
                </a:solidFill>
                <a:latin typeface="Calibri" panose="020F0502020204030204" charset="0"/>
                <a:cs typeface="Calibri" panose="020F0502020204030204" charset="0"/>
                <a:sym typeface="+mn-ea"/>
              </a:rPr>
              <a:t>" </a:t>
            </a:r>
            <a:r>
              <a:rPr lang="zh-CN" altLang="en-US" sz="2800" dirty="0">
                <a:solidFill>
                  <a:srgbClr val="C00000"/>
                </a:solidFill>
                <a:latin typeface="Calibri" panose="020F0502020204030204" charset="0"/>
                <a:cs typeface="Calibri" panose="020F0502020204030204" charset="0"/>
                <a:sym typeface="+mn-ea"/>
              </a:rPr>
              <a:t>width=</a:t>
            </a:r>
            <a:r>
              <a:rPr lang="zh-CN" altLang="en-US" sz="2800" dirty="0">
                <a:solidFill>
                  <a:schemeClr val="accent1"/>
                </a:solidFill>
                <a:latin typeface="Calibri" panose="020F0502020204030204" charset="0"/>
                <a:cs typeface="Calibri" panose="020F0502020204030204" charset="0"/>
                <a:sym typeface="+mn-ea"/>
              </a:rPr>
              <a:t>"104"</a:t>
            </a:r>
            <a:r>
              <a:rPr lang="zh-CN" altLang="en-US" sz="2800" dirty="0">
                <a:solidFill>
                  <a:schemeClr val="bg1"/>
                </a:solidFill>
                <a:latin typeface="Calibri" panose="020F0502020204030204" charset="0"/>
                <a:cs typeface="Calibri" panose="020F0502020204030204" charset="0"/>
                <a:sym typeface="+mn-ea"/>
              </a:rPr>
              <a:t> </a:t>
            </a:r>
            <a:r>
              <a:rPr lang="zh-CN" altLang="en-US" sz="2800" dirty="0">
                <a:solidFill>
                  <a:srgbClr val="C00000"/>
                </a:solidFill>
                <a:latin typeface="Calibri" panose="020F0502020204030204" charset="0"/>
                <a:cs typeface="Calibri" panose="020F0502020204030204" charset="0"/>
                <a:sym typeface="+mn-ea"/>
              </a:rPr>
              <a:t>height=</a:t>
            </a:r>
            <a:r>
              <a:rPr lang="zh-CN" altLang="en-US" sz="2800" dirty="0">
                <a:solidFill>
                  <a:schemeClr val="accent1"/>
                </a:solidFill>
                <a:latin typeface="Calibri" panose="020F0502020204030204" charset="0"/>
                <a:cs typeface="Calibri" panose="020F0502020204030204" charset="0"/>
                <a:sym typeface="+mn-ea"/>
              </a:rPr>
              <a:t>"142"</a:t>
            </a:r>
            <a:r>
              <a:rPr lang="zh-CN" altLang="en-US" sz="2800" dirty="0">
                <a:solidFill>
                  <a:schemeClr val="bg1"/>
                </a:solidFill>
                <a:latin typeface="Calibri" panose="020F0502020204030204" charset="0"/>
                <a:cs typeface="Calibri" panose="020F0502020204030204" charset="0"/>
                <a:sym typeface="+mn-ea"/>
              </a:rPr>
              <a:t>&gt; </a:t>
            </a:r>
            <a:endParaRPr lang="zh-CN" altLang="en-US" sz="2800" dirty="0">
              <a:solidFill>
                <a:schemeClr val="bg1"/>
              </a:solidFill>
              <a:latin typeface="Calibri" panose="020F0502020204030204" charset="0"/>
              <a:cs typeface="Calibri" panose="020F0502020204030204" charset="0"/>
            </a:endParaRPr>
          </a:p>
          <a:p>
            <a:pPr marL="0" indent="0">
              <a:buNone/>
            </a:pPr>
            <a:endParaRPr lang="zh-CN" altLang="en-US" sz="2400" dirty="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924599" y="5778481"/>
            <a:ext cx="5479276" cy="929816"/>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a:latin typeface="Calibri Light" panose="020F0302020204030204" charset="0"/>
                <a:cs typeface="Calibri Light" panose="020F0302020204030204" charset="0"/>
              </a:rPr>
              <a:t>Use Lowercase Attributes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p:txBody>
          <a:bodyPr>
            <a:normAutofit/>
          </a:bodyPr>
          <a:lstStyle/>
          <a:p>
            <a:pPr algn="just"/>
            <a:r>
              <a:rPr lang="zh-CN" altLang="en-US" sz="2800" dirty="0">
                <a:solidFill>
                  <a:schemeClr val="bg1"/>
                </a:solidFill>
                <a:latin typeface="Calibri" panose="020F0502020204030204" charset="0"/>
                <a:cs typeface="Calibri" panose="020F0502020204030204" charset="0"/>
              </a:rPr>
              <a:t>The HTML5 standard does not require lower case attribute names.</a:t>
            </a:r>
            <a:endParaRPr lang="zh-CN" altLang="en-US" sz="2800" dirty="0">
              <a:solidFill>
                <a:schemeClr val="bg1"/>
              </a:solidFill>
              <a:latin typeface="Calibri" panose="020F0502020204030204" charset="0"/>
              <a:cs typeface="Calibri" panose="020F0502020204030204" charset="0"/>
            </a:endParaRPr>
          </a:p>
          <a:p>
            <a:pPr algn="just"/>
            <a:r>
              <a:rPr lang="zh-CN" altLang="en-US" sz="2800" dirty="0">
                <a:solidFill>
                  <a:schemeClr val="bg1"/>
                </a:solidFill>
                <a:latin typeface="Calibri" panose="020F0502020204030204" charset="0"/>
                <a:cs typeface="Calibri" panose="020F0502020204030204" charset="0"/>
              </a:rPr>
              <a:t>The title attribute can be written with upper or lower case like Title and/or TITLE.</a:t>
            </a:r>
            <a:endParaRPr lang="zh-CN" altLang="en-US" sz="2800" dirty="0">
              <a:solidFill>
                <a:schemeClr val="bg1"/>
              </a:solidFill>
              <a:latin typeface="Calibri" panose="020F0502020204030204" charset="0"/>
              <a:cs typeface="Calibri" panose="020F0502020204030204" charset="0"/>
            </a:endParaRPr>
          </a:p>
          <a:p>
            <a:pPr algn="just"/>
            <a:r>
              <a:rPr lang="en-US" altLang="zh-CN" sz="2800" dirty="0">
                <a:solidFill>
                  <a:schemeClr val="bg1"/>
                </a:solidFill>
                <a:latin typeface="Calibri" panose="020F0502020204030204" charset="0"/>
                <a:cs typeface="Calibri" panose="020F0502020204030204" charset="0"/>
              </a:rPr>
              <a:t>We</a:t>
            </a:r>
            <a:r>
              <a:rPr lang="zh-CN" altLang="en-US" sz="2800" dirty="0">
                <a:solidFill>
                  <a:schemeClr val="bg1"/>
                </a:solidFill>
                <a:latin typeface="Calibri" panose="020F0502020204030204" charset="0"/>
                <a:cs typeface="Calibri" panose="020F0502020204030204" charset="0"/>
              </a:rPr>
              <a:t> recommends lowercase in HTML4, and demands lowercase for stricter document types like XHTML.</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a:solidFill>
                  <a:schemeClr val="bg1"/>
                </a:solidFill>
                <a:latin typeface="Calibri Light" panose="020F0302020204030204" charset="0"/>
                <a:cs typeface="Calibri Light" panose="020F0302020204030204" charset="0"/>
              </a:rPr>
              <a:t>Quote Attribute Values</a:t>
            </a:r>
            <a:endParaRPr lang="zh-CN" altLang="en-US" sz="4400" b="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Calibri" panose="020F0502020204030204" charset="0"/>
                <a:cs typeface="Calibri" panose="020F0502020204030204" charset="0"/>
              </a:rPr>
              <a:t>The HTML5 standard does not require quotes around attribute values.</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The href attribute, demonstrated above, can be written as:</a:t>
            </a:r>
            <a:endParaRPr lang="zh-CN" altLang="en-US" sz="2800" dirty="0">
              <a:solidFill>
                <a:schemeClr val="bg1"/>
              </a:solidFill>
              <a:latin typeface="Calibri" panose="020F0502020204030204" charset="0"/>
              <a:cs typeface="Calibri" panose="020F0502020204030204" charset="0"/>
            </a:endParaRPr>
          </a:p>
          <a:p>
            <a:pPr marL="0" indent="0" algn="ctr">
              <a:buNone/>
            </a:pPr>
            <a:r>
              <a:rPr lang="zh-CN" altLang="en-US" sz="2800" dirty="0">
                <a:sym typeface="+mn-ea"/>
              </a:rPr>
              <a:t>&lt;</a:t>
            </a:r>
            <a:r>
              <a:rPr lang="zh-CN" altLang="en-US" sz="2800" dirty="0">
                <a:solidFill>
                  <a:schemeClr val="accent6">
                    <a:lumMod val="50000"/>
                  </a:schemeClr>
                </a:solidFill>
                <a:sym typeface="+mn-ea"/>
              </a:rPr>
              <a:t>a</a:t>
            </a:r>
            <a:r>
              <a:rPr lang="zh-CN" altLang="en-US" sz="2800" dirty="0">
                <a:sym typeface="+mn-ea"/>
              </a:rPr>
              <a:t> </a:t>
            </a:r>
            <a:r>
              <a:rPr lang="zh-CN" altLang="en-US" sz="2800" dirty="0">
                <a:solidFill>
                  <a:srgbClr val="FF0000"/>
                </a:solidFill>
                <a:sym typeface="+mn-ea"/>
              </a:rPr>
              <a:t>href</a:t>
            </a:r>
            <a:r>
              <a:rPr lang="zh-CN" altLang="en-US" sz="2800" dirty="0">
                <a:sym typeface="+mn-ea"/>
              </a:rPr>
              <a:t>=</a:t>
            </a:r>
            <a:r>
              <a:rPr lang="zh-CN" altLang="en-US" sz="2800" dirty="0">
                <a:solidFill>
                  <a:srgbClr val="0070C0"/>
                </a:solidFill>
                <a:sym typeface="+mn-ea"/>
              </a:rPr>
              <a:t>http://www.</a:t>
            </a:r>
            <a:r>
              <a:rPr lang="en-US" altLang="zh-CN" sz="2800" dirty="0">
                <a:solidFill>
                  <a:srgbClr val="0070C0"/>
                </a:solidFill>
                <a:sym typeface="+mn-ea"/>
              </a:rPr>
              <a:t>fzu.edu.cn</a:t>
            </a:r>
            <a:r>
              <a:rPr lang="zh-CN" altLang="en-US" sz="2800" dirty="0">
                <a:sym typeface="+mn-ea"/>
              </a:rPr>
              <a:t>&gt;</a:t>
            </a:r>
            <a:endParaRPr lang="zh-CN" altLang="en-US" sz="2800" dirty="0">
              <a:sym typeface="+mn-ea"/>
            </a:endParaRPr>
          </a:p>
          <a:p>
            <a:pPr algn="l"/>
            <a:r>
              <a:rPr lang="zh-CN" altLang="en-US" sz="2800" dirty="0">
                <a:solidFill>
                  <a:schemeClr val="bg1"/>
                </a:solidFill>
                <a:latin typeface="Calibri" panose="020F0502020204030204" charset="0"/>
                <a:cs typeface="Calibri" panose="020F0502020204030204" charset="0"/>
              </a:rPr>
              <a:t>Using quotes are the most common. Omitting quotes can produce errors. </a:t>
            </a:r>
            <a:endParaRPr lang="zh-CN" altLang="en-US" sz="2800" dirty="0">
              <a:solidFill>
                <a:schemeClr val="bg1"/>
              </a:solidFill>
              <a:latin typeface="Calibri" panose="020F0502020204030204" charset="0"/>
              <a:cs typeface="Calibri" panose="020F0502020204030204" charset="0"/>
            </a:endParaRPr>
          </a:p>
          <a:p>
            <a:pPr algn="l"/>
            <a:r>
              <a:rPr lang="zh-CN" altLang="en-US" sz="2800" dirty="0">
                <a:solidFill>
                  <a:schemeClr val="bg1"/>
                </a:solidFill>
                <a:latin typeface="Calibri" panose="020F0502020204030204" charset="0"/>
                <a:cs typeface="Calibri" panose="020F0502020204030204" charset="0"/>
              </a:rPr>
              <a:t>we always use quotes around attribute values.</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solidFill>
                  <a:schemeClr val="bg1"/>
                </a:solidFill>
                <a:latin typeface="Calibri Light" panose="020F0302020204030204" charset="0"/>
                <a:cs typeface="Calibri Light" panose="020F0302020204030204" charset="0"/>
              </a:rPr>
              <a:t>Single or Double Quotes</a:t>
            </a:r>
            <a:endParaRPr lang="zh-CN" altLang="en-US" sz="4400" b="0" dirty="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Calibri" panose="020F0502020204030204" charset="0"/>
                <a:cs typeface="Calibri" panose="020F0502020204030204" charset="0"/>
              </a:rPr>
              <a:t>Double style quotes are the most common in HTML, but single style can also be used.</a:t>
            </a:r>
            <a:endParaRPr lang="zh-CN" altLang="en-US" sz="2800" dirty="0">
              <a:solidFill>
                <a:schemeClr val="bg1"/>
              </a:solidFill>
              <a:latin typeface="Calibri" panose="020F0502020204030204" charset="0"/>
              <a:cs typeface="Calibri" panose="020F0502020204030204" charset="0"/>
            </a:endParaRPr>
          </a:p>
          <a:p>
            <a:r>
              <a:rPr lang="zh-CN" altLang="en-US" sz="2800" dirty="0">
                <a:solidFill>
                  <a:schemeClr val="bg1"/>
                </a:solidFill>
                <a:latin typeface="Calibri" panose="020F0502020204030204" charset="0"/>
                <a:cs typeface="Calibri" panose="020F0502020204030204" charset="0"/>
              </a:rPr>
              <a:t>In some situations, when the attribute value itself contains double quotes, it is necessary to use single quotes:</a:t>
            </a:r>
            <a:endParaRPr lang="zh-CN" altLang="en-US" sz="2800" dirty="0">
              <a:solidFill>
                <a:schemeClr val="bg1"/>
              </a:solidFill>
              <a:latin typeface="Calibri" panose="020F0502020204030204" charset="0"/>
              <a:cs typeface="Calibri" panose="020F0502020204030204" charset="0"/>
            </a:endParaRPr>
          </a:p>
        </p:txBody>
      </p:sp>
      <p:pic>
        <p:nvPicPr>
          <p:cNvPr id="4" name="图片 3"/>
          <p:cNvPicPr>
            <a:picLocks noChangeAspect="1"/>
          </p:cNvPicPr>
          <p:nvPr/>
        </p:nvPicPr>
        <p:blipFill>
          <a:blip r:embed="rId3"/>
          <a:stretch>
            <a:fillRect/>
          </a:stretch>
        </p:blipFill>
        <p:spPr>
          <a:xfrm>
            <a:off x="3334582" y="4444714"/>
            <a:ext cx="5377815" cy="530860"/>
          </a:xfrm>
          <a:prstGeom prst="rect">
            <a:avLst/>
          </a:prstGeom>
        </p:spPr>
      </p:pic>
      <p:pic>
        <p:nvPicPr>
          <p:cNvPr id="5" name="图片 4"/>
          <p:cNvPicPr>
            <a:picLocks noChangeAspect="1"/>
          </p:cNvPicPr>
          <p:nvPr/>
        </p:nvPicPr>
        <p:blipFill>
          <a:blip r:embed="rId3"/>
          <a:stretch>
            <a:fillRect/>
          </a:stretch>
        </p:blipFill>
        <p:spPr>
          <a:xfrm>
            <a:off x="3330772" y="5353399"/>
            <a:ext cx="5377815" cy="53086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en-US" altLang="zh-CN" sz="4400" b="0" dirty="0" smtClean="0">
                <a:latin typeface="Calibri Light" panose="020F0302020204030204" charset="0"/>
                <a:cs typeface="Calibri Light" panose="020F0302020204030204" charset="0"/>
              </a:rPr>
              <a:t>Attribute </a:t>
            </a:r>
            <a:r>
              <a:rPr lang="zh-CN" altLang="en-US" sz="4400" b="0" dirty="0" smtClean="0">
                <a:latin typeface="Calibri Light" panose="020F0302020204030204" charset="0"/>
                <a:cs typeface="Calibri Light" panose="020F0302020204030204" charset="0"/>
              </a:rPr>
              <a:t>Summary</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p:txBody>
          <a:bodyPr>
            <a:noAutofit/>
          </a:bodyPr>
          <a:lstStyle/>
          <a:p>
            <a:pPr algn="l">
              <a:lnSpc>
                <a:spcPct val="100000"/>
              </a:lnSpc>
              <a:buClrTx/>
              <a:buSzTx/>
            </a:pPr>
            <a:r>
              <a:rPr lang="zh-CN" altLang="en-US" sz="2800" dirty="0" smtClean="0">
                <a:solidFill>
                  <a:schemeClr val="bg1"/>
                </a:solidFill>
                <a:latin typeface="Calibri" panose="020F0502020204030204" charset="0"/>
                <a:cs typeface="Calibri" panose="020F0502020204030204" charset="0"/>
              </a:rPr>
              <a:t>All </a:t>
            </a:r>
            <a:r>
              <a:rPr lang="zh-CN" altLang="en-US" sz="2800" dirty="0">
                <a:solidFill>
                  <a:schemeClr val="bg1"/>
                </a:solidFill>
                <a:latin typeface="Calibri" panose="020F0502020204030204" charset="0"/>
                <a:cs typeface="Calibri" panose="020F0502020204030204" charset="0"/>
              </a:rPr>
              <a:t>HTML elements can have attributes</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zh-CN" altLang="en-US" sz="2800" dirty="0" smtClean="0">
                <a:solidFill>
                  <a:schemeClr val="bg1"/>
                </a:solidFill>
                <a:latin typeface="Calibri" panose="020F0502020204030204" charset="0"/>
                <a:cs typeface="Calibri" panose="020F0502020204030204" charset="0"/>
              </a:rPr>
              <a:t>The </a:t>
            </a:r>
            <a:r>
              <a:rPr lang="zh-CN" altLang="en-US" sz="2800" dirty="0">
                <a:solidFill>
                  <a:schemeClr val="bg1"/>
                </a:solidFill>
                <a:latin typeface="Calibri" panose="020F0502020204030204" charset="0"/>
                <a:cs typeface="Calibri" panose="020F0502020204030204" charset="0"/>
              </a:rPr>
              <a:t>HTML</a:t>
            </a:r>
            <a:r>
              <a:rPr lang="zh-CN" altLang="en-US" sz="2800" dirty="0">
                <a:solidFill>
                  <a:srgbClr val="FFFF00"/>
                </a:solidFill>
                <a:latin typeface="Calibri" panose="020F0502020204030204" charset="0"/>
                <a:cs typeface="Calibri" panose="020F0502020204030204" charset="0"/>
              </a:rPr>
              <a:t> title</a:t>
            </a:r>
            <a:r>
              <a:rPr lang="zh-CN" altLang="en-US" sz="2800" dirty="0">
                <a:solidFill>
                  <a:schemeClr val="bg1"/>
                </a:solidFill>
                <a:latin typeface="Calibri" panose="020F0502020204030204" charset="0"/>
                <a:cs typeface="Calibri" panose="020F0502020204030204" charset="0"/>
              </a:rPr>
              <a:t> attribute provides additional "tool-tip" information</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zh-CN" altLang="en-US" sz="2800" dirty="0" smtClean="0">
                <a:solidFill>
                  <a:schemeClr val="bg1"/>
                </a:solidFill>
                <a:latin typeface="Calibri" panose="020F0502020204030204" charset="0"/>
                <a:cs typeface="Calibri" panose="020F0502020204030204" charset="0"/>
              </a:rPr>
              <a:t>The </a:t>
            </a:r>
            <a:r>
              <a:rPr lang="zh-CN" altLang="en-US" sz="2800" dirty="0">
                <a:solidFill>
                  <a:schemeClr val="bg1"/>
                </a:solidFill>
                <a:latin typeface="Calibri" panose="020F0502020204030204" charset="0"/>
                <a:cs typeface="Calibri" panose="020F0502020204030204" charset="0"/>
              </a:rPr>
              <a:t>HTML </a:t>
            </a:r>
            <a:r>
              <a:rPr lang="zh-CN" altLang="en-US" sz="2800" dirty="0">
                <a:solidFill>
                  <a:srgbClr val="FFFF00"/>
                </a:solidFill>
                <a:latin typeface="Calibri" panose="020F0502020204030204" charset="0"/>
                <a:cs typeface="Calibri" panose="020F0502020204030204" charset="0"/>
              </a:rPr>
              <a:t>href</a:t>
            </a:r>
            <a:r>
              <a:rPr lang="zh-CN" altLang="en-US" sz="2800" dirty="0">
                <a:solidFill>
                  <a:schemeClr val="bg1"/>
                </a:solidFill>
                <a:latin typeface="Calibri" panose="020F0502020204030204" charset="0"/>
                <a:cs typeface="Calibri" panose="020F0502020204030204" charset="0"/>
              </a:rPr>
              <a:t> attribute provides address information for links</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zh-CN" altLang="en-US" sz="2800" dirty="0" smtClean="0">
                <a:solidFill>
                  <a:schemeClr val="bg1"/>
                </a:solidFill>
                <a:latin typeface="Calibri" panose="020F0502020204030204" charset="0"/>
                <a:cs typeface="Calibri" panose="020F0502020204030204" charset="0"/>
              </a:rPr>
              <a:t>The </a:t>
            </a:r>
            <a:r>
              <a:rPr lang="zh-CN" altLang="en-US" sz="2800" dirty="0">
                <a:solidFill>
                  <a:schemeClr val="bg1"/>
                </a:solidFill>
                <a:latin typeface="Calibri" panose="020F0502020204030204" charset="0"/>
                <a:cs typeface="Calibri" panose="020F0502020204030204" charset="0"/>
              </a:rPr>
              <a:t>HTML</a:t>
            </a:r>
            <a:r>
              <a:rPr lang="zh-CN" altLang="en-US" sz="2800" dirty="0">
                <a:solidFill>
                  <a:srgbClr val="FFFF00"/>
                </a:solidFill>
                <a:latin typeface="Calibri" panose="020F0502020204030204" charset="0"/>
                <a:cs typeface="Calibri" panose="020F0502020204030204" charset="0"/>
              </a:rPr>
              <a:t> width </a:t>
            </a:r>
            <a:r>
              <a:rPr lang="zh-CN" altLang="en-US" sz="2800" dirty="0">
                <a:solidFill>
                  <a:schemeClr val="bg1"/>
                </a:solidFill>
                <a:latin typeface="Calibri" panose="020F0502020204030204" charset="0"/>
                <a:cs typeface="Calibri" panose="020F0502020204030204" charset="0"/>
              </a:rPr>
              <a:t>and </a:t>
            </a:r>
            <a:r>
              <a:rPr lang="zh-CN" altLang="en-US" sz="2800" dirty="0">
                <a:solidFill>
                  <a:srgbClr val="FFFF00"/>
                </a:solidFill>
                <a:latin typeface="Calibri" panose="020F0502020204030204" charset="0"/>
                <a:cs typeface="Calibri" panose="020F0502020204030204" charset="0"/>
              </a:rPr>
              <a:t>heigh</a:t>
            </a:r>
            <a:r>
              <a:rPr lang="zh-CN" altLang="en-US" sz="2800" dirty="0">
                <a:solidFill>
                  <a:schemeClr val="bg1"/>
                </a:solidFill>
                <a:latin typeface="Calibri" panose="020F0502020204030204" charset="0"/>
                <a:cs typeface="Calibri" panose="020F0502020204030204" charset="0"/>
              </a:rPr>
              <a:t>t attributes provide size information for images</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zh-CN" altLang="en-US" sz="2800" dirty="0" smtClean="0">
                <a:solidFill>
                  <a:schemeClr val="bg1"/>
                </a:solidFill>
                <a:latin typeface="Calibri" panose="020F0502020204030204" charset="0"/>
                <a:cs typeface="Calibri" panose="020F0502020204030204" charset="0"/>
              </a:rPr>
              <a:t>The </a:t>
            </a:r>
            <a:r>
              <a:rPr lang="zh-CN" altLang="en-US" sz="2800" dirty="0">
                <a:solidFill>
                  <a:schemeClr val="bg1"/>
                </a:solidFill>
                <a:latin typeface="Calibri" panose="020F0502020204030204" charset="0"/>
                <a:cs typeface="Calibri" panose="020F0502020204030204" charset="0"/>
              </a:rPr>
              <a:t>HTML </a:t>
            </a:r>
            <a:r>
              <a:rPr lang="zh-CN" altLang="en-US" sz="2800" dirty="0">
                <a:solidFill>
                  <a:srgbClr val="FFFF00"/>
                </a:solidFill>
                <a:latin typeface="Calibri" panose="020F0502020204030204" charset="0"/>
                <a:cs typeface="Calibri" panose="020F0502020204030204" charset="0"/>
              </a:rPr>
              <a:t>alt</a:t>
            </a:r>
            <a:r>
              <a:rPr lang="zh-CN" altLang="en-US" sz="2800" dirty="0">
                <a:solidFill>
                  <a:schemeClr val="bg1"/>
                </a:solidFill>
                <a:latin typeface="Calibri" panose="020F0502020204030204" charset="0"/>
                <a:cs typeface="Calibri" panose="020F0502020204030204" charset="0"/>
              </a:rPr>
              <a:t> attribute provides text for screen readers</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en-US" altLang="zh-CN" sz="2800" dirty="0">
                <a:solidFill>
                  <a:schemeClr val="bg1"/>
                </a:solidFill>
                <a:latin typeface="Calibri" panose="020F0502020204030204" charset="0"/>
                <a:cs typeface="Calibri" panose="020F0502020204030204" charset="0"/>
              </a:rPr>
              <a:t>W</a:t>
            </a:r>
            <a:r>
              <a:rPr lang="zh-CN" altLang="en-US" sz="2800" dirty="0" smtClean="0">
                <a:solidFill>
                  <a:schemeClr val="bg1"/>
                </a:solidFill>
                <a:latin typeface="Calibri" panose="020F0502020204030204" charset="0"/>
                <a:cs typeface="Calibri" panose="020F0502020204030204" charset="0"/>
              </a:rPr>
              <a:t>e </a:t>
            </a:r>
            <a:r>
              <a:rPr lang="zh-CN" altLang="en-US" sz="2800" dirty="0">
                <a:solidFill>
                  <a:schemeClr val="bg1"/>
                </a:solidFill>
                <a:latin typeface="Calibri" panose="020F0502020204030204" charset="0"/>
                <a:cs typeface="Calibri" panose="020F0502020204030204" charset="0"/>
              </a:rPr>
              <a:t>always use </a:t>
            </a:r>
            <a:r>
              <a:rPr lang="zh-CN" altLang="en-US" sz="2800" dirty="0">
                <a:solidFill>
                  <a:srgbClr val="FFFF00"/>
                </a:solidFill>
                <a:latin typeface="Calibri" panose="020F0502020204030204" charset="0"/>
                <a:cs typeface="Calibri" panose="020F0502020204030204" charset="0"/>
              </a:rPr>
              <a:t>lowercase</a:t>
            </a:r>
            <a:r>
              <a:rPr lang="zh-CN" altLang="en-US" sz="2800" dirty="0">
                <a:solidFill>
                  <a:schemeClr val="bg1"/>
                </a:solidFill>
                <a:latin typeface="Calibri" panose="020F0502020204030204" charset="0"/>
                <a:cs typeface="Calibri" panose="020F0502020204030204" charset="0"/>
              </a:rPr>
              <a:t> HTML attribute names</a:t>
            </a:r>
            <a:endParaRPr lang="zh-CN" altLang="en-US" sz="2800" dirty="0">
              <a:solidFill>
                <a:schemeClr val="bg1"/>
              </a:solidFill>
              <a:latin typeface="Calibri" panose="020F0502020204030204" charset="0"/>
              <a:cs typeface="Calibri" panose="020F0502020204030204" charset="0"/>
            </a:endParaRPr>
          </a:p>
          <a:p>
            <a:pPr>
              <a:lnSpc>
                <a:spcPct val="100000"/>
              </a:lnSpc>
            </a:pPr>
            <a:r>
              <a:rPr lang="en-US" altLang="zh-CN" sz="2800" dirty="0">
                <a:solidFill>
                  <a:schemeClr val="bg1"/>
                </a:solidFill>
                <a:latin typeface="Calibri" panose="020F0502020204030204" charset="0"/>
                <a:cs typeface="Calibri" panose="020F0502020204030204" charset="0"/>
              </a:rPr>
              <a:t>W</a:t>
            </a:r>
            <a:r>
              <a:rPr lang="zh-CN" altLang="en-US" sz="2800" dirty="0" smtClean="0">
                <a:solidFill>
                  <a:schemeClr val="bg1"/>
                </a:solidFill>
                <a:latin typeface="Calibri" panose="020F0502020204030204" charset="0"/>
                <a:cs typeface="Calibri" panose="020F0502020204030204" charset="0"/>
              </a:rPr>
              <a:t>e </a:t>
            </a:r>
            <a:r>
              <a:rPr lang="zh-CN" altLang="en-US" sz="2800" dirty="0">
                <a:solidFill>
                  <a:schemeClr val="bg1"/>
                </a:solidFill>
                <a:latin typeface="Calibri" panose="020F0502020204030204" charset="0"/>
                <a:cs typeface="Calibri" panose="020F0502020204030204" charset="0"/>
              </a:rPr>
              <a:t>always </a:t>
            </a:r>
            <a:r>
              <a:rPr lang="zh-CN" altLang="en-US" sz="2800" dirty="0">
                <a:solidFill>
                  <a:srgbClr val="FFFF00"/>
                </a:solidFill>
                <a:latin typeface="Calibri" panose="020F0502020204030204" charset="0"/>
                <a:cs typeface="Calibri" panose="020F0502020204030204" charset="0"/>
              </a:rPr>
              <a:t>quote</a:t>
            </a:r>
            <a:r>
              <a:rPr lang="zh-CN" altLang="en-US" sz="2800" dirty="0">
                <a:solidFill>
                  <a:schemeClr val="bg1"/>
                </a:solidFill>
                <a:latin typeface="Calibri" panose="020F0502020204030204" charset="0"/>
                <a:cs typeface="Calibri" panose="020F0502020204030204" charset="0"/>
              </a:rPr>
              <a:t> attributes with double quotes</a:t>
            </a:r>
            <a:endParaRPr lang="zh-CN" altLang="en-US" sz="2800" dirty="0">
              <a:solidFill>
                <a:schemeClr val="bg1"/>
              </a:solidFill>
              <a:latin typeface="Calibri" panose="020F0502020204030204" charset="0"/>
              <a:cs typeface="Calibri" panose="020F050202020403020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 Headings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HTML Headings</a:t>
            </a:r>
            <a:endParaRPr lang="zh-CN" altLang="en-US" dirty="0"/>
          </a:p>
        </p:txBody>
      </p:sp>
      <p:sp>
        <p:nvSpPr>
          <p:cNvPr id="3" name="内容占位符 2"/>
          <p:cNvSpPr>
            <a:spLocks noGrp="1"/>
          </p:cNvSpPr>
          <p:nvPr>
            <p:ph idx="1"/>
          </p:nvPr>
        </p:nvSpPr>
        <p:spPr>
          <a:xfrm>
            <a:off x="838200" y="2192585"/>
            <a:ext cx="10684858" cy="3091514"/>
          </a:xfrm>
        </p:spPr>
        <p:txBody>
          <a:bodyPr>
            <a:noAutofit/>
          </a:bodyPr>
          <a:lstStyle/>
          <a:p>
            <a:pPr>
              <a:lnSpc>
                <a:spcPct val="150000"/>
              </a:lnSpc>
              <a:buFont typeface="Wingdings" panose="05000000000000000000" pitchFamily="2" charset="2"/>
              <a:buChar char="l"/>
            </a:pPr>
            <a:r>
              <a:rPr lang="en-US" altLang="zh-CN" sz="3200" dirty="0"/>
              <a:t>Headings are important in HTML documents, they are defined with the &lt;h1&gt; to &lt;h6&gt; tags.</a:t>
            </a:r>
            <a:endParaRPr lang="en-US" altLang="zh-CN" sz="3200" dirty="0"/>
          </a:p>
          <a:p>
            <a:pPr>
              <a:lnSpc>
                <a:spcPct val="150000"/>
              </a:lnSpc>
              <a:buFont typeface="Wingdings" panose="05000000000000000000" pitchFamily="2" charset="2"/>
              <a:buChar char="l"/>
            </a:pPr>
            <a:r>
              <a:rPr lang="en-US" altLang="zh-CN" sz="3200" dirty="0"/>
              <a:t>&lt;h1&gt; defines the most important heading. &lt;h6&gt; defines the least important heading.</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HTML Headings Example</a:t>
            </a:r>
            <a:endParaRPr lang="zh-CN" altLang="en-US" dirty="0"/>
          </a:p>
        </p:txBody>
      </p:sp>
      <p:pic>
        <p:nvPicPr>
          <p:cNvPr id="21" name="内容占位符 20"/>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064302" y="1959423"/>
            <a:ext cx="4210989" cy="2342754"/>
          </a:xfrm>
        </p:spPr>
      </p:pic>
      <p:pic>
        <p:nvPicPr>
          <p:cNvPr id="8" name="图片 7"/>
          <p:cNvPicPr>
            <a:picLocks noChangeAspect="1"/>
          </p:cNvPicPr>
          <p:nvPr/>
        </p:nvPicPr>
        <p:blipFill>
          <a:blip r:embed="rId2"/>
          <a:stretch>
            <a:fillRect/>
          </a:stretch>
        </p:blipFill>
        <p:spPr>
          <a:xfrm>
            <a:off x="6790544" y="1959422"/>
            <a:ext cx="4210989" cy="3437037"/>
          </a:xfrm>
          <a:prstGeom prst="rect">
            <a:avLst/>
          </a:prstGeom>
        </p:spPr>
      </p:pic>
      <p:sp>
        <p:nvSpPr>
          <p:cNvPr id="9" name="标题 1"/>
          <p:cNvSpPr txBox="1"/>
          <p:nvPr/>
        </p:nvSpPr>
        <p:spPr>
          <a:xfrm>
            <a:off x="838200" y="5771213"/>
            <a:ext cx="10515600" cy="75498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defRPr/>
            </a:pPr>
            <a:r>
              <a:rPr kumimoji="0" lang="en-US" altLang="zh-CN" sz="45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j-cs"/>
              </a:rPr>
              <a:t>Note: </a:t>
            </a:r>
            <a:r>
              <a:rPr kumimoji="0" lang="en-US" altLang="zh-CN" sz="4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rPr>
              <a:t>Browsers automatically add some empty space (a margin) before and after each heading.</a:t>
            </a:r>
            <a:endParaRPr kumimoji="0" lang="zh-CN" altLang="en-US" sz="4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Headings Are Important</a:t>
            </a:r>
            <a:endParaRPr lang="zh-CN" altLang="en-US" dirty="0"/>
          </a:p>
        </p:txBody>
      </p:sp>
      <p:sp>
        <p:nvSpPr>
          <p:cNvPr id="3" name="内容占位符 2"/>
          <p:cNvSpPr>
            <a:spLocks noGrp="1"/>
          </p:cNvSpPr>
          <p:nvPr>
            <p:ph idx="1"/>
          </p:nvPr>
        </p:nvSpPr>
        <p:spPr>
          <a:xfrm>
            <a:off x="838200" y="1809419"/>
            <a:ext cx="10644398" cy="4380988"/>
          </a:xfrm>
        </p:spPr>
        <p:txBody>
          <a:bodyPr>
            <a:noAutofit/>
          </a:bodyPr>
          <a:lstStyle/>
          <a:p>
            <a:pPr algn="just"/>
            <a:r>
              <a:rPr lang="en-US" altLang="zh-CN" sz="3200" dirty="0"/>
              <a:t>Use HTML headings for headings only. Don't use headings to make text </a:t>
            </a:r>
            <a:r>
              <a:rPr lang="en-US" altLang="zh-CN" sz="3200" dirty="0">
                <a:solidFill>
                  <a:srgbClr val="FFFF00"/>
                </a:solidFill>
              </a:rPr>
              <a:t>BIG</a:t>
            </a:r>
            <a:r>
              <a:rPr lang="en-US" altLang="zh-CN" sz="3200" dirty="0"/>
              <a:t> or </a:t>
            </a:r>
            <a:r>
              <a:rPr lang="en-US" altLang="zh-CN" sz="3200" dirty="0">
                <a:solidFill>
                  <a:srgbClr val="FFFF00"/>
                </a:solidFill>
              </a:rPr>
              <a:t>bold</a:t>
            </a:r>
            <a:r>
              <a:rPr lang="en-US" altLang="zh-CN" sz="3200" dirty="0"/>
              <a:t>. </a:t>
            </a:r>
            <a:endParaRPr lang="en-US" altLang="zh-CN" sz="3200" dirty="0"/>
          </a:p>
          <a:p>
            <a:pPr algn="just"/>
            <a:r>
              <a:rPr lang="en-US" altLang="zh-CN" sz="3200" dirty="0"/>
              <a:t>Search engines use your headings to index the structure and content of your web pages.</a:t>
            </a:r>
            <a:endParaRPr lang="en-US" altLang="zh-CN" sz="3200" dirty="0"/>
          </a:p>
          <a:p>
            <a:pPr algn="just"/>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Horizontal Rules</a:t>
            </a:r>
            <a:endParaRPr lang="zh-CN" altLang="en-US" dirty="0"/>
          </a:p>
        </p:txBody>
      </p:sp>
      <p:sp>
        <p:nvSpPr>
          <p:cNvPr id="3" name="内容占位符 2"/>
          <p:cNvSpPr>
            <a:spLocks noGrp="1"/>
          </p:cNvSpPr>
          <p:nvPr>
            <p:ph idx="1"/>
          </p:nvPr>
        </p:nvSpPr>
        <p:spPr>
          <a:xfrm>
            <a:off x="917713" y="1264034"/>
            <a:ext cx="10515600" cy="2138970"/>
          </a:xfrm>
        </p:spPr>
        <p:txBody>
          <a:bodyPr>
            <a:normAutofit/>
          </a:bodyPr>
          <a:lstStyle/>
          <a:p>
            <a:pPr>
              <a:lnSpc>
                <a:spcPct val="170000"/>
              </a:lnSpc>
              <a:buFont typeface="Wingdings" panose="05000000000000000000" pitchFamily="2" charset="2"/>
              <a:buChar char="l"/>
            </a:pPr>
            <a:r>
              <a:rPr lang="en-US" altLang="zh-CN" sz="3200" dirty="0"/>
              <a:t>The </a:t>
            </a:r>
            <a:r>
              <a:rPr lang="en-US" altLang="zh-CN" sz="3200" dirty="0">
                <a:solidFill>
                  <a:srgbClr val="FFFF00"/>
                </a:solidFill>
              </a:rPr>
              <a:t>&lt;hr&gt; </a:t>
            </a:r>
            <a:r>
              <a:rPr lang="en-US" altLang="zh-CN" sz="3200" dirty="0"/>
              <a:t>tag creates a horizontal line in an HTML page</a:t>
            </a:r>
            <a:r>
              <a:rPr lang="en-US" altLang="zh-CN" sz="3200" dirty="0">
                <a:solidFill>
                  <a:srgbClr val="FFFF00"/>
                </a:solidFill>
              </a:rPr>
              <a:t>.</a:t>
            </a:r>
            <a:endParaRPr lang="en-US" altLang="zh-CN" sz="3200" dirty="0">
              <a:solidFill>
                <a:srgbClr val="FFFF00"/>
              </a:solidFill>
            </a:endParaRPr>
          </a:p>
          <a:p>
            <a:pPr algn="just">
              <a:lnSpc>
                <a:spcPct val="170000"/>
              </a:lnSpc>
              <a:buFont typeface="Wingdings" panose="05000000000000000000" pitchFamily="2" charset="2"/>
              <a:buChar char="l"/>
            </a:pPr>
            <a:r>
              <a:rPr lang="en-US" altLang="zh-CN" sz="3200" dirty="0"/>
              <a:t>The hr element can be used to separate content</a:t>
            </a:r>
            <a:r>
              <a:rPr lang="en-US" altLang="zh-CN" sz="3200" dirty="0" smtClean="0"/>
              <a:t>:</a:t>
            </a:r>
            <a:endParaRPr lang="en-US" altLang="zh-CN" sz="3200" dirty="0"/>
          </a:p>
        </p:txBody>
      </p:sp>
      <p:pic>
        <p:nvPicPr>
          <p:cNvPr id="8" name="图片 7"/>
          <p:cNvPicPr>
            <a:picLocks noChangeAspect="1"/>
          </p:cNvPicPr>
          <p:nvPr/>
        </p:nvPicPr>
        <p:blipFill>
          <a:blip r:embed="rId1"/>
          <a:stretch>
            <a:fillRect/>
          </a:stretch>
        </p:blipFill>
        <p:spPr>
          <a:xfrm>
            <a:off x="6975425" y="3822492"/>
            <a:ext cx="3612318" cy="2503357"/>
          </a:xfrm>
          <a:prstGeom prst="rect">
            <a:avLst/>
          </a:prstGeom>
        </p:spPr>
      </p:pic>
      <p:pic>
        <p:nvPicPr>
          <p:cNvPr id="10" name="图片 9"/>
          <p:cNvPicPr>
            <a:picLocks noChangeAspect="1"/>
          </p:cNvPicPr>
          <p:nvPr/>
        </p:nvPicPr>
        <p:blipFill>
          <a:blip r:embed="rId2"/>
          <a:stretch>
            <a:fillRect/>
          </a:stretch>
        </p:blipFill>
        <p:spPr>
          <a:xfrm>
            <a:off x="838200" y="3822492"/>
            <a:ext cx="4517218" cy="227850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smtClean="0"/>
              <a:t>HTML </a:t>
            </a:r>
            <a:r>
              <a:rPr lang="en-US" altLang="zh-CN" dirty="0"/>
              <a:t>&lt;head</a:t>
            </a:r>
            <a:r>
              <a:rPr lang="en-US" altLang="zh-CN" dirty="0" smtClean="0"/>
              <a:t>&gt;</a:t>
            </a:r>
            <a:endParaRPr lang="zh-CN" altLang="en-US" dirty="0"/>
          </a:p>
        </p:txBody>
      </p:sp>
      <p:sp>
        <p:nvSpPr>
          <p:cNvPr id="3" name="内容占位符 2"/>
          <p:cNvSpPr>
            <a:spLocks noGrp="1"/>
          </p:cNvSpPr>
          <p:nvPr>
            <p:ph idx="1"/>
          </p:nvPr>
        </p:nvSpPr>
        <p:spPr>
          <a:xfrm>
            <a:off x="485523" y="1179532"/>
            <a:ext cx="11458322" cy="2140792"/>
          </a:xfrm>
        </p:spPr>
        <p:txBody>
          <a:bodyPr>
            <a:noAutofit/>
          </a:bodyPr>
          <a:lstStyle/>
          <a:p>
            <a:pPr algn="just">
              <a:lnSpc>
                <a:spcPct val="110000"/>
              </a:lnSpc>
              <a:buFont typeface="Wingdings" panose="05000000000000000000" pitchFamily="2" charset="2"/>
              <a:buChar char="l"/>
            </a:pPr>
            <a:r>
              <a:rPr lang="en-US" altLang="zh-CN" dirty="0"/>
              <a:t>The HTML </a:t>
            </a:r>
            <a:r>
              <a:rPr lang="en-US" altLang="zh-CN" dirty="0">
                <a:solidFill>
                  <a:srgbClr val="FFFF00"/>
                </a:solidFill>
              </a:rPr>
              <a:t>&lt;head&gt; </a:t>
            </a:r>
            <a:r>
              <a:rPr lang="en-US" altLang="zh-CN" dirty="0"/>
              <a:t>element has nothing to do with HTML headings.</a:t>
            </a:r>
            <a:endParaRPr lang="en-US" altLang="zh-CN" dirty="0"/>
          </a:p>
          <a:p>
            <a:pPr algn="just">
              <a:lnSpc>
                <a:spcPct val="110000"/>
              </a:lnSpc>
              <a:buFont typeface="Wingdings" panose="05000000000000000000" pitchFamily="2" charset="2"/>
              <a:buChar char="l"/>
            </a:pPr>
            <a:r>
              <a:rPr lang="en-US" altLang="zh-CN" dirty="0"/>
              <a:t>The HTML &lt;head&gt; element contains </a:t>
            </a:r>
            <a:r>
              <a:rPr lang="en-US" altLang="zh-CN" dirty="0">
                <a:solidFill>
                  <a:srgbClr val="FFFF00"/>
                </a:solidFill>
              </a:rPr>
              <a:t>meta data</a:t>
            </a:r>
            <a:r>
              <a:rPr lang="en-US" altLang="zh-CN" dirty="0"/>
              <a:t>. Meta data are not displayed.</a:t>
            </a:r>
            <a:endParaRPr lang="en-US" altLang="zh-CN" dirty="0"/>
          </a:p>
          <a:p>
            <a:pPr algn="just">
              <a:lnSpc>
                <a:spcPct val="110000"/>
              </a:lnSpc>
              <a:buFont typeface="Wingdings" panose="05000000000000000000" pitchFamily="2" charset="2"/>
              <a:buChar char="l"/>
            </a:pPr>
            <a:r>
              <a:rPr lang="en-US" altLang="zh-CN" dirty="0"/>
              <a:t>The HTML &lt;head&gt; element is placed between the &lt;html&gt; tag and the &lt;body&gt; tag</a:t>
            </a:r>
            <a:r>
              <a:rPr lang="en-US" altLang="zh-CN" dirty="0" smtClean="0"/>
              <a:t>:</a:t>
            </a:r>
            <a:endParaRPr lang="en-US" altLang="zh-CN" dirty="0"/>
          </a:p>
        </p:txBody>
      </p:sp>
      <p:pic>
        <p:nvPicPr>
          <p:cNvPr id="6" name="图片 5"/>
          <p:cNvPicPr>
            <a:picLocks noChangeAspect="1"/>
          </p:cNvPicPr>
          <p:nvPr/>
        </p:nvPicPr>
        <p:blipFill>
          <a:blip r:embed="rId1"/>
          <a:stretch>
            <a:fillRect/>
          </a:stretch>
        </p:blipFill>
        <p:spPr>
          <a:xfrm>
            <a:off x="716820" y="3573523"/>
            <a:ext cx="2879361" cy="2417164"/>
          </a:xfrm>
          <a:prstGeom prst="rect">
            <a:avLst/>
          </a:prstGeom>
        </p:spPr>
      </p:pic>
      <p:pic>
        <p:nvPicPr>
          <p:cNvPr id="8" name="图片 7"/>
          <p:cNvPicPr>
            <a:picLocks noChangeAspect="1"/>
          </p:cNvPicPr>
          <p:nvPr/>
        </p:nvPicPr>
        <p:blipFill>
          <a:blip r:embed="rId2"/>
          <a:stretch>
            <a:fillRect/>
          </a:stretch>
        </p:blipFill>
        <p:spPr>
          <a:xfrm>
            <a:off x="6580022" y="4849115"/>
            <a:ext cx="4984450" cy="742716"/>
          </a:xfrm>
          <a:prstGeom prst="rect">
            <a:avLst/>
          </a:prstGeom>
        </p:spPr>
      </p:pic>
      <p:sp>
        <p:nvSpPr>
          <p:cNvPr id="9" name="标题 1"/>
          <p:cNvSpPr txBox="1"/>
          <p:nvPr/>
        </p:nvSpPr>
        <p:spPr>
          <a:xfrm>
            <a:off x="485522" y="6063516"/>
            <a:ext cx="11296482" cy="7427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defRPr/>
            </a:pPr>
            <a:r>
              <a:rPr kumimoji="0" lang="en-US" altLang="zh-CN" sz="2400" b="0" i="0" u="none" strike="noStrike" kern="1200" cap="none" spc="0" normalizeH="0" baseline="0" noProof="0" dirty="0">
                <a:ln>
                  <a:noFill/>
                </a:ln>
                <a:solidFill>
                  <a:srgbClr val="FFFF00"/>
                </a:solidFill>
                <a:effectLst/>
                <a:uLnTx/>
                <a:uFillTx/>
                <a:latin typeface="+mn-lt"/>
                <a:ea typeface="等线" panose="02010600030101010101" charset="-122"/>
                <a:cs typeface="+mj-cs"/>
              </a:rPr>
              <a:t>Note: </a:t>
            </a:r>
            <a:r>
              <a:rPr kumimoji="0" lang="en-US" altLang="zh-CN" sz="2400" b="0" i="0" u="none" strike="noStrike" kern="1200" cap="none" spc="0" normalizeH="0" baseline="0" noProof="0" dirty="0">
                <a:ln>
                  <a:noFill/>
                </a:ln>
                <a:solidFill>
                  <a:prstClr val="white"/>
                </a:solidFill>
                <a:effectLst/>
                <a:uLnTx/>
                <a:uFillTx/>
                <a:latin typeface="+mn-lt"/>
                <a:ea typeface="等线 Light" panose="02010600030101010101" charset="-122"/>
                <a:cs typeface="+mj-cs"/>
              </a:rPr>
              <a:t>Meta data means data </a:t>
            </a:r>
            <a:r>
              <a:rPr kumimoji="0" lang="en-US" altLang="zh-CN" sz="2400" b="0" i="0" u="none" strike="noStrike" kern="1200" cap="none" spc="0" normalizeH="0" baseline="0" noProof="0" dirty="0">
                <a:ln>
                  <a:noFill/>
                </a:ln>
                <a:solidFill>
                  <a:srgbClr val="FFFF00"/>
                </a:solidFill>
                <a:effectLst/>
                <a:uLnTx/>
                <a:uFillTx/>
                <a:latin typeface="+mn-lt"/>
                <a:ea typeface="等线" panose="02010600030101010101" charset="-122"/>
                <a:cs typeface="+mj-cs"/>
              </a:rPr>
              <a:t>about</a:t>
            </a:r>
            <a:r>
              <a:rPr kumimoji="0" lang="en-US" altLang="zh-CN" sz="2400" b="0" i="0" u="none" strike="noStrike" kern="1200" cap="none" spc="0" normalizeH="0" baseline="0" noProof="0" dirty="0">
                <a:ln>
                  <a:noFill/>
                </a:ln>
                <a:solidFill>
                  <a:prstClr val="white"/>
                </a:solidFill>
                <a:effectLst/>
                <a:uLnTx/>
                <a:uFillTx/>
                <a:latin typeface="+mn-lt"/>
                <a:ea typeface="等线 Light" panose="02010600030101010101" charset="-122"/>
                <a:cs typeface="+mj-cs"/>
              </a:rPr>
              <a:t> data. HTML meta data is data </a:t>
            </a:r>
            <a:r>
              <a:rPr kumimoji="0" lang="en-US" altLang="zh-CN" sz="2400" b="0" i="0" u="none" strike="noStrike" kern="1200" cap="none" spc="0" normalizeH="0" baseline="0" noProof="0" dirty="0">
                <a:ln>
                  <a:noFill/>
                </a:ln>
                <a:solidFill>
                  <a:srgbClr val="FFFF00"/>
                </a:solidFill>
                <a:effectLst/>
                <a:uLnTx/>
                <a:uFillTx/>
                <a:latin typeface="+mn-lt"/>
                <a:ea typeface="等线" panose="02010600030101010101" charset="-122"/>
                <a:cs typeface="+mj-cs"/>
              </a:rPr>
              <a:t>about</a:t>
            </a:r>
            <a:r>
              <a:rPr kumimoji="0" lang="en-US" altLang="zh-CN" sz="2400" b="0" i="0" u="none" strike="noStrike" kern="1200" cap="none" spc="0" normalizeH="0" baseline="0" noProof="0" dirty="0">
                <a:ln>
                  <a:noFill/>
                </a:ln>
                <a:solidFill>
                  <a:prstClr val="white"/>
                </a:solidFill>
                <a:effectLst/>
                <a:uLnTx/>
                <a:uFillTx/>
                <a:latin typeface="+mn-lt"/>
                <a:ea typeface="等线 Light" panose="02010600030101010101" charset="-122"/>
                <a:cs typeface="+mj-cs"/>
              </a:rPr>
              <a:t> the HTML document.</a:t>
            </a:r>
            <a:endParaRPr kumimoji="0" lang="zh-CN" altLang="en-US" sz="2400" b="0" i="0" u="none" strike="noStrike" kern="1200" cap="none" spc="0" normalizeH="0" baseline="0" noProof="0" dirty="0">
              <a:ln>
                <a:noFill/>
              </a:ln>
              <a:solidFill>
                <a:prstClr val="white"/>
              </a:solidFill>
              <a:effectLst/>
              <a:uLnTx/>
              <a:uFillTx/>
              <a:latin typeface="+mn-lt"/>
              <a:ea typeface="等线 Light" panose="02010600030101010101"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89841"/>
            <a:ext cx="10515600" cy="941516"/>
          </a:xfrm>
        </p:spPr>
        <p:txBody>
          <a:bodyPr/>
          <a:lstStyle/>
          <a:p>
            <a:pPr algn="ctr"/>
            <a:r>
              <a:rPr lang="en-US" altLang="zh-CN" dirty="0" smtClean="0"/>
              <a:t>HTML </a:t>
            </a:r>
            <a:r>
              <a:rPr lang="en-US" altLang="zh-CN" dirty="0"/>
              <a:t>&lt;title</a:t>
            </a:r>
            <a:r>
              <a:rPr lang="en-US" altLang="zh-CN" dirty="0" smtClean="0"/>
              <a:t>&gt;</a:t>
            </a:r>
            <a:endParaRPr lang="zh-CN" altLang="en-US" dirty="0"/>
          </a:p>
        </p:txBody>
      </p:sp>
      <p:sp>
        <p:nvSpPr>
          <p:cNvPr id="3" name="内容占位符 2"/>
          <p:cNvSpPr>
            <a:spLocks noGrp="1"/>
          </p:cNvSpPr>
          <p:nvPr>
            <p:ph idx="1"/>
          </p:nvPr>
        </p:nvSpPr>
        <p:spPr>
          <a:xfrm>
            <a:off x="590719" y="2014523"/>
            <a:ext cx="11183193" cy="2371360"/>
          </a:xfrm>
        </p:spPr>
        <p:txBody>
          <a:bodyPr>
            <a:noAutofit/>
          </a:bodyPr>
          <a:lstStyle/>
          <a:p>
            <a:pPr algn="just">
              <a:lnSpc>
                <a:spcPct val="100000"/>
              </a:lnSpc>
              <a:buFont typeface="Wingdings" panose="05000000000000000000" pitchFamily="2" charset="2"/>
              <a:buChar char="l"/>
            </a:pPr>
            <a:r>
              <a:rPr lang="en-US" altLang="zh-CN" sz="3200" dirty="0"/>
              <a:t>The HTML </a:t>
            </a:r>
            <a:r>
              <a:rPr lang="en-US" altLang="zh-CN" sz="3200" dirty="0">
                <a:solidFill>
                  <a:srgbClr val="FFFF00"/>
                </a:solidFill>
              </a:rPr>
              <a:t>&lt;title&gt; </a:t>
            </a:r>
            <a:r>
              <a:rPr lang="en-US" altLang="zh-CN" sz="3200" dirty="0"/>
              <a:t>element is meta data. It defines the HTML </a:t>
            </a:r>
            <a:r>
              <a:rPr lang="en-US" altLang="zh-CN" sz="3200" dirty="0" smtClean="0"/>
              <a:t> document's </a:t>
            </a:r>
            <a:r>
              <a:rPr lang="en-US" altLang="zh-CN" sz="3200" dirty="0"/>
              <a:t>title.</a:t>
            </a:r>
            <a:endParaRPr lang="en-US" altLang="zh-CN" sz="3200" dirty="0"/>
          </a:p>
          <a:p>
            <a:pPr algn="just">
              <a:lnSpc>
                <a:spcPct val="100000"/>
              </a:lnSpc>
              <a:buFont typeface="Wingdings" panose="05000000000000000000" pitchFamily="2" charset="2"/>
              <a:buChar char="l"/>
            </a:pPr>
            <a:r>
              <a:rPr lang="en-US" altLang="zh-CN" sz="3200" dirty="0"/>
              <a:t>The title will not be displayed in the document, but might be displayed in the browser tab.</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4912" y="424450"/>
            <a:ext cx="10515600" cy="941516"/>
          </a:xfrm>
        </p:spPr>
        <p:txBody>
          <a:bodyPr/>
          <a:lstStyle/>
          <a:p>
            <a:pPr algn="ctr"/>
            <a:r>
              <a:rPr lang="en-US" altLang="zh-CN" dirty="0"/>
              <a:t>The HTML &lt;meta</a:t>
            </a:r>
            <a:r>
              <a:rPr lang="en-US" altLang="zh-CN" dirty="0" smtClean="0"/>
              <a:t>&gt;</a:t>
            </a:r>
            <a:endParaRPr lang="zh-CN" altLang="en-US" dirty="0"/>
          </a:p>
        </p:txBody>
      </p:sp>
      <p:sp>
        <p:nvSpPr>
          <p:cNvPr id="3" name="内容占位符 2"/>
          <p:cNvSpPr>
            <a:spLocks noGrp="1"/>
          </p:cNvSpPr>
          <p:nvPr>
            <p:ph idx="1"/>
          </p:nvPr>
        </p:nvSpPr>
        <p:spPr>
          <a:xfrm>
            <a:off x="635898" y="2014522"/>
            <a:ext cx="11170381" cy="2962079"/>
          </a:xfrm>
        </p:spPr>
        <p:txBody>
          <a:bodyPr>
            <a:normAutofit/>
          </a:bodyPr>
          <a:lstStyle/>
          <a:p>
            <a:pPr>
              <a:lnSpc>
                <a:spcPct val="150000"/>
              </a:lnSpc>
              <a:buFont typeface="Wingdings" panose="05000000000000000000" pitchFamily="2" charset="2"/>
              <a:buChar char="l"/>
            </a:pPr>
            <a:r>
              <a:rPr lang="en-US" altLang="zh-CN" sz="3200" dirty="0"/>
              <a:t>The HTML </a:t>
            </a:r>
            <a:r>
              <a:rPr lang="en-US" altLang="zh-CN" sz="3200" dirty="0">
                <a:solidFill>
                  <a:srgbClr val="FFFF00"/>
                </a:solidFill>
              </a:rPr>
              <a:t>&lt;meta&gt; </a:t>
            </a:r>
            <a:r>
              <a:rPr lang="en-US" altLang="zh-CN" sz="3200" dirty="0"/>
              <a:t>element is also meta data.</a:t>
            </a:r>
            <a:endParaRPr lang="en-US" altLang="zh-CN" sz="3200" dirty="0"/>
          </a:p>
          <a:p>
            <a:pPr>
              <a:lnSpc>
                <a:spcPct val="150000"/>
              </a:lnSpc>
              <a:buFont typeface="Wingdings" panose="05000000000000000000" pitchFamily="2" charset="2"/>
              <a:buChar char="l"/>
            </a:pPr>
            <a:r>
              <a:rPr lang="en-US" altLang="zh-CN" sz="3200" dirty="0"/>
              <a:t>It can be used to define the character set, and other information about the HTML document.</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33089"/>
            <a:ext cx="10515600" cy="941516"/>
          </a:xfrm>
        </p:spPr>
        <p:txBody>
          <a:bodyPr/>
          <a:lstStyle/>
          <a:p>
            <a:pPr algn="ctr"/>
            <a:r>
              <a:rPr lang="en-US" altLang="zh-CN" dirty="0"/>
              <a:t>More Meta Elements</a:t>
            </a:r>
            <a:endParaRPr lang="zh-CN" altLang="en-US" dirty="0"/>
          </a:p>
        </p:txBody>
      </p:sp>
      <p:sp>
        <p:nvSpPr>
          <p:cNvPr id="3" name="内容占位符 2"/>
          <p:cNvSpPr>
            <a:spLocks noGrp="1"/>
          </p:cNvSpPr>
          <p:nvPr>
            <p:ph idx="1"/>
          </p:nvPr>
        </p:nvSpPr>
        <p:spPr>
          <a:xfrm>
            <a:off x="712099" y="1690841"/>
            <a:ext cx="11161614" cy="4645222"/>
          </a:xfrm>
        </p:spPr>
        <p:txBody>
          <a:bodyPr>
            <a:noAutofit/>
          </a:bodyPr>
          <a:lstStyle/>
          <a:p>
            <a:pPr marL="0" indent="0">
              <a:lnSpc>
                <a:spcPct val="150000"/>
              </a:lnSpc>
              <a:spcBef>
                <a:spcPts val="600"/>
              </a:spcBef>
              <a:buNone/>
            </a:pPr>
            <a:r>
              <a:rPr lang="en-US" altLang="zh-CN" sz="3200" dirty="0" smtClean="0"/>
              <a:t>When talking about </a:t>
            </a:r>
            <a:r>
              <a:rPr lang="en-US" altLang="zh-CN" sz="3200" dirty="0"/>
              <a:t>HTML </a:t>
            </a:r>
            <a:r>
              <a:rPr lang="en-US" altLang="zh-CN" sz="3200" dirty="0" smtClean="0"/>
              <a:t>styles, we will discover </a:t>
            </a:r>
            <a:r>
              <a:rPr lang="en-US" altLang="zh-CN" sz="3200" dirty="0"/>
              <a:t>more meta elements:</a:t>
            </a:r>
            <a:endParaRPr lang="en-US" altLang="zh-CN" sz="3200" dirty="0"/>
          </a:p>
          <a:p>
            <a:pPr>
              <a:lnSpc>
                <a:spcPct val="150000"/>
              </a:lnSpc>
              <a:spcBef>
                <a:spcPts val="600"/>
              </a:spcBef>
            </a:pPr>
            <a:r>
              <a:rPr lang="en-US" altLang="zh-CN" sz="3200" dirty="0"/>
              <a:t>The HTML </a:t>
            </a:r>
            <a:r>
              <a:rPr lang="en-US" altLang="zh-CN" sz="3200" dirty="0">
                <a:solidFill>
                  <a:srgbClr val="FFFF00"/>
                </a:solidFill>
              </a:rPr>
              <a:t>&lt;style&gt; </a:t>
            </a:r>
            <a:r>
              <a:rPr lang="en-US" altLang="zh-CN" sz="3200" dirty="0"/>
              <a:t>element is used to define internal CSS style sheets.</a:t>
            </a:r>
            <a:endParaRPr lang="en-US" altLang="zh-CN" sz="3200" dirty="0"/>
          </a:p>
          <a:p>
            <a:pPr>
              <a:lnSpc>
                <a:spcPct val="150000"/>
              </a:lnSpc>
              <a:spcBef>
                <a:spcPts val="600"/>
              </a:spcBef>
            </a:pPr>
            <a:r>
              <a:rPr lang="en-US" altLang="zh-CN" sz="3200" dirty="0"/>
              <a:t>The HTML </a:t>
            </a:r>
            <a:r>
              <a:rPr lang="en-US" altLang="zh-CN" sz="3200" dirty="0">
                <a:solidFill>
                  <a:srgbClr val="FFFF00"/>
                </a:solidFill>
              </a:rPr>
              <a:t>&lt;link&gt; </a:t>
            </a:r>
            <a:r>
              <a:rPr lang="en-US" altLang="zh-CN" sz="3200" dirty="0"/>
              <a:t>element is used to define external CSS style sheets.</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 Paragraphs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5248"/>
          </a:xfrm>
        </p:spPr>
        <p:txBody>
          <a:bodyPr/>
          <a:lstStyle/>
          <a:p>
            <a:pPr algn="ctr"/>
            <a:r>
              <a:rPr lang="en-US" altLang="zh-CN" dirty="0"/>
              <a:t>HTML Paragraphs</a:t>
            </a:r>
            <a:endParaRPr lang="zh-CN" altLang="en-US" dirty="0"/>
          </a:p>
        </p:txBody>
      </p:sp>
      <p:sp>
        <p:nvSpPr>
          <p:cNvPr id="3" name="内容占位符 2"/>
          <p:cNvSpPr>
            <a:spLocks noGrp="1"/>
          </p:cNvSpPr>
          <p:nvPr>
            <p:ph idx="1"/>
          </p:nvPr>
        </p:nvSpPr>
        <p:spPr>
          <a:xfrm>
            <a:off x="1054855" y="1323908"/>
            <a:ext cx="10515600" cy="1646108"/>
          </a:xfrm>
        </p:spPr>
        <p:txBody>
          <a:bodyPr>
            <a:noAutofit/>
          </a:bodyPr>
          <a:lstStyle/>
          <a:p>
            <a:pPr>
              <a:buFont typeface="Wingdings" panose="05000000000000000000" pitchFamily="2" charset="2"/>
              <a:buChar char="l"/>
            </a:pPr>
            <a:r>
              <a:rPr lang="en-US" altLang="zh-CN" sz="3200" dirty="0"/>
              <a:t>HTML documents are divided into paragraphs.</a:t>
            </a:r>
            <a:endParaRPr lang="en-US" altLang="zh-CN" sz="3200" dirty="0"/>
          </a:p>
          <a:p>
            <a:pPr>
              <a:buFont typeface="Wingdings" panose="05000000000000000000" pitchFamily="2" charset="2"/>
              <a:buChar char="l"/>
            </a:pPr>
            <a:r>
              <a:rPr lang="en-US" altLang="zh-CN" sz="3200" dirty="0"/>
              <a:t>The HTML &lt;p&gt; element defines a paragraph</a:t>
            </a:r>
            <a:r>
              <a:rPr lang="en-US" altLang="zh-CN" sz="3200" dirty="0" smtClean="0"/>
              <a:t>.</a:t>
            </a:r>
            <a:endParaRPr lang="en-US" altLang="zh-CN" sz="3200" dirty="0"/>
          </a:p>
          <a:p>
            <a:pPr marL="0" indent="0">
              <a:buNone/>
            </a:pPr>
            <a:r>
              <a:rPr lang="en-US" altLang="zh-CN" sz="3200" dirty="0"/>
              <a:t>Example:</a:t>
            </a:r>
            <a:endParaRPr lang="zh-CN" altLang="en-US" sz="3200" dirty="0"/>
          </a:p>
        </p:txBody>
      </p:sp>
      <p:pic>
        <p:nvPicPr>
          <p:cNvPr id="5" name="图片 4"/>
          <p:cNvPicPr>
            <a:picLocks noChangeAspect="1"/>
          </p:cNvPicPr>
          <p:nvPr/>
        </p:nvPicPr>
        <p:blipFill>
          <a:blip r:embed="rId1"/>
          <a:stretch>
            <a:fillRect/>
          </a:stretch>
        </p:blipFill>
        <p:spPr>
          <a:xfrm>
            <a:off x="1547096" y="3397378"/>
            <a:ext cx="2781300" cy="2209800"/>
          </a:xfrm>
          <a:prstGeom prst="rect">
            <a:avLst/>
          </a:prstGeom>
        </p:spPr>
      </p:pic>
      <p:pic>
        <p:nvPicPr>
          <p:cNvPr id="7" name="图片 6"/>
          <p:cNvPicPr>
            <a:picLocks noChangeAspect="1"/>
          </p:cNvPicPr>
          <p:nvPr/>
        </p:nvPicPr>
        <p:blipFill>
          <a:blip r:embed="rId2"/>
          <a:stretch>
            <a:fillRect/>
          </a:stretch>
        </p:blipFill>
        <p:spPr>
          <a:xfrm>
            <a:off x="6947027" y="3739214"/>
            <a:ext cx="1905000" cy="1266825"/>
          </a:xfrm>
          <a:prstGeom prst="rect">
            <a:avLst/>
          </a:prstGeom>
        </p:spPr>
      </p:pic>
      <p:sp>
        <p:nvSpPr>
          <p:cNvPr id="11" name="标题 1"/>
          <p:cNvSpPr txBox="1"/>
          <p:nvPr/>
        </p:nvSpPr>
        <p:spPr>
          <a:xfrm>
            <a:off x="838200" y="5812627"/>
            <a:ext cx="10515600" cy="75498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defRPr/>
            </a:pPr>
            <a:r>
              <a:rPr kumimoji="0" lang="en-US" altLang="zh-CN" sz="45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j-cs"/>
              </a:rPr>
              <a:t>Note: </a:t>
            </a:r>
            <a:r>
              <a:rPr kumimoji="0" lang="en-US" altLang="zh-CN" sz="4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rPr>
              <a:t>Browsers automatically add some white space before and after a paragraph.</a:t>
            </a:r>
            <a:endParaRPr kumimoji="0" lang="zh-CN" altLang="en-US" sz="4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HTML Display</a:t>
            </a:r>
            <a:endParaRPr lang="zh-CN" altLang="en-US" dirty="0"/>
          </a:p>
        </p:txBody>
      </p:sp>
      <p:sp>
        <p:nvSpPr>
          <p:cNvPr id="3" name="内容占位符 2"/>
          <p:cNvSpPr>
            <a:spLocks noGrp="1"/>
          </p:cNvSpPr>
          <p:nvPr>
            <p:ph idx="1"/>
          </p:nvPr>
        </p:nvSpPr>
        <p:spPr>
          <a:xfrm>
            <a:off x="396511" y="1809418"/>
            <a:ext cx="11299858" cy="4599473"/>
          </a:xfrm>
        </p:spPr>
        <p:txBody>
          <a:bodyPr>
            <a:noAutofit/>
          </a:bodyPr>
          <a:lstStyle/>
          <a:p>
            <a:pPr algn="just"/>
            <a:r>
              <a:rPr lang="en-US" altLang="zh-CN" sz="3200" dirty="0"/>
              <a:t>You cannot be sure how HTML will be displayed. </a:t>
            </a:r>
            <a:endParaRPr lang="en-US" altLang="zh-CN" sz="3200" dirty="0"/>
          </a:p>
          <a:p>
            <a:pPr algn="just"/>
            <a:r>
              <a:rPr lang="en-US" altLang="zh-CN" sz="3200" dirty="0"/>
              <a:t>Large or small screens, and resized windows will create different results.</a:t>
            </a:r>
            <a:endParaRPr lang="en-US" altLang="zh-CN" sz="3200" dirty="0"/>
          </a:p>
          <a:p>
            <a:pPr algn="just"/>
            <a:r>
              <a:rPr lang="en-US" altLang="zh-CN" sz="3200" dirty="0">
                <a:solidFill>
                  <a:srgbClr val="FFFF00"/>
                </a:solidFill>
              </a:rPr>
              <a:t>With HTML, you cannot change the output by adding extra spaces or extra lines in your HTML code.</a:t>
            </a:r>
            <a:endParaRPr lang="en-US" altLang="zh-CN" sz="3200" dirty="0">
              <a:solidFill>
                <a:srgbClr val="FFFF00"/>
              </a:solidFill>
            </a:endParaRPr>
          </a:p>
          <a:p>
            <a:pPr algn="just"/>
            <a:r>
              <a:rPr lang="en-US" altLang="zh-CN" sz="3200" dirty="0"/>
              <a:t>The browser will </a:t>
            </a:r>
            <a:r>
              <a:rPr lang="en-US" altLang="zh-CN" sz="3200" dirty="0">
                <a:solidFill>
                  <a:srgbClr val="FFFF00"/>
                </a:solidFill>
              </a:rPr>
              <a:t>remove extra spaces and extra lines </a:t>
            </a:r>
            <a:r>
              <a:rPr lang="en-US" altLang="zh-CN" sz="3200" dirty="0"/>
              <a:t>when the page is displayed.</a:t>
            </a:r>
            <a:endParaRPr lang="en-US" altLang="zh-CN" sz="3200" dirty="0"/>
          </a:p>
          <a:p>
            <a:pPr algn="just"/>
            <a:r>
              <a:rPr lang="en-US" altLang="zh-CN" sz="3200" dirty="0"/>
              <a:t>Any number of spaces, and any number of new lines, count as </a:t>
            </a:r>
            <a:r>
              <a:rPr lang="en-US" altLang="zh-CN" sz="3200" dirty="0">
                <a:solidFill>
                  <a:srgbClr val="FFFF00"/>
                </a:solidFill>
              </a:rPr>
              <a:t>only</a:t>
            </a:r>
            <a:r>
              <a:rPr lang="en-US" altLang="zh-CN" sz="3200" dirty="0"/>
              <a:t> </a:t>
            </a:r>
            <a:r>
              <a:rPr lang="en-US" altLang="zh-CN" sz="3200" dirty="0">
                <a:solidFill>
                  <a:srgbClr val="FFFF00"/>
                </a:solidFill>
              </a:rPr>
              <a:t>one space</a:t>
            </a:r>
            <a:r>
              <a:rPr lang="en-US" altLang="zh-CN" sz="3200" dirty="0"/>
              <a:t>.</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Display Example</a:t>
            </a:r>
            <a:endParaRPr lang="zh-CN" altLang="en-US" dirty="0"/>
          </a:p>
        </p:txBody>
      </p:sp>
      <p:pic>
        <p:nvPicPr>
          <p:cNvPr id="5" name="图片 4"/>
          <p:cNvPicPr>
            <a:picLocks noChangeAspect="1"/>
          </p:cNvPicPr>
          <p:nvPr/>
        </p:nvPicPr>
        <p:blipFill>
          <a:blip r:embed="rId1"/>
          <a:stretch>
            <a:fillRect/>
          </a:stretch>
        </p:blipFill>
        <p:spPr>
          <a:xfrm>
            <a:off x="117653" y="1699208"/>
            <a:ext cx="4621182" cy="4936262"/>
          </a:xfrm>
          <a:prstGeom prst="rect">
            <a:avLst/>
          </a:prstGeom>
        </p:spPr>
      </p:pic>
      <p:pic>
        <p:nvPicPr>
          <p:cNvPr id="7" name="图片 6"/>
          <p:cNvPicPr>
            <a:picLocks noChangeAspect="1"/>
          </p:cNvPicPr>
          <p:nvPr/>
        </p:nvPicPr>
        <p:blipFill>
          <a:blip r:embed="rId2"/>
          <a:stretch>
            <a:fillRect/>
          </a:stretch>
        </p:blipFill>
        <p:spPr>
          <a:xfrm>
            <a:off x="5030148" y="3157666"/>
            <a:ext cx="6931549" cy="7692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lstStyle/>
          <a:p>
            <a:pPr algn="ctr"/>
            <a:r>
              <a:rPr lang="en-US" altLang="zh-CN" dirty="0"/>
              <a:t>HTML Line Breaks</a:t>
            </a:r>
            <a:endParaRPr lang="zh-CN" altLang="en-US" dirty="0"/>
          </a:p>
        </p:txBody>
      </p:sp>
      <p:sp>
        <p:nvSpPr>
          <p:cNvPr id="3" name="内容占位符 2"/>
          <p:cNvSpPr>
            <a:spLocks noGrp="1"/>
          </p:cNvSpPr>
          <p:nvPr>
            <p:ph idx="1"/>
          </p:nvPr>
        </p:nvSpPr>
        <p:spPr>
          <a:xfrm>
            <a:off x="729615" y="1416341"/>
            <a:ext cx="10515600" cy="2225329"/>
          </a:xfrm>
        </p:spPr>
        <p:txBody>
          <a:bodyPr>
            <a:normAutofit fontScale="92500" lnSpcReduction="10000"/>
          </a:bodyPr>
          <a:lstStyle/>
          <a:p>
            <a:pPr>
              <a:lnSpc>
                <a:spcPct val="110000"/>
              </a:lnSpc>
              <a:buFont typeface="Wingdings" panose="05000000000000000000" pitchFamily="2" charset="2"/>
              <a:buChar char="l"/>
            </a:pPr>
            <a:r>
              <a:rPr lang="en-US" altLang="zh-CN" sz="3300" dirty="0"/>
              <a:t>The HTML </a:t>
            </a:r>
            <a:r>
              <a:rPr lang="en-US" altLang="zh-CN" sz="3300" dirty="0">
                <a:solidFill>
                  <a:srgbClr val="FFFF00"/>
                </a:solidFill>
              </a:rPr>
              <a:t>&lt;br&gt; </a:t>
            </a:r>
            <a:r>
              <a:rPr lang="en-US" altLang="zh-CN" sz="3300" dirty="0"/>
              <a:t>element defines a </a:t>
            </a:r>
            <a:r>
              <a:rPr lang="en-US" altLang="zh-CN" sz="3300" dirty="0">
                <a:solidFill>
                  <a:srgbClr val="FFFF00"/>
                </a:solidFill>
              </a:rPr>
              <a:t>line break</a:t>
            </a:r>
            <a:r>
              <a:rPr lang="en-US" altLang="zh-CN" sz="3300" dirty="0"/>
              <a:t>.</a:t>
            </a:r>
            <a:endParaRPr lang="en-US" altLang="zh-CN" sz="3300" dirty="0"/>
          </a:p>
          <a:p>
            <a:pPr>
              <a:lnSpc>
                <a:spcPct val="110000"/>
              </a:lnSpc>
              <a:buFont typeface="Wingdings" panose="05000000000000000000" pitchFamily="2" charset="2"/>
              <a:buChar char="l"/>
            </a:pPr>
            <a:r>
              <a:rPr lang="en-US" altLang="zh-CN" sz="3300" dirty="0"/>
              <a:t>Use &lt;br&gt; if you want a line break (a new line) without starting a new paragraph:</a:t>
            </a:r>
            <a:endParaRPr lang="en-US" altLang="zh-CN" sz="3300" dirty="0"/>
          </a:p>
          <a:p>
            <a:pPr marL="0" indent="0">
              <a:lnSpc>
                <a:spcPct val="110000"/>
              </a:lnSpc>
              <a:buNone/>
            </a:pPr>
            <a:r>
              <a:rPr lang="en-US" altLang="zh-CN" dirty="0" smtClean="0"/>
              <a:t>Example</a:t>
            </a:r>
            <a:r>
              <a:rPr lang="en-US" altLang="zh-CN" dirty="0"/>
              <a:t>:</a:t>
            </a:r>
            <a:endParaRPr lang="en-US" altLang="zh-CN" dirty="0"/>
          </a:p>
        </p:txBody>
      </p:sp>
      <p:pic>
        <p:nvPicPr>
          <p:cNvPr id="5" name="图片 4"/>
          <p:cNvPicPr>
            <a:picLocks noChangeAspect="1"/>
          </p:cNvPicPr>
          <p:nvPr/>
        </p:nvPicPr>
        <p:blipFill>
          <a:blip r:embed="rId1"/>
          <a:stretch>
            <a:fillRect/>
          </a:stretch>
        </p:blipFill>
        <p:spPr>
          <a:xfrm>
            <a:off x="838200" y="3826110"/>
            <a:ext cx="7543859" cy="446297"/>
          </a:xfrm>
          <a:prstGeom prst="rect">
            <a:avLst/>
          </a:prstGeom>
        </p:spPr>
      </p:pic>
      <p:pic>
        <p:nvPicPr>
          <p:cNvPr id="7" name="图片 6"/>
          <p:cNvPicPr>
            <a:picLocks noChangeAspect="1"/>
          </p:cNvPicPr>
          <p:nvPr/>
        </p:nvPicPr>
        <p:blipFill>
          <a:blip r:embed="rId2"/>
          <a:stretch>
            <a:fillRect/>
          </a:stretch>
        </p:blipFill>
        <p:spPr>
          <a:xfrm>
            <a:off x="838200" y="4805575"/>
            <a:ext cx="2762295" cy="1144735"/>
          </a:xfrm>
          <a:prstGeom prst="rect">
            <a:avLst/>
          </a:prstGeom>
        </p:spPr>
      </p:pic>
      <p:sp>
        <p:nvSpPr>
          <p:cNvPr id="8" name="内容占位符 2"/>
          <p:cNvSpPr txBox="1"/>
          <p:nvPr/>
        </p:nvSpPr>
        <p:spPr>
          <a:xfrm>
            <a:off x="838200" y="4864785"/>
            <a:ext cx="10515600" cy="1819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
        <p:nvSpPr>
          <p:cNvPr id="12" name="文本框 11"/>
          <p:cNvSpPr txBox="1"/>
          <p:nvPr/>
        </p:nvSpPr>
        <p:spPr>
          <a:xfrm>
            <a:off x="683833" y="6044875"/>
            <a:ext cx="1021001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The &lt;br&gt; element is an empty HTML element. It has no end tag.</a:t>
            </a: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 Styles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HTML Styles</a:t>
            </a:r>
            <a:endParaRPr lang="zh-CN" altLang="en-US" dirty="0"/>
          </a:p>
        </p:txBody>
      </p:sp>
      <p:pic>
        <p:nvPicPr>
          <p:cNvPr id="5" name="图片 4"/>
          <p:cNvPicPr>
            <a:picLocks noChangeAspect="1"/>
          </p:cNvPicPr>
          <p:nvPr/>
        </p:nvPicPr>
        <p:blipFill>
          <a:blip r:embed="rId1"/>
          <a:stretch>
            <a:fillRect/>
          </a:stretch>
        </p:blipFill>
        <p:spPr>
          <a:xfrm>
            <a:off x="838200" y="2433636"/>
            <a:ext cx="3800269" cy="2906088"/>
          </a:xfrm>
          <a:prstGeom prst="rect">
            <a:avLst/>
          </a:prstGeom>
        </p:spPr>
      </p:pic>
      <p:pic>
        <p:nvPicPr>
          <p:cNvPr id="9" name="图片 8"/>
          <p:cNvPicPr>
            <a:picLocks noChangeAspect="1"/>
          </p:cNvPicPr>
          <p:nvPr/>
        </p:nvPicPr>
        <p:blipFill>
          <a:blip r:embed="rId2"/>
          <a:stretch>
            <a:fillRect/>
          </a:stretch>
        </p:blipFill>
        <p:spPr>
          <a:xfrm>
            <a:off x="6039356" y="2433636"/>
            <a:ext cx="5714843" cy="29060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The HTML Style Attribute</a:t>
            </a:r>
            <a:endParaRPr lang="zh-CN" altLang="en-US" dirty="0"/>
          </a:p>
        </p:txBody>
      </p:sp>
      <p:sp>
        <p:nvSpPr>
          <p:cNvPr id="3" name="内容占位符 2"/>
          <p:cNvSpPr>
            <a:spLocks noGrp="1"/>
          </p:cNvSpPr>
          <p:nvPr>
            <p:ph idx="1"/>
          </p:nvPr>
        </p:nvSpPr>
        <p:spPr>
          <a:xfrm>
            <a:off x="838200" y="1809419"/>
            <a:ext cx="10515600" cy="3826882"/>
          </a:xfrm>
        </p:spPr>
        <p:txBody>
          <a:bodyPr>
            <a:normAutofit/>
          </a:bodyPr>
          <a:lstStyle/>
          <a:p>
            <a:pPr algn="just"/>
            <a:r>
              <a:rPr lang="en-US" altLang="zh-CN" sz="3200" dirty="0"/>
              <a:t>Setting the style of an HTML element, can be done with the </a:t>
            </a:r>
            <a:r>
              <a:rPr lang="en-US" altLang="zh-CN" sz="3200" dirty="0">
                <a:solidFill>
                  <a:srgbClr val="FFFF00"/>
                </a:solidFill>
              </a:rPr>
              <a:t>style attribute</a:t>
            </a:r>
            <a:r>
              <a:rPr lang="en-US" altLang="zh-CN" sz="3200" dirty="0"/>
              <a:t>.</a:t>
            </a:r>
            <a:endParaRPr lang="en-US" altLang="zh-CN" sz="3200" dirty="0"/>
          </a:p>
          <a:p>
            <a:pPr algn="just"/>
            <a:r>
              <a:rPr lang="en-US" altLang="zh-CN" sz="3200" dirty="0"/>
              <a:t>The HTML style attribute has the following </a:t>
            </a:r>
            <a:r>
              <a:rPr lang="en-US" altLang="zh-CN" sz="3200" dirty="0">
                <a:solidFill>
                  <a:srgbClr val="FFFF00"/>
                </a:solidFill>
              </a:rPr>
              <a:t>syntax</a:t>
            </a:r>
            <a:r>
              <a:rPr lang="en-US" altLang="zh-CN" sz="3200" dirty="0"/>
              <a:t>:</a:t>
            </a:r>
            <a:endParaRPr lang="en-US" altLang="zh-CN" sz="3200" dirty="0"/>
          </a:p>
          <a:p>
            <a:pPr marL="0" indent="0" algn="ctr">
              <a:buNone/>
            </a:pPr>
            <a:r>
              <a:rPr lang="en-US" altLang="zh-CN" sz="3200" dirty="0"/>
              <a:t>style="property:value;"</a:t>
            </a:r>
            <a:endParaRPr lang="en-US" altLang="zh-CN" sz="3200" dirty="0"/>
          </a:p>
          <a:p>
            <a:pPr algn="just"/>
            <a:r>
              <a:rPr lang="en-US" altLang="zh-CN" sz="3200" dirty="0"/>
              <a:t>The </a:t>
            </a:r>
            <a:r>
              <a:rPr lang="en-US" altLang="zh-CN" sz="3200" dirty="0">
                <a:solidFill>
                  <a:srgbClr val="FFFF00"/>
                </a:solidFill>
              </a:rPr>
              <a:t>property</a:t>
            </a:r>
            <a:r>
              <a:rPr lang="en-US" altLang="zh-CN" sz="3200" dirty="0"/>
              <a:t> is a CSS property. The </a:t>
            </a:r>
            <a:r>
              <a:rPr lang="en-US" altLang="zh-CN" sz="3200" dirty="0">
                <a:solidFill>
                  <a:srgbClr val="FFFF00"/>
                </a:solidFill>
              </a:rPr>
              <a:t>value</a:t>
            </a:r>
            <a:r>
              <a:rPr lang="en-US" altLang="zh-CN" sz="3200" dirty="0"/>
              <a:t> is a CSS value</a:t>
            </a:r>
            <a:r>
              <a:rPr lang="en-US" altLang="zh-CN" sz="3200" dirty="0" smtClean="0"/>
              <a:t>.</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Background Color</a:t>
            </a:r>
            <a:endParaRPr lang="zh-CN" altLang="en-US" dirty="0"/>
          </a:p>
        </p:txBody>
      </p:sp>
      <p:sp>
        <p:nvSpPr>
          <p:cNvPr id="3" name="内容占位符 2"/>
          <p:cNvSpPr>
            <a:spLocks noGrp="1"/>
          </p:cNvSpPr>
          <p:nvPr>
            <p:ph idx="1"/>
          </p:nvPr>
        </p:nvSpPr>
        <p:spPr>
          <a:xfrm>
            <a:off x="708727" y="1264034"/>
            <a:ext cx="10846699" cy="1820329"/>
          </a:xfrm>
        </p:spPr>
        <p:txBody>
          <a:bodyPr>
            <a:normAutofit/>
          </a:bodyPr>
          <a:lstStyle/>
          <a:p>
            <a:r>
              <a:rPr lang="en-US" altLang="zh-CN" sz="3300" dirty="0"/>
              <a:t>The </a:t>
            </a:r>
            <a:r>
              <a:rPr lang="en-US" altLang="zh-CN" sz="3300" dirty="0">
                <a:solidFill>
                  <a:srgbClr val="FFFF00"/>
                </a:solidFill>
              </a:rPr>
              <a:t>background-color</a:t>
            </a:r>
            <a:r>
              <a:rPr lang="en-US" altLang="zh-CN" sz="3300" dirty="0"/>
              <a:t> property defines the background color for an HTML element</a:t>
            </a:r>
            <a:r>
              <a:rPr lang="en-US" altLang="zh-CN" sz="3300" dirty="0" smtClean="0"/>
              <a:t>:</a:t>
            </a:r>
            <a:endParaRPr lang="en-US" altLang="zh-CN" sz="3300" dirty="0"/>
          </a:p>
          <a:p>
            <a:pPr marL="0" indent="0">
              <a:buNone/>
            </a:pPr>
            <a:r>
              <a:rPr lang="en-US" altLang="zh-CN" sz="3300" dirty="0"/>
              <a:t>This example sets the background for a page to lightgrey:</a:t>
            </a:r>
            <a:endParaRPr lang="en-US" altLang="zh-CN" sz="3300" dirty="0"/>
          </a:p>
        </p:txBody>
      </p:sp>
      <p:pic>
        <p:nvPicPr>
          <p:cNvPr id="7" name="图片 6"/>
          <p:cNvPicPr>
            <a:picLocks noChangeAspect="1"/>
          </p:cNvPicPr>
          <p:nvPr/>
        </p:nvPicPr>
        <p:blipFill>
          <a:blip r:embed="rId1"/>
          <a:stretch>
            <a:fillRect/>
          </a:stretch>
        </p:blipFill>
        <p:spPr>
          <a:xfrm>
            <a:off x="3948913" y="5259436"/>
            <a:ext cx="3866533" cy="1492522"/>
          </a:xfrm>
          <a:prstGeom prst="rect">
            <a:avLst/>
          </a:prstGeom>
        </p:spPr>
      </p:pic>
      <p:pic>
        <p:nvPicPr>
          <p:cNvPr id="11" name="图片 10"/>
          <p:cNvPicPr>
            <a:picLocks noChangeAspect="1"/>
          </p:cNvPicPr>
          <p:nvPr/>
        </p:nvPicPr>
        <p:blipFill>
          <a:blip r:embed="rId2"/>
          <a:stretch>
            <a:fillRect/>
          </a:stretch>
        </p:blipFill>
        <p:spPr>
          <a:xfrm>
            <a:off x="2918585" y="2835810"/>
            <a:ext cx="6315446" cy="22783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Text Color</a:t>
            </a:r>
            <a:endParaRPr lang="zh-CN" altLang="en-US" dirty="0"/>
          </a:p>
        </p:txBody>
      </p:sp>
      <p:sp>
        <p:nvSpPr>
          <p:cNvPr id="3" name="内容占位符 2"/>
          <p:cNvSpPr>
            <a:spLocks noGrp="1"/>
          </p:cNvSpPr>
          <p:nvPr>
            <p:ph idx="1"/>
          </p:nvPr>
        </p:nvSpPr>
        <p:spPr>
          <a:xfrm>
            <a:off x="838200" y="1621739"/>
            <a:ext cx="10515600" cy="2140792"/>
          </a:xfrm>
        </p:spPr>
        <p:txBody>
          <a:bodyPr>
            <a:normAutofit/>
          </a:bodyPr>
          <a:lstStyle/>
          <a:p>
            <a:pPr algn="just"/>
            <a:r>
              <a:rPr lang="en-US" altLang="zh-CN" sz="3200" dirty="0"/>
              <a:t>The </a:t>
            </a:r>
            <a:r>
              <a:rPr lang="en-US" altLang="zh-CN" sz="3200" dirty="0">
                <a:solidFill>
                  <a:srgbClr val="FFFF00"/>
                </a:solidFill>
              </a:rPr>
              <a:t>color</a:t>
            </a:r>
            <a:r>
              <a:rPr lang="en-US" altLang="zh-CN" sz="3200" dirty="0"/>
              <a:t> property defines the text color for an HTML element:</a:t>
            </a:r>
            <a:endParaRPr lang="en-US" altLang="zh-CN" sz="3200" dirty="0"/>
          </a:p>
          <a:p>
            <a:pPr marL="0" indent="0" algn="just">
              <a:buNone/>
            </a:pPr>
            <a:r>
              <a:rPr lang="en-US" altLang="zh-CN" dirty="0" smtClean="0"/>
              <a:t>Example</a:t>
            </a:r>
            <a:r>
              <a:rPr lang="en-US" altLang="zh-CN" dirty="0"/>
              <a:t>:</a:t>
            </a:r>
            <a:endParaRPr lang="en-US" altLang="zh-CN" dirty="0"/>
          </a:p>
        </p:txBody>
      </p:sp>
      <p:pic>
        <p:nvPicPr>
          <p:cNvPr id="10" name="图片 9"/>
          <p:cNvPicPr>
            <a:picLocks noChangeAspect="1"/>
          </p:cNvPicPr>
          <p:nvPr/>
        </p:nvPicPr>
        <p:blipFill>
          <a:blip r:embed="rId1"/>
          <a:stretch>
            <a:fillRect/>
          </a:stretch>
        </p:blipFill>
        <p:spPr>
          <a:xfrm>
            <a:off x="3156776" y="4579826"/>
            <a:ext cx="5823773" cy="2079919"/>
          </a:xfrm>
          <a:prstGeom prst="rect">
            <a:avLst/>
          </a:prstGeom>
        </p:spPr>
      </p:pic>
      <p:pic>
        <p:nvPicPr>
          <p:cNvPr id="12" name="图片 11"/>
          <p:cNvPicPr>
            <a:picLocks noChangeAspect="1"/>
          </p:cNvPicPr>
          <p:nvPr/>
        </p:nvPicPr>
        <p:blipFill>
          <a:blip r:embed="rId2"/>
          <a:stretch>
            <a:fillRect/>
          </a:stretch>
        </p:blipFill>
        <p:spPr>
          <a:xfrm>
            <a:off x="1663587" y="3222352"/>
            <a:ext cx="8314059" cy="10803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Fonts</a:t>
            </a:r>
            <a:endParaRPr lang="zh-CN" altLang="en-US" dirty="0"/>
          </a:p>
        </p:txBody>
      </p:sp>
      <p:sp>
        <p:nvSpPr>
          <p:cNvPr id="3" name="内容占位符 2"/>
          <p:cNvSpPr>
            <a:spLocks noGrp="1"/>
          </p:cNvSpPr>
          <p:nvPr>
            <p:ph idx="1"/>
          </p:nvPr>
        </p:nvSpPr>
        <p:spPr>
          <a:xfrm>
            <a:off x="838200" y="1198606"/>
            <a:ext cx="10515600" cy="2140792"/>
          </a:xfrm>
        </p:spPr>
        <p:txBody>
          <a:bodyPr>
            <a:normAutofit/>
          </a:bodyPr>
          <a:lstStyle/>
          <a:p>
            <a:pPr algn="just"/>
            <a:r>
              <a:rPr lang="en-US" altLang="zh-CN" sz="3200" dirty="0"/>
              <a:t>The </a:t>
            </a:r>
            <a:r>
              <a:rPr lang="en-US" altLang="zh-CN" sz="3200" dirty="0">
                <a:solidFill>
                  <a:srgbClr val="FFFF00"/>
                </a:solidFill>
              </a:rPr>
              <a:t>font-family</a:t>
            </a:r>
            <a:r>
              <a:rPr lang="en-US" altLang="zh-CN" sz="3200" dirty="0"/>
              <a:t> property defines the font to be used for an HTML element</a:t>
            </a:r>
            <a:r>
              <a:rPr lang="en-US" altLang="zh-CN" sz="3200" dirty="0" smtClean="0"/>
              <a:t>:</a:t>
            </a:r>
            <a:endParaRPr lang="en-US" altLang="zh-CN" sz="3200" dirty="0"/>
          </a:p>
          <a:p>
            <a:pPr marL="0" indent="0" algn="just">
              <a:buNone/>
            </a:pPr>
            <a:r>
              <a:rPr lang="en-US" altLang="zh-CN" sz="3200" dirty="0"/>
              <a:t>Example:</a:t>
            </a:r>
            <a:endParaRPr lang="en-US" altLang="zh-CN" sz="3200" dirty="0"/>
          </a:p>
        </p:txBody>
      </p:sp>
      <p:pic>
        <p:nvPicPr>
          <p:cNvPr id="11" name="图片 10"/>
          <p:cNvPicPr>
            <a:picLocks noChangeAspect="1"/>
          </p:cNvPicPr>
          <p:nvPr/>
        </p:nvPicPr>
        <p:blipFill>
          <a:blip r:embed="rId1"/>
          <a:stretch>
            <a:fillRect/>
          </a:stretch>
        </p:blipFill>
        <p:spPr>
          <a:xfrm>
            <a:off x="2744991" y="4867331"/>
            <a:ext cx="6680253" cy="1929851"/>
          </a:xfrm>
          <a:prstGeom prst="rect">
            <a:avLst/>
          </a:prstGeom>
        </p:spPr>
      </p:pic>
      <p:pic>
        <p:nvPicPr>
          <p:cNvPr id="13" name="图片 12"/>
          <p:cNvPicPr>
            <a:picLocks noChangeAspect="1"/>
          </p:cNvPicPr>
          <p:nvPr/>
        </p:nvPicPr>
        <p:blipFill>
          <a:blip r:embed="rId2"/>
          <a:stretch>
            <a:fillRect/>
          </a:stretch>
        </p:blipFill>
        <p:spPr>
          <a:xfrm>
            <a:off x="296034" y="3106227"/>
            <a:ext cx="11789775" cy="120682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Text Size</a:t>
            </a:r>
            <a:endParaRPr lang="zh-CN" altLang="en-US" dirty="0"/>
          </a:p>
        </p:txBody>
      </p:sp>
      <p:sp>
        <p:nvSpPr>
          <p:cNvPr id="3" name="内容占位符 2"/>
          <p:cNvSpPr>
            <a:spLocks noGrp="1"/>
          </p:cNvSpPr>
          <p:nvPr>
            <p:ph idx="1"/>
          </p:nvPr>
        </p:nvSpPr>
        <p:spPr>
          <a:xfrm>
            <a:off x="546887" y="1264039"/>
            <a:ext cx="11097552" cy="1309228"/>
          </a:xfrm>
        </p:spPr>
        <p:txBody>
          <a:bodyPr>
            <a:normAutofit/>
          </a:bodyPr>
          <a:lstStyle/>
          <a:p>
            <a:pPr algn="just"/>
            <a:r>
              <a:rPr lang="en-US" altLang="zh-CN" sz="3200" dirty="0"/>
              <a:t>The </a:t>
            </a:r>
            <a:r>
              <a:rPr lang="en-US" altLang="zh-CN" sz="3200" dirty="0">
                <a:solidFill>
                  <a:srgbClr val="FFFF00"/>
                </a:solidFill>
              </a:rPr>
              <a:t>font-size</a:t>
            </a:r>
            <a:r>
              <a:rPr lang="en-US" altLang="zh-CN" sz="3200" dirty="0"/>
              <a:t> property defines the text size for an HTML element</a:t>
            </a:r>
            <a:r>
              <a:rPr lang="en-US" altLang="zh-CN" sz="3200" dirty="0" smtClean="0"/>
              <a:t>:</a:t>
            </a:r>
            <a:endParaRPr lang="en-US" altLang="zh-CN" sz="3200" dirty="0"/>
          </a:p>
          <a:p>
            <a:pPr marL="0" indent="0" algn="just">
              <a:buNone/>
            </a:pPr>
            <a:r>
              <a:rPr lang="en-US" altLang="zh-CN" sz="3200" dirty="0"/>
              <a:t>Example:</a:t>
            </a:r>
            <a:endParaRPr lang="en-US" altLang="zh-CN" sz="3200" dirty="0"/>
          </a:p>
        </p:txBody>
      </p:sp>
      <p:pic>
        <p:nvPicPr>
          <p:cNvPr id="8" name="图片 7"/>
          <p:cNvPicPr>
            <a:picLocks noChangeAspect="1"/>
          </p:cNvPicPr>
          <p:nvPr/>
        </p:nvPicPr>
        <p:blipFill>
          <a:blip r:embed="rId1"/>
          <a:stretch>
            <a:fillRect/>
          </a:stretch>
        </p:blipFill>
        <p:spPr>
          <a:xfrm>
            <a:off x="2965521" y="4254560"/>
            <a:ext cx="5630153" cy="2502290"/>
          </a:xfrm>
          <a:prstGeom prst="rect">
            <a:avLst/>
          </a:prstGeom>
        </p:spPr>
      </p:pic>
      <p:pic>
        <p:nvPicPr>
          <p:cNvPr id="10" name="图片 9"/>
          <p:cNvPicPr>
            <a:picLocks noChangeAspect="1"/>
          </p:cNvPicPr>
          <p:nvPr/>
        </p:nvPicPr>
        <p:blipFill>
          <a:blip r:embed="rId2"/>
          <a:stretch>
            <a:fillRect/>
          </a:stretch>
        </p:blipFill>
        <p:spPr>
          <a:xfrm>
            <a:off x="706619" y="2638700"/>
            <a:ext cx="10937820" cy="11814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Text Alignment</a:t>
            </a:r>
            <a:endParaRPr lang="zh-CN" altLang="en-US" dirty="0"/>
          </a:p>
        </p:txBody>
      </p:sp>
      <p:sp>
        <p:nvSpPr>
          <p:cNvPr id="3" name="内容占位符 2"/>
          <p:cNvSpPr>
            <a:spLocks noGrp="1"/>
          </p:cNvSpPr>
          <p:nvPr>
            <p:ph idx="1"/>
          </p:nvPr>
        </p:nvSpPr>
        <p:spPr>
          <a:xfrm>
            <a:off x="749187" y="1174064"/>
            <a:ext cx="10992355" cy="1795713"/>
          </a:xfrm>
        </p:spPr>
        <p:txBody>
          <a:bodyPr>
            <a:normAutofit/>
          </a:bodyPr>
          <a:lstStyle/>
          <a:p>
            <a:pPr algn="just"/>
            <a:r>
              <a:rPr lang="en-US" altLang="zh-CN" sz="3200" dirty="0"/>
              <a:t>The </a:t>
            </a:r>
            <a:r>
              <a:rPr lang="en-US" altLang="zh-CN" sz="3200" dirty="0">
                <a:solidFill>
                  <a:srgbClr val="FFFF00"/>
                </a:solidFill>
              </a:rPr>
              <a:t>text-align</a:t>
            </a:r>
            <a:r>
              <a:rPr lang="en-US" altLang="zh-CN" sz="3200" dirty="0"/>
              <a:t> property defines the horizontal text alignment for an HTML element</a:t>
            </a:r>
            <a:r>
              <a:rPr lang="en-US" altLang="zh-CN" sz="3200" dirty="0" smtClean="0"/>
              <a:t>:</a:t>
            </a:r>
            <a:endParaRPr lang="en-US" altLang="zh-CN" sz="3200" dirty="0"/>
          </a:p>
          <a:p>
            <a:pPr marL="0" indent="0" algn="just">
              <a:buNone/>
            </a:pPr>
            <a:r>
              <a:rPr lang="en-US" altLang="zh-CN" sz="3200" dirty="0"/>
              <a:t>Example:</a:t>
            </a:r>
            <a:endParaRPr lang="en-US" altLang="zh-CN" sz="3200" dirty="0"/>
          </a:p>
        </p:txBody>
      </p:sp>
      <p:pic>
        <p:nvPicPr>
          <p:cNvPr id="9" name="图片 8"/>
          <p:cNvPicPr>
            <a:picLocks noChangeAspect="1"/>
          </p:cNvPicPr>
          <p:nvPr/>
        </p:nvPicPr>
        <p:blipFill>
          <a:blip r:embed="rId1"/>
          <a:stretch>
            <a:fillRect/>
          </a:stretch>
        </p:blipFill>
        <p:spPr>
          <a:xfrm>
            <a:off x="1322753" y="4999827"/>
            <a:ext cx="9800041" cy="1514261"/>
          </a:xfrm>
          <a:prstGeom prst="rect">
            <a:avLst/>
          </a:prstGeom>
        </p:spPr>
      </p:pic>
      <p:pic>
        <p:nvPicPr>
          <p:cNvPr id="11" name="图片 10"/>
          <p:cNvPicPr>
            <a:picLocks noChangeAspect="1"/>
          </p:cNvPicPr>
          <p:nvPr/>
        </p:nvPicPr>
        <p:blipFill>
          <a:blip r:embed="rId2"/>
          <a:stretch>
            <a:fillRect/>
          </a:stretch>
        </p:blipFill>
        <p:spPr>
          <a:xfrm>
            <a:off x="772125" y="3086411"/>
            <a:ext cx="10969417" cy="12250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3003" y="424450"/>
            <a:ext cx="10515600" cy="941516"/>
          </a:xfrm>
        </p:spPr>
        <p:txBody>
          <a:bodyPr/>
          <a:lstStyle/>
          <a:p>
            <a:pPr algn="ctr"/>
            <a:r>
              <a:rPr lang="en-US" altLang="zh-CN" dirty="0" smtClean="0"/>
              <a:t>Style Summary</a:t>
            </a:r>
            <a:endParaRPr lang="zh-CN" altLang="en-US" dirty="0"/>
          </a:p>
        </p:txBody>
      </p:sp>
      <p:sp>
        <p:nvSpPr>
          <p:cNvPr id="3" name="内容占位符 2"/>
          <p:cNvSpPr>
            <a:spLocks noGrp="1"/>
          </p:cNvSpPr>
          <p:nvPr>
            <p:ph idx="1"/>
          </p:nvPr>
        </p:nvSpPr>
        <p:spPr>
          <a:xfrm>
            <a:off x="838200" y="2014521"/>
            <a:ext cx="10587754" cy="3795559"/>
          </a:xfrm>
        </p:spPr>
        <p:txBody>
          <a:bodyPr>
            <a:noAutofit/>
          </a:bodyPr>
          <a:lstStyle/>
          <a:p>
            <a:r>
              <a:rPr lang="en-US" altLang="zh-CN" sz="3200" dirty="0"/>
              <a:t>Use the </a:t>
            </a:r>
            <a:r>
              <a:rPr lang="en-US" altLang="zh-CN" sz="3200" dirty="0">
                <a:solidFill>
                  <a:srgbClr val="FFFF00"/>
                </a:solidFill>
              </a:rPr>
              <a:t>style</a:t>
            </a:r>
            <a:r>
              <a:rPr lang="en-US" altLang="zh-CN" sz="3200" dirty="0"/>
              <a:t> attribute for styling HTML elements</a:t>
            </a:r>
            <a:endParaRPr lang="en-US" altLang="zh-CN" sz="3200" dirty="0"/>
          </a:p>
          <a:p>
            <a:r>
              <a:rPr lang="en-US" altLang="zh-CN" sz="3200" dirty="0"/>
              <a:t>Use </a:t>
            </a:r>
            <a:r>
              <a:rPr lang="en-US" altLang="zh-CN" sz="3200" dirty="0">
                <a:solidFill>
                  <a:srgbClr val="FFFF00"/>
                </a:solidFill>
              </a:rPr>
              <a:t>background-color</a:t>
            </a:r>
            <a:r>
              <a:rPr lang="en-US" altLang="zh-CN" sz="3200" dirty="0"/>
              <a:t> for background color</a:t>
            </a:r>
            <a:endParaRPr lang="en-US" altLang="zh-CN" sz="3200" dirty="0"/>
          </a:p>
          <a:p>
            <a:r>
              <a:rPr lang="en-US" altLang="zh-CN" sz="3200" dirty="0"/>
              <a:t>Use </a:t>
            </a:r>
            <a:r>
              <a:rPr lang="en-US" altLang="zh-CN" sz="3200" dirty="0">
                <a:solidFill>
                  <a:srgbClr val="FFFF00"/>
                </a:solidFill>
              </a:rPr>
              <a:t>color</a:t>
            </a:r>
            <a:r>
              <a:rPr lang="en-US" altLang="zh-CN" sz="3200" dirty="0"/>
              <a:t> for text colors</a:t>
            </a:r>
            <a:endParaRPr lang="en-US" altLang="zh-CN" sz="3200" dirty="0"/>
          </a:p>
          <a:p>
            <a:r>
              <a:rPr lang="en-US" altLang="zh-CN" sz="3200" dirty="0"/>
              <a:t>Use </a:t>
            </a:r>
            <a:r>
              <a:rPr lang="en-US" altLang="zh-CN" sz="3200" dirty="0">
                <a:solidFill>
                  <a:srgbClr val="FFFF00"/>
                </a:solidFill>
              </a:rPr>
              <a:t>font-family</a:t>
            </a:r>
            <a:r>
              <a:rPr lang="en-US" altLang="zh-CN" sz="3200" dirty="0"/>
              <a:t> for text fonts</a:t>
            </a:r>
            <a:endParaRPr lang="en-US" altLang="zh-CN" sz="3200" dirty="0"/>
          </a:p>
          <a:p>
            <a:r>
              <a:rPr lang="en-US" altLang="zh-CN" sz="3200" dirty="0"/>
              <a:t>Use </a:t>
            </a:r>
            <a:r>
              <a:rPr lang="en-US" altLang="zh-CN" sz="3200" dirty="0">
                <a:solidFill>
                  <a:srgbClr val="FFFF00"/>
                </a:solidFill>
              </a:rPr>
              <a:t>font-size</a:t>
            </a:r>
            <a:r>
              <a:rPr lang="en-US" altLang="zh-CN" sz="3200" dirty="0"/>
              <a:t> for text sizes</a:t>
            </a:r>
            <a:endParaRPr lang="en-US" altLang="zh-CN" sz="3200" dirty="0"/>
          </a:p>
          <a:p>
            <a:r>
              <a:rPr lang="en-US" altLang="zh-CN" sz="3200" dirty="0"/>
              <a:t>Use </a:t>
            </a:r>
            <a:r>
              <a:rPr lang="en-US" altLang="zh-CN" sz="3200" dirty="0">
                <a:solidFill>
                  <a:srgbClr val="FFFF00"/>
                </a:solidFill>
              </a:rPr>
              <a:t>text-align</a:t>
            </a:r>
            <a:r>
              <a:rPr lang="en-US" altLang="zh-CN" sz="3200" dirty="0"/>
              <a:t> for text alignment</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 Formatting</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Text Formatting</a:t>
            </a:r>
            <a:endParaRPr lang="zh-CN" altLang="en-US" dirty="0"/>
          </a:p>
        </p:txBody>
      </p:sp>
      <p:pic>
        <p:nvPicPr>
          <p:cNvPr id="7" name="图片 6"/>
          <p:cNvPicPr>
            <a:picLocks noChangeAspect="1"/>
          </p:cNvPicPr>
          <p:nvPr/>
        </p:nvPicPr>
        <p:blipFill>
          <a:blip r:embed="rId1"/>
          <a:stretch>
            <a:fillRect/>
          </a:stretch>
        </p:blipFill>
        <p:spPr>
          <a:xfrm>
            <a:off x="3424425" y="2059290"/>
            <a:ext cx="5343149" cy="27394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834423"/>
          </a:xfrm>
        </p:spPr>
        <p:txBody>
          <a:bodyPr/>
          <a:lstStyle/>
          <a:p>
            <a:pPr algn="ctr"/>
            <a:r>
              <a:rPr lang="en-US" altLang="zh-CN" dirty="0"/>
              <a:t>HTML Formatting Elements</a:t>
            </a:r>
            <a:endParaRPr lang="zh-CN" altLang="en-US" dirty="0"/>
          </a:p>
        </p:txBody>
      </p:sp>
      <p:sp>
        <p:nvSpPr>
          <p:cNvPr id="3" name="内容占位符 2"/>
          <p:cNvSpPr>
            <a:spLocks noGrp="1"/>
          </p:cNvSpPr>
          <p:nvPr>
            <p:ph idx="1"/>
          </p:nvPr>
        </p:nvSpPr>
        <p:spPr>
          <a:xfrm>
            <a:off x="632460" y="1099820"/>
            <a:ext cx="11125200" cy="1798320"/>
          </a:xfrm>
        </p:spPr>
        <p:txBody>
          <a:bodyPr>
            <a:noAutofit/>
          </a:bodyPr>
          <a:lstStyle/>
          <a:p>
            <a:pPr marL="0" indent="0" algn="just">
              <a:buNone/>
            </a:pPr>
            <a:r>
              <a:rPr lang="en-US" altLang="zh-CN" dirty="0"/>
              <a:t>HTML also defines special </a:t>
            </a:r>
            <a:r>
              <a:rPr lang="en-US" altLang="zh-CN" dirty="0">
                <a:solidFill>
                  <a:srgbClr val="FFFF00"/>
                </a:solidFill>
              </a:rPr>
              <a:t>elements</a:t>
            </a:r>
            <a:r>
              <a:rPr lang="en-US" altLang="zh-CN" dirty="0"/>
              <a:t> for defining text with a special </a:t>
            </a:r>
            <a:r>
              <a:rPr lang="en-US" altLang="zh-CN" dirty="0">
                <a:solidFill>
                  <a:srgbClr val="FFFF00"/>
                </a:solidFill>
              </a:rPr>
              <a:t>meaning</a:t>
            </a:r>
            <a:r>
              <a:rPr lang="en-US" altLang="zh-CN" dirty="0"/>
              <a:t>.</a:t>
            </a:r>
            <a:endParaRPr lang="en-US" altLang="zh-CN" dirty="0"/>
          </a:p>
          <a:p>
            <a:pPr marL="0" indent="0" algn="just">
              <a:buNone/>
            </a:pPr>
            <a:r>
              <a:rPr lang="en-US" altLang="zh-CN" dirty="0"/>
              <a:t>HTML uses elements like &lt;b&gt; and &lt;i&gt; for formatting output, like </a:t>
            </a:r>
            <a:r>
              <a:rPr lang="en-US" altLang="zh-CN" dirty="0">
                <a:solidFill>
                  <a:srgbClr val="FFFF00"/>
                </a:solidFill>
              </a:rPr>
              <a:t>bold</a:t>
            </a:r>
            <a:r>
              <a:rPr lang="en-US" altLang="zh-CN" dirty="0"/>
              <a:t> or </a:t>
            </a:r>
            <a:r>
              <a:rPr lang="en-US" altLang="zh-CN" i="1" dirty="0"/>
              <a:t>italic</a:t>
            </a:r>
            <a:r>
              <a:rPr lang="en-US" altLang="zh-CN" dirty="0"/>
              <a:t> text. Formatting elements were designed to display special types of </a:t>
            </a:r>
            <a:r>
              <a:rPr lang="en-US" altLang="zh-CN"/>
              <a:t>text</a:t>
            </a:r>
            <a:r>
              <a:rPr lang="en-US" altLang="zh-CN" smtClean="0"/>
              <a:t>:</a:t>
            </a:r>
            <a:endParaRPr lang="en-US" altLang="zh-CN" dirty="0"/>
          </a:p>
        </p:txBody>
      </p:sp>
      <p:sp>
        <p:nvSpPr>
          <p:cNvPr id="4" name="内容占位符 2"/>
          <p:cNvSpPr txBox="1"/>
          <p:nvPr/>
        </p:nvSpPr>
        <p:spPr>
          <a:xfrm>
            <a:off x="770255" y="3122930"/>
            <a:ext cx="10876915" cy="3415030"/>
          </a:xfrm>
          <a:prstGeom prst="rect">
            <a:avLst/>
          </a:prstGeom>
        </p:spPr>
        <p:txBody>
          <a:bodyPr vert="horz" lIns="91440" tIns="45720" rIns="91440" bIns="45720" numCol="2"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Bold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Important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Italic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Emphasized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Marked </a:t>
            </a:r>
            <a:r>
              <a:rPr kumimoji="0" lang="en-US" altLang="zh-CN" sz="1600" b="0" i="0" u="none" strike="noStrike" kern="1200" cap="none" spc="0" normalizeH="0" baseline="0" noProof="0" dirty="0" smtClean="0">
                <a:ln>
                  <a:noFill/>
                </a:ln>
                <a:solidFill>
                  <a:prstClr val="white"/>
                </a:solidFill>
                <a:effectLst/>
                <a:uLnTx/>
                <a:uFillTx/>
                <a:latin typeface="Calibri" panose="020F0502020204030204"/>
                <a:ea typeface="等线" panose="02010600030101010101" charset="-122"/>
                <a:cs typeface="+mn-cs"/>
              </a:rPr>
              <a:t>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Small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Deleted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Inserted text</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Subscripts</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Superscripts</a:t>
            </a:r>
            <a:endParaRPr kumimoji="0" lang="en-US" altLang="zh-CN" sz="16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Bold and Strong Formatting</a:t>
            </a:r>
            <a:endParaRPr lang="zh-CN" altLang="en-US" dirty="0"/>
          </a:p>
        </p:txBody>
      </p:sp>
      <p:sp>
        <p:nvSpPr>
          <p:cNvPr id="3" name="内容占位符 2"/>
          <p:cNvSpPr>
            <a:spLocks noGrp="1"/>
          </p:cNvSpPr>
          <p:nvPr>
            <p:ph idx="1"/>
          </p:nvPr>
        </p:nvSpPr>
        <p:spPr>
          <a:xfrm>
            <a:off x="772160" y="1544955"/>
            <a:ext cx="10727055" cy="2138680"/>
          </a:xfrm>
        </p:spPr>
        <p:txBody>
          <a:bodyPr>
            <a:normAutofit fontScale="92500" lnSpcReduction="20000"/>
          </a:bodyPr>
          <a:lstStyle/>
          <a:p>
            <a:pPr algn="just">
              <a:lnSpc>
                <a:spcPct val="110000"/>
              </a:lnSpc>
            </a:pPr>
            <a:r>
              <a:rPr lang="en-US" altLang="zh-CN" sz="3300" dirty="0"/>
              <a:t>The HTML</a:t>
            </a:r>
            <a:r>
              <a:rPr lang="en-US" altLang="zh-CN" sz="3000" dirty="0">
                <a:solidFill>
                  <a:srgbClr val="FFFF00"/>
                </a:solidFill>
              </a:rPr>
              <a:t> </a:t>
            </a:r>
            <a:r>
              <a:rPr lang="en-US" altLang="zh-CN" sz="3300" dirty="0">
                <a:solidFill>
                  <a:srgbClr val="FFFF00"/>
                </a:solidFill>
              </a:rPr>
              <a:t>&lt;b&gt;</a:t>
            </a:r>
            <a:r>
              <a:rPr lang="en-US" altLang="zh-CN" sz="3300" dirty="0"/>
              <a:t> element defines</a:t>
            </a:r>
            <a:r>
              <a:rPr lang="en-US" altLang="zh-CN" sz="3300" dirty="0">
                <a:solidFill>
                  <a:srgbClr val="FFFF00"/>
                </a:solidFill>
              </a:rPr>
              <a:t> bold </a:t>
            </a:r>
            <a:r>
              <a:rPr lang="en-US" altLang="zh-CN" sz="3300" dirty="0"/>
              <a:t>text, without any extra importance.</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5" name="图片 4"/>
          <p:cNvPicPr>
            <a:picLocks noChangeAspect="1"/>
          </p:cNvPicPr>
          <p:nvPr/>
        </p:nvPicPr>
        <p:blipFill>
          <a:blip r:embed="rId1"/>
          <a:stretch>
            <a:fillRect/>
          </a:stretch>
        </p:blipFill>
        <p:spPr>
          <a:xfrm>
            <a:off x="838200" y="4489811"/>
            <a:ext cx="3495675" cy="857250"/>
          </a:xfrm>
          <a:prstGeom prst="rect">
            <a:avLst/>
          </a:prstGeom>
        </p:spPr>
      </p:pic>
      <p:pic>
        <p:nvPicPr>
          <p:cNvPr id="7" name="图片 6"/>
          <p:cNvPicPr>
            <a:picLocks noChangeAspect="1"/>
          </p:cNvPicPr>
          <p:nvPr/>
        </p:nvPicPr>
        <p:blipFill>
          <a:blip r:embed="rId2"/>
          <a:stretch>
            <a:fillRect/>
          </a:stretch>
        </p:blipFill>
        <p:spPr>
          <a:xfrm>
            <a:off x="7160544" y="4451711"/>
            <a:ext cx="2019300" cy="933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Bold and Strong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fontScale="92500" lnSpcReduction="20000"/>
          </a:bodyPr>
          <a:lstStyle/>
          <a:p>
            <a:pPr algn="just">
              <a:lnSpc>
                <a:spcPct val="110000"/>
              </a:lnSpc>
            </a:pPr>
            <a:r>
              <a:rPr lang="en-US" altLang="zh-CN" sz="3300" dirty="0"/>
              <a:t>The HTML </a:t>
            </a:r>
            <a:r>
              <a:rPr lang="en-US" altLang="zh-CN" sz="3400" dirty="0">
                <a:solidFill>
                  <a:srgbClr val="FFFF00"/>
                </a:solidFill>
              </a:rPr>
              <a:t>&lt;strong&gt; </a:t>
            </a:r>
            <a:r>
              <a:rPr lang="en-US" altLang="zh-CN" sz="3300" dirty="0"/>
              <a:t>element defines </a:t>
            </a:r>
            <a:r>
              <a:rPr lang="en-US" altLang="zh-CN" sz="3400" dirty="0">
                <a:solidFill>
                  <a:srgbClr val="FFFF00"/>
                </a:solidFill>
              </a:rPr>
              <a:t>strong</a:t>
            </a:r>
            <a:r>
              <a:rPr lang="en-US" altLang="zh-CN" sz="3300" dirty="0"/>
              <a:t> text, with added semantic "strong" importance.</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9" name="图片 8"/>
          <p:cNvPicPr>
            <a:picLocks noChangeAspect="1"/>
          </p:cNvPicPr>
          <p:nvPr/>
        </p:nvPicPr>
        <p:blipFill>
          <a:blip r:embed="rId1"/>
          <a:stretch>
            <a:fillRect/>
          </a:stretch>
        </p:blipFill>
        <p:spPr>
          <a:xfrm>
            <a:off x="838200" y="4241980"/>
            <a:ext cx="4905375" cy="876300"/>
          </a:xfrm>
          <a:prstGeom prst="rect">
            <a:avLst/>
          </a:prstGeom>
        </p:spPr>
      </p:pic>
      <p:pic>
        <p:nvPicPr>
          <p:cNvPr id="11" name="图片 10"/>
          <p:cNvPicPr>
            <a:picLocks noChangeAspect="1"/>
          </p:cNvPicPr>
          <p:nvPr/>
        </p:nvPicPr>
        <p:blipFill>
          <a:blip r:embed="rId2"/>
          <a:stretch>
            <a:fillRect/>
          </a:stretch>
        </p:blipFill>
        <p:spPr>
          <a:xfrm>
            <a:off x="7735773" y="4227692"/>
            <a:ext cx="1924050" cy="9048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Italic and Emphasized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fontScale="92500" lnSpcReduction="20000"/>
          </a:bodyPr>
          <a:lstStyle/>
          <a:p>
            <a:pPr algn="just">
              <a:lnSpc>
                <a:spcPct val="110000"/>
              </a:lnSpc>
            </a:pPr>
            <a:r>
              <a:rPr lang="en-US" altLang="zh-CN" sz="3300" dirty="0"/>
              <a:t>The HTML </a:t>
            </a:r>
            <a:r>
              <a:rPr lang="en-US" altLang="zh-CN" sz="3400" dirty="0">
                <a:solidFill>
                  <a:srgbClr val="FFFF00"/>
                </a:solidFill>
              </a:rPr>
              <a:t>&lt;i&gt; </a:t>
            </a:r>
            <a:r>
              <a:rPr lang="en-US" altLang="zh-CN" sz="3300" dirty="0"/>
              <a:t>element defines </a:t>
            </a:r>
            <a:r>
              <a:rPr lang="en-US" altLang="zh-CN" sz="3400" i="1" dirty="0">
                <a:solidFill>
                  <a:srgbClr val="FFFF00"/>
                </a:solidFill>
              </a:rPr>
              <a:t>italic</a:t>
            </a:r>
            <a:r>
              <a:rPr lang="en-US" altLang="zh-CN" sz="3400" dirty="0"/>
              <a:t> text, without any extra importance</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5" name="图片 4"/>
          <p:cNvPicPr>
            <a:picLocks noChangeAspect="1"/>
          </p:cNvPicPr>
          <p:nvPr/>
        </p:nvPicPr>
        <p:blipFill>
          <a:blip r:embed="rId1"/>
          <a:stretch>
            <a:fillRect/>
          </a:stretch>
        </p:blipFill>
        <p:spPr>
          <a:xfrm>
            <a:off x="838200" y="4241980"/>
            <a:ext cx="3714750" cy="885825"/>
          </a:xfrm>
          <a:prstGeom prst="rect">
            <a:avLst/>
          </a:prstGeom>
        </p:spPr>
      </p:pic>
      <p:pic>
        <p:nvPicPr>
          <p:cNvPr id="7" name="图片 6"/>
          <p:cNvPicPr>
            <a:picLocks noChangeAspect="1"/>
          </p:cNvPicPr>
          <p:nvPr/>
        </p:nvPicPr>
        <p:blipFill>
          <a:blip r:embed="rId2"/>
          <a:stretch>
            <a:fillRect/>
          </a:stretch>
        </p:blipFill>
        <p:spPr>
          <a:xfrm>
            <a:off x="6724652" y="4270555"/>
            <a:ext cx="1828800" cy="857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Italic and Emphasized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fontScale="92500" lnSpcReduction="20000"/>
          </a:bodyPr>
          <a:lstStyle/>
          <a:p>
            <a:pPr algn="just">
              <a:lnSpc>
                <a:spcPct val="110000"/>
              </a:lnSpc>
            </a:pPr>
            <a:r>
              <a:rPr lang="en-US" altLang="zh-CN" sz="3300" dirty="0"/>
              <a:t>The HTML </a:t>
            </a:r>
            <a:r>
              <a:rPr lang="en-US" altLang="zh-CN" sz="3400" dirty="0">
                <a:solidFill>
                  <a:srgbClr val="FFFF00"/>
                </a:solidFill>
              </a:rPr>
              <a:t>&lt;em&gt; </a:t>
            </a:r>
            <a:r>
              <a:rPr lang="en-US" altLang="zh-CN" sz="3300" dirty="0"/>
              <a:t>element defines </a:t>
            </a:r>
            <a:r>
              <a:rPr lang="en-US" altLang="zh-CN" sz="3400" i="1" dirty="0">
                <a:solidFill>
                  <a:srgbClr val="FFFF00"/>
                </a:solidFill>
              </a:rPr>
              <a:t>emphasized</a:t>
            </a:r>
            <a:r>
              <a:rPr lang="en-US" altLang="zh-CN" sz="3400" dirty="0"/>
              <a:t> text, with added semantic importance</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6" name="图片 5"/>
          <p:cNvPicPr>
            <a:picLocks noChangeAspect="1"/>
          </p:cNvPicPr>
          <p:nvPr/>
        </p:nvPicPr>
        <p:blipFill>
          <a:blip r:embed="rId1"/>
          <a:stretch>
            <a:fillRect/>
          </a:stretch>
        </p:blipFill>
        <p:spPr>
          <a:xfrm>
            <a:off x="838200" y="4241980"/>
            <a:ext cx="4314825" cy="866775"/>
          </a:xfrm>
          <a:prstGeom prst="rect">
            <a:avLst/>
          </a:prstGeom>
        </p:spPr>
      </p:pic>
      <p:pic>
        <p:nvPicPr>
          <p:cNvPr id="9" name="图片 8"/>
          <p:cNvPicPr>
            <a:picLocks noChangeAspect="1"/>
          </p:cNvPicPr>
          <p:nvPr/>
        </p:nvPicPr>
        <p:blipFill>
          <a:blip r:embed="rId2"/>
          <a:stretch>
            <a:fillRect/>
          </a:stretch>
        </p:blipFill>
        <p:spPr>
          <a:xfrm>
            <a:off x="6946916" y="4241980"/>
            <a:ext cx="2257425" cy="857250"/>
          </a:xfrm>
          <a:prstGeom prst="rect">
            <a:avLst/>
          </a:prstGeom>
        </p:spPr>
      </p:pic>
      <p:sp>
        <p:nvSpPr>
          <p:cNvPr id="10" name="标题 1"/>
          <p:cNvSpPr txBox="1"/>
          <p:nvPr/>
        </p:nvSpPr>
        <p:spPr>
          <a:xfrm>
            <a:off x="734505" y="5655648"/>
            <a:ext cx="10515600" cy="7427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defRPr/>
            </a:pPr>
            <a:r>
              <a:rPr kumimoji="0" lang="en-US" altLang="zh-CN" sz="24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j-cs"/>
              </a:rPr>
              <a:t>Hint: </a:t>
            </a:r>
            <a:r>
              <a:rPr kumimoji="0" lang="en-US" altLang="zh-CN" sz="2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rPr>
              <a:t>Browsers display &lt;strong&gt; as &lt;b&gt;, and &lt;em&gt; as &lt;i&gt;.However, there is a difference in the meaning of these tags: &lt;b&gt; and &lt;i&gt; defines bold and italic </a:t>
            </a:r>
            <a:r>
              <a:rPr kumimoji="0" lang="en-US" altLang="zh-CN" sz="2400" b="0" i="0" u="none" strike="noStrike" kern="1200" cap="none" spc="0" normalizeH="0" baseline="0" noProof="0" dirty="0" err="1">
                <a:ln>
                  <a:noFill/>
                </a:ln>
                <a:solidFill>
                  <a:prstClr val="white"/>
                </a:solidFill>
                <a:effectLst/>
                <a:uLnTx/>
                <a:uFillTx/>
                <a:latin typeface="Calibri Light" panose="020F0302020204030204"/>
                <a:ea typeface="等线 Light" panose="02010600030101010101" charset="-122"/>
                <a:cs typeface="+mj-cs"/>
              </a:rPr>
              <a:t>text,but</a:t>
            </a:r>
            <a:r>
              <a:rPr kumimoji="0" lang="en-US" altLang="zh-CN" sz="2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rPr>
              <a:t> &lt;strong&gt; and &lt;em&gt; means that the text is "important".</a:t>
            </a:r>
            <a:endParaRPr kumimoji="0" lang="zh-CN" altLang="en-US" sz="2400" b="0" i="0" u="none" strike="noStrike" kern="1200" cap="none" spc="0" normalizeH="0" baseline="0" noProof="0" dirty="0">
              <a:ln>
                <a:noFill/>
              </a:ln>
              <a:solidFill>
                <a:prstClr val="white"/>
              </a:solidFill>
              <a:effectLst/>
              <a:uLnTx/>
              <a:uFillTx/>
              <a:latin typeface="Calibri Light" panose="020F0302020204030204"/>
              <a:ea typeface="等线 Light" panose="02010600030101010101"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Small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a:bodyPr>
          <a:lstStyle/>
          <a:p>
            <a:pPr algn="just">
              <a:lnSpc>
                <a:spcPct val="110000"/>
              </a:lnSpc>
            </a:pPr>
            <a:r>
              <a:rPr lang="en-US" altLang="zh-CN" sz="3300" dirty="0"/>
              <a:t>The HTML </a:t>
            </a:r>
            <a:r>
              <a:rPr lang="en-US" altLang="zh-CN" sz="3400" dirty="0">
                <a:solidFill>
                  <a:srgbClr val="FFFF00"/>
                </a:solidFill>
              </a:rPr>
              <a:t>&lt;small&gt; </a:t>
            </a:r>
            <a:r>
              <a:rPr lang="en-US" altLang="zh-CN" sz="3300" dirty="0"/>
              <a:t>element defines </a:t>
            </a:r>
            <a:r>
              <a:rPr lang="en-US" altLang="zh-CN" sz="3400" dirty="0">
                <a:solidFill>
                  <a:srgbClr val="FFFF00"/>
                </a:solidFill>
              </a:rPr>
              <a:t>small</a:t>
            </a:r>
            <a:r>
              <a:rPr lang="en-US" altLang="zh-CN" sz="3400" dirty="0"/>
              <a:t> </a:t>
            </a:r>
            <a:r>
              <a:rPr lang="en-US" altLang="zh-CN" sz="3400"/>
              <a:t>text</a:t>
            </a:r>
            <a:r>
              <a:rPr lang="en-US" altLang="zh-CN" sz="3300" smtClean="0"/>
              <a:t>.</a:t>
            </a:r>
            <a:endParaRPr lang="en-US" altLang="zh-CN" sz="3300" smtClean="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sp>
        <p:nvSpPr>
          <p:cNvPr id="5" name="矩形 4"/>
          <p:cNvSpPr/>
          <p:nvPr/>
        </p:nvSpPr>
        <p:spPr>
          <a:xfrm>
            <a:off x="677662" y="4241980"/>
            <a:ext cx="6096000" cy="646331"/>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rPr>
              <a:t>&lt;h2&gt;HTML Small Formatting&lt;/h2&gt;</a:t>
            </a: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rPr>
              <a:t>&lt;h2&gt; &lt;small&gt; HTML Small Formatting &lt;/small&gt;&lt;/h2&gt;</a:t>
            </a: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7" name="图片 6"/>
          <p:cNvPicPr>
            <a:picLocks noChangeAspect="1"/>
          </p:cNvPicPr>
          <p:nvPr/>
        </p:nvPicPr>
        <p:blipFill>
          <a:blip r:embed="rId1"/>
          <a:stretch>
            <a:fillRect/>
          </a:stretch>
        </p:blipFill>
        <p:spPr>
          <a:xfrm>
            <a:off x="7064541" y="4053255"/>
            <a:ext cx="3638095" cy="8952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Marked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fontScale="92500"/>
          </a:bodyPr>
          <a:lstStyle/>
          <a:p>
            <a:pPr algn="just">
              <a:lnSpc>
                <a:spcPct val="110000"/>
              </a:lnSpc>
            </a:pPr>
            <a:r>
              <a:rPr lang="en-US" altLang="zh-CN" sz="3300" dirty="0"/>
              <a:t>The HTML </a:t>
            </a:r>
            <a:r>
              <a:rPr lang="en-US" altLang="zh-CN" sz="3400" dirty="0">
                <a:solidFill>
                  <a:srgbClr val="FFFF00"/>
                </a:solidFill>
              </a:rPr>
              <a:t>&lt;mark&gt; </a:t>
            </a:r>
            <a:r>
              <a:rPr lang="en-US" altLang="zh-CN" sz="3300" dirty="0"/>
              <a:t>element defines </a:t>
            </a:r>
            <a:r>
              <a:rPr lang="en-US" altLang="zh-CN" sz="3400" dirty="0">
                <a:solidFill>
                  <a:srgbClr val="FFFF00"/>
                </a:solidFill>
              </a:rPr>
              <a:t>marked or highlighted </a:t>
            </a:r>
            <a:r>
              <a:rPr lang="en-US" altLang="zh-CN" sz="3400" dirty="0"/>
              <a:t> text</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5" name="图片 4"/>
          <p:cNvPicPr>
            <a:picLocks noChangeAspect="1"/>
          </p:cNvPicPr>
          <p:nvPr/>
        </p:nvPicPr>
        <p:blipFill>
          <a:blip r:embed="rId1"/>
          <a:stretch>
            <a:fillRect/>
          </a:stretch>
        </p:blipFill>
        <p:spPr>
          <a:xfrm>
            <a:off x="838200" y="4241980"/>
            <a:ext cx="4772025" cy="371475"/>
          </a:xfrm>
          <a:prstGeom prst="rect">
            <a:avLst/>
          </a:prstGeom>
        </p:spPr>
      </p:pic>
      <p:pic>
        <p:nvPicPr>
          <p:cNvPr id="8" name="图片 7"/>
          <p:cNvPicPr>
            <a:picLocks noChangeAspect="1"/>
          </p:cNvPicPr>
          <p:nvPr/>
        </p:nvPicPr>
        <p:blipFill>
          <a:blip r:embed="rId2"/>
          <a:stretch>
            <a:fillRect/>
          </a:stretch>
        </p:blipFill>
        <p:spPr>
          <a:xfrm>
            <a:off x="6581777" y="4080054"/>
            <a:ext cx="3886200" cy="695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Deleted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a:bodyPr>
          <a:lstStyle/>
          <a:p>
            <a:pPr algn="just">
              <a:lnSpc>
                <a:spcPct val="110000"/>
              </a:lnSpc>
            </a:pPr>
            <a:r>
              <a:rPr lang="en-US" altLang="zh-CN" sz="3300" dirty="0"/>
              <a:t>The HTML </a:t>
            </a:r>
            <a:r>
              <a:rPr lang="en-US" altLang="zh-CN" sz="3400" dirty="0">
                <a:solidFill>
                  <a:srgbClr val="FFFF00"/>
                </a:solidFill>
              </a:rPr>
              <a:t>&lt;del&gt; </a:t>
            </a:r>
            <a:r>
              <a:rPr lang="en-US" altLang="zh-CN" sz="3300" dirty="0"/>
              <a:t>element defines </a:t>
            </a:r>
            <a:r>
              <a:rPr lang="en-US" altLang="zh-CN" sz="3400" dirty="0">
                <a:solidFill>
                  <a:srgbClr val="FFFF00"/>
                </a:solidFill>
              </a:rPr>
              <a:t>deleted (removed) </a:t>
            </a:r>
            <a:r>
              <a:rPr lang="en-US" altLang="zh-CN" sz="3400" dirty="0"/>
              <a:t> text</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6" name="图片 5"/>
          <p:cNvPicPr>
            <a:picLocks noChangeAspect="1"/>
          </p:cNvPicPr>
          <p:nvPr/>
        </p:nvPicPr>
        <p:blipFill>
          <a:blip r:embed="rId1"/>
          <a:stretch>
            <a:fillRect/>
          </a:stretch>
        </p:blipFill>
        <p:spPr>
          <a:xfrm>
            <a:off x="838200" y="4241980"/>
            <a:ext cx="5105400" cy="342900"/>
          </a:xfrm>
          <a:prstGeom prst="rect">
            <a:avLst/>
          </a:prstGeom>
        </p:spPr>
      </p:pic>
      <p:pic>
        <p:nvPicPr>
          <p:cNvPr id="9" name="图片 8"/>
          <p:cNvPicPr>
            <a:picLocks noChangeAspect="1"/>
          </p:cNvPicPr>
          <p:nvPr/>
        </p:nvPicPr>
        <p:blipFill>
          <a:blip r:embed="rId2"/>
          <a:stretch>
            <a:fillRect/>
          </a:stretch>
        </p:blipFill>
        <p:spPr>
          <a:xfrm>
            <a:off x="6976817" y="4189592"/>
            <a:ext cx="2857500" cy="4476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Inserted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a:bodyPr>
          <a:lstStyle/>
          <a:p>
            <a:pPr algn="just">
              <a:lnSpc>
                <a:spcPct val="110000"/>
              </a:lnSpc>
            </a:pPr>
            <a:r>
              <a:rPr lang="en-US" altLang="zh-CN" sz="3300" dirty="0"/>
              <a:t>The HTML </a:t>
            </a:r>
            <a:r>
              <a:rPr lang="en-US" altLang="zh-CN" sz="3400" dirty="0">
                <a:solidFill>
                  <a:srgbClr val="FFFF00"/>
                </a:solidFill>
              </a:rPr>
              <a:t>&lt;ins&gt; </a:t>
            </a:r>
            <a:r>
              <a:rPr lang="en-US" altLang="zh-CN" sz="3300" dirty="0"/>
              <a:t>element defines </a:t>
            </a:r>
            <a:r>
              <a:rPr lang="en-US" altLang="zh-CN" sz="3400" dirty="0">
                <a:solidFill>
                  <a:srgbClr val="FFFF00"/>
                </a:solidFill>
              </a:rPr>
              <a:t>inserted (added) </a:t>
            </a:r>
            <a:r>
              <a:rPr lang="en-US" altLang="zh-CN" sz="3400" dirty="0"/>
              <a:t>text</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5" name="图片 4"/>
          <p:cNvPicPr>
            <a:picLocks noChangeAspect="1"/>
          </p:cNvPicPr>
          <p:nvPr/>
        </p:nvPicPr>
        <p:blipFill>
          <a:blip r:embed="rId1"/>
          <a:stretch>
            <a:fillRect/>
          </a:stretch>
        </p:blipFill>
        <p:spPr>
          <a:xfrm>
            <a:off x="838200" y="4241980"/>
            <a:ext cx="4591050" cy="361950"/>
          </a:xfrm>
          <a:prstGeom prst="rect">
            <a:avLst/>
          </a:prstGeom>
        </p:spPr>
      </p:pic>
      <p:pic>
        <p:nvPicPr>
          <p:cNvPr id="8" name="图片 7"/>
          <p:cNvPicPr>
            <a:picLocks noChangeAspect="1"/>
          </p:cNvPicPr>
          <p:nvPr/>
        </p:nvPicPr>
        <p:blipFill>
          <a:blip r:embed="rId2"/>
          <a:stretch>
            <a:fillRect/>
          </a:stretch>
        </p:blipFill>
        <p:spPr>
          <a:xfrm>
            <a:off x="6673538" y="4199117"/>
            <a:ext cx="2257425" cy="4476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Subscript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a:bodyPr>
          <a:lstStyle/>
          <a:p>
            <a:pPr algn="just">
              <a:lnSpc>
                <a:spcPct val="110000"/>
              </a:lnSpc>
            </a:pPr>
            <a:r>
              <a:rPr lang="en-US" altLang="zh-CN" sz="3300" dirty="0"/>
              <a:t>The HTML </a:t>
            </a:r>
            <a:r>
              <a:rPr lang="en-US" altLang="zh-CN" sz="3400" dirty="0">
                <a:solidFill>
                  <a:srgbClr val="FFFF00"/>
                </a:solidFill>
              </a:rPr>
              <a:t>&lt;sub&gt; </a:t>
            </a:r>
            <a:r>
              <a:rPr lang="en-US" altLang="zh-CN" sz="3300" dirty="0"/>
              <a:t>element defines </a:t>
            </a:r>
            <a:r>
              <a:rPr lang="en-US" altLang="zh-CN" sz="3400" dirty="0">
                <a:solidFill>
                  <a:srgbClr val="FFFF00"/>
                </a:solidFill>
              </a:rPr>
              <a:t>subscripted </a:t>
            </a:r>
            <a:r>
              <a:rPr lang="en-US" altLang="zh-CN" sz="3400" dirty="0"/>
              <a:t>text</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6" name="图片 5"/>
          <p:cNvPicPr>
            <a:picLocks noChangeAspect="1"/>
          </p:cNvPicPr>
          <p:nvPr/>
        </p:nvPicPr>
        <p:blipFill>
          <a:blip r:embed="rId1"/>
          <a:stretch>
            <a:fillRect/>
          </a:stretch>
        </p:blipFill>
        <p:spPr>
          <a:xfrm>
            <a:off x="838200" y="4241980"/>
            <a:ext cx="4591050" cy="361950"/>
          </a:xfrm>
          <a:prstGeom prst="rect">
            <a:avLst/>
          </a:prstGeom>
        </p:spPr>
      </p:pic>
      <p:pic>
        <p:nvPicPr>
          <p:cNvPr id="9" name="图片 8"/>
          <p:cNvPicPr>
            <a:picLocks noChangeAspect="1"/>
          </p:cNvPicPr>
          <p:nvPr/>
        </p:nvPicPr>
        <p:blipFill>
          <a:blip r:embed="rId2"/>
          <a:stretch>
            <a:fillRect/>
          </a:stretch>
        </p:blipFill>
        <p:spPr>
          <a:xfrm>
            <a:off x="6703049" y="4213405"/>
            <a:ext cx="2085975" cy="419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Superscript Formatting</a:t>
            </a:r>
            <a:endParaRPr lang="zh-CN" altLang="en-US" dirty="0"/>
          </a:p>
        </p:txBody>
      </p:sp>
      <p:sp>
        <p:nvSpPr>
          <p:cNvPr id="3" name="内容占位符 2"/>
          <p:cNvSpPr>
            <a:spLocks noGrp="1"/>
          </p:cNvSpPr>
          <p:nvPr>
            <p:ph idx="1"/>
          </p:nvPr>
        </p:nvSpPr>
        <p:spPr>
          <a:xfrm>
            <a:off x="838200" y="1683522"/>
            <a:ext cx="10515600" cy="2138970"/>
          </a:xfrm>
        </p:spPr>
        <p:txBody>
          <a:bodyPr>
            <a:normAutofit/>
          </a:bodyPr>
          <a:lstStyle/>
          <a:p>
            <a:pPr algn="just">
              <a:lnSpc>
                <a:spcPct val="110000"/>
              </a:lnSpc>
            </a:pPr>
            <a:r>
              <a:rPr lang="en-US" altLang="zh-CN" sz="3300" dirty="0"/>
              <a:t>The HTML </a:t>
            </a:r>
            <a:r>
              <a:rPr lang="en-US" altLang="zh-CN" sz="3400" dirty="0">
                <a:solidFill>
                  <a:srgbClr val="FFFF00"/>
                </a:solidFill>
              </a:rPr>
              <a:t>&lt;sup&gt; </a:t>
            </a:r>
            <a:r>
              <a:rPr lang="en-US" altLang="zh-CN" sz="3300" dirty="0"/>
              <a:t>element defines </a:t>
            </a:r>
            <a:r>
              <a:rPr lang="en-US" altLang="zh-CN" sz="3400" dirty="0">
                <a:solidFill>
                  <a:srgbClr val="FFFF00"/>
                </a:solidFill>
              </a:rPr>
              <a:t>superscripted </a:t>
            </a:r>
            <a:r>
              <a:rPr lang="en-US" altLang="zh-CN" sz="3400" dirty="0"/>
              <a:t>text</a:t>
            </a:r>
            <a:r>
              <a:rPr lang="en-US" altLang="zh-CN" sz="3300" dirty="0"/>
              <a:t>.</a:t>
            </a:r>
            <a:endParaRPr lang="en-US" altLang="zh-CN" sz="3300" dirty="0"/>
          </a:p>
          <a:p>
            <a:pPr marL="0" indent="0" algn="just">
              <a:lnSpc>
                <a:spcPct val="110000"/>
              </a:lnSpc>
              <a:buNone/>
            </a:pPr>
            <a:endParaRPr lang="en-US" altLang="zh-CN" sz="3300" dirty="0"/>
          </a:p>
          <a:p>
            <a:pPr marL="0" indent="0" algn="just">
              <a:lnSpc>
                <a:spcPct val="110000"/>
              </a:lnSpc>
              <a:buNone/>
            </a:pPr>
            <a:r>
              <a:rPr lang="en-US" altLang="zh-CN" sz="3300" dirty="0"/>
              <a:t>Examples:</a:t>
            </a:r>
            <a:endParaRPr lang="zh-CN" altLang="en-US" sz="3300" dirty="0"/>
          </a:p>
        </p:txBody>
      </p:sp>
      <p:pic>
        <p:nvPicPr>
          <p:cNvPr id="5" name="图片 4"/>
          <p:cNvPicPr>
            <a:picLocks noChangeAspect="1"/>
          </p:cNvPicPr>
          <p:nvPr/>
        </p:nvPicPr>
        <p:blipFill>
          <a:blip r:embed="rId1"/>
          <a:stretch>
            <a:fillRect/>
          </a:stretch>
        </p:blipFill>
        <p:spPr>
          <a:xfrm>
            <a:off x="838200" y="4241980"/>
            <a:ext cx="4762500" cy="390525"/>
          </a:xfrm>
          <a:prstGeom prst="rect">
            <a:avLst/>
          </a:prstGeom>
        </p:spPr>
      </p:pic>
      <p:pic>
        <p:nvPicPr>
          <p:cNvPr id="8" name="图片 7"/>
          <p:cNvPicPr>
            <a:picLocks noChangeAspect="1"/>
          </p:cNvPicPr>
          <p:nvPr/>
        </p:nvPicPr>
        <p:blipFill>
          <a:blip r:embed="rId2"/>
          <a:stretch>
            <a:fillRect/>
          </a:stretch>
        </p:blipFill>
        <p:spPr>
          <a:xfrm>
            <a:off x="6711540" y="4189592"/>
            <a:ext cx="2200275" cy="495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76729"/>
          </a:xfrm>
        </p:spPr>
        <p:txBody>
          <a:bodyPr/>
          <a:lstStyle/>
          <a:p>
            <a:pPr algn="ctr"/>
            <a:r>
              <a:rPr lang="en-US" altLang="zh-CN" dirty="0"/>
              <a:t>HTML Text Formatting Elements</a:t>
            </a:r>
            <a:endParaRPr lang="zh-CN" altLang="en-US" dirty="0"/>
          </a:p>
        </p:txBody>
      </p:sp>
      <p:pic>
        <p:nvPicPr>
          <p:cNvPr id="8" name="图片 7"/>
          <p:cNvPicPr>
            <a:picLocks noChangeAspect="1"/>
          </p:cNvPicPr>
          <p:nvPr/>
        </p:nvPicPr>
        <p:blipFill>
          <a:blip r:embed="rId1"/>
          <a:stretch>
            <a:fillRect/>
          </a:stretch>
        </p:blipFill>
        <p:spPr>
          <a:xfrm>
            <a:off x="1652587" y="1414904"/>
            <a:ext cx="8886825" cy="4857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 Comments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HTML Comment Tags</a:t>
            </a:r>
            <a:endParaRPr lang="zh-CN" altLang="en-US" dirty="0"/>
          </a:p>
        </p:txBody>
      </p:sp>
      <p:sp>
        <p:nvSpPr>
          <p:cNvPr id="3" name="内容占位符 2"/>
          <p:cNvSpPr>
            <a:spLocks noGrp="1"/>
          </p:cNvSpPr>
          <p:nvPr>
            <p:ph idx="1"/>
          </p:nvPr>
        </p:nvSpPr>
        <p:spPr>
          <a:xfrm>
            <a:off x="838200" y="1479636"/>
            <a:ext cx="10515600" cy="4351338"/>
          </a:xfrm>
        </p:spPr>
        <p:txBody>
          <a:bodyPr>
            <a:normAutofit/>
          </a:bodyPr>
          <a:lstStyle/>
          <a:p>
            <a:pPr marL="0" indent="0" algn="just">
              <a:buNone/>
            </a:pPr>
            <a:r>
              <a:rPr lang="en-US" altLang="zh-CN" dirty="0"/>
              <a:t>You can add comments to your HTML source by using the following syntax:</a:t>
            </a:r>
            <a:endParaRPr lang="en-US" altLang="zh-CN" dirty="0"/>
          </a:p>
          <a:p>
            <a:pPr marL="0" indent="0" algn="just">
              <a:buNone/>
            </a:pPr>
            <a:endParaRPr lang="en-US" altLang="zh-CN" dirty="0"/>
          </a:p>
          <a:p>
            <a:pPr marL="0" indent="0" algn="just">
              <a:buNone/>
            </a:pPr>
            <a:r>
              <a:rPr lang="en-US" altLang="zh-CN" dirty="0"/>
              <a:t>Example:</a:t>
            </a: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b="1" dirty="0"/>
              <a:t>Note:</a:t>
            </a:r>
            <a:r>
              <a:rPr lang="en-US" altLang="zh-CN" dirty="0"/>
              <a:t> There is an exclamation point (!) in the opening tag, but not in the closing tag.</a:t>
            </a:r>
            <a:endParaRPr lang="en-US" altLang="zh-CN" dirty="0"/>
          </a:p>
          <a:p>
            <a:pPr marL="0" indent="0" algn="just">
              <a:buNone/>
            </a:pPr>
            <a:endParaRPr lang="en-US" altLang="zh-CN" dirty="0"/>
          </a:p>
          <a:p>
            <a:pPr marL="0" indent="0" algn="just">
              <a:buNone/>
            </a:pPr>
            <a:endParaRPr lang="en-US" altLang="zh-CN" dirty="0"/>
          </a:p>
        </p:txBody>
      </p:sp>
      <p:pic>
        <p:nvPicPr>
          <p:cNvPr id="5" name="图片 4"/>
          <p:cNvPicPr>
            <a:picLocks noChangeAspect="1"/>
          </p:cNvPicPr>
          <p:nvPr/>
        </p:nvPicPr>
        <p:blipFill>
          <a:blip r:embed="rId1"/>
          <a:stretch>
            <a:fillRect/>
          </a:stretch>
        </p:blipFill>
        <p:spPr>
          <a:xfrm>
            <a:off x="2669012" y="2874255"/>
            <a:ext cx="5553075" cy="781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Comment Tags</a:t>
            </a:r>
            <a:endParaRPr lang="zh-CN" altLang="en-US" dirty="0"/>
          </a:p>
        </p:txBody>
      </p:sp>
      <p:sp>
        <p:nvSpPr>
          <p:cNvPr id="3" name="内容占位符 2"/>
          <p:cNvSpPr>
            <a:spLocks noGrp="1"/>
          </p:cNvSpPr>
          <p:nvPr>
            <p:ph idx="1"/>
          </p:nvPr>
        </p:nvSpPr>
        <p:spPr>
          <a:xfrm>
            <a:off x="734505" y="1513841"/>
            <a:ext cx="10515600" cy="2021211"/>
          </a:xfrm>
        </p:spPr>
        <p:txBody>
          <a:bodyPr>
            <a:noAutofit/>
          </a:bodyPr>
          <a:lstStyle/>
          <a:p>
            <a:pPr marL="0" indent="0">
              <a:buNone/>
            </a:pPr>
            <a:r>
              <a:rPr lang="en-US" altLang="zh-CN" dirty="0"/>
              <a:t>Comments are not displayed by the browser, but they can help document your HTML.</a:t>
            </a:r>
            <a:endParaRPr lang="en-US" altLang="zh-CN" dirty="0"/>
          </a:p>
          <a:p>
            <a:pPr marL="0" indent="0">
              <a:buNone/>
            </a:pPr>
            <a:r>
              <a:rPr lang="en-US" altLang="zh-CN" dirty="0"/>
              <a:t>With comments you can place notifications and reminders in your HTML:</a:t>
            </a:r>
            <a:endParaRPr lang="en-US" altLang="zh-CN" dirty="0"/>
          </a:p>
          <a:p>
            <a:pPr marL="0" indent="0">
              <a:buNone/>
            </a:pPr>
            <a:endParaRPr lang="en-US" altLang="zh-CN" dirty="0"/>
          </a:p>
          <a:p>
            <a:pPr marL="0" indent="0">
              <a:buNone/>
            </a:pPr>
            <a:endParaRPr lang="en-US" altLang="zh-CN" dirty="0"/>
          </a:p>
          <a:p>
            <a:pPr marL="0" indent="0">
              <a:buNone/>
            </a:pPr>
            <a:endParaRPr lang="zh-CN" altLang="en-US" sz="2800" b="1" dirty="0"/>
          </a:p>
          <a:p>
            <a:pPr marL="0" indent="0">
              <a:buNone/>
            </a:pPr>
            <a:endParaRPr lang="en-US" altLang="zh-CN" dirty="0"/>
          </a:p>
          <a:p>
            <a:pPr marL="0" indent="0">
              <a:buNone/>
            </a:pPr>
            <a:endParaRPr lang="en-US" altLang="zh-CN" sz="2400" dirty="0">
              <a:solidFill>
                <a:srgbClr val="FFFF00"/>
              </a:solidFill>
            </a:endParaRPr>
          </a:p>
          <a:p>
            <a:pPr marL="0" indent="0">
              <a:buNone/>
            </a:pPr>
            <a:endParaRPr lang="en-US" altLang="zh-CN" sz="2400" dirty="0"/>
          </a:p>
        </p:txBody>
      </p:sp>
      <p:pic>
        <p:nvPicPr>
          <p:cNvPr id="5" name="图片 4"/>
          <p:cNvPicPr>
            <a:picLocks noChangeAspect="1"/>
          </p:cNvPicPr>
          <p:nvPr/>
        </p:nvPicPr>
        <p:blipFill>
          <a:blip r:embed="rId1"/>
          <a:stretch>
            <a:fillRect/>
          </a:stretch>
        </p:blipFill>
        <p:spPr>
          <a:xfrm>
            <a:off x="2457450" y="3483204"/>
            <a:ext cx="7277100" cy="2447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Comment Tags</a:t>
            </a:r>
            <a:endParaRPr lang="zh-CN" altLang="en-US" dirty="0"/>
          </a:p>
        </p:txBody>
      </p:sp>
      <p:sp>
        <p:nvSpPr>
          <p:cNvPr id="3" name="内容占位符 2"/>
          <p:cNvSpPr>
            <a:spLocks noGrp="1"/>
          </p:cNvSpPr>
          <p:nvPr>
            <p:ph idx="1"/>
          </p:nvPr>
        </p:nvSpPr>
        <p:spPr>
          <a:xfrm>
            <a:off x="734505" y="1513841"/>
            <a:ext cx="10515600" cy="2021211"/>
          </a:xfrm>
        </p:spPr>
        <p:txBody>
          <a:bodyPr>
            <a:noAutofit/>
          </a:bodyPr>
          <a:lstStyle/>
          <a:p>
            <a:pPr marL="0" indent="0">
              <a:buNone/>
            </a:pPr>
            <a:r>
              <a:rPr lang="en-US" altLang="zh-CN" dirty="0"/>
              <a:t>Comments are also great for debugging HTML, because you can comment out HTML lines of code, one at a time, to search for errors:</a:t>
            </a:r>
            <a:endParaRPr lang="en-US" altLang="zh-CN" dirty="0"/>
          </a:p>
          <a:p>
            <a:pPr marL="0" indent="0">
              <a:buNone/>
            </a:pPr>
            <a:endParaRPr lang="en-US" altLang="zh-CN" dirty="0"/>
          </a:p>
          <a:p>
            <a:pPr marL="0" indent="0">
              <a:buNone/>
            </a:pPr>
            <a:endParaRPr lang="zh-CN" altLang="en-US" sz="2800" b="1" dirty="0"/>
          </a:p>
          <a:p>
            <a:pPr marL="0" indent="0">
              <a:buNone/>
            </a:pPr>
            <a:endParaRPr lang="en-US" altLang="zh-CN" dirty="0"/>
          </a:p>
          <a:p>
            <a:pPr marL="0" indent="0">
              <a:buNone/>
            </a:pPr>
            <a:endParaRPr lang="en-US" altLang="zh-CN" sz="2400" dirty="0">
              <a:solidFill>
                <a:srgbClr val="FFFF00"/>
              </a:solidFill>
            </a:endParaRPr>
          </a:p>
          <a:p>
            <a:pPr marL="0" indent="0">
              <a:buNone/>
            </a:pPr>
            <a:endParaRPr lang="en-US" altLang="zh-CN" sz="2400" dirty="0"/>
          </a:p>
        </p:txBody>
      </p:sp>
      <p:pic>
        <p:nvPicPr>
          <p:cNvPr id="6" name="图片 5"/>
          <p:cNvPicPr>
            <a:picLocks noChangeAspect="1"/>
          </p:cNvPicPr>
          <p:nvPr/>
        </p:nvPicPr>
        <p:blipFill>
          <a:blip r:embed="rId1"/>
          <a:stretch>
            <a:fillRect/>
          </a:stretch>
        </p:blipFill>
        <p:spPr>
          <a:xfrm>
            <a:off x="1928813" y="3034986"/>
            <a:ext cx="8334375" cy="1914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Conditional Comments</a:t>
            </a:r>
            <a:endParaRPr lang="zh-CN" altLang="en-US" dirty="0"/>
          </a:p>
        </p:txBody>
      </p:sp>
      <p:sp>
        <p:nvSpPr>
          <p:cNvPr id="3" name="内容占位符 2"/>
          <p:cNvSpPr>
            <a:spLocks noGrp="1"/>
          </p:cNvSpPr>
          <p:nvPr>
            <p:ph idx="1"/>
          </p:nvPr>
        </p:nvSpPr>
        <p:spPr>
          <a:xfrm>
            <a:off x="838200" y="1198606"/>
            <a:ext cx="10515600" cy="3844734"/>
          </a:xfrm>
        </p:spPr>
        <p:txBody>
          <a:bodyPr>
            <a:noAutofit/>
          </a:bodyPr>
          <a:lstStyle/>
          <a:p>
            <a:pPr marL="0" indent="0" algn="just">
              <a:buNone/>
            </a:pPr>
            <a:r>
              <a:rPr lang="en-US" altLang="zh-CN" dirty="0"/>
              <a:t>You might stumble upon conditional comments in HTML:</a:t>
            </a:r>
            <a:endParaRPr lang="en-US" altLang="zh-CN" dirty="0"/>
          </a:p>
          <a:p>
            <a:pPr marL="0" indent="0" algn="just">
              <a:buNone/>
            </a:pPr>
            <a:endParaRPr lang="en-US" altLang="zh-CN" dirty="0"/>
          </a:p>
          <a:p>
            <a:pPr marL="0" indent="0" algn="just">
              <a:buNone/>
            </a:pPr>
            <a:r>
              <a:rPr lang="en-US" altLang="zh-CN" dirty="0"/>
              <a:t>Examples</a:t>
            </a:r>
            <a:r>
              <a:rPr lang="zh-CN" altLang="en-US" dirty="0"/>
              <a:t>：</a:t>
            </a: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Conditional comments defines HTML tags to be executed by Internet Explorer only.</a:t>
            </a:r>
            <a:endParaRPr lang="en-US" altLang="zh-CN" dirty="0"/>
          </a:p>
          <a:p>
            <a:pPr marL="0" indent="0" algn="just">
              <a:buNone/>
            </a:pPr>
            <a:endParaRPr lang="en-US" altLang="zh-CN" dirty="0"/>
          </a:p>
        </p:txBody>
      </p:sp>
      <p:pic>
        <p:nvPicPr>
          <p:cNvPr id="5" name="图片 4"/>
          <p:cNvPicPr>
            <a:picLocks noChangeAspect="1"/>
          </p:cNvPicPr>
          <p:nvPr/>
        </p:nvPicPr>
        <p:blipFill>
          <a:blip r:embed="rId1"/>
          <a:stretch>
            <a:fillRect/>
          </a:stretch>
        </p:blipFill>
        <p:spPr>
          <a:xfrm>
            <a:off x="2681288" y="2948205"/>
            <a:ext cx="6829425" cy="1314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5"/>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5"/>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5"/>
  <p:tag name="KSO_WM_TEMPLATE_MASTER_TYPE" val="0"/>
  <p:tag name="KSO_WM_TEMPLATE_COLOR_TYPE" val="1"/>
  <p:tag name="KSO_WM_UNIT_SHOW_EDIT_AREA_INDICATION" val="1"/>
</p:tagLst>
</file>

<file path=ppt/tags/tag187.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188.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18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9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9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92.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19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5_1*b*1"/>
  <p:tag name="KSO_WM_TEMPLATE_CATEGORY" val="custom"/>
  <p:tag name="KSO_WM_TEMPLATE_INDEX" val="20205175"/>
  <p:tag name="KSO_WM_UNIT_LAYERLEVEL" val="1"/>
  <p:tag name="KSO_WM_TAG_VERSION" val="1.0"/>
  <p:tag name="KSO_WM_BEAUTIFY_FLAG" val="#wm#"/>
</p:tagLst>
</file>

<file path=ppt/tags/tag194.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19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196.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5_1*b*1"/>
  <p:tag name="KSO_WM_TEMPLATE_CATEGORY" val="custom"/>
  <p:tag name="KSO_WM_TEMPLATE_INDEX" val="20205175"/>
  <p:tag name="KSO_WM_UNIT_LAYERLEVEL" val="1"/>
  <p:tag name="KSO_WM_TAG_VERSION" val="1.0"/>
  <p:tag name="KSO_WM_BEAUTIFY_FLAG" val="#wm#"/>
</p:tagLst>
</file>

<file path=ppt/tags/tag197.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198.xml><?xml version="1.0" encoding="utf-8"?>
<p:tagLst xmlns:p="http://schemas.openxmlformats.org/presentationml/2006/main">
  <p:tag name="KSO_WM_UNIT_PRESET_TEXT" val="单击此处添加正文"/>
  <p:tag name="KSO_WM_UNIT_NOCLEAR" val="0"/>
  <p:tag name="KSO_WM_UNIT_SHOW_EDIT_AREA_INDICATION" val="1"/>
  <p:tag name="KSO_WM_UNIT_VALUE" val="336"/>
  <p:tag name="KSO_WM_UNIT_HIGHLIGHT" val="0"/>
  <p:tag name="KSO_WM_UNIT_COMPATIBLE" val="0"/>
  <p:tag name="KSO_WM_UNIT_DIAGRAM_ISNUMVISUAL" val="0"/>
  <p:tag name="KSO_WM_UNIT_DIAGRAM_ISREFERUNIT" val="0"/>
  <p:tag name="KSO_WM_UNIT_TYPE" val="f"/>
  <p:tag name="KSO_WM_UNIT_INDEX" val="1"/>
  <p:tag name="KSO_WM_UNIT_ID" val="custom20205175_15*f*1"/>
  <p:tag name="KSO_WM_TEMPLATE_CATEGORY" val="custom"/>
  <p:tag name="KSO_WM_TEMPLATE_INDEX" val="20205175"/>
  <p:tag name="KSO_WM_UNIT_LAYERLEVEL" val="1"/>
  <p:tag name="KSO_WM_TAG_VERSION" val="1.0"/>
  <p:tag name="KSO_WM_BEAUTIFY_FLAG" val="#wm#"/>
</p:tagLst>
</file>

<file path=ppt/tags/tag19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5*a*1"/>
  <p:tag name="KSO_WM_TEMPLATE_CATEGORY" val="custom"/>
  <p:tag name="KSO_WM_TEMPLATE_INDEX" val="20205175"/>
  <p:tag name="KSO_WM_UNIT_LAYERLEVEL" val="1"/>
  <p:tag name="KSO_WM_TAG_VERSION" val="1.0"/>
  <p:tag name="KSO_WM_BEAUTIFY_FLAG" val="#wm#"/>
  <p:tag name="KSO_WM_UNIT_ISNUMDGMTITLE" val="0"/>
</p:tagLst>
</file>

<file path=ppt/tags/tag200.xml><?xml version="1.0" encoding="utf-8"?>
<p:tagLst xmlns:p="http://schemas.openxmlformats.org/presentationml/2006/main">
  <p:tag name="KSO_WM_BEAUTIFY_FLAG" val="#wm#"/>
  <p:tag name="KSO_WM_TEMPLATE_CATEGORY" val="custom"/>
  <p:tag name="KSO_WM_TEMPLATE_INDEX" val="20205175"/>
  <p:tag name="KSO_WM_SLIDE_ID" val="custom20205175_15"/>
  <p:tag name="KSO_WM_TEMPLATE_SUBCATEGORY" val="19"/>
  <p:tag name="KSO_WM_TEMPLATE_MASTER_TYPE" val="0"/>
  <p:tag name="KSO_WM_TEMPLATE_COLOR_TYPE" val="1"/>
  <p:tag name="KSO_WM_SLIDE_ITEM_CNT" val="0"/>
  <p:tag name="KSO_WM_SLIDE_INDEX" val="15"/>
  <p:tag name="KSO_WM_TAG_VERSION" val="1.0"/>
  <p:tag name="KSO_WM_SLIDE_TYPE" val="text"/>
  <p:tag name="KSO_WM_SLIDE_SUBTYPE" val="pureTxt"/>
  <p:tag name="KSO_WM_SLIDE_SIZE" val="864*444"/>
  <p:tag name="KSO_WM_SLIDE_POSITION" val="47*47"/>
  <p:tag name="KSO_WM_SLIDE_LAYOUT" val="a_f"/>
  <p:tag name="KSO_WM_SLIDE_LAYOUT_CNT" val="1_2"/>
  <p:tag name="KSO_WM_UNIT_SHOW_EDIT_AREA_INDICATION"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f*1"/>
  <p:tag name="KSO_WM_TEMPLATE_CATEGORY" val="custom"/>
  <p:tag name="KSO_WM_TEMPLATE_INDEX" val="20205175"/>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a*1"/>
  <p:tag name="KSO_WM_TEMPLATE_CATEGORY" val="custom"/>
  <p:tag name="KSO_WM_TEMPLATE_INDEX" val="20205175"/>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203.xml><?xml version="1.0" encoding="utf-8"?>
<p:tagLst xmlns:p="http://schemas.openxmlformats.org/presentationml/2006/main">
  <p:tag name="KSO_WM_BEAUTIFY_FLAG" val="#wm#"/>
  <p:tag name="KSO_WM_TEMPLATE_CATEGORY" val="custom"/>
  <p:tag name="KSO_WM_TEMPLATE_INDEX" val="20205175"/>
  <p:tag name="KSO_WM_SLIDE_ID" val="custom20205175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204.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205.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f*1"/>
  <p:tag name="KSO_WM_TEMPLATE_CATEGORY" val="custom"/>
  <p:tag name="KSO_WM_TEMPLATE_INDEX" val="20205175"/>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a*1"/>
  <p:tag name="KSO_WM_TEMPLATE_CATEGORY" val="custom"/>
  <p:tag name="KSO_WM_TEMPLATE_INDEX" val="20205175"/>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208.xml><?xml version="1.0" encoding="utf-8"?>
<p:tagLst xmlns:p="http://schemas.openxmlformats.org/presentationml/2006/main">
  <p:tag name="KSO_WM_BEAUTIFY_FLAG" val="#wm#"/>
  <p:tag name="KSO_WM_TEMPLATE_CATEGORY" val="custom"/>
  <p:tag name="KSO_WM_TEMPLATE_INDEX" val="20205175"/>
  <p:tag name="KSO_WM_SLIDE_ID" val="custom20205175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f*1"/>
  <p:tag name="KSO_WM_TEMPLATE_CATEGORY" val="custom"/>
  <p:tag name="KSO_WM_TEMPLATE_INDEX" val="20205175"/>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a*1"/>
  <p:tag name="KSO_WM_TEMPLATE_CATEGORY" val="custom"/>
  <p:tag name="KSO_WM_TEMPLATE_INDEX" val="20205175"/>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211.xml><?xml version="1.0" encoding="utf-8"?>
<p:tagLst xmlns:p="http://schemas.openxmlformats.org/presentationml/2006/main">
  <p:tag name="KSO_WM_UNIT_PLACING_PICTURE_USER_VIEWPORT" val="{&quot;height&quot;:3420,&quot;width&quot;:4080}"/>
</p:tagLst>
</file>

<file path=ppt/tags/tag212.xml><?xml version="1.0" encoding="utf-8"?>
<p:tagLst xmlns:p="http://schemas.openxmlformats.org/presentationml/2006/main">
  <p:tag name="KSO_WM_BEAUTIFY_FLAG" val="#wm#"/>
  <p:tag name="KSO_WM_TEMPLATE_CATEGORY" val="custom"/>
  <p:tag name="KSO_WM_TEMPLATE_INDEX" val="20205175"/>
  <p:tag name="KSO_WM_SLIDE_ID" val="custom20205175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21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1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15.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1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1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18.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1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2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2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2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2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24.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2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2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2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2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2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3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3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3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3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3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3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36.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37.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238.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23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4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4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4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4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44.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4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4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4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4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4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5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5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5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5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5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5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56.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5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5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59.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6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6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62.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6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6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65.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6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26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268.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69.xml><?xml version="1.0" encoding="utf-8"?>
<p:tagLst xmlns:p="http://schemas.openxmlformats.org/presentationml/2006/main">
  <p:tag name="commondata" val="eyJoZGlkIjoiNWQyMzkyOWRjOGE1NzM3ODdhMDA3YmE1MDAyZWE4MjMifQ=="/>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14565</Words>
  <Application>WPS 演示</Application>
  <PresentationFormat>宽屏</PresentationFormat>
  <Paragraphs>542</Paragraphs>
  <Slides>81</Slides>
  <Notes>9</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81</vt:i4>
      </vt:variant>
    </vt:vector>
  </HeadingPairs>
  <TitlesOfParts>
    <vt:vector size="97" baseType="lpstr">
      <vt:lpstr>Arial</vt:lpstr>
      <vt:lpstr>宋体</vt:lpstr>
      <vt:lpstr>Wingdings</vt:lpstr>
      <vt:lpstr>微软雅黑</vt:lpstr>
      <vt:lpstr>Wingdings</vt:lpstr>
      <vt:lpstr>Calibri Light</vt:lpstr>
      <vt:lpstr>Arial Unicode MS</vt:lpstr>
      <vt:lpstr>等线 Light</vt:lpstr>
      <vt:lpstr>等线</vt:lpstr>
      <vt:lpstr>Calibri</vt:lpstr>
      <vt:lpstr>Calibri</vt:lpstr>
      <vt:lpstr>Calibri Light</vt:lpstr>
      <vt:lpstr>Office Theme</vt:lpstr>
      <vt:lpstr>Office 主题​​</vt:lpstr>
      <vt:lpstr>2_Office 主题​​</vt:lpstr>
      <vt:lpstr>3_Office 主题​​</vt:lpstr>
      <vt:lpstr>Web Information Processing</vt:lpstr>
      <vt:lpstr>Course Introduction</vt:lpstr>
      <vt:lpstr>Main Content</vt:lpstr>
      <vt:lpstr>What is HTML?</vt:lpstr>
      <vt:lpstr>HTML Example</vt:lpstr>
      <vt:lpstr>HTML Tags</vt:lpstr>
      <vt:lpstr>Web Browsers</vt:lpstr>
      <vt:lpstr>HTML Page Structure</vt:lpstr>
      <vt:lpstr>&lt;!DOCTYPE&gt; Declaration</vt:lpstr>
      <vt:lpstr>HTML Versions</vt:lpstr>
      <vt:lpstr>Common Declarations</vt:lpstr>
      <vt:lpstr>HTML EDITORS</vt:lpstr>
      <vt:lpstr>Write HTML</vt:lpstr>
      <vt:lpstr>How to use Notepad</vt:lpstr>
      <vt:lpstr>How to use Notepad </vt:lpstr>
      <vt:lpstr>How to use Notepad </vt:lpstr>
      <vt:lpstr>PowerPoint 演示文稿</vt:lpstr>
      <vt:lpstr>HTML Elements</vt:lpstr>
      <vt:lpstr>PowerPoint 演示文稿</vt:lpstr>
      <vt:lpstr>PowerPoint 演示文稿</vt:lpstr>
      <vt:lpstr>Nested HTML Elements</vt:lpstr>
      <vt:lpstr>Nested HTML Elements</vt:lpstr>
      <vt:lpstr>Nested HTML Elements</vt:lpstr>
      <vt:lpstr>Nested HTML Elements</vt:lpstr>
      <vt:lpstr>Nested HTML Elements</vt:lpstr>
      <vt:lpstr>Nested HTML Elements</vt:lpstr>
      <vt:lpstr>Empty HTML Elements</vt:lpstr>
      <vt:lpstr>HTML Tip: Use Lowercase Tags</vt:lpstr>
      <vt:lpstr>HTML Attributes</vt:lpstr>
      <vt:lpstr>HTML Attributes</vt:lpstr>
      <vt:lpstr>The lang Attribute</vt:lpstr>
      <vt:lpstr>The title Attribute</vt:lpstr>
      <vt:lpstr>The href Attribute</vt:lpstr>
      <vt:lpstr>Size Attributes</vt:lpstr>
      <vt:lpstr>The alt Attribute</vt:lpstr>
      <vt:lpstr>Use Lowercase Attributes</vt:lpstr>
      <vt:lpstr>Quote Attribute Values</vt:lpstr>
      <vt:lpstr>Single or Double Quotes</vt:lpstr>
      <vt:lpstr>Attribute Summary</vt:lpstr>
      <vt:lpstr>HTML Headings</vt:lpstr>
      <vt:lpstr>HTML Headings</vt:lpstr>
      <vt:lpstr>HTML Headings Example</vt:lpstr>
      <vt:lpstr>Headings Are Important</vt:lpstr>
      <vt:lpstr>HTML Horizontal Rules</vt:lpstr>
      <vt:lpstr>HTML &lt;head&gt;</vt:lpstr>
      <vt:lpstr>HTML &lt;title&gt;</vt:lpstr>
      <vt:lpstr>The HTML &lt;meta&gt;</vt:lpstr>
      <vt:lpstr>More Meta Elements</vt:lpstr>
      <vt:lpstr>HTML Paragraphs</vt:lpstr>
      <vt:lpstr>HTML Paragraphs</vt:lpstr>
      <vt:lpstr>HTML Display</vt:lpstr>
      <vt:lpstr>HTML Display Example</vt:lpstr>
      <vt:lpstr>HTML Line Breaks</vt:lpstr>
      <vt:lpstr>HTML Styles</vt:lpstr>
      <vt:lpstr>HTML Styles</vt:lpstr>
      <vt:lpstr>The HTML Style Attribute</vt:lpstr>
      <vt:lpstr>HTML Background Color</vt:lpstr>
      <vt:lpstr>HTML Text Color</vt:lpstr>
      <vt:lpstr>HTML Fonts</vt:lpstr>
      <vt:lpstr>HTML Text Size</vt:lpstr>
      <vt:lpstr>HTML Text Alignment</vt:lpstr>
      <vt:lpstr>Style Summary</vt:lpstr>
      <vt:lpstr>HTML Formatting</vt:lpstr>
      <vt:lpstr>Text Formatting</vt:lpstr>
      <vt:lpstr>HTML Formatting Elements</vt:lpstr>
      <vt:lpstr>HTML Bold and Strong Formatting</vt:lpstr>
      <vt:lpstr>HTML Bold and Strong Formatting</vt:lpstr>
      <vt:lpstr>HTML Italic and Emphasized Formatting</vt:lpstr>
      <vt:lpstr>HTML Italic and Emphasized Formatting</vt:lpstr>
      <vt:lpstr>HTML Small Formatting</vt:lpstr>
      <vt:lpstr>HTML Marked Formatting</vt:lpstr>
      <vt:lpstr>HTML Deleted Formatting</vt:lpstr>
      <vt:lpstr>HTML Inserted Formatting</vt:lpstr>
      <vt:lpstr>HTML Subscript Formatting</vt:lpstr>
      <vt:lpstr>HTML Superscript Formatting</vt:lpstr>
      <vt:lpstr>HTML Text Formatting Elements</vt:lpstr>
      <vt:lpstr>HTML Comments</vt:lpstr>
      <vt:lpstr>HTML Comment Tags</vt:lpstr>
      <vt:lpstr>HTML Comment Tags</vt:lpstr>
      <vt:lpstr>HTML Comment Tags</vt:lpstr>
      <vt:lpstr>Conditional Comments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yzchen</dc:creator>
  <cp:lastModifiedBy>陈羽中</cp:lastModifiedBy>
  <cp:revision>131</cp:revision>
  <dcterms:created xsi:type="dcterms:W3CDTF">2021-02-18T03:39:00Z</dcterms:created>
  <dcterms:modified xsi:type="dcterms:W3CDTF">2025-03-05T06:24:46Z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27D4DC8F48C24A20B0E112B7389DDE9B_12</vt:lpwstr>
  </property>
  <property fmtid="{D5CDD505-2E9C-101B-9397-08002B2CF9AE}" pid="3" name="KSOProductBuildVer">
    <vt:lpwstr>2052-12.1.0.15990</vt:lpwstr>
  </property>
</Properties>
</file>