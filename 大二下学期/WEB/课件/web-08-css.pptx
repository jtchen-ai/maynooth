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28"/>
  </p:notesMasterIdLst>
  <p:sldIdLst>
    <p:sldId id="256" r:id="rId6"/>
    <p:sldId id="257" r:id="rId7"/>
    <p:sldId id="267" r:id="rId8"/>
    <p:sldId id="268" r:id="rId9"/>
    <p:sldId id="269" r:id="rId10"/>
    <p:sldId id="270" r:id="rId11"/>
    <p:sldId id="294" r:id="rId12"/>
    <p:sldId id="295" r:id="rId13"/>
    <p:sldId id="296" r:id="rId14"/>
    <p:sldId id="299" r:id="rId15"/>
    <p:sldId id="300" r:id="rId16"/>
    <p:sldId id="301" r:id="rId17"/>
    <p:sldId id="302" r:id="rId18"/>
    <p:sldId id="379" r:id="rId19"/>
    <p:sldId id="380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6" r:id="rId29"/>
    <p:sldId id="317" r:id="rId30"/>
    <p:sldId id="320" r:id="rId31"/>
    <p:sldId id="321" r:id="rId32"/>
    <p:sldId id="322" r:id="rId33"/>
    <p:sldId id="323" r:id="rId34"/>
    <p:sldId id="324" r:id="rId35"/>
    <p:sldId id="325" r:id="rId36"/>
    <p:sldId id="381" r:id="rId37"/>
    <p:sldId id="382" r:id="rId38"/>
    <p:sldId id="383" r:id="rId39"/>
    <p:sldId id="384" r:id="rId40"/>
    <p:sldId id="385" r:id="rId41"/>
    <p:sldId id="386" r:id="rId42"/>
    <p:sldId id="387" r:id="rId43"/>
    <p:sldId id="388" r:id="rId44"/>
    <p:sldId id="389" r:id="rId45"/>
    <p:sldId id="390" r:id="rId46"/>
    <p:sldId id="391" r:id="rId47"/>
    <p:sldId id="392" r:id="rId48"/>
    <p:sldId id="393" r:id="rId49"/>
    <p:sldId id="394" r:id="rId50"/>
    <p:sldId id="395" r:id="rId51"/>
    <p:sldId id="396" r:id="rId52"/>
    <p:sldId id="397" r:id="rId53"/>
    <p:sldId id="398" r:id="rId54"/>
    <p:sldId id="399" r:id="rId55"/>
    <p:sldId id="400" r:id="rId56"/>
    <p:sldId id="401" r:id="rId57"/>
    <p:sldId id="402" r:id="rId58"/>
    <p:sldId id="403" r:id="rId59"/>
    <p:sldId id="404" r:id="rId60"/>
    <p:sldId id="405" r:id="rId61"/>
    <p:sldId id="406" r:id="rId62"/>
    <p:sldId id="407" r:id="rId63"/>
    <p:sldId id="408" r:id="rId64"/>
  </p:sldIdLst>
  <p:sldSz cx="12192000" cy="6858000"/>
  <p:notesSz cx="6858000" cy="9144000"/>
  <p:custDataLst>
    <p:tags r:id="rId6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うちは サスケ" initials="うサ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8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7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9" Type="http://schemas.openxmlformats.org/officeDocument/2006/relationships/tags" Target="tags/tag8.xml"/><Relationship Id="rId68" Type="http://schemas.openxmlformats.org/officeDocument/2006/relationships/commentAuthors" Target="commentAuthors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0" Type="http://schemas.openxmlformats.org/officeDocument/2006/relationships/slide" Target="slides/slide54.xml"/><Relationship Id="rId6" Type="http://schemas.openxmlformats.org/officeDocument/2006/relationships/slide" Target="slides/slide1.xml"/><Relationship Id="rId59" Type="http://schemas.openxmlformats.org/officeDocument/2006/relationships/slide" Target="slides/slide53.xml"/><Relationship Id="rId58" Type="http://schemas.openxmlformats.org/officeDocument/2006/relationships/slide" Target="slides/slide52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E83CC-D9B1-4A68-9BBC-37B00C56F2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F2285-2B97-4FEC-9F05-52783E55CB8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 fixed element does not leave a gap in the page where it would normally have been located. 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F2285-2B97-4FEC-9F05-52783E55CB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后代选择器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空格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子选择器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(&gt;)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相邻兄弟选择器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(+)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通用兄弟选择器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(~)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EF2285-2B97-4FEC-9F05-52783E55CB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EF2285-2B97-4FEC-9F05-52783E55CB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伪类用于定义元素的特殊状态。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EF2285-2B97-4FEC-9F05-52783E55CB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CCBD6-FDF2-493A-98FA-1C5BAEC41D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0C3E91-140D-4898-8945-EEF399BBE65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E6DD98-C0F0-4311-A05B-09A4520CE4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0C3E91-140D-4898-8945-EEF399BBE65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E6DD98-C0F0-4311-A05B-09A4520CE4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0C3E91-140D-4898-8945-EEF399BBE65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E6DD98-C0F0-4311-A05B-09A4520CE4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0C3E91-140D-4898-8945-EEF399BBE65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E6DD98-C0F0-4311-A05B-09A4520CE4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0C3E91-140D-4898-8945-EEF399BBE65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E6DD98-C0F0-4311-A05B-09A4520CE4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0C3E91-140D-4898-8945-EEF399BBE65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E6DD98-C0F0-4311-A05B-09A4520CE4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0C3E91-140D-4898-8945-EEF399BBE65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E6DD98-C0F0-4311-A05B-09A4520CE4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0C3E91-140D-4898-8945-EEF399BBE65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E6DD98-C0F0-4311-A05B-09A4520CE4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0C3E91-140D-4898-8945-EEF399BBE65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E6DD98-C0F0-4311-A05B-09A4520CE4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0C3E91-140D-4898-8945-EEF399BBE65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E6DD98-C0F0-4311-A05B-09A4520CE4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0C3E91-140D-4898-8945-EEF399BBE65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E6DD98-C0F0-4311-A05B-09A4520CE4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999F7C-2133-467E-83FF-3EF4AED0AAE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06F7F7-5A30-4A01-BD22-CC3761665AD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999F7C-2133-467E-83FF-3EF4AED0AAE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06F7F7-5A30-4A01-BD22-CC3761665AD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999F7C-2133-467E-83FF-3EF4AED0AAE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06F7F7-5A30-4A01-BD22-CC3761665AD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999F7C-2133-467E-83FF-3EF4AED0AAE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06F7F7-5A30-4A01-BD22-CC3761665AD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999F7C-2133-467E-83FF-3EF4AED0AAE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06F7F7-5A30-4A01-BD22-CC3761665AD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999F7C-2133-467E-83FF-3EF4AED0AAE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06F7F7-5A30-4A01-BD22-CC3761665AD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999F7C-2133-467E-83FF-3EF4AED0AAE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06F7F7-5A30-4A01-BD22-CC3761665AD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999F7C-2133-467E-83FF-3EF4AED0AAE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06F7F7-5A30-4A01-BD22-CC3761665AD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999F7C-2133-467E-83FF-3EF4AED0AAE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06F7F7-5A30-4A01-BD22-CC3761665AD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999F7C-2133-467E-83FF-3EF4AED0AAE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06F7F7-5A30-4A01-BD22-CC3761665AD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999F7C-2133-467E-83FF-3EF4AED0AAE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06F7F7-5A30-4A01-BD22-CC3761665AD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27F49C-F175-459E-B185-222BD75858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768ABC9-D2E6-4EA8-863A-02B0275862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27F49C-F175-459E-B185-222BD75858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768ABC9-D2E6-4EA8-863A-02B0275862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27F49C-F175-459E-B185-222BD75858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768ABC9-D2E6-4EA8-863A-02B0275862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27F49C-F175-459E-B185-222BD75858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768ABC9-D2E6-4EA8-863A-02B0275862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27F49C-F175-459E-B185-222BD75858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768ABC9-D2E6-4EA8-863A-02B0275862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27F49C-F175-459E-B185-222BD75858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768ABC9-D2E6-4EA8-863A-02B0275862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27F49C-F175-459E-B185-222BD75858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768ABC9-D2E6-4EA8-863A-02B0275862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27F49C-F175-459E-B185-222BD75858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768ABC9-D2E6-4EA8-863A-02B0275862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27F49C-F175-459E-B185-222BD75858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768ABC9-D2E6-4EA8-863A-02B0275862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27F49C-F175-459E-B185-222BD75858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768ABC9-D2E6-4EA8-863A-02B0275862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27F49C-F175-459E-B185-222BD75858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768ABC9-D2E6-4EA8-863A-02B0275862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50C3E91-140D-4898-8945-EEF399BBE654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E6DD98-C0F0-4311-A05B-09A4520CE44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999F7C-2133-467E-83FF-3EF4AED0AAE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06F7F7-5A30-4A01-BD22-CC3761665AD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27F49C-F175-459E-B185-222BD7585813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768ABC9-D2E6-4EA8-863A-02B02758629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0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40.xml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0.xml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0.xml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0.xml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0.xml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0.xml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0.xml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0.xml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0.xml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0.xml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0.xml"/><Relationship Id="rId1" Type="http://schemas.openxmlformats.org/officeDocument/2006/relationships/image" Target="../media/image7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0.xml"/><Relationship Id="rId1" Type="http://schemas.openxmlformats.org/officeDocument/2006/relationships/image" Target="../media/image8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0.xml"/><Relationship Id="rId1" Type="http://schemas.openxmlformats.org/officeDocument/2006/relationships/image" Target="../media/image8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1" Type="http://schemas.openxmlformats.org/officeDocument/2006/relationships/image" Target="../media/image9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6.png"/><Relationship Id="rId1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zh-CN" altLang="en-US" dirty="0"/>
              <a:t>CSS Box Model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What is CSS Box Model?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All </a:t>
            </a:r>
            <a:r>
              <a:rPr lang="zh-CN" altLang="en-US" dirty="0">
                <a:solidFill>
                  <a:srgbClr val="FF0000"/>
                </a:solidFill>
              </a:rPr>
              <a:t>HTML elements</a:t>
            </a:r>
            <a:r>
              <a:rPr lang="zh-CN" altLang="en-US" dirty="0"/>
              <a:t> can be considered as </a:t>
            </a:r>
            <a:r>
              <a:rPr lang="zh-CN" altLang="en-US" dirty="0">
                <a:solidFill>
                  <a:srgbClr val="FF0000"/>
                </a:solidFill>
              </a:rPr>
              <a:t>boxes</a:t>
            </a:r>
            <a:r>
              <a:rPr lang="zh-CN" altLang="en-US" dirty="0"/>
              <a:t>. </a:t>
            </a:r>
            <a:endParaRPr lang="zh-CN" altLang="en-US" dirty="0"/>
          </a:p>
          <a:p>
            <a:r>
              <a:rPr lang="zh-CN" altLang="en-US" dirty="0"/>
              <a:t>In CSS, the term "</a:t>
            </a:r>
            <a:r>
              <a:rPr lang="zh-CN" altLang="en-US" u="sng" dirty="0">
                <a:solidFill>
                  <a:srgbClr val="FF0000"/>
                </a:solidFill>
              </a:rPr>
              <a:t>box model</a:t>
            </a:r>
            <a:r>
              <a:rPr lang="zh-CN" altLang="en-US" dirty="0"/>
              <a:t>" is used when talking about design and layout.</a:t>
            </a:r>
            <a:endParaRPr lang="zh-CN" altLang="en-US" dirty="0"/>
          </a:p>
          <a:p>
            <a:r>
              <a:rPr lang="zh-CN" altLang="en-US" dirty="0"/>
              <a:t>The CSS box model is essentially a box that </a:t>
            </a:r>
            <a:r>
              <a:rPr lang="zh-CN" altLang="en-US" dirty="0">
                <a:solidFill>
                  <a:srgbClr val="FF0000"/>
                </a:solidFill>
              </a:rPr>
              <a:t>wraps around</a:t>
            </a:r>
            <a:r>
              <a:rPr lang="zh-CN" altLang="en-US" dirty="0"/>
              <a:t> every HTML element. </a:t>
            </a:r>
            <a:endParaRPr lang="zh-CN" altLang="en-US" dirty="0"/>
          </a:p>
          <a:p>
            <a:r>
              <a:rPr lang="zh-CN" altLang="en-US" dirty="0"/>
              <a:t>It </a:t>
            </a:r>
            <a:r>
              <a:rPr lang="zh-CN" altLang="en-US" dirty="0">
                <a:solidFill>
                  <a:srgbClr val="FF0000"/>
                </a:solidFill>
              </a:rPr>
              <a:t>consists of</a:t>
            </a:r>
            <a:r>
              <a:rPr lang="zh-CN" altLang="en-US" dirty="0"/>
              <a:t>: margins, borders, padding, and the actual content.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What is CSS Box Model?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511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The image below illustrates the box model: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810" y="2183765"/>
            <a:ext cx="9899015" cy="43599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What is CSS Box Model?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zh-CN" altLang="en-US" dirty="0"/>
              <a:t>Explanation of the different parts:</a:t>
            </a:r>
            <a:endParaRPr lang="zh-CN" altLang="en-US" dirty="0"/>
          </a:p>
          <a:p>
            <a:pPr algn="just"/>
            <a:r>
              <a:rPr lang="zh-CN" altLang="en-US" dirty="0">
                <a:solidFill>
                  <a:srgbClr val="FF0000"/>
                </a:solidFill>
              </a:rPr>
              <a:t>Content</a:t>
            </a:r>
            <a:r>
              <a:rPr lang="zh-CN" altLang="en-US" dirty="0"/>
              <a:t> - The content of the box, where text and images appear</a:t>
            </a:r>
            <a:endParaRPr lang="zh-CN" altLang="en-US" dirty="0"/>
          </a:p>
          <a:p>
            <a:pPr algn="just"/>
            <a:r>
              <a:rPr lang="zh-CN" altLang="en-US" dirty="0">
                <a:solidFill>
                  <a:srgbClr val="FF0000"/>
                </a:solidFill>
              </a:rPr>
              <a:t>Padding</a:t>
            </a:r>
            <a:r>
              <a:rPr lang="zh-CN" altLang="en-US" dirty="0"/>
              <a:t> - Clears an area </a:t>
            </a:r>
            <a:r>
              <a:rPr lang="zh-CN" altLang="en-US" dirty="0">
                <a:solidFill>
                  <a:srgbClr val="FF0000"/>
                </a:solidFill>
              </a:rPr>
              <a:t>around</a:t>
            </a:r>
            <a:r>
              <a:rPr lang="zh-CN" altLang="en-US" dirty="0"/>
              <a:t> the content. The padding is transparent</a:t>
            </a:r>
            <a:endParaRPr lang="zh-CN" altLang="en-US" dirty="0"/>
          </a:p>
          <a:p>
            <a:pPr algn="just"/>
            <a:r>
              <a:rPr lang="zh-CN" altLang="en-US" dirty="0">
                <a:solidFill>
                  <a:srgbClr val="FF0000"/>
                </a:solidFill>
              </a:rPr>
              <a:t>Border</a:t>
            </a:r>
            <a:r>
              <a:rPr lang="zh-CN" altLang="en-US" dirty="0"/>
              <a:t> - A border that goes around the padding and content</a:t>
            </a:r>
            <a:endParaRPr lang="zh-CN" altLang="en-US" dirty="0"/>
          </a:p>
          <a:p>
            <a:pPr algn="just"/>
            <a:r>
              <a:rPr lang="zh-CN" altLang="en-US" dirty="0">
                <a:solidFill>
                  <a:srgbClr val="FF0000"/>
                </a:solidFill>
              </a:rPr>
              <a:t>Margin</a:t>
            </a:r>
            <a:r>
              <a:rPr lang="zh-CN" altLang="en-US" dirty="0"/>
              <a:t> - Clears an area </a:t>
            </a:r>
            <a:r>
              <a:rPr lang="zh-CN" altLang="en-US" dirty="0">
                <a:solidFill>
                  <a:srgbClr val="FF0000"/>
                </a:solidFill>
              </a:rPr>
              <a:t>outside </a:t>
            </a:r>
            <a:r>
              <a:rPr lang="zh-CN" altLang="en-US" dirty="0"/>
              <a:t>the border. The margin is transparent</a:t>
            </a:r>
            <a:endParaRPr lang="zh-CN" altLang="en-US" dirty="0"/>
          </a:p>
          <a:p>
            <a:pPr marL="0" indent="0" algn="just">
              <a:buNone/>
            </a:pPr>
            <a:r>
              <a:rPr lang="zh-CN" altLang="en-US" dirty="0"/>
              <a:t>The box model allows us to add a</a:t>
            </a:r>
            <a:r>
              <a:rPr lang="zh-CN" altLang="en-US" dirty="0">
                <a:solidFill>
                  <a:srgbClr val="FF0000"/>
                </a:solidFill>
              </a:rPr>
              <a:t> border</a:t>
            </a:r>
            <a:r>
              <a:rPr lang="zh-CN" altLang="en-US" dirty="0"/>
              <a:t> around elements, and to define </a:t>
            </a:r>
            <a:r>
              <a:rPr lang="zh-CN" altLang="en-US" dirty="0">
                <a:solidFill>
                  <a:srgbClr val="FF0000"/>
                </a:solidFill>
              </a:rPr>
              <a:t>space</a:t>
            </a:r>
            <a:r>
              <a:rPr lang="zh-CN" altLang="en-US" dirty="0"/>
              <a:t> between elements.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59105"/>
            <a:ext cx="10515600" cy="833095"/>
          </a:xfrm>
        </p:spPr>
        <p:txBody>
          <a:bodyPr/>
          <a:lstStyle/>
          <a:p>
            <a:pPr algn="ctr"/>
            <a:r>
              <a:rPr lang="en-US" altLang="zh-CN" dirty="0">
                <a:sym typeface="+mn-ea"/>
              </a:rPr>
              <a:t>How to set the CSS Box Model</a:t>
            </a:r>
            <a:r>
              <a:rPr lang="zh-CN" altLang="en-US" dirty="0">
                <a:sym typeface="+mn-ea"/>
              </a:rPr>
              <a:t>？</a:t>
            </a:r>
            <a:endParaRPr lang="zh-CN" altLang="en-US" dirty="0"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0950" y="2138680"/>
            <a:ext cx="5259705" cy="40411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4" y="1144270"/>
            <a:ext cx="3872125" cy="34404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4" y="4652645"/>
            <a:ext cx="5892515" cy="2160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59105"/>
            <a:ext cx="10515600" cy="1325563"/>
          </a:xfrm>
        </p:spPr>
        <p:txBody>
          <a:bodyPr/>
          <a:lstStyle/>
          <a:p>
            <a:pPr algn="ctr"/>
            <a:r>
              <a:rPr dirty="0">
                <a:sym typeface="+mn-ea"/>
              </a:rPr>
              <a:t>Width and Height of an Element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6460" y="1512570"/>
            <a:ext cx="10515600" cy="510095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00"/>
                </a:solidFill>
              </a:rPr>
              <a:t>When you set the width and height properties of an element with CSS, you just set the width and height of the </a:t>
            </a:r>
            <a:r>
              <a:rPr lang="en-US" altLang="zh-CN" dirty="0">
                <a:solidFill>
                  <a:srgbClr val="FF0000"/>
                </a:solidFill>
              </a:rPr>
              <a:t>content area</a:t>
            </a:r>
            <a:r>
              <a:rPr lang="en-US" altLang="zh-CN" dirty="0">
                <a:solidFill>
                  <a:srgbClr val="FFFF00"/>
                </a:solidFill>
              </a:rPr>
              <a:t>. </a:t>
            </a:r>
            <a:endParaRPr lang="en-US" altLang="zh-CN" dirty="0">
              <a:solidFill>
                <a:srgbClr val="FFFF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To calculate the full size of an element, you </a:t>
            </a:r>
            <a:r>
              <a:rPr lang="en-US" altLang="zh-CN" dirty="0">
                <a:solidFill>
                  <a:srgbClr val="FF0000"/>
                </a:solidFill>
              </a:rPr>
              <a:t>must</a:t>
            </a:r>
            <a:r>
              <a:rPr lang="en-US" altLang="zh-CN" dirty="0">
                <a:solidFill>
                  <a:srgbClr val="FFFF00"/>
                </a:solidFill>
              </a:rPr>
              <a:t> also add padding, borders and margins.</a:t>
            </a:r>
            <a:endParaRPr lang="en-US" altLang="zh-CN" dirty="0">
              <a:solidFill>
                <a:srgbClr val="FFFF00"/>
              </a:solidFill>
            </a:endParaRPr>
          </a:p>
          <a:p>
            <a:pPr algn="just"/>
            <a:r>
              <a:rPr lang="en-US" altLang="zh-CN" dirty="0">
                <a:solidFill>
                  <a:srgbClr val="FFFF00"/>
                </a:solidFill>
                <a:sym typeface="+mn-ea"/>
              </a:rPr>
              <a:t>The total width of an element should be calculated like this:</a:t>
            </a:r>
            <a:endParaRPr lang="en-US" altLang="zh-CN" dirty="0">
              <a:solidFill>
                <a:srgbClr val="FFFF00"/>
              </a:solidFill>
            </a:endParaRPr>
          </a:p>
          <a:p>
            <a:pPr marL="0" indent="0" algn="just">
              <a:buNone/>
            </a:pPr>
            <a:r>
              <a:rPr lang="en-US" altLang="zh-CN" dirty="0">
                <a:sym typeface="+mn-ea"/>
              </a:rPr>
              <a:t>Total element width = width + left padding + right padding + left border + right border + left margin + right margin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/>
            <a:r>
              <a:rPr lang="en-US" altLang="zh-CN" dirty="0">
                <a:solidFill>
                  <a:srgbClr val="FFFF00"/>
                </a:solidFill>
                <a:sym typeface="+mn-ea"/>
              </a:rPr>
              <a:t>The total height of an element should be calculated like this:</a:t>
            </a:r>
            <a:endParaRPr lang="en-US" altLang="zh-CN" dirty="0">
              <a:solidFill>
                <a:srgbClr val="FFFF00"/>
              </a:solidFill>
            </a:endParaRPr>
          </a:p>
          <a:p>
            <a:pPr marL="0" indent="0" algn="just">
              <a:buNone/>
            </a:pPr>
            <a:r>
              <a:rPr lang="en-US" altLang="zh-CN" dirty="0">
                <a:sym typeface="+mn-ea"/>
              </a:rPr>
              <a:t>Total element height = height + top padding + bottom padding + top border + bottom border + top margin + bottom margin</a:t>
            </a:r>
            <a:endParaRPr lang="en-US" altLang="zh-CN" dirty="0">
              <a:solidFill>
                <a:srgbClr val="FFFF00"/>
              </a:solidFill>
            </a:endParaRPr>
          </a:p>
          <a:p>
            <a:endParaRPr lang="en-US" altLang="zh-CN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588577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CSS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DISPLAY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7999" y="24291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The Display Property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7700" y="1166245"/>
            <a:ext cx="1094232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The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display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property specifies if/how an element is displayed. Every HTML element has a default display value depending on what type of element it is. The default display value for most elements is 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block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or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inline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.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74420" y="4100962"/>
          <a:ext cx="10515600" cy="619814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607814">
                <a:tc>
                  <a:txBody>
                    <a:bodyPr/>
                    <a:p>
                      <a:pPr algn="l" fontAlgn="t"/>
                      <a:r>
                        <a:rPr lang="en-US" sz="1600" dirty="0">
                          <a:effectLst/>
                        </a:rPr>
                        <a:t>inline</a:t>
                      </a:r>
                      <a:endParaRPr lang="en-US" sz="1600" dirty="0">
                        <a:effectLst/>
                      </a:endParaRPr>
                    </a:p>
                  </a:txBody>
                  <a:tcPr marL="66067" marR="66067" marT="66067" marB="660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sz="1600" dirty="0">
                          <a:effectLst/>
                        </a:rPr>
                        <a:t>Default value. Displays an element as an inline element (like &lt;span&gt;)</a:t>
                      </a:r>
                      <a:endParaRPr lang="en-US" sz="1600" dirty="0">
                        <a:effectLst/>
                      </a:endParaRPr>
                    </a:p>
                  </a:txBody>
                  <a:tcPr marL="66067" marR="66067" marT="66067" marB="660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074420" y="4720776"/>
          <a:ext cx="10515600" cy="375974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369974">
                <a:tc>
                  <a:txBody>
                    <a:bodyPr/>
                    <a:p>
                      <a:pPr algn="l" fontAlgn="t"/>
                      <a:r>
                        <a:rPr lang="en-US" sz="1600" dirty="0">
                          <a:effectLst/>
                        </a:rPr>
                        <a:t>block</a:t>
                      </a:r>
                      <a:endParaRPr lang="en-US" sz="1600" dirty="0">
                        <a:effectLst/>
                      </a:endParaRPr>
                    </a:p>
                  </a:txBody>
                  <a:tcPr marL="66067" marR="66067" marT="66067" marB="660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sz="1600" dirty="0">
                          <a:effectLst/>
                        </a:rPr>
                        <a:t>Displays an element as a block element (like &lt;p&gt;)</a:t>
                      </a:r>
                      <a:endParaRPr lang="en-US" sz="1600" dirty="0">
                        <a:effectLst/>
                      </a:endParaRPr>
                    </a:p>
                  </a:txBody>
                  <a:tcPr marL="66067" marR="66067" marT="66067" marB="660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074420" y="5096750"/>
          <a:ext cx="10515600" cy="863654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845655">
                <a:tc>
                  <a:txBody>
                    <a:bodyPr/>
                    <a:p>
                      <a:pPr algn="l" fontAlgn="t"/>
                      <a:r>
                        <a:rPr lang="en-US" sz="1600" dirty="0">
                          <a:effectLst/>
                        </a:rPr>
                        <a:t>inline-block</a:t>
                      </a:r>
                      <a:endParaRPr lang="en-US" sz="1600" dirty="0">
                        <a:effectLst/>
                      </a:endParaRPr>
                    </a:p>
                  </a:txBody>
                  <a:tcPr marL="66067" marR="66067" marT="66067" marB="660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sz="1600" dirty="0">
                          <a:effectLst/>
                        </a:rPr>
                        <a:t>Displays an element as an inline-level block container. The inside of this block is formatted as block-level box, and the element itself is formatted as an inline-level box</a:t>
                      </a:r>
                      <a:endParaRPr lang="en-US" sz="1600" dirty="0">
                        <a:effectLst/>
                      </a:endParaRPr>
                    </a:p>
                  </a:txBody>
                  <a:tcPr marL="66067" marR="66067" marT="66067" marB="6606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7114" y="242544"/>
            <a:ext cx="609777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Block-level/inline Elements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3210" y="1437005"/>
            <a:ext cx="5031105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 block-level element always starts on a new line and takes up the full width available (stretches out to the left and right as far as it can).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7170" y="5160010"/>
            <a:ext cx="5420360" cy="12617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&lt;div&gt;, &lt;h1&gt; - &lt;h6&gt;,&lt;p&gt;,&lt;form&gt;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&lt;header&gt;,&lt;footer&gt;,&lt;section&gt;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7170" y="4179570"/>
            <a:ext cx="51638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Examples of block-level elements: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413500" y="1567815"/>
            <a:ext cx="5152390" cy="13836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An inline element does not start on a new line and only takes up as much width as necessary.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94095" y="4179570"/>
            <a:ext cx="568833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Examples of inline elements: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033770" y="5223510"/>
            <a:ext cx="5380355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&lt;span&gt;,&lt;a&gt;,&lt;img&gt;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85926" y="394808"/>
            <a:ext cx="70201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Override The Default Display Value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5352" y="1205022"/>
            <a:ext cx="1109416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prstClr val="white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very element has a default display value. However, you can override this. Changing an inline element to a block element, or vice versa, can be useful for making the page look a specific way, and still follow the web standards.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等线" panose="02010600030101010101" charset="-122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 common example is making inline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&lt;li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&gt; elements for horizontal menus: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352" y="5267126"/>
            <a:ext cx="7138012" cy="145371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197" y="5267126"/>
            <a:ext cx="2964264" cy="56854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52" y="3098568"/>
            <a:ext cx="4760650" cy="20144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651760" y="399534"/>
            <a:ext cx="6888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Override The Default Display Value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3560" y="1274356"/>
            <a:ext cx="11104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Setting the display property of an element only changes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how the element is displayed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, NOT what kind of element it is. So, an inline element with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display: block,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is not allowed to have other block elements inside it.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The following example displays &lt;span&gt; elements as block elements: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560" y="3179187"/>
            <a:ext cx="4442174" cy="204813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87" y="5532120"/>
            <a:ext cx="7316825" cy="114652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812" y="3487747"/>
            <a:ext cx="5712560" cy="12937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7574" y="244522"/>
            <a:ext cx="11435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等线" panose="02010600030101010101" charset="-122"/>
                <a:cs typeface="+mn-cs"/>
              </a:rPr>
              <a:t>Hide an Element - </a:t>
            </a:r>
            <a:r>
              <a:rPr kumimoji="0" lang="en-US" altLang="zh-CN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等线" panose="02010600030101010101" charset="-122"/>
                <a:cs typeface="+mn-cs"/>
              </a:rPr>
              <a:t>display:none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等线" panose="02010600030101010101" charset="-122"/>
                <a:cs typeface="+mn-cs"/>
              </a:rPr>
              <a:t> or </a:t>
            </a:r>
            <a:r>
              <a:rPr kumimoji="0" lang="en-US" altLang="zh-CN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等线" panose="02010600030101010101" charset="-122"/>
                <a:cs typeface="+mn-cs"/>
              </a:rPr>
              <a:t>visibility:hidden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等线" panose="02010600030101010101" charset="-122"/>
                <a:cs typeface="+mn-cs"/>
              </a:rPr>
              <a:t>?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0820" y="1059934"/>
            <a:ext cx="116382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Hiding an element can be done by setting the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display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property to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none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 The element will be hidden, and the page will be displayed as if the element is not there: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50" y="2605802"/>
            <a:ext cx="4053379" cy="184475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589" y="2605802"/>
            <a:ext cx="7612065" cy="147899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724" y="4577041"/>
            <a:ext cx="7944604" cy="2219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645920" y="348734"/>
            <a:ext cx="8900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Hide an Element - 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display:none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or 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visibility:hidden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?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9377" y="1261348"/>
            <a:ext cx="113614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visibility:hidden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;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also hides an element. However, the element will still take up the same space as before.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element will be hidden, but still affect the layout: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080" y="2646342"/>
            <a:ext cx="3560952" cy="171229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160" y="2646342"/>
            <a:ext cx="6674126" cy="145291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096" y="4474669"/>
            <a:ext cx="4749903" cy="22868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0" y="38937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The inline-block Value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889000" y="2055902"/>
            <a:ext cx="10591800" cy="1815882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zh-CN" sz="280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In contrast to display: inline, display: inline-block allows width and height to be set on elements and padding is preserved, while display: inline does not. The main difference compared to </a:t>
            </a:r>
            <a:r>
              <a:rPr lang="en-US" altLang="zh-CN" sz="2800" dirty="0" err="1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display:block</a:t>
            </a:r>
            <a:r>
              <a:rPr lang="en-US" altLang="zh-CN" sz="280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is that </a:t>
            </a:r>
            <a:r>
              <a:rPr lang="en-US" altLang="zh-CN" sz="2800" dirty="0" err="1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display:inline-block</a:t>
            </a:r>
            <a:r>
              <a:rPr lang="en-US" altLang="zh-CN" sz="2800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does not add a newline after the element</a:t>
            </a:r>
            <a:endParaRPr lang="en-US" altLang="zh-CN" sz="2800" dirty="0">
              <a:solidFill>
                <a:srgbClr val="FFFF0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2674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Example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664" y="1004590"/>
            <a:ext cx="4556154" cy="541783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913785"/>
            <a:ext cx="6606899" cy="218345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350" y="3160302"/>
            <a:ext cx="4768278" cy="358614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CSS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POSITION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0" y="3182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The Position Property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8480" y="1240859"/>
            <a:ext cx="1137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The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position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property specifies the type of positioning method used for an element.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There are four different position values:     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8480" y="2437065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·static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·relative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·fixed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·absolute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38480" y="4823558"/>
            <a:ext cx="112344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Elements are then positioned using the top, bottom, left, and right properties. However, these properties will not work unless the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position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property is set first. They also work differently depending on the position value.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36905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Position: Static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6580" y="1347588"/>
            <a:ext cx="108915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HTML elements are positioned static by default. Static positioned elements are not affected by the top, bottom, left, and right properties. An element with 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position:static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;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is not positioned in any special way; it is always positioned according to the normal flow of the page: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37921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Position: Static Example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724" y="1778000"/>
            <a:ext cx="4004395" cy="20828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441" y="1686560"/>
            <a:ext cx="6095999" cy="22656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521" y="4213107"/>
            <a:ext cx="7680959" cy="22656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4604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Position: Relative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3700" y="1406644"/>
            <a:ext cx="1153795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An element with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position: relative;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is positioned relative to its normal position. Setting the top, right, bottom, and left properties of a relatively-positioned element will cause it to be adjusted away from its normal position.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Other content will not be adjusted to fit into any gap left by the element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.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33857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Position: Relative Example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280" y="1483360"/>
            <a:ext cx="4117440" cy="23063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742" y="1483360"/>
            <a:ext cx="6315218" cy="240791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997" y="4181427"/>
            <a:ext cx="5982007" cy="18479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24226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Position: Fixed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5110" y="1432916"/>
            <a:ext cx="348754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An element with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position: fixed;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is positioned relative to the viewport, which means it always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stays in the same place even if the page is scrolled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. The top, right, bottom, and left properties are used to position the element.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1759" y="1433157"/>
            <a:ext cx="3088642" cy="201038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924" y="4646847"/>
            <a:ext cx="4855524" cy="21216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210" y="1032374"/>
            <a:ext cx="3487542" cy="34173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32841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Position: Absolute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74700" y="1375032"/>
            <a:ext cx="107569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An element with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position: absolute;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is positioned relative to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the nearest positioned ancestor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(instead of positioned relative to the viewport, like fixed). However; if an absolute positioned element has no positioned ancestors, it uses the document body, and moves along with page scrolling.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2223" y="4238582"/>
            <a:ext cx="106870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Note: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 A "positioned" element is one whose position is anything except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static.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3487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Position: Absolute Example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550" y="2164080"/>
            <a:ext cx="5354319" cy="460321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640" y="2164080"/>
            <a:ext cx="5782310" cy="86361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090" y="4227298"/>
            <a:ext cx="466344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36905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Positioning Text In an Image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03960" y="122592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How to position text over an image: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960" y="2476500"/>
            <a:ext cx="10304284" cy="42227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28777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Top Left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11" y="1297906"/>
            <a:ext cx="4656085" cy="536324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030" y="1355056"/>
            <a:ext cx="6846985" cy="175644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630" y="3917809"/>
            <a:ext cx="5975657" cy="274334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23697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Top Right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589" y="1259234"/>
            <a:ext cx="4419604" cy="55225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017" y="1259234"/>
            <a:ext cx="5943905" cy="17379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017" y="4121012"/>
            <a:ext cx="5943905" cy="266078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21665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Bottom Left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59" y="1388110"/>
            <a:ext cx="4220109" cy="53365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978" y="1388110"/>
            <a:ext cx="6110742" cy="127641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978" y="4082914"/>
            <a:ext cx="6070902" cy="264173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23697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Bottom 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Right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476" y="1461770"/>
            <a:ext cx="3697076" cy="52946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646" y="1461770"/>
            <a:ext cx="6332994" cy="14630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646" y="4108314"/>
            <a:ext cx="6332994" cy="264808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28777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Centered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451" y="1205230"/>
            <a:ext cx="4263337" cy="55384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18" y="1205230"/>
            <a:ext cx="5893102" cy="126749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218" y="4038461"/>
            <a:ext cx="5893103" cy="270523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CSS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COMBINATORS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36905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CSS Combinators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000" y="1339126"/>
            <a:ext cx="1056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 CSS selector can contain more than one simple selector. Between the simple selectors, we can include a combinator. There are four different combinators in CSS3: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2000" y="2789546"/>
            <a:ext cx="512445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descendant selector (space)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child selector (&gt;)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adjacent sibling selector (+)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general sibling selector (~)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2979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Descendant Selector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4050" y="1111796"/>
            <a:ext cx="107759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The descendant selector matches all elements that are descendants of a specified element. The following example selects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all &lt;p&gt; elements inside &lt;div&gt; elements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: 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080" y="2110324"/>
            <a:ext cx="4354235" cy="193462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80" y="4573985"/>
            <a:ext cx="4673839" cy="18096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235" y="2319874"/>
            <a:ext cx="6102479" cy="370627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1353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Child Selector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5649" y="878116"/>
            <a:ext cx="1068670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The child selector selects all elements that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are the immediate children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of a specified element. The following example selects all &lt;p&gt; elements that are immediate children of a &lt;div&gt; element: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227" y="2499958"/>
            <a:ext cx="4404877" cy="219269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28" y="4992326"/>
            <a:ext cx="5093472" cy="157467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/>
          <a:srcRect t="15077"/>
          <a:stretch>
            <a:fillRect/>
          </a:stretch>
        </p:blipFill>
        <p:spPr>
          <a:xfrm>
            <a:off x="5870575" y="2838450"/>
            <a:ext cx="6006195" cy="215387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2674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Adjacent Sibling Selector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49186" y="1014998"/>
            <a:ext cx="557926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The adjacent sibling selector selects all elements that are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the adjacent siblings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of a specified element. Sibling elements must have the same parent element, and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"adjacent" means "immediately following"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. The following example selects all &lt;p&gt; elements that are placed immediately after &lt;div&gt; elements: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72" y="1231421"/>
            <a:ext cx="5464204" cy="27023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36" y="4431744"/>
            <a:ext cx="5349288" cy="215880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682" y="4163199"/>
            <a:ext cx="5013725" cy="242734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2979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General Sibling Selector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69090" y="1239726"/>
            <a:ext cx="66720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The general sibling selector selects all elements that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are siblings of a specified element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. The following example selects all &lt;p&gt; elements that are siblings of &lt;div&gt; elements: 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405" y="1460461"/>
            <a:ext cx="4576526" cy="231373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05" y="4306788"/>
            <a:ext cx="4630815" cy="226187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/>
          <a:srcRect l="1907" t="14587"/>
          <a:stretch>
            <a:fillRect/>
          </a:stretch>
        </p:blipFill>
        <p:spPr>
          <a:xfrm>
            <a:off x="5137789" y="3705800"/>
            <a:ext cx="6860990" cy="295594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CSS PSEUDO-CLASSES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048000" y="2979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What are Pseudo-classes?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8350" y="1221115"/>
            <a:ext cx="104584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 pseudo-class is used to define a special state of an element. For example, it can be used to: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8350" y="2248237"/>
            <a:ext cx="8026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Style an element when a user mouses over it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Style visited and unvisited links differently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Style an element when it gets focus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2742" y="3873877"/>
            <a:ext cx="89522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The syntax of pseudo-classes: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92742" y="4760719"/>
            <a:ext cx="70040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selector:pseudo-class</a:t>
            </a:r>
            <a:r>
              <a:rPr lang="en-US" altLang="zh-CN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{</a:t>
            </a:r>
            <a:br>
              <a:rPr lang="en-US" altLang="zh-CN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   </a:t>
            </a:r>
            <a:r>
              <a:rPr lang="en-US" altLang="zh-CN" sz="2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property:value</a:t>
            </a:r>
            <a:r>
              <a:rPr lang="en-US" altLang="zh-CN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n-US" altLang="zh-CN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zh-CN" altLang="en-U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54350" y="2724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Anchor Pseudo-classes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4420" y="106190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Links can be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displayed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in different ways: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010" y="1757528"/>
            <a:ext cx="3985007" cy="484012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150" y="1757528"/>
            <a:ext cx="6390919" cy="154447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/>
          <a:srcRect l="2216" t="16861"/>
          <a:stretch>
            <a:fillRect/>
          </a:stretch>
        </p:blipFill>
        <p:spPr>
          <a:xfrm>
            <a:off x="5137150" y="4781550"/>
            <a:ext cx="6109970" cy="18161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799080" y="195612"/>
            <a:ext cx="6593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Pseudo-classes and CSS Classes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4050" y="1015385"/>
            <a:ext cx="109664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Pseudo-classes can be combined with CSS classes: When you hover over the link in the example, it will change color: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60" y="2346134"/>
            <a:ext cx="3742690" cy="22042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" y="4940250"/>
            <a:ext cx="5530986" cy="13081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/>
          <a:srcRect l="3056" t="22911"/>
          <a:stretch>
            <a:fillRect/>
          </a:stretch>
        </p:blipFill>
        <p:spPr>
          <a:xfrm>
            <a:off x="6877049" y="2990850"/>
            <a:ext cx="5188877" cy="21272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26223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Hover on &lt;div&gt;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2970" y="1172249"/>
            <a:ext cx="103238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An example of using the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:hover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pseudo-class on a &lt;div&gt; element: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6714" y="1959148"/>
            <a:ext cx="6353956" cy="12750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89" y="1847589"/>
            <a:ext cx="3321221" cy="158123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/>
          <a:srcRect t="17298"/>
          <a:stretch>
            <a:fillRect/>
          </a:stretch>
        </p:blipFill>
        <p:spPr>
          <a:xfrm>
            <a:off x="2867505" y="3613149"/>
            <a:ext cx="6007409" cy="128669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4"/>
          <a:srcRect t="40343"/>
          <a:stretch>
            <a:fillRect/>
          </a:stretch>
        </p:blipFill>
        <p:spPr>
          <a:xfrm>
            <a:off x="2848454" y="5558163"/>
            <a:ext cx="6026460" cy="99257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722880" y="308094"/>
            <a:ext cx="6746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CSS - The :first-child Pseudo-class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5950" y="1083649"/>
            <a:ext cx="11074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The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:first-child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pseudo-class matches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 specified element that is the first child of another element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. In the following example, the selector matches any &lt;p&gt; element that is the first child of any element: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043" y="2867445"/>
            <a:ext cx="2951480" cy="177232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43" y="5038569"/>
            <a:ext cx="6011057" cy="151971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/>
          <a:srcRect t="22701"/>
          <a:stretch>
            <a:fillRect/>
          </a:stretch>
        </p:blipFill>
        <p:spPr>
          <a:xfrm>
            <a:off x="5737076" y="3251200"/>
            <a:ext cx="5823249" cy="109955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640840" y="236974"/>
            <a:ext cx="8910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Match the first &lt;</a:t>
            </a:r>
            <a:r>
              <a:rPr kumimoji="0" lang="en-US" altLang="zh-CN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&gt; element in all &lt;p&gt; elements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3351" y="1033195"/>
            <a:ext cx="1078934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In the following example, the selector matches the first 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&gt; element in all &lt;p&gt; elements: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351" y="2326530"/>
            <a:ext cx="3043619" cy="17170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245" y="2585322"/>
            <a:ext cx="7728981" cy="129452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/>
          <a:srcRect t="18323"/>
          <a:stretch>
            <a:fillRect/>
          </a:stretch>
        </p:blipFill>
        <p:spPr>
          <a:xfrm>
            <a:off x="1761775" y="4768850"/>
            <a:ext cx="8427760" cy="172088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58520" y="289600"/>
            <a:ext cx="10474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Match all &lt;</a:t>
            </a:r>
            <a:r>
              <a:rPr kumimoji="0" lang="en-US" altLang="zh-CN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&gt; elements in all first child &lt;p&gt; elements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1272" y="1123175"/>
            <a:ext cx="111055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In the following example, the selector matches all 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&gt; elements in &lt;p&gt; elements that are the first child of another element: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73" y="2399526"/>
            <a:ext cx="3890711" cy="239906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/>
          <a:srcRect t="27412"/>
          <a:stretch>
            <a:fillRect/>
          </a:stretch>
        </p:blipFill>
        <p:spPr>
          <a:xfrm>
            <a:off x="3165324" y="5492750"/>
            <a:ext cx="5861351" cy="109247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600" y="2955047"/>
            <a:ext cx="7541724" cy="101046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3487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All CSS Pseudo Classes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251196"/>
            <a:ext cx="8991600" cy="525807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41806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All CSS Pseudo Classes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7691" y="1414012"/>
            <a:ext cx="8615680" cy="525451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22600" y="33603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All CSS Pseudo Classes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631" y="1844585"/>
            <a:ext cx="9380133" cy="444826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/>
              <a:t>CSS Attribute Selectors</a:t>
            </a: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Style HTML Elements With Specific Attributes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4029" y="1793442"/>
            <a:ext cx="10940142" cy="970340"/>
          </a:xfrm>
        </p:spPr>
        <p:txBody>
          <a:bodyPr>
            <a:normAutofit lnSpcReduction="10000"/>
          </a:bodyPr>
          <a:lstStyle/>
          <a:p>
            <a:r>
              <a:rPr lang="en-US" altLang="zh-CN" sz="3600" dirty="0"/>
              <a:t>It is possible to style HTML elements that have specific attributes or attribute values.</a:t>
            </a:r>
            <a:endParaRPr lang="en-US" altLang="zh-CN" sz="3600" dirty="0"/>
          </a:p>
          <a:p>
            <a:endParaRPr lang="en-US" altLang="zh-CN" sz="3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6818"/>
          </a:xfrm>
        </p:spPr>
        <p:txBody>
          <a:bodyPr/>
          <a:lstStyle/>
          <a:p>
            <a:pPr algn="ctr"/>
            <a:r>
              <a:rPr lang="en-US" altLang="zh-CN" dirty="0"/>
              <a:t>CSS [attribute] Selector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171" y="1290674"/>
            <a:ext cx="11371943" cy="13255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3200" dirty="0"/>
              <a:t>The </a:t>
            </a:r>
            <a:r>
              <a:rPr lang="en-US" altLang="zh-CN" sz="3200" dirty="0">
                <a:solidFill>
                  <a:srgbClr val="FFFF00"/>
                </a:solidFill>
              </a:rPr>
              <a:t>[attribute] </a:t>
            </a:r>
            <a:r>
              <a:rPr lang="en-US" altLang="zh-CN" sz="3200" dirty="0"/>
              <a:t>selector is used to select elements with a specified attribute.</a:t>
            </a:r>
            <a:endParaRPr lang="en-US" altLang="zh-CN" sz="3200" dirty="0"/>
          </a:p>
          <a:p>
            <a:r>
              <a:rPr lang="en-US" altLang="zh-CN" sz="3200" dirty="0"/>
              <a:t>The following example selects all &lt;a&gt; elements with a target attribute:</a:t>
            </a:r>
            <a:endParaRPr lang="en-US" altLang="zh-CN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6743" y="2694967"/>
            <a:ext cx="6678509" cy="258812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86" y="5588799"/>
            <a:ext cx="5762625" cy="115252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7793"/>
          </a:xfrm>
        </p:spPr>
        <p:txBody>
          <a:bodyPr/>
          <a:lstStyle/>
          <a:p>
            <a:pPr algn="ctr"/>
            <a:r>
              <a:rPr lang="en-US" altLang="zh-CN" dirty="0"/>
              <a:t>CSS [attribute="value"] Selector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1714" y="1201493"/>
            <a:ext cx="11313885" cy="183262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The </a:t>
            </a:r>
            <a:r>
              <a:rPr lang="en-US" altLang="zh-CN" dirty="0">
                <a:solidFill>
                  <a:srgbClr val="FFFF00"/>
                </a:solidFill>
              </a:rPr>
              <a:t>[attribute="value"] </a:t>
            </a:r>
            <a:r>
              <a:rPr lang="en-US" altLang="zh-CN" dirty="0"/>
              <a:t>selector is used to select elements with a specified attribute and value.</a:t>
            </a:r>
            <a:endParaRPr lang="en-US" altLang="zh-CN" dirty="0"/>
          </a:p>
          <a:p>
            <a:pPr algn="just"/>
            <a:r>
              <a:rPr lang="en-US" altLang="zh-CN" dirty="0"/>
              <a:t>The following example selects all &lt;a&gt; elements with a target="_blank" attribute: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741" y="3823888"/>
            <a:ext cx="7668955" cy="300171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634" y="2849226"/>
            <a:ext cx="5762625" cy="107632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0018"/>
          </a:xfrm>
        </p:spPr>
        <p:txBody>
          <a:bodyPr/>
          <a:lstStyle/>
          <a:p>
            <a:pPr algn="ctr"/>
            <a:r>
              <a:rPr lang="en-US" altLang="zh-CN" dirty="0"/>
              <a:t>CSS [attribute~="value"] Selector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2257" y="1320608"/>
            <a:ext cx="11223172" cy="183262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The </a:t>
            </a:r>
            <a:r>
              <a:rPr lang="en-US" altLang="zh-CN" dirty="0">
                <a:solidFill>
                  <a:srgbClr val="FFFF00"/>
                </a:solidFill>
              </a:rPr>
              <a:t>[attribute~="value"] </a:t>
            </a:r>
            <a:r>
              <a:rPr lang="en-US" altLang="zh-CN" dirty="0"/>
              <a:t>selector is used to select elements with an attribute value containing a specified word.</a:t>
            </a:r>
            <a:endParaRPr lang="en-US" altLang="zh-CN" dirty="0"/>
          </a:p>
          <a:p>
            <a:pPr algn="just"/>
            <a:r>
              <a:rPr lang="en-US" altLang="zh-CN" dirty="0"/>
              <a:t>The following example selects all elements with a title attribute that contains a </a:t>
            </a:r>
            <a:r>
              <a:rPr lang="en-US" altLang="zh-CN" dirty="0">
                <a:solidFill>
                  <a:srgbClr val="FF0000"/>
                </a:solidFill>
              </a:rPr>
              <a:t>space-separated list of words</a:t>
            </a:r>
            <a:r>
              <a:rPr lang="en-US" altLang="zh-CN" dirty="0"/>
              <a:t>, one of which is "flower":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587" y="3153228"/>
            <a:ext cx="9650944" cy="356688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0782"/>
          </a:xfrm>
        </p:spPr>
        <p:txBody>
          <a:bodyPr/>
          <a:lstStyle/>
          <a:p>
            <a:pPr algn="ctr"/>
            <a:r>
              <a:rPr lang="en-US" altLang="zh-CN" dirty="0"/>
              <a:t>CSS [attribute~="value"] Selector</a:t>
            </a:r>
            <a:endParaRPr lang="zh-CN" altLang="en-US" dirty="0"/>
          </a:p>
        </p:txBody>
      </p:sp>
      <p:sp>
        <p:nvSpPr>
          <p:cNvPr id="7" name="内容占位符 2"/>
          <p:cNvSpPr txBox="1"/>
          <p:nvPr/>
        </p:nvSpPr>
        <p:spPr>
          <a:xfrm>
            <a:off x="838200" y="1690688"/>
            <a:ext cx="10515600" cy="482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Result: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6" name="内容占位符 2"/>
          <p:cNvSpPr txBox="1"/>
          <p:nvPr/>
        </p:nvSpPr>
        <p:spPr>
          <a:xfrm>
            <a:off x="471714" y="5483557"/>
            <a:ext cx="11309161" cy="1264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dirty="0"/>
              <a:t>The example above will match elements with title="flower", title="summer flower", and title="flower new", but not title="my-flower" or title="flowers".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4022" y="1413710"/>
            <a:ext cx="5876368" cy="393204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3191"/>
          </a:xfrm>
        </p:spPr>
        <p:txBody>
          <a:bodyPr/>
          <a:lstStyle/>
          <a:p>
            <a:pPr algn="ctr"/>
            <a:r>
              <a:rPr lang="en-US" altLang="zh-CN" dirty="0"/>
              <a:t>CSS [attribute|="value"] Selector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5046" y="1148316"/>
            <a:ext cx="11375065" cy="1832620"/>
          </a:xfrm>
        </p:spPr>
        <p:txBody>
          <a:bodyPr>
            <a:normAutofit/>
          </a:bodyPr>
          <a:lstStyle/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FFFF00"/>
                </a:solidFill>
              </a:rPr>
              <a:t>[attribute|="value"] </a:t>
            </a:r>
            <a:r>
              <a:rPr lang="en-US" altLang="zh-CN" dirty="0"/>
              <a:t>selector is used to select elements with the specified attribute starting with the specified value.</a:t>
            </a:r>
            <a:endParaRPr lang="en-US" altLang="zh-CN" dirty="0"/>
          </a:p>
          <a:p>
            <a:r>
              <a:rPr lang="en-US" altLang="zh-CN" dirty="0"/>
              <a:t>The following example selects all elements with a class attribute value that begins with "top":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72" y="3267464"/>
            <a:ext cx="6547210" cy="228424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330" y="3267465"/>
            <a:ext cx="5367670" cy="1427738"/>
          </a:xfrm>
          <a:prstGeom prst="rect">
            <a:avLst/>
          </a:prstGeom>
        </p:spPr>
      </p:pic>
      <p:sp>
        <p:nvSpPr>
          <p:cNvPr id="6" name="内容占位符 2"/>
          <p:cNvSpPr txBox="1"/>
          <p:nvPr/>
        </p:nvSpPr>
        <p:spPr>
          <a:xfrm>
            <a:off x="395175" y="5881508"/>
            <a:ext cx="11484935" cy="903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FF00"/>
                </a:solidFill>
              </a:rPr>
              <a:t>Note: </a:t>
            </a:r>
            <a:r>
              <a:rPr lang="en-US" altLang="zh-CN" dirty="0"/>
              <a:t>The value has to be a whole word, either alone, like class="top", or followed by a hyphen( - ), like class="top-text"! </a:t>
            </a:r>
            <a:endParaRPr lang="en-US" altLang="zh-CN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3904"/>
          </a:xfrm>
        </p:spPr>
        <p:txBody>
          <a:bodyPr/>
          <a:lstStyle/>
          <a:p>
            <a:pPr algn="ctr"/>
            <a:r>
              <a:rPr lang="en-US" altLang="zh-CN" dirty="0"/>
              <a:t>CSS [attribute^="value"] Selector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3570" y="1299030"/>
            <a:ext cx="11448143" cy="1832620"/>
          </a:xfrm>
        </p:spPr>
        <p:txBody>
          <a:bodyPr>
            <a:normAutofit/>
          </a:bodyPr>
          <a:lstStyle/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FFFF00"/>
                </a:solidFill>
              </a:rPr>
              <a:t>[attribute^="value"] </a:t>
            </a:r>
            <a:r>
              <a:rPr lang="en-US" altLang="zh-CN" dirty="0"/>
              <a:t>selector is used to select elements whose attribute value begins with a specified value.</a:t>
            </a:r>
            <a:endParaRPr lang="en-US" altLang="zh-CN" dirty="0"/>
          </a:p>
          <a:p>
            <a:r>
              <a:rPr lang="en-US" altLang="zh-CN" dirty="0"/>
              <a:t>The following example selects all elements with a class attribute value that begins with "top":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75" y="3347531"/>
            <a:ext cx="7388386" cy="258881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348" y="3581397"/>
            <a:ext cx="4426687" cy="1185720"/>
          </a:xfrm>
          <a:prstGeom prst="rect">
            <a:avLst/>
          </a:prstGeom>
        </p:spPr>
      </p:pic>
      <p:sp>
        <p:nvSpPr>
          <p:cNvPr id="6" name="内容占位符 2"/>
          <p:cNvSpPr txBox="1"/>
          <p:nvPr/>
        </p:nvSpPr>
        <p:spPr>
          <a:xfrm>
            <a:off x="2074234" y="6196300"/>
            <a:ext cx="8043531" cy="661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FF00"/>
                </a:solidFill>
              </a:rPr>
              <a:t>Note: </a:t>
            </a:r>
            <a:r>
              <a:rPr lang="en-US" altLang="zh-CN" dirty="0"/>
              <a:t>The value does not have to be a whole word! </a:t>
            </a:r>
            <a:endParaRPr lang="en-US" altLang="zh-CN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/>
          <a:p>
            <a:pPr algn="ctr"/>
            <a:r>
              <a:rPr lang="en-US" altLang="zh-CN" dirty="0"/>
              <a:t>CSS [attribute$="value"] Selector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9517" y="1377320"/>
            <a:ext cx="11295912" cy="1832620"/>
          </a:xfrm>
        </p:spPr>
        <p:txBody>
          <a:bodyPr>
            <a:normAutofit/>
          </a:bodyPr>
          <a:lstStyle/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FFFF00"/>
                </a:solidFill>
              </a:rPr>
              <a:t>[attribute$="value"] </a:t>
            </a:r>
            <a:r>
              <a:rPr lang="en-US" altLang="zh-CN" dirty="0"/>
              <a:t>selector is used to select elements whose attribute value ends with a specified value.</a:t>
            </a:r>
            <a:endParaRPr lang="en-US" altLang="zh-CN" dirty="0"/>
          </a:p>
          <a:p>
            <a:r>
              <a:rPr lang="en-US" altLang="zh-CN" dirty="0"/>
              <a:t>The following example selects all elements with a class attribute value that ends with "test":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91" y="3562980"/>
            <a:ext cx="4486275" cy="2819400"/>
          </a:xfrm>
          <a:prstGeom prst="rect">
            <a:avLst/>
          </a:prstGeom>
        </p:spPr>
      </p:pic>
      <p:sp>
        <p:nvSpPr>
          <p:cNvPr id="6" name="内容占位符 2"/>
          <p:cNvSpPr txBox="1"/>
          <p:nvPr/>
        </p:nvSpPr>
        <p:spPr>
          <a:xfrm>
            <a:off x="5968409" y="5662622"/>
            <a:ext cx="6223591" cy="6617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FF00"/>
                </a:solidFill>
              </a:rPr>
              <a:t>Note: </a:t>
            </a:r>
            <a:r>
              <a:rPr lang="en-US" altLang="zh-CN" dirty="0"/>
              <a:t>The value does not have to be a whole word! 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019" y="3992666"/>
            <a:ext cx="6170890" cy="88723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4577"/>
          </a:xfrm>
        </p:spPr>
        <p:txBody>
          <a:bodyPr/>
          <a:lstStyle/>
          <a:p>
            <a:pPr algn="ctr"/>
            <a:r>
              <a:rPr lang="en-US" altLang="zh-CN" dirty="0"/>
              <a:t>CSS [attribute*="value"] Selector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2134" y="1268016"/>
            <a:ext cx="11297093" cy="183262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The </a:t>
            </a:r>
            <a:r>
              <a:rPr lang="en-US" altLang="zh-CN" dirty="0">
                <a:solidFill>
                  <a:srgbClr val="FFFF00"/>
                </a:solidFill>
              </a:rPr>
              <a:t>[attribute*="value"] </a:t>
            </a:r>
            <a:r>
              <a:rPr lang="en-US" altLang="zh-CN" dirty="0"/>
              <a:t>selector is used to select elements whose attribute value contains a specified value.</a:t>
            </a:r>
            <a:endParaRPr lang="en-US" altLang="zh-CN" dirty="0"/>
          </a:p>
          <a:p>
            <a:pPr algn="just"/>
            <a:r>
              <a:rPr lang="en-US" altLang="zh-CN" dirty="0"/>
              <a:t>The following example selects all elements with a class attribute value that contains "te":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421" y="3302906"/>
            <a:ext cx="5421970" cy="341720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689" y="3478722"/>
            <a:ext cx="6170890" cy="887230"/>
          </a:xfrm>
          <a:prstGeom prst="rect">
            <a:avLst/>
          </a:prstGeom>
        </p:spPr>
      </p:pic>
      <p:sp>
        <p:nvSpPr>
          <p:cNvPr id="6" name="内容占位符 2"/>
          <p:cNvSpPr txBox="1"/>
          <p:nvPr/>
        </p:nvSpPr>
        <p:spPr>
          <a:xfrm>
            <a:off x="5410199" y="5885541"/>
            <a:ext cx="6597503" cy="76892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FF00"/>
                </a:solidFill>
              </a:rPr>
              <a:t>Note: </a:t>
            </a:r>
            <a:r>
              <a:rPr lang="en-US" altLang="zh-CN" dirty="0"/>
              <a:t>The value does not have to be a whole word! </a:t>
            </a:r>
            <a:endParaRPr lang="en-US" altLang="zh-CN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716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/>
              <a:t>Styling Forms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9140" y="1176670"/>
            <a:ext cx="11273719" cy="622280"/>
          </a:xfrm>
        </p:spPr>
        <p:txBody>
          <a:bodyPr>
            <a:normAutofit/>
          </a:bodyPr>
          <a:lstStyle/>
          <a:p>
            <a:r>
              <a:rPr lang="en-US" altLang="zh-CN" dirty="0"/>
              <a:t>The attribute selectors can be useful for styling forms without class or ID: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645" y="1986239"/>
            <a:ext cx="5909707" cy="46390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745" y="1986238"/>
            <a:ext cx="4523372" cy="376243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commondata" val="eyJoZGlkIjoiNWQyMzkyOWRjOGE1NzM3ODdhMDA3YmE1MDAyZWE4MjMifQ=="/>
</p:tagLst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10362</Words>
  <Application>WPS 演示</Application>
  <PresentationFormat>宽屏</PresentationFormat>
  <Paragraphs>279</Paragraphs>
  <Slides>58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58</vt:i4>
      </vt:variant>
    </vt:vector>
  </HeadingPairs>
  <TitlesOfParts>
    <vt:vector size="75" baseType="lpstr">
      <vt:lpstr>Arial</vt:lpstr>
      <vt:lpstr>宋体</vt:lpstr>
      <vt:lpstr>Wingdings</vt:lpstr>
      <vt:lpstr>等线</vt:lpstr>
      <vt:lpstr>Times New Roman</vt:lpstr>
      <vt:lpstr>Calibri</vt:lpstr>
      <vt:lpstr>Verdana</vt:lpstr>
      <vt:lpstr>Calibri Light</vt:lpstr>
      <vt:lpstr>微软雅黑</vt:lpstr>
      <vt:lpstr>Arial Unicode MS</vt:lpstr>
      <vt:lpstr>等线 Light</vt:lpstr>
      <vt:lpstr>Segoe UI</vt:lpstr>
      <vt:lpstr>黑体</vt:lpstr>
      <vt:lpstr>Office Theme</vt:lpstr>
      <vt:lpstr>Office 主题​​</vt:lpstr>
      <vt:lpstr>2_Office 主题​​</vt:lpstr>
      <vt:lpstr>1_Office 主题​​</vt:lpstr>
      <vt:lpstr>CSS Box Model</vt:lpstr>
      <vt:lpstr>What is CSS Box Model?</vt:lpstr>
      <vt:lpstr>What is CSS Box Model?</vt:lpstr>
      <vt:lpstr>What is CSS Box Model?</vt:lpstr>
      <vt:lpstr>How to set the CSS Box Model？</vt:lpstr>
      <vt:lpstr>Width and Height of an Element</vt:lpstr>
      <vt:lpstr>CSS DISPLAY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CSS POSITION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CSS COMBINATORS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CSS PSEUDO-CLASSES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CSS Attribute Selectors</vt:lpstr>
      <vt:lpstr>Style HTML Elements With Specific Attributes</vt:lpstr>
      <vt:lpstr>CSS [attribute] Selector</vt:lpstr>
      <vt:lpstr>CSS [attribute="value"] Selector</vt:lpstr>
      <vt:lpstr>CSS [attribute~="value"] Selector</vt:lpstr>
      <vt:lpstr>CSS [attribute~="value"] Selector</vt:lpstr>
      <vt:lpstr>CSS [attribute|="value"] Selector</vt:lpstr>
      <vt:lpstr>CSS [attribute^="value"] Selector</vt:lpstr>
      <vt:lpstr>CSS [attribute$="value"] Selector</vt:lpstr>
      <vt:lpstr>CSS [attribute*="value"] Selector</vt:lpstr>
      <vt:lpstr>Styling Forms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yzchen</dc:creator>
  <cp:lastModifiedBy>小鞠鞠的小猪猪</cp:lastModifiedBy>
  <cp:revision>149</cp:revision>
  <dcterms:created xsi:type="dcterms:W3CDTF">2021-02-18T03:39:00Z</dcterms:created>
  <dcterms:modified xsi:type="dcterms:W3CDTF">2025-07-01T12:07:28Z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3B9D8D54C2A54E3E8AA38BC6EB99C660_12</vt:lpwstr>
  </property>
</Properties>
</file>