
<file path=[Content_Types].xml><?xml version="1.0" encoding="utf-8"?>
<Types xmlns="http://schemas.openxmlformats.org/package/2006/content-types">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70"/>
  </p:notesMasterIdLst>
  <p:sldIdLst>
    <p:sldId id="482" r:id="rId4"/>
    <p:sldId id="483" r:id="rId5"/>
    <p:sldId id="484" r:id="rId6"/>
    <p:sldId id="486" r:id="rId7"/>
    <p:sldId id="487" r:id="rId8"/>
    <p:sldId id="488" r:id="rId9"/>
    <p:sldId id="489" r:id="rId10"/>
    <p:sldId id="490" r:id="rId11"/>
    <p:sldId id="491" r:id="rId12"/>
    <p:sldId id="492" r:id="rId13"/>
    <p:sldId id="493" r:id="rId14"/>
    <p:sldId id="495" r:id="rId15"/>
    <p:sldId id="496" r:id="rId16"/>
    <p:sldId id="497" r:id="rId17"/>
    <p:sldId id="498" r:id="rId18"/>
    <p:sldId id="499" r:id="rId19"/>
    <p:sldId id="500" r:id="rId20"/>
    <p:sldId id="501" r:id="rId21"/>
    <p:sldId id="504" r:id="rId22"/>
    <p:sldId id="515" r:id="rId23"/>
    <p:sldId id="516" r:id="rId24"/>
    <p:sldId id="517" r:id="rId25"/>
    <p:sldId id="518" r:id="rId26"/>
    <p:sldId id="522" r:id="rId27"/>
    <p:sldId id="523" r:id="rId28"/>
    <p:sldId id="525" r:id="rId29"/>
    <p:sldId id="526" r:id="rId30"/>
    <p:sldId id="527" r:id="rId31"/>
    <p:sldId id="528" r:id="rId32"/>
    <p:sldId id="530" r:id="rId33"/>
    <p:sldId id="558" r:id="rId34"/>
    <p:sldId id="532" r:id="rId35"/>
    <p:sldId id="533" r:id="rId36"/>
    <p:sldId id="535" r:id="rId37"/>
    <p:sldId id="536" r:id="rId38"/>
    <p:sldId id="537" r:id="rId39"/>
    <p:sldId id="539" r:id="rId40"/>
    <p:sldId id="559" r:id="rId41"/>
    <p:sldId id="560" r:id="rId42"/>
    <p:sldId id="562" r:id="rId43"/>
    <p:sldId id="563" r:id="rId44"/>
    <p:sldId id="564" r:id="rId45"/>
    <p:sldId id="567" r:id="rId46"/>
    <p:sldId id="568" r:id="rId47"/>
    <p:sldId id="569" r:id="rId48"/>
    <p:sldId id="570" r:id="rId49"/>
    <p:sldId id="571" r:id="rId50"/>
    <p:sldId id="573" r:id="rId51"/>
    <p:sldId id="575" r:id="rId52"/>
    <p:sldId id="576" r:id="rId53"/>
    <p:sldId id="577" r:id="rId54"/>
    <p:sldId id="578" r:id="rId55"/>
    <p:sldId id="621" r:id="rId56"/>
    <p:sldId id="622" r:id="rId57"/>
    <p:sldId id="623" r:id="rId58"/>
    <p:sldId id="625" r:id="rId59"/>
    <p:sldId id="626" r:id="rId60"/>
    <p:sldId id="627" r:id="rId61"/>
    <p:sldId id="628" r:id="rId62"/>
    <p:sldId id="629" r:id="rId63"/>
    <p:sldId id="630" r:id="rId64"/>
    <p:sldId id="631" r:id="rId65"/>
    <p:sldId id="632" r:id="rId66"/>
    <p:sldId id="633" r:id="rId67"/>
    <p:sldId id="634" r:id="rId68"/>
    <p:sldId id="635" r:id="rId69"/>
    <p:sldId id="637" r:id="rId71"/>
    <p:sldId id="638" r:id="rId72"/>
    <p:sldId id="639" r:id="rId73"/>
    <p:sldId id="640" r:id="rId74"/>
    <p:sldId id="641" r:id="rId75"/>
    <p:sldId id="642" r:id="rId76"/>
    <p:sldId id="643" r:id="rId77"/>
  </p:sldIdLst>
  <p:sldSz cx="12192000" cy="6858000"/>
  <p:notesSz cx="6858000" cy="9144000"/>
  <p:custDataLst>
    <p:tags r:id="rId8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F1423"/>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83915" autoAdjust="0"/>
  </p:normalViewPr>
  <p:slideViewPr>
    <p:cSldViewPr snapToGrid="0" showGuides="1">
      <p:cViewPr varScale="1">
        <p:scale>
          <a:sx n="135" d="100"/>
          <a:sy n="135" d="100"/>
        </p:scale>
        <p:origin x="3672" y="132"/>
      </p:cViewPr>
      <p:guideLst>
        <p:guide orient="horz" pos="2172"/>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1" Type="http://schemas.openxmlformats.org/officeDocument/2006/relationships/tags" Target="tags/tag1.xml"/><Relationship Id="rId80" Type="http://schemas.openxmlformats.org/officeDocument/2006/relationships/tableStyles" Target="tableStyles.xml"/><Relationship Id="rId8" Type="http://schemas.openxmlformats.org/officeDocument/2006/relationships/slide" Target="slides/slide5.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notesMaster" Target="notesMasters/notesMaster1.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57507F-00E5-4CCC-AEBF-C6C0D30E9BF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E6958C-0F4C-40EA-957C-B652A674A8D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E6958C-0F4C-40EA-957C-B652A674A8D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9FB3DC9-4C5B-4D9F-84D5-E67E8706608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7ED12-17D6-47CC-905B-E89188D11681}"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FB3DC9-4C5B-4D9F-84D5-E67E87066088}" type="slidenum">
              <a:rPr lang="zh-CN" altLang="en-US" smtClean="0"/>
            </a:fld>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CD7ED12-17D6-47CC-905B-E89188D11681}" type="datetimeFigureOut">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9FB3DC9-4C5B-4D9F-84D5-E67E87066088}" type="slidenum">
              <a:rPr kumimoji="0" lang="zh-CN" altLang="en-US" sz="1200" b="0" i="0" u="none" strike="noStrike" kern="1200" cap="none" spc="0" normalizeH="0" baseline="0" noProof="0" smtClean="0">
                <a:ln>
                  <a:noFill/>
                </a:ln>
                <a:solidFill>
                  <a:prstClr val="white">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white">
                  <a:tint val="75000"/>
                </a:prstClr>
              </a:solidFill>
              <a:effectLst/>
              <a:uLnTx/>
              <a:uFillTx/>
              <a:latin typeface="Calibri" panose="020F0502020204030204"/>
              <a:ea typeface="等线" panose="02010600030101010101" pitchFamily="2" charset="-122"/>
              <a:cs typeface="+mn-cs"/>
            </a:endParaRP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GIF"/><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0.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4.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46.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0.png"/><Relationship Id="rId1" Type="http://schemas.openxmlformats.org/officeDocument/2006/relationships/image" Target="../media/image59.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5.png"/><Relationship Id="rId1" Type="http://schemas.openxmlformats.org/officeDocument/2006/relationships/image" Target="../media/image6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image" Target="../media/image6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Meta Data</a:t>
            </a:r>
            <a:endParaRPr lang="zh-CN" altLang="en-US" dirty="0"/>
          </a:p>
        </p:txBody>
      </p:sp>
      <p:sp>
        <p:nvSpPr>
          <p:cNvPr id="3" name="内容占位符 2"/>
          <p:cNvSpPr>
            <a:spLocks noGrp="1"/>
          </p:cNvSpPr>
          <p:nvPr>
            <p:ph idx="1"/>
          </p:nvPr>
        </p:nvSpPr>
        <p:spPr>
          <a:xfrm>
            <a:off x="838200" y="1198606"/>
            <a:ext cx="10515600" cy="4909963"/>
          </a:xfrm>
        </p:spPr>
        <p:txBody>
          <a:bodyPr>
            <a:noAutofit/>
          </a:bodyPr>
          <a:lstStyle/>
          <a:p>
            <a:pPr marL="0" indent="0" algn="just">
              <a:buNone/>
            </a:pPr>
            <a:r>
              <a:rPr lang="en-US" altLang="zh-CN" dirty="0"/>
              <a:t>The &lt;title&gt; element is required in HTML5. Make the title as meaningful as possible:</a:t>
            </a:r>
            <a:endParaRPr lang="en-US" altLang="zh-CN" dirty="0"/>
          </a:p>
          <a:p>
            <a:pPr marL="0" indent="0" algn="just">
              <a:buNone/>
            </a:pPr>
            <a:endParaRPr lang="en-US" altLang="zh-CN" dirty="0"/>
          </a:p>
          <a:p>
            <a:pPr marL="0" indent="0" algn="just">
              <a:buNone/>
            </a:pPr>
            <a:endParaRPr lang="en-US" altLang="zh-CN" dirty="0"/>
          </a:p>
          <a:p>
            <a:pPr marL="0" indent="0" algn="just">
              <a:buNone/>
            </a:pPr>
            <a:r>
              <a:rPr lang="en-US" altLang="zh-CN" dirty="0"/>
              <a:t>To ensure proper interpretation, and correct search engine indexing, both the language and the character encoding should be defined as early as possible in a document:</a:t>
            </a:r>
            <a:endParaRPr lang="en-US" altLang="zh-CN" dirty="0"/>
          </a:p>
          <a:p>
            <a:pPr marL="0" indent="0" algn="just">
              <a:buNone/>
            </a:pPr>
            <a:endParaRPr lang="en-US" altLang="zh-CN" dirty="0"/>
          </a:p>
        </p:txBody>
      </p:sp>
      <p:pic>
        <p:nvPicPr>
          <p:cNvPr id="5" name="图片 4"/>
          <p:cNvPicPr>
            <a:picLocks noChangeAspect="1"/>
          </p:cNvPicPr>
          <p:nvPr/>
        </p:nvPicPr>
        <p:blipFill>
          <a:blip r:embed="rId1"/>
          <a:stretch>
            <a:fillRect/>
          </a:stretch>
        </p:blipFill>
        <p:spPr>
          <a:xfrm>
            <a:off x="3600234" y="2169504"/>
            <a:ext cx="4991533" cy="607522"/>
          </a:xfrm>
          <a:prstGeom prst="rect">
            <a:avLst/>
          </a:prstGeom>
        </p:spPr>
      </p:pic>
      <p:pic>
        <p:nvPicPr>
          <p:cNvPr id="7" name="图片 6"/>
          <p:cNvPicPr>
            <a:picLocks noChangeAspect="1"/>
          </p:cNvPicPr>
          <p:nvPr/>
        </p:nvPicPr>
        <p:blipFill>
          <a:blip r:embed="rId2"/>
          <a:stretch>
            <a:fillRect/>
          </a:stretch>
        </p:blipFill>
        <p:spPr>
          <a:xfrm>
            <a:off x="3600234" y="4595222"/>
            <a:ext cx="4991533" cy="16079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HTML Comments</a:t>
            </a:r>
            <a:endParaRPr lang="zh-CN" altLang="en-US" dirty="0"/>
          </a:p>
        </p:txBody>
      </p:sp>
      <p:sp>
        <p:nvSpPr>
          <p:cNvPr id="3" name="内容占位符 2"/>
          <p:cNvSpPr>
            <a:spLocks noGrp="1"/>
          </p:cNvSpPr>
          <p:nvPr>
            <p:ph idx="1"/>
          </p:nvPr>
        </p:nvSpPr>
        <p:spPr>
          <a:xfrm>
            <a:off x="838200" y="1198606"/>
            <a:ext cx="10515600" cy="5282405"/>
          </a:xfrm>
        </p:spPr>
        <p:txBody>
          <a:bodyPr>
            <a:noAutofit/>
          </a:bodyPr>
          <a:lstStyle/>
          <a:p>
            <a:pPr marL="0" indent="0" algn="just">
              <a:buNone/>
            </a:pPr>
            <a:r>
              <a:rPr lang="en-US" altLang="zh-CN" dirty="0"/>
              <a:t>Short comments should be written on one line, with a space after &lt;!-- and a space before --&gt;:</a:t>
            </a:r>
            <a:endParaRPr lang="en-US" altLang="zh-CN" dirty="0"/>
          </a:p>
          <a:p>
            <a:pPr marL="0" indent="0" algn="just">
              <a:buNone/>
            </a:pPr>
            <a:endParaRPr lang="en-US" altLang="zh-CN" dirty="0"/>
          </a:p>
          <a:p>
            <a:pPr marL="0" indent="0" algn="just">
              <a:buNone/>
            </a:pPr>
            <a:endParaRPr lang="en-US" altLang="zh-CN" dirty="0"/>
          </a:p>
          <a:p>
            <a:pPr marL="0" indent="0" algn="just">
              <a:buNone/>
            </a:pPr>
            <a:r>
              <a:rPr lang="en-US" altLang="zh-CN" dirty="0"/>
              <a:t>Long comments, spanning many lines, should be written with &lt;!-- and --&gt; on separate lines:</a:t>
            </a: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r>
              <a:rPr lang="en-US" altLang="zh-CN" dirty="0"/>
              <a:t>Long comments are easier to observe, if they are indented 2 spaces.</a:t>
            </a:r>
            <a:endParaRPr lang="en-US" altLang="zh-CN" dirty="0"/>
          </a:p>
          <a:p>
            <a:pPr marL="0" indent="0" algn="just">
              <a:buNone/>
            </a:pPr>
            <a:endParaRPr lang="en-US" altLang="zh-CN" dirty="0"/>
          </a:p>
        </p:txBody>
      </p:sp>
      <p:pic>
        <p:nvPicPr>
          <p:cNvPr id="6" name="图片 5"/>
          <p:cNvPicPr>
            <a:picLocks noChangeAspect="1"/>
          </p:cNvPicPr>
          <p:nvPr/>
        </p:nvPicPr>
        <p:blipFill>
          <a:blip r:embed="rId1"/>
          <a:stretch>
            <a:fillRect/>
          </a:stretch>
        </p:blipFill>
        <p:spPr>
          <a:xfrm>
            <a:off x="4016460" y="2297756"/>
            <a:ext cx="4159081" cy="621162"/>
          </a:xfrm>
          <a:prstGeom prst="rect">
            <a:avLst/>
          </a:prstGeom>
        </p:spPr>
      </p:pic>
      <p:pic>
        <p:nvPicPr>
          <p:cNvPr id="9" name="图片 8"/>
          <p:cNvPicPr>
            <a:picLocks noChangeAspect="1"/>
          </p:cNvPicPr>
          <p:nvPr/>
        </p:nvPicPr>
        <p:blipFill>
          <a:blip r:embed="rId2"/>
          <a:stretch>
            <a:fillRect/>
          </a:stretch>
        </p:blipFill>
        <p:spPr>
          <a:xfrm>
            <a:off x="1466449" y="4142703"/>
            <a:ext cx="9259102" cy="11812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Style Sheets</a:t>
            </a:r>
            <a:endParaRPr lang="zh-CN" altLang="en-US" dirty="0"/>
          </a:p>
        </p:txBody>
      </p:sp>
      <p:sp>
        <p:nvSpPr>
          <p:cNvPr id="3" name="内容占位符 2"/>
          <p:cNvSpPr>
            <a:spLocks noGrp="1"/>
          </p:cNvSpPr>
          <p:nvPr>
            <p:ph idx="1"/>
          </p:nvPr>
        </p:nvSpPr>
        <p:spPr>
          <a:xfrm>
            <a:off x="838200" y="1198606"/>
            <a:ext cx="10515600" cy="5282405"/>
          </a:xfrm>
        </p:spPr>
        <p:txBody>
          <a:bodyPr>
            <a:noAutofit/>
          </a:bodyPr>
          <a:lstStyle/>
          <a:p>
            <a:pPr marL="0" indent="0" algn="just">
              <a:buNone/>
            </a:pPr>
            <a:r>
              <a:rPr lang="en-US" altLang="zh-CN" dirty="0"/>
              <a:t>Use simple syntax for linking style sheets (the type attribute is not necessary):</a:t>
            </a:r>
            <a:endParaRPr lang="en-US" altLang="zh-CN" dirty="0"/>
          </a:p>
          <a:p>
            <a:pPr marL="0" indent="0" algn="just">
              <a:buNone/>
            </a:pPr>
            <a:endParaRPr lang="en-US" altLang="zh-CN" dirty="0"/>
          </a:p>
          <a:p>
            <a:pPr marL="0" indent="0" algn="just">
              <a:buNone/>
            </a:pPr>
            <a:r>
              <a:rPr lang="en-US" altLang="zh-CN" dirty="0"/>
              <a:t>Short rules can be written compressed, on one line, like this:</a:t>
            </a:r>
            <a:endParaRPr lang="en-US" altLang="zh-CN" dirty="0"/>
          </a:p>
          <a:p>
            <a:pPr marL="0" indent="0" algn="just">
              <a:buNone/>
            </a:pPr>
            <a:endParaRPr lang="en-US" altLang="zh-CN" dirty="0"/>
          </a:p>
          <a:p>
            <a:pPr marL="0" indent="0" algn="just">
              <a:buNone/>
            </a:pPr>
            <a:endParaRPr lang="en-US" altLang="zh-CN" dirty="0"/>
          </a:p>
          <a:p>
            <a:pPr marL="0" indent="0" algn="just">
              <a:buNone/>
            </a:pPr>
            <a:r>
              <a:rPr lang="en-US" altLang="zh-CN" dirty="0"/>
              <a:t>Long rules should be written over multiple lines:</a:t>
            </a:r>
            <a:endParaRPr lang="en-US" altLang="zh-CN" dirty="0"/>
          </a:p>
        </p:txBody>
      </p:sp>
      <p:pic>
        <p:nvPicPr>
          <p:cNvPr id="5" name="图片 4"/>
          <p:cNvPicPr>
            <a:picLocks noChangeAspect="1"/>
          </p:cNvPicPr>
          <p:nvPr/>
        </p:nvPicPr>
        <p:blipFill>
          <a:blip r:embed="rId1"/>
          <a:stretch>
            <a:fillRect/>
          </a:stretch>
        </p:blipFill>
        <p:spPr>
          <a:xfrm>
            <a:off x="3655484" y="1939071"/>
            <a:ext cx="4881033" cy="512108"/>
          </a:xfrm>
          <a:prstGeom prst="rect">
            <a:avLst/>
          </a:prstGeom>
        </p:spPr>
      </p:pic>
      <p:pic>
        <p:nvPicPr>
          <p:cNvPr id="8" name="图片 7"/>
          <p:cNvPicPr>
            <a:picLocks noChangeAspect="1"/>
          </p:cNvPicPr>
          <p:nvPr/>
        </p:nvPicPr>
        <p:blipFill>
          <a:blip r:embed="rId2"/>
          <a:stretch>
            <a:fillRect/>
          </a:stretch>
        </p:blipFill>
        <p:spPr>
          <a:xfrm>
            <a:off x="3271782" y="3429000"/>
            <a:ext cx="5648436" cy="519190"/>
          </a:xfrm>
          <a:prstGeom prst="rect">
            <a:avLst/>
          </a:prstGeom>
        </p:spPr>
      </p:pic>
      <p:pic>
        <p:nvPicPr>
          <p:cNvPr id="11" name="图片 10"/>
          <p:cNvPicPr>
            <a:picLocks noChangeAspect="1"/>
          </p:cNvPicPr>
          <p:nvPr/>
        </p:nvPicPr>
        <p:blipFill>
          <a:blip r:embed="rId3"/>
          <a:stretch>
            <a:fillRect/>
          </a:stretch>
        </p:blipFill>
        <p:spPr>
          <a:xfrm>
            <a:off x="3539269" y="4720724"/>
            <a:ext cx="5113463" cy="15546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Loading JavaScript in HTML</a:t>
            </a:r>
            <a:endParaRPr lang="zh-CN" altLang="en-US" dirty="0"/>
          </a:p>
        </p:txBody>
      </p:sp>
      <p:sp>
        <p:nvSpPr>
          <p:cNvPr id="3" name="内容占位符 2"/>
          <p:cNvSpPr>
            <a:spLocks noGrp="1"/>
          </p:cNvSpPr>
          <p:nvPr>
            <p:ph idx="1"/>
          </p:nvPr>
        </p:nvSpPr>
        <p:spPr>
          <a:xfrm>
            <a:off x="1016000" y="1370993"/>
            <a:ext cx="9926918" cy="1522109"/>
          </a:xfrm>
        </p:spPr>
        <p:txBody>
          <a:bodyPr>
            <a:noAutofit/>
          </a:bodyPr>
          <a:lstStyle/>
          <a:p>
            <a:pPr marL="0" indent="0" algn="just">
              <a:buNone/>
            </a:pPr>
            <a:r>
              <a:rPr lang="en-US" altLang="zh-CN" dirty="0"/>
              <a:t>Use simple syntax for loading external scripts (the type attribute is not necessary):</a:t>
            </a:r>
            <a:endParaRPr lang="en-US" altLang="zh-CN" dirty="0"/>
          </a:p>
          <a:p>
            <a:pPr marL="0" indent="0" algn="just">
              <a:buNone/>
            </a:pPr>
            <a:endParaRPr lang="en-US" altLang="zh-CN" dirty="0"/>
          </a:p>
          <a:p>
            <a:pPr marL="0" indent="0" algn="just">
              <a:buNone/>
            </a:pPr>
            <a:endParaRPr lang="en-US" altLang="zh-CN" dirty="0"/>
          </a:p>
        </p:txBody>
      </p:sp>
      <p:pic>
        <p:nvPicPr>
          <p:cNvPr id="5" name="图片 4"/>
          <p:cNvPicPr>
            <a:picLocks noChangeAspect="1"/>
          </p:cNvPicPr>
          <p:nvPr/>
        </p:nvPicPr>
        <p:blipFill>
          <a:blip r:embed="rId1"/>
          <a:stretch>
            <a:fillRect/>
          </a:stretch>
        </p:blipFill>
        <p:spPr>
          <a:xfrm>
            <a:off x="3979925" y="3768868"/>
            <a:ext cx="3482642" cy="5029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Use Lower Case File Names</a:t>
            </a:r>
            <a:endParaRPr lang="zh-CN" altLang="en-US" dirty="0"/>
          </a:p>
        </p:txBody>
      </p:sp>
      <p:sp>
        <p:nvSpPr>
          <p:cNvPr id="3" name="内容占位符 2"/>
          <p:cNvSpPr>
            <a:spLocks noGrp="1"/>
          </p:cNvSpPr>
          <p:nvPr>
            <p:ph idx="1"/>
          </p:nvPr>
        </p:nvSpPr>
        <p:spPr>
          <a:xfrm>
            <a:off x="725773" y="1198606"/>
            <a:ext cx="10849495" cy="4653553"/>
          </a:xfrm>
        </p:spPr>
        <p:txBody>
          <a:bodyPr>
            <a:noAutofit/>
          </a:bodyPr>
          <a:lstStyle/>
          <a:p>
            <a:pPr marL="0" indent="0" algn="just">
              <a:buNone/>
            </a:pPr>
            <a:r>
              <a:rPr lang="en-US" altLang="zh-CN" dirty="0"/>
              <a:t>Most web servers (Apache, Unix) are case sensitive about file names:</a:t>
            </a:r>
            <a:endParaRPr lang="en-US" altLang="zh-CN" dirty="0"/>
          </a:p>
          <a:p>
            <a:pPr marL="0" indent="0" algn="just">
              <a:buNone/>
            </a:pPr>
            <a:r>
              <a:rPr lang="en-US" altLang="zh-CN" dirty="0"/>
              <a:t>london.jpg cannot be accessed as London.jpg.</a:t>
            </a:r>
            <a:endParaRPr lang="en-US" altLang="zh-CN" dirty="0"/>
          </a:p>
          <a:p>
            <a:pPr marL="0" indent="0" algn="just">
              <a:buNone/>
            </a:pPr>
            <a:r>
              <a:rPr lang="en-US" altLang="zh-CN" dirty="0"/>
              <a:t>Other web servers (Microsoft, IIS) are not case sensitive:</a:t>
            </a:r>
            <a:endParaRPr lang="en-US" altLang="zh-CN" dirty="0"/>
          </a:p>
          <a:p>
            <a:pPr marL="0" indent="0" algn="just">
              <a:buNone/>
            </a:pPr>
            <a:r>
              <a:rPr lang="en-US" altLang="zh-CN" dirty="0"/>
              <a:t>london.jpg can be accessed as London.jpg or london.jpg.</a:t>
            </a:r>
            <a:endParaRPr lang="en-US" altLang="zh-CN" dirty="0"/>
          </a:p>
          <a:p>
            <a:pPr marL="0" indent="0" algn="just">
              <a:buNone/>
            </a:pPr>
            <a:r>
              <a:rPr lang="en-US" altLang="zh-CN" dirty="0"/>
              <a:t>If you use a mix of upper and lower case, you have to be extremely consistent.</a:t>
            </a:r>
            <a:endParaRPr lang="en-US" altLang="zh-CN" dirty="0"/>
          </a:p>
          <a:p>
            <a:pPr marL="0" indent="0" algn="just">
              <a:buNone/>
            </a:pPr>
            <a:r>
              <a:rPr lang="en-US" altLang="zh-CN" dirty="0"/>
              <a:t>If you move from a case insensitive, to a case sensitive server, even small errors will break your web.</a:t>
            </a:r>
            <a:endParaRPr lang="en-US" altLang="zh-CN" dirty="0"/>
          </a:p>
          <a:p>
            <a:pPr marL="0" indent="0" algn="just">
              <a:buNone/>
            </a:pPr>
            <a:r>
              <a:rPr lang="en-US" altLang="zh-CN" dirty="0">
                <a:solidFill>
                  <a:srgbClr val="FFFF00"/>
                </a:solidFill>
              </a:rPr>
              <a:t>To avoid these problems, always use lower case file names (if possible).</a:t>
            </a:r>
            <a:endParaRPr lang="en-US" altLang="zh-CN" dirty="0">
              <a:solidFill>
                <a:srgbClr val="FFFF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File Extensions</a:t>
            </a:r>
            <a:endParaRPr lang="zh-CN" altLang="en-US" dirty="0"/>
          </a:p>
        </p:txBody>
      </p:sp>
      <p:sp>
        <p:nvSpPr>
          <p:cNvPr id="3" name="内容占位符 2"/>
          <p:cNvSpPr>
            <a:spLocks noGrp="1"/>
          </p:cNvSpPr>
          <p:nvPr>
            <p:ph idx="1"/>
          </p:nvPr>
        </p:nvSpPr>
        <p:spPr>
          <a:xfrm>
            <a:off x="913015" y="1738933"/>
            <a:ext cx="10515600" cy="2267801"/>
          </a:xfrm>
        </p:spPr>
        <p:txBody>
          <a:bodyPr>
            <a:noAutofit/>
          </a:bodyPr>
          <a:lstStyle/>
          <a:p>
            <a:pPr algn="just">
              <a:buSzPct val="80000"/>
              <a:buFont typeface="Wingdings" panose="05000000000000000000" pitchFamily="2" charset="2"/>
              <a:buChar char="l"/>
            </a:pPr>
            <a:r>
              <a:rPr lang="en-US" altLang="zh-CN" sz="3200" dirty="0"/>
              <a:t>HTML files should have a .html extension (or .</a:t>
            </a:r>
            <a:r>
              <a:rPr lang="en-US" altLang="zh-CN" sz="3200" dirty="0" err="1"/>
              <a:t>htm</a:t>
            </a:r>
            <a:r>
              <a:rPr lang="en-US" altLang="zh-CN" sz="3200" dirty="0"/>
              <a:t>).</a:t>
            </a:r>
            <a:endParaRPr lang="en-US" altLang="zh-CN" sz="3200" dirty="0"/>
          </a:p>
          <a:p>
            <a:pPr algn="just">
              <a:buSzPct val="80000"/>
              <a:buFont typeface="Wingdings" panose="05000000000000000000" pitchFamily="2" charset="2"/>
              <a:buChar char="l"/>
            </a:pPr>
            <a:r>
              <a:rPr lang="en-US" altLang="zh-CN" sz="3200" dirty="0"/>
              <a:t>CSS files should have a .</a:t>
            </a:r>
            <a:r>
              <a:rPr lang="en-US" altLang="zh-CN" sz="3200" dirty="0" err="1"/>
              <a:t>css</a:t>
            </a:r>
            <a:r>
              <a:rPr lang="en-US" altLang="zh-CN" sz="3200" dirty="0"/>
              <a:t> extension.</a:t>
            </a:r>
            <a:endParaRPr lang="en-US" altLang="zh-CN" sz="3200" dirty="0"/>
          </a:p>
          <a:p>
            <a:pPr algn="just">
              <a:buSzPct val="80000"/>
              <a:buFont typeface="Wingdings" panose="05000000000000000000" pitchFamily="2" charset="2"/>
              <a:buChar char="l"/>
            </a:pPr>
            <a:r>
              <a:rPr lang="en-US" altLang="zh-CN" sz="3200" dirty="0"/>
              <a:t>JavaScript files should have a .</a:t>
            </a:r>
            <a:r>
              <a:rPr lang="en-US" altLang="zh-CN" sz="3200" dirty="0" err="1"/>
              <a:t>js</a:t>
            </a:r>
            <a:r>
              <a:rPr lang="en-US" altLang="zh-CN" sz="3200" dirty="0"/>
              <a:t> extension.</a:t>
            </a:r>
            <a:endParaRPr lang="en-US" altLang="zh-CN" sz="3200" dirty="0"/>
          </a:p>
          <a:p>
            <a:pPr marL="0" indent="0" algn="just">
              <a:buNone/>
            </a:pPr>
            <a:endParaRPr lang="en-US" altLang="zh-CN"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Differences Between .htm and .html</a:t>
            </a:r>
            <a:endParaRPr lang="zh-CN" altLang="en-US" dirty="0"/>
          </a:p>
        </p:txBody>
      </p:sp>
      <p:sp>
        <p:nvSpPr>
          <p:cNvPr id="3" name="内容占位符 2"/>
          <p:cNvSpPr>
            <a:spLocks noGrp="1"/>
          </p:cNvSpPr>
          <p:nvPr>
            <p:ph idx="1"/>
          </p:nvPr>
        </p:nvSpPr>
        <p:spPr>
          <a:xfrm>
            <a:off x="838200" y="1198606"/>
            <a:ext cx="10515600" cy="4999827"/>
          </a:xfrm>
        </p:spPr>
        <p:txBody>
          <a:bodyPr>
            <a:noAutofit/>
          </a:bodyPr>
          <a:lstStyle/>
          <a:p>
            <a:pPr marL="0" indent="0" algn="just">
              <a:buNone/>
            </a:pPr>
            <a:r>
              <a:rPr lang="en-US" altLang="zh-CN" dirty="0"/>
              <a:t>There is no difference between the .htm and .html extensions. Both will be treated as HTML by any web browser or web server.</a:t>
            </a:r>
            <a:endParaRPr lang="en-US" altLang="zh-CN" dirty="0"/>
          </a:p>
          <a:p>
            <a:pPr marL="0" indent="0" algn="just">
              <a:buNone/>
            </a:pPr>
            <a:endParaRPr lang="en-US" altLang="zh-CN" dirty="0"/>
          </a:p>
          <a:p>
            <a:pPr marL="0" indent="0" algn="just">
              <a:buNone/>
            </a:pPr>
            <a:r>
              <a:rPr lang="en-US" altLang="zh-CN" dirty="0"/>
              <a:t>The differences are cultural:</a:t>
            </a:r>
            <a:endParaRPr lang="en-US" altLang="zh-CN" dirty="0"/>
          </a:p>
          <a:p>
            <a:pPr marL="0" indent="0" algn="just">
              <a:buNone/>
            </a:pPr>
            <a:endParaRPr lang="en-US" altLang="zh-CN" dirty="0"/>
          </a:p>
          <a:p>
            <a:pPr marL="0" indent="0" algn="just">
              <a:buNone/>
            </a:pPr>
            <a:r>
              <a:rPr lang="en-US" altLang="zh-CN" dirty="0"/>
              <a:t>.htm "smells" of early DOS systems where the system limited the extensions to 3 characters.</a:t>
            </a:r>
            <a:endParaRPr lang="en-US" altLang="zh-CN" dirty="0"/>
          </a:p>
          <a:p>
            <a:pPr marL="0" indent="0" algn="just">
              <a:buNone/>
            </a:pPr>
            <a:endParaRPr lang="en-US" altLang="zh-CN" dirty="0"/>
          </a:p>
          <a:p>
            <a:pPr marL="0" indent="0" algn="just">
              <a:buNone/>
            </a:pPr>
            <a:r>
              <a:rPr lang="en-US" altLang="zh-CN" dirty="0"/>
              <a:t>.html "smells" of Unix operating systems that did not have this limitation.</a:t>
            </a: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Technically Differences</a:t>
            </a:r>
            <a:endParaRPr lang="zh-CN" altLang="en-US" dirty="0"/>
          </a:p>
        </p:txBody>
      </p:sp>
      <p:sp>
        <p:nvSpPr>
          <p:cNvPr id="3" name="内容占位符 2"/>
          <p:cNvSpPr>
            <a:spLocks noGrp="1"/>
          </p:cNvSpPr>
          <p:nvPr>
            <p:ph idx="1"/>
          </p:nvPr>
        </p:nvSpPr>
        <p:spPr>
          <a:xfrm>
            <a:off x="838200" y="1198606"/>
            <a:ext cx="10515600" cy="5282405"/>
          </a:xfrm>
        </p:spPr>
        <p:txBody>
          <a:bodyPr>
            <a:noAutofit/>
          </a:bodyPr>
          <a:lstStyle/>
          <a:p>
            <a:pPr marL="0" indent="0" algn="just">
              <a:buNone/>
            </a:pPr>
            <a:r>
              <a:rPr lang="en-US" altLang="zh-CN" sz="2400" dirty="0"/>
              <a:t>When a URL does not specify a filename (like http://www.fzu.edu.cn/), the server returns a default filename. Common default filenames are index.html, index.htm, default.html, and default.htm.</a:t>
            </a:r>
            <a:endParaRPr lang="en-US" altLang="zh-CN" sz="2400" dirty="0"/>
          </a:p>
          <a:p>
            <a:pPr marL="0" indent="0" algn="just">
              <a:buNone/>
            </a:pPr>
            <a:endParaRPr lang="en-US" altLang="zh-CN" sz="2400" dirty="0"/>
          </a:p>
          <a:p>
            <a:pPr marL="0" indent="0" algn="just">
              <a:buNone/>
            </a:pPr>
            <a:r>
              <a:rPr lang="en-US" altLang="zh-CN" sz="2400" dirty="0"/>
              <a:t>If your server is configured only with "index.html" as default filename, your file must be named "index.html", not "index.htm."</a:t>
            </a:r>
            <a:endParaRPr lang="en-US" altLang="zh-CN" sz="2400" dirty="0"/>
          </a:p>
          <a:p>
            <a:pPr marL="0" indent="0" algn="just">
              <a:buNone/>
            </a:pPr>
            <a:endParaRPr lang="en-US" altLang="zh-CN" sz="2400" dirty="0"/>
          </a:p>
          <a:p>
            <a:pPr marL="0" indent="0" algn="just">
              <a:buNone/>
            </a:pPr>
            <a:r>
              <a:rPr lang="en-US" altLang="zh-CN" sz="2400" dirty="0"/>
              <a:t>However, servers can be configured with more than one default filename, and normally you can set up as many default filenames as needed.</a:t>
            </a:r>
            <a:endParaRPr lang="en-US" altLang="zh-CN" sz="2400" dirty="0"/>
          </a:p>
          <a:p>
            <a:pPr marL="0" indent="0" algn="just">
              <a:buNone/>
            </a:pPr>
            <a:endParaRPr lang="en-US" altLang="zh-CN" sz="2400" dirty="0"/>
          </a:p>
          <a:p>
            <a:pPr marL="0" indent="0" algn="just">
              <a:buNone/>
            </a:pPr>
            <a:r>
              <a:rPr lang="en-US" altLang="zh-CN" sz="2400" dirty="0">
                <a:solidFill>
                  <a:srgbClr val="FFFF00"/>
                </a:solidFill>
              </a:rPr>
              <a:t>Anyway, the full extension for HTML files is .html</a:t>
            </a:r>
            <a:r>
              <a:rPr lang="en-US" altLang="zh-CN" sz="2400" dirty="0"/>
              <a:t>, and there's no reason it should not be used.</a:t>
            </a:r>
            <a:endParaRPr lang="en-US" altLang="zh-C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HTML5 Canvas</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What is HTML Canvas?</a:t>
            </a:r>
            <a:endParaRPr lang="zh-CN" altLang="en-US" dirty="0"/>
          </a:p>
        </p:txBody>
      </p:sp>
      <p:pic>
        <p:nvPicPr>
          <p:cNvPr id="5" name="内容占位符 4"/>
          <p:cNvPicPr>
            <a:picLocks noGrp="1" noChangeAspect="1"/>
          </p:cNvPicPr>
          <p:nvPr>
            <p:ph idx="1"/>
          </p:nvPr>
        </p:nvPicPr>
        <p:blipFill>
          <a:blip r:embed="rId1"/>
          <a:stretch>
            <a:fillRect/>
          </a:stretch>
        </p:blipFill>
        <p:spPr>
          <a:xfrm>
            <a:off x="1089226" y="2365918"/>
            <a:ext cx="10013548" cy="2126164"/>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What is HTML Canvas?</a:t>
            </a:r>
            <a:endParaRPr lang="zh-CN" altLang="en-US" dirty="0"/>
          </a:p>
        </p:txBody>
      </p:sp>
      <p:sp>
        <p:nvSpPr>
          <p:cNvPr id="3" name="内容占位符 2"/>
          <p:cNvSpPr>
            <a:spLocks noGrp="1"/>
          </p:cNvSpPr>
          <p:nvPr>
            <p:ph idx="1"/>
          </p:nvPr>
        </p:nvSpPr>
        <p:spPr/>
        <p:txBody>
          <a:bodyPr/>
          <a:lstStyle/>
          <a:p>
            <a:pPr marL="0" indent="0">
              <a:buNone/>
            </a:pPr>
            <a:r>
              <a:rPr lang="en-US" altLang="zh-CN" dirty="0"/>
              <a:t>The HTML &lt;canvas&gt; element is used to draw graphics, on the fly, via scripting (usually JavaScript).</a:t>
            </a:r>
            <a:endParaRPr lang="en-US" altLang="zh-CN" dirty="0"/>
          </a:p>
          <a:p>
            <a:pPr marL="0" indent="0">
              <a:buNone/>
            </a:pPr>
            <a:endParaRPr lang="en-US" altLang="zh-CN" dirty="0"/>
          </a:p>
          <a:p>
            <a:pPr marL="0" indent="0">
              <a:buNone/>
            </a:pPr>
            <a:r>
              <a:rPr lang="en-US" altLang="zh-CN" dirty="0"/>
              <a:t>The &lt;canvas&gt; element is only a container for graphics. You must use a script to actually draw the graphics.</a:t>
            </a:r>
            <a:endParaRPr lang="en-US" altLang="zh-CN" dirty="0"/>
          </a:p>
          <a:p>
            <a:pPr marL="0" indent="0">
              <a:buNone/>
            </a:pPr>
            <a:endParaRPr lang="en-US" altLang="zh-CN" dirty="0"/>
          </a:p>
          <a:p>
            <a:pPr marL="0" indent="0">
              <a:buNone/>
            </a:pPr>
            <a:r>
              <a:rPr lang="en-US" altLang="zh-CN" dirty="0"/>
              <a:t>Canvas has several methods for drawing paths, boxes, circles, text, and adding images.</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Canvas Examples</a:t>
            </a:r>
            <a:endParaRPr lang="zh-CN" altLang="en-US" dirty="0"/>
          </a:p>
        </p:txBody>
      </p:sp>
      <p:sp>
        <p:nvSpPr>
          <p:cNvPr id="3" name="内容占位符 2"/>
          <p:cNvSpPr>
            <a:spLocks noGrp="1"/>
          </p:cNvSpPr>
          <p:nvPr>
            <p:ph idx="1"/>
          </p:nvPr>
        </p:nvSpPr>
        <p:spPr>
          <a:xfrm>
            <a:off x="838200" y="1566566"/>
            <a:ext cx="10515600" cy="4538168"/>
          </a:xfrm>
        </p:spPr>
        <p:txBody>
          <a:bodyPr>
            <a:noAutofit/>
          </a:bodyPr>
          <a:lstStyle/>
          <a:p>
            <a:pPr marL="0" indent="0" algn="just">
              <a:buNone/>
            </a:pPr>
            <a:r>
              <a:rPr lang="en-US" altLang="zh-CN" dirty="0"/>
              <a:t>A canvas is a rectangular area on an HTML page. By default, a canvas has no border and no content.</a:t>
            </a:r>
            <a:endParaRPr lang="en-US" altLang="zh-CN" dirty="0"/>
          </a:p>
          <a:p>
            <a:pPr marL="0" indent="0">
              <a:buNone/>
            </a:pPr>
            <a:r>
              <a:rPr lang="en-US" altLang="zh-CN" dirty="0"/>
              <a:t>The markup looks like this:</a:t>
            </a:r>
            <a:endParaRPr lang="en-US" altLang="zh-CN" dirty="0"/>
          </a:p>
          <a:p>
            <a:pPr marL="0" indent="0">
              <a:buNone/>
            </a:pPr>
            <a:endParaRPr lang="en-US" altLang="zh-CN" dirty="0"/>
          </a:p>
          <a:p>
            <a:pPr marL="0" indent="0">
              <a:buNone/>
            </a:pPr>
            <a:endParaRPr lang="en-US" altLang="zh-CN" dirty="0"/>
          </a:p>
          <a:p>
            <a:pPr marL="0" indent="0">
              <a:buNone/>
            </a:pPr>
            <a:r>
              <a:rPr lang="en-US" altLang="zh-CN" dirty="0">
                <a:solidFill>
                  <a:srgbClr val="FFFF00"/>
                </a:solidFill>
              </a:rPr>
              <a:t>Note:</a:t>
            </a:r>
            <a:r>
              <a:rPr lang="en-US" altLang="zh-CN" dirty="0"/>
              <a:t> Always specify an id attribute (to be referred to in a script), and a width and height attribute to define the size of the canvas.</a:t>
            </a:r>
            <a:endParaRPr lang="en-US" altLang="zh-CN" dirty="0"/>
          </a:p>
          <a:p>
            <a:pPr marL="0" indent="0">
              <a:buNone/>
            </a:pPr>
            <a:endParaRPr lang="en-US" altLang="zh-CN" dirty="0"/>
          </a:p>
        </p:txBody>
      </p:sp>
      <p:pic>
        <p:nvPicPr>
          <p:cNvPr id="5" name="图片 4"/>
          <p:cNvPicPr>
            <a:picLocks noChangeAspect="1"/>
          </p:cNvPicPr>
          <p:nvPr/>
        </p:nvPicPr>
        <p:blipFill>
          <a:blip r:embed="rId1"/>
          <a:stretch>
            <a:fillRect/>
          </a:stretch>
        </p:blipFill>
        <p:spPr>
          <a:xfrm>
            <a:off x="2537201" y="3209609"/>
            <a:ext cx="7117599" cy="62604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Canvas Examples</a:t>
            </a:r>
            <a:endParaRPr lang="zh-CN" altLang="en-US" dirty="0"/>
          </a:p>
        </p:txBody>
      </p:sp>
      <p:pic>
        <p:nvPicPr>
          <p:cNvPr id="6" name="内容占位符 5"/>
          <p:cNvPicPr>
            <a:picLocks noGrp="1" noChangeAspect="1"/>
          </p:cNvPicPr>
          <p:nvPr>
            <p:ph idx="1"/>
          </p:nvPr>
        </p:nvPicPr>
        <p:blipFill>
          <a:blip r:embed="rId1"/>
          <a:stretch>
            <a:fillRect/>
          </a:stretch>
        </p:blipFill>
        <p:spPr>
          <a:xfrm>
            <a:off x="1584236" y="2148301"/>
            <a:ext cx="9023528" cy="1550522"/>
          </a:xfrm>
        </p:spPr>
      </p:pic>
      <p:pic>
        <p:nvPicPr>
          <p:cNvPr id="8" name="图片 7"/>
          <p:cNvPicPr>
            <a:picLocks noChangeAspect="1"/>
          </p:cNvPicPr>
          <p:nvPr/>
        </p:nvPicPr>
        <p:blipFill>
          <a:blip r:embed="rId2"/>
          <a:stretch>
            <a:fillRect/>
          </a:stretch>
        </p:blipFill>
        <p:spPr>
          <a:xfrm>
            <a:off x="4471468" y="4458841"/>
            <a:ext cx="3413956" cy="1869956"/>
          </a:xfrm>
          <a:prstGeom prst="rect">
            <a:avLst/>
          </a:prstGeom>
        </p:spPr>
      </p:pic>
      <p:sp>
        <p:nvSpPr>
          <p:cNvPr id="3" name="矩形 2"/>
          <p:cNvSpPr/>
          <p:nvPr/>
        </p:nvSpPr>
        <p:spPr>
          <a:xfrm>
            <a:off x="1584236" y="1264034"/>
            <a:ext cx="7971994" cy="523220"/>
          </a:xfrm>
          <a:prstGeom prst="rect">
            <a:avLst/>
          </a:prstGeom>
        </p:spPr>
        <p:txBody>
          <a:bodyPr wrap="square">
            <a:spAutoFit/>
          </a:bodyPr>
          <a:lstStyle/>
          <a:p>
            <a:r>
              <a:rPr lang="en-US" altLang="zh-CN" sz="2800" dirty="0"/>
              <a:t>To add a border, use the style attribute:</a:t>
            </a:r>
            <a:endParaRPr lang="en-US" altLang="zh-CN"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Canvas Examples</a:t>
            </a:r>
            <a:endParaRPr lang="zh-CN" altLang="en-US" dirty="0"/>
          </a:p>
        </p:txBody>
      </p:sp>
      <p:pic>
        <p:nvPicPr>
          <p:cNvPr id="7" name="图片 6"/>
          <p:cNvPicPr>
            <a:picLocks noChangeAspect="1"/>
          </p:cNvPicPr>
          <p:nvPr/>
        </p:nvPicPr>
        <p:blipFill>
          <a:blip r:embed="rId1"/>
          <a:stretch>
            <a:fillRect/>
          </a:stretch>
        </p:blipFill>
        <p:spPr>
          <a:xfrm>
            <a:off x="484308" y="1441515"/>
            <a:ext cx="6216671" cy="2164966"/>
          </a:xfrm>
          <a:prstGeom prst="rect">
            <a:avLst/>
          </a:prstGeom>
        </p:spPr>
      </p:pic>
      <p:pic>
        <p:nvPicPr>
          <p:cNvPr id="10" name="图片 9"/>
          <p:cNvPicPr>
            <a:picLocks noChangeAspect="1"/>
          </p:cNvPicPr>
          <p:nvPr/>
        </p:nvPicPr>
        <p:blipFill>
          <a:blip r:embed="rId2"/>
          <a:stretch>
            <a:fillRect/>
          </a:stretch>
        </p:blipFill>
        <p:spPr>
          <a:xfrm>
            <a:off x="7789572" y="1501747"/>
            <a:ext cx="3433382" cy="2044502"/>
          </a:xfrm>
          <a:prstGeom prst="rect">
            <a:avLst/>
          </a:prstGeom>
        </p:spPr>
      </p:pic>
      <p:pic>
        <p:nvPicPr>
          <p:cNvPr id="4" name="图片 3"/>
          <p:cNvPicPr>
            <a:picLocks noChangeAspect="1"/>
          </p:cNvPicPr>
          <p:nvPr/>
        </p:nvPicPr>
        <p:blipFill>
          <a:blip r:embed="rId3"/>
          <a:stretch>
            <a:fillRect/>
          </a:stretch>
        </p:blipFill>
        <p:spPr>
          <a:xfrm>
            <a:off x="1247394" y="3982849"/>
            <a:ext cx="10161905" cy="240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Canvas Examples</a:t>
            </a:r>
            <a:endParaRPr lang="zh-CN" altLang="en-US" dirty="0"/>
          </a:p>
        </p:txBody>
      </p:sp>
      <p:pic>
        <p:nvPicPr>
          <p:cNvPr id="4" name="图片 3"/>
          <p:cNvPicPr>
            <a:picLocks noChangeAspect="1"/>
          </p:cNvPicPr>
          <p:nvPr/>
        </p:nvPicPr>
        <p:blipFill>
          <a:blip r:embed="rId1"/>
          <a:stretch>
            <a:fillRect/>
          </a:stretch>
        </p:blipFill>
        <p:spPr>
          <a:xfrm>
            <a:off x="261477" y="1264034"/>
            <a:ext cx="5717950" cy="2184386"/>
          </a:xfrm>
          <a:prstGeom prst="rect">
            <a:avLst/>
          </a:prstGeom>
        </p:spPr>
      </p:pic>
      <p:pic>
        <p:nvPicPr>
          <p:cNvPr id="6" name="图片 5"/>
          <p:cNvPicPr>
            <a:picLocks noChangeAspect="1"/>
          </p:cNvPicPr>
          <p:nvPr/>
        </p:nvPicPr>
        <p:blipFill>
          <a:blip r:embed="rId2"/>
          <a:stretch>
            <a:fillRect/>
          </a:stretch>
        </p:blipFill>
        <p:spPr>
          <a:xfrm>
            <a:off x="1040303" y="3546246"/>
            <a:ext cx="3215919" cy="1867062"/>
          </a:xfrm>
          <a:prstGeom prst="rect">
            <a:avLst/>
          </a:prstGeom>
        </p:spPr>
      </p:pic>
      <p:pic>
        <p:nvPicPr>
          <p:cNvPr id="3" name="图片 2"/>
          <p:cNvPicPr>
            <a:picLocks noChangeAspect="1"/>
          </p:cNvPicPr>
          <p:nvPr/>
        </p:nvPicPr>
        <p:blipFill>
          <a:blip r:embed="rId3"/>
          <a:stretch>
            <a:fillRect/>
          </a:stretch>
        </p:blipFill>
        <p:spPr>
          <a:xfrm>
            <a:off x="7397611" y="1276991"/>
            <a:ext cx="4457143" cy="2171429"/>
          </a:xfrm>
          <a:prstGeom prst="rect">
            <a:avLst/>
          </a:prstGeom>
        </p:spPr>
      </p:pic>
      <p:pic>
        <p:nvPicPr>
          <p:cNvPr id="5" name="图片 4"/>
          <p:cNvPicPr>
            <a:picLocks noChangeAspect="1"/>
          </p:cNvPicPr>
          <p:nvPr/>
        </p:nvPicPr>
        <p:blipFill>
          <a:blip r:embed="rId4"/>
          <a:stretch>
            <a:fillRect/>
          </a:stretch>
        </p:blipFill>
        <p:spPr>
          <a:xfrm>
            <a:off x="7705472" y="3655967"/>
            <a:ext cx="3466667" cy="1647619"/>
          </a:xfrm>
          <a:prstGeom prst="rect">
            <a:avLst/>
          </a:prstGeom>
        </p:spPr>
      </p:pic>
      <p:sp>
        <p:nvSpPr>
          <p:cNvPr id="8" name="文本框 7"/>
          <p:cNvSpPr txBox="1"/>
          <p:nvPr/>
        </p:nvSpPr>
        <p:spPr>
          <a:xfrm>
            <a:off x="689610" y="5510530"/>
            <a:ext cx="10433685" cy="1198880"/>
          </a:xfrm>
          <a:prstGeom prst="rect">
            <a:avLst/>
          </a:prstGeom>
          <a:noFill/>
        </p:spPr>
        <p:txBody>
          <a:bodyPr wrap="square" rtlCol="0" anchor="t">
            <a:spAutoFit/>
          </a:bodyPr>
          <a:p>
            <a:r>
              <a:rPr lang="zh-CN" altLang="en-US">
                <a:solidFill>
                  <a:srgbClr val="FFFF00"/>
                </a:solidFill>
              </a:rPr>
              <a:t>moveto() : Moves the path to the specified point in the canvas, without creating a line</a:t>
            </a:r>
            <a:endParaRPr lang="zh-CN" altLang="en-US">
              <a:solidFill>
                <a:srgbClr val="FFFF00"/>
              </a:solidFill>
            </a:endParaRPr>
          </a:p>
          <a:p>
            <a:r>
              <a:rPr lang="zh-CN" altLang="en-US">
                <a:solidFill>
                  <a:srgbClr val="FFFF00"/>
                </a:solidFill>
              </a:rPr>
              <a:t>beginPath(): Begins a path, or resets the current path</a:t>
            </a:r>
            <a:endParaRPr lang="zh-CN" altLang="en-US">
              <a:solidFill>
                <a:srgbClr val="FFFF00"/>
              </a:solidFill>
            </a:endParaRPr>
          </a:p>
          <a:p>
            <a:r>
              <a:rPr lang="zh-CN" altLang="en-US">
                <a:solidFill>
                  <a:srgbClr val="FFFF00"/>
                </a:solidFill>
              </a:rPr>
              <a:t>lineto(): Adds a new point and creates a line from that point to the last specified point in the canvas</a:t>
            </a:r>
            <a:endParaRPr lang="zh-CN" altLang="en-US">
              <a:solidFill>
                <a:srgbClr val="FFFF00"/>
              </a:solidFill>
            </a:endParaRPr>
          </a:p>
          <a:p>
            <a:r>
              <a:rPr lang="zh-CN" altLang="en-US">
                <a:solidFill>
                  <a:srgbClr val="FFFF00"/>
                </a:solidFill>
              </a:rPr>
              <a:t>stroke(): Actually draws the path you have defined</a:t>
            </a:r>
            <a:endParaRPr lang="zh-CN" altLang="en-US">
              <a:solidFill>
                <a:srgbClr val="FFFF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Canvas Examples</a:t>
            </a:r>
            <a:endParaRPr lang="zh-CN" altLang="en-US" dirty="0"/>
          </a:p>
        </p:txBody>
      </p:sp>
      <p:pic>
        <p:nvPicPr>
          <p:cNvPr id="3" name="图片 2"/>
          <p:cNvPicPr>
            <a:picLocks noChangeAspect="1"/>
          </p:cNvPicPr>
          <p:nvPr/>
        </p:nvPicPr>
        <p:blipFill>
          <a:blip r:embed="rId1"/>
          <a:stretch>
            <a:fillRect/>
          </a:stretch>
        </p:blipFill>
        <p:spPr>
          <a:xfrm>
            <a:off x="667610" y="4048672"/>
            <a:ext cx="11391468" cy="2449564"/>
          </a:xfrm>
          <a:prstGeom prst="rect">
            <a:avLst/>
          </a:prstGeom>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1401" y="1656228"/>
            <a:ext cx="1943100" cy="2000250"/>
          </a:xfrm>
          <a:prstGeom prst="rect">
            <a:avLst/>
          </a:prstGeom>
        </p:spPr>
      </p:pic>
      <p:pic>
        <p:nvPicPr>
          <p:cNvPr id="6" name="图片 5"/>
          <p:cNvPicPr>
            <a:picLocks noChangeAspect="1"/>
          </p:cNvPicPr>
          <p:nvPr/>
        </p:nvPicPr>
        <p:blipFill>
          <a:blip r:embed="rId3"/>
          <a:stretch>
            <a:fillRect/>
          </a:stretch>
        </p:blipFill>
        <p:spPr>
          <a:xfrm>
            <a:off x="667610" y="2285746"/>
            <a:ext cx="4609524" cy="952381"/>
          </a:xfrm>
          <a:prstGeom prst="rect">
            <a:avLst/>
          </a:prstGeom>
        </p:spPr>
      </p:pic>
      <p:sp>
        <p:nvSpPr>
          <p:cNvPr id="9" name="矩形 8"/>
          <p:cNvSpPr/>
          <p:nvPr/>
        </p:nvSpPr>
        <p:spPr>
          <a:xfrm>
            <a:off x="594885" y="1390071"/>
            <a:ext cx="2912813" cy="523220"/>
          </a:xfrm>
          <a:prstGeom prst="rect">
            <a:avLst/>
          </a:prstGeom>
        </p:spPr>
        <p:txBody>
          <a:bodyPr wrap="square">
            <a:spAutoFit/>
          </a:bodyPr>
          <a:lstStyle/>
          <a:p>
            <a:r>
              <a:rPr lang="en-US" altLang="zh-CN" sz="2800" dirty="0"/>
              <a:t>Draw a circle</a:t>
            </a:r>
            <a:endParaRPr lang="en-US" altLang="zh-CN" sz="2800" dirty="0"/>
          </a:p>
        </p:txBody>
      </p:sp>
      <p:pic>
        <p:nvPicPr>
          <p:cNvPr id="7" name="图片 6"/>
          <p:cNvPicPr>
            <a:picLocks noChangeAspect="1"/>
          </p:cNvPicPr>
          <p:nvPr/>
        </p:nvPicPr>
        <p:blipFill>
          <a:blip r:embed="rId4"/>
          <a:stretch>
            <a:fillRect/>
          </a:stretch>
        </p:blipFill>
        <p:spPr>
          <a:xfrm>
            <a:off x="5653680" y="1818258"/>
            <a:ext cx="3238095" cy="16761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Canvas Examples</a:t>
            </a:r>
            <a:endParaRPr lang="zh-CN" altLang="en-US" dirty="0"/>
          </a:p>
        </p:txBody>
      </p:sp>
      <p:pic>
        <p:nvPicPr>
          <p:cNvPr id="5" name="图片 4"/>
          <p:cNvPicPr>
            <a:picLocks noChangeAspect="1"/>
          </p:cNvPicPr>
          <p:nvPr/>
        </p:nvPicPr>
        <p:blipFill>
          <a:blip r:embed="rId1"/>
          <a:stretch>
            <a:fillRect/>
          </a:stretch>
        </p:blipFill>
        <p:spPr>
          <a:xfrm>
            <a:off x="781512" y="1264034"/>
            <a:ext cx="5727192" cy="2070993"/>
          </a:xfrm>
          <a:prstGeom prst="rect">
            <a:avLst/>
          </a:prstGeom>
        </p:spPr>
      </p:pic>
      <p:pic>
        <p:nvPicPr>
          <p:cNvPr id="8" name="图片 7"/>
          <p:cNvPicPr>
            <a:picLocks noChangeAspect="1"/>
          </p:cNvPicPr>
          <p:nvPr/>
        </p:nvPicPr>
        <p:blipFill>
          <a:blip r:embed="rId2"/>
          <a:stretch>
            <a:fillRect/>
          </a:stretch>
        </p:blipFill>
        <p:spPr>
          <a:xfrm>
            <a:off x="7790810" y="1340786"/>
            <a:ext cx="3221043" cy="1917488"/>
          </a:xfrm>
          <a:prstGeom prst="rect">
            <a:avLst/>
          </a:prstGeom>
        </p:spPr>
      </p:pic>
      <p:pic>
        <p:nvPicPr>
          <p:cNvPr id="3" name="图片 2"/>
          <p:cNvPicPr>
            <a:picLocks noChangeAspect="1"/>
          </p:cNvPicPr>
          <p:nvPr/>
        </p:nvPicPr>
        <p:blipFill>
          <a:blip r:embed="rId3"/>
          <a:stretch>
            <a:fillRect/>
          </a:stretch>
        </p:blipFill>
        <p:spPr>
          <a:xfrm>
            <a:off x="957905" y="3914604"/>
            <a:ext cx="10276190" cy="226666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Canvas Examples</a:t>
            </a:r>
            <a:endParaRPr lang="zh-CN" altLang="en-US" dirty="0"/>
          </a:p>
        </p:txBody>
      </p:sp>
      <p:pic>
        <p:nvPicPr>
          <p:cNvPr id="4" name="图片 3"/>
          <p:cNvPicPr>
            <a:picLocks noChangeAspect="1"/>
          </p:cNvPicPr>
          <p:nvPr/>
        </p:nvPicPr>
        <p:blipFill>
          <a:blip r:embed="rId1"/>
          <a:stretch>
            <a:fillRect/>
          </a:stretch>
        </p:blipFill>
        <p:spPr>
          <a:xfrm>
            <a:off x="967918" y="1645765"/>
            <a:ext cx="5624204" cy="2059568"/>
          </a:xfrm>
          <a:prstGeom prst="rect">
            <a:avLst/>
          </a:prstGeom>
        </p:spPr>
      </p:pic>
      <p:pic>
        <p:nvPicPr>
          <p:cNvPr id="7" name="图片 6"/>
          <p:cNvPicPr>
            <a:picLocks noChangeAspect="1"/>
          </p:cNvPicPr>
          <p:nvPr/>
        </p:nvPicPr>
        <p:blipFill>
          <a:blip r:embed="rId2"/>
          <a:stretch>
            <a:fillRect/>
          </a:stretch>
        </p:blipFill>
        <p:spPr>
          <a:xfrm>
            <a:off x="7207445" y="1688363"/>
            <a:ext cx="3293492" cy="1974371"/>
          </a:xfrm>
          <a:prstGeom prst="rect">
            <a:avLst/>
          </a:prstGeom>
        </p:spPr>
      </p:pic>
      <p:pic>
        <p:nvPicPr>
          <p:cNvPr id="3" name="图片 2"/>
          <p:cNvPicPr>
            <a:picLocks noChangeAspect="1"/>
          </p:cNvPicPr>
          <p:nvPr/>
        </p:nvPicPr>
        <p:blipFill>
          <a:blip r:embed="rId3"/>
          <a:stretch>
            <a:fillRect/>
          </a:stretch>
        </p:blipFill>
        <p:spPr>
          <a:xfrm>
            <a:off x="1358074" y="4242444"/>
            <a:ext cx="9685714" cy="2390476"/>
          </a:xfrm>
          <a:prstGeom prst="rect">
            <a:avLst/>
          </a:prstGeom>
        </p:spPr>
      </p:pic>
      <p:sp>
        <p:nvSpPr>
          <p:cNvPr id="5" name="矩形 4"/>
          <p:cNvSpPr/>
          <p:nvPr/>
        </p:nvSpPr>
        <p:spPr>
          <a:xfrm>
            <a:off x="10853973" y="2199241"/>
            <a:ext cx="793384" cy="369332"/>
          </a:xfrm>
          <a:prstGeom prst="rect">
            <a:avLst/>
          </a:prstGeom>
        </p:spPr>
        <p:txBody>
          <a:bodyPr wrap="square">
            <a:spAutoFit/>
          </a:bodyPr>
          <a:lstStyle/>
          <a:p>
            <a:r>
              <a:rPr lang="en-US" altLang="zh-CN" dirty="0">
                <a:solidFill>
                  <a:srgbClr val="FFFF00"/>
                </a:solidFill>
              </a:rPr>
              <a:t>No fill</a:t>
            </a:r>
            <a:endParaRPr lang="en-US" altLang="zh-CN" dirty="0">
              <a:solidFill>
                <a:srgbClr val="FFFF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Canvas Examples</a:t>
            </a:r>
            <a:endParaRPr lang="zh-CN" altLang="en-US" dirty="0"/>
          </a:p>
        </p:txBody>
      </p:sp>
      <p:pic>
        <p:nvPicPr>
          <p:cNvPr id="5" name="图片 4"/>
          <p:cNvPicPr>
            <a:picLocks noChangeAspect="1"/>
          </p:cNvPicPr>
          <p:nvPr/>
        </p:nvPicPr>
        <p:blipFill>
          <a:blip r:embed="rId1"/>
          <a:stretch>
            <a:fillRect/>
          </a:stretch>
        </p:blipFill>
        <p:spPr>
          <a:xfrm>
            <a:off x="1036162" y="2299453"/>
            <a:ext cx="6151829" cy="2259094"/>
          </a:xfrm>
          <a:prstGeom prst="rect">
            <a:avLst/>
          </a:prstGeom>
        </p:spPr>
      </p:pic>
      <p:pic>
        <p:nvPicPr>
          <p:cNvPr id="8" name="图片 7"/>
          <p:cNvPicPr>
            <a:picLocks noChangeAspect="1"/>
          </p:cNvPicPr>
          <p:nvPr/>
        </p:nvPicPr>
        <p:blipFill>
          <a:blip r:embed="rId2"/>
          <a:stretch>
            <a:fillRect/>
          </a:stretch>
        </p:blipFill>
        <p:spPr>
          <a:xfrm>
            <a:off x="8200484" y="1264034"/>
            <a:ext cx="2338316" cy="485525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72239"/>
            <a:ext cx="9144000" cy="1886507"/>
          </a:xfrm>
        </p:spPr>
        <p:txBody>
          <a:bodyPr/>
          <a:lstStyle/>
          <a:p>
            <a:r>
              <a:rPr lang="en-US" altLang="zh-CN" dirty="0"/>
              <a:t>HTML Multimedia</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What is Multimedia?</a:t>
            </a:r>
            <a:endParaRPr lang="zh-CN" altLang="en-US" dirty="0"/>
          </a:p>
        </p:txBody>
      </p:sp>
      <p:sp>
        <p:nvSpPr>
          <p:cNvPr id="3" name="内容占位符 2"/>
          <p:cNvSpPr>
            <a:spLocks noGrp="1"/>
          </p:cNvSpPr>
          <p:nvPr>
            <p:ph idx="1"/>
          </p:nvPr>
        </p:nvSpPr>
        <p:spPr/>
        <p:txBody>
          <a:bodyPr>
            <a:normAutofit/>
          </a:bodyPr>
          <a:lstStyle/>
          <a:p>
            <a:pPr algn="just"/>
            <a:r>
              <a:rPr lang="en-US" altLang="zh-CN" dirty="0"/>
              <a:t>Multimedia comes in many different formats. It can be almost anything you can hear or see.</a:t>
            </a:r>
            <a:endParaRPr lang="en-US" altLang="zh-CN" dirty="0"/>
          </a:p>
          <a:p>
            <a:pPr algn="just"/>
            <a:endParaRPr lang="en-US" altLang="zh-CN" dirty="0"/>
          </a:p>
          <a:p>
            <a:pPr algn="just"/>
            <a:r>
              <a:rPr lang="en-US" altLang="zh-CN" dirty="0"/>
              <a:t>Examples: Pictures, music, sound, videos, records, films, animations, and more.</a:t>
            </a:r>
            <a:endParaRPr lang="en-US" altLang="zh-CN" dirty="0"/>
          </a:p>
          <a:p>
            <a:pPr algn="just"/>
            <a:endParaRPr lang="en-US" altLang="zh-CN" dirty="0"/>
          </a:p>
          <a:p>
            <a:pPr algn="just"/>
            <a:r>
              <a:rPr lang="en-US" altLang="zh-CN" dirty="0"/>
              <a:t>Web pages often contain multimedia elements of different types and formats.</a:t>
            </a:r>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t>Browser Support</a:t>
            </a:r>
            <a:endParaRPr lang="zh-CN" altLang="en-US" dirty="0"/>
          </a:p>
        </p:txBody>
      </p:sp>
      <p:sp>
        <p:nvSpPr>
          <p:cNvPr id="3" name="内容占位符 2"/>
          <p:cNvSpPr>
            <a:spLocks noGrp="1"/>
          </p:cNvSpPr>
          <p:nvPr>
            <p:ph idx="1"/>
          </p:nvPr>
        </p:nvSpPr>
        <p:spPr>
          <a:xfrm>
            <a:off x="838200" y="1584668"/>
            <a:ext cx="10645588" cy="4184121"/>
          </a:xfrm>
        </p:spPr>
        <p:txBody>
          <a:bodyPr>
            <a:noAutofit/>
          </a:bodyPr>
          <a:lstStyle/>
          <a:p>
            <a:pPr algn="just"/>
            <a:r>
              <a:rPr lang="en-US" altLang="zh-CN" dirty="0"/>
              <a:t>The first web browsers had support for text only, limited to a single font in a single color.</a:t>
            </a:r>
            <a:endParaRPr lang="en-US" altLang="zh-CN" dirty="0"/>
          </a:p>
          <a:p>
            <a:pPr algn="just"/>
            <a:r>
              <a:rPr lang="en-US" altLang="zh-CN" dirty="0"/>
              <a:t>Later came browsers with support for colors and fonts, and even support for pictures!</a:t>
            </a:r>
            <a:endParaRPr lang="en-US" altLang="zh-CN" dirty="0"/>
          </a:p>
          <a:p>
            <a:pPr algn="just"/>
            <a:r>
              <a:rPr lang="en-US" altLang="zh-CN" dirty="0"/>
              <a:t>The support for sounds, animations, and videos is handled differently by various browsers. Different types and formats are supported, and some formats require extra helper programs (plug-ins) to work.</a:t>
            </a:r>
            <a:endParaRPr lang="en-US" altLang="zh-CN" dirty="0"/>
          </a:p>
          <a:p>
            <a:pPr algn="just"/>
            <a:r>
              <a:rPr lang="en-US" altLang="zh-CN" dirty="0"/>
              <a:t>Hopefully this will become history. HTML5 multimedia promises an easier future for multimedia.</a:t>
            </a:r>
            <a:endParaRPr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Multimedia Formats</a:t>
            </a:r>
            <a:endParaRPr lang="zh-CN" altLang="en-US" dirty="0"/>
          </a:p>
        </p:txBody>
      </p:sp>
      <p:sp>
        <p:nvSpPr>
          <p:cNvPr id="3" name="内容占位符 2"/>
          <p:cNvSpPr>
            <a:spLocks noGrp="1"/>
          </p:cNvSpPr>
          <p:nvPr>
            <p:ph idx="1"/>
          </p:nvPr>
        </p:nvSpPr>
        <p:spPr>
          <a:xfrm>
            <a:off x="838200" y="1656917"/>
            <a:ext cx="10515600" cy="4351338"/>
          </a:xfrm>
        </p:spPr>
        <p:txBody>
          <a:bodyPr>
            <a:normAutofit/>
          </a:bodyPr>
          <a:lstStyle/>
          <a:p>
            <a:pPr algn="just">
              <a:lnSpc>
                <a:spcPct val="100000"/>
              </a:lnSpc>
            </a:pPr>
            <a:r>
              <a:rPr lang="en-US" altLang="zh-CN" sz="3200" dirty="0"/>
              <a:t>Multimedia elements (like sounds or videos) are stored in media files.</a:t>
            </a:r>
            <a:endParaRPr lang="en-US" altLang="zh-CN" sz="3200" dirty="0"/>
          </a:p>
          <a:p>
            <a:pPr algn="just">
              <a:lnSpc>
                <a:spcPct val="100000"/>
              </a:lnSpc>
            </a:pPr>
            <a:r>
              <a:rPr lang="en-US" altLang="zh-CN" sz="3200" dirty="0"/>
              <a:t>The most common way to discover the type of a file, is to look at the file extension. </a:t>
            </a:r>
            <a:endParaRPr lang="en-US" altLang="zh-CN" sz="3200" dirty="0"/>
          </a:p>
          <a:p>
            <a:pPr algn="just">
              <a:lnSpc>
                <a:spcPct val="100000"/>
              </a:lnSpc>
            </a:pPr>
            <a:r>
              <a:rPr lang="en-US" altLang="zh-CN" sz="3200" dirty="0"/>
              <a:t>Multimedia files also have their own formats and different extensions like: .</a:t>
            </a:r>
            <a:r>
              <a:rPr lang="en-US" altLang="zh-CN" sz="3200" dirty="0" err="1"/>
              <a:t>swf</a:t>
            </a:r>
            <a:r>
              <a:rPr lang="en-US" altLang="zh-CN" sz="3200" dirty="0"/>
              <a:t>, .wav, .mp3, .mp4, .mpg, .</a:t>
            </a:r>
            <a:r>
              <a:rPr lang="en-US" altLang="zh-CN" sz="3200" dirty="0" err="1"/>
              <a:t>wmv</a:t>
            </a:r>
            <a:r>
              <a:rPr lang="en-US" altLang="zh-CN" sz="3200" dirty="0"/>
              <a:t>, and .</a:t>
            </a:r>
            <a:r>
              <a:rPr lang="en-US" altLang="zh-CN" sz="3200" dirty="0" err="1"/>
              <a:t>avi</a:t>
            </a:r>
            <a:r>
              <a:rPr lang="en-US" altLang="zh-CN" sz="3200" dirty="0"/>
              <a:t>.</a:t>
            </a:r>
            <a:endParaRPr lang="en-US" altLang="zh-CN"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HTML5 Video</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Playing Videos in HTML</a:t>
            </a:r>
            <a:endParaRPr lang="zh-CN" altLang="en-US" dirty="0"/>
          </a:p>
        </p:txBody>
      </p:sp>
      <p:sp>
        <p:nvSpPr>
          <p:cNvPr id="3" name="内容占位符 2"/>
          <p:cNvSpPr>
            <a:spLocks noGrp="1"/>
          </p:cNvSpPr>
          <p:nvPr>
            <p:ph idx="1"/>
          </p:nvPr>
        </p:nvSpPr>
        <p:spPr>
          <a:xfrm>
            <a:off x="978159" y="1862946"/>
            <a:ext cx="10515600" cy="4351338"/>
          </a:xfrm>
        </p:spPr>
        <p:txBody>
          <a:bodyPr>
            <a:normAutofit/>
          </a:bodyPr>
          <a:lstStyle/>
          <a:p>
            <a:pPr algn="just"/>
            <a:r>
              <a:rPr lang="en-US" altLang="zh-CN" sz="3200" dirty="0"/>
              <a:t>Before HTML5, there was no standard for showing videos on a web page.</a:t>
            </a:r>
            <a:endParaRPr lang="en-US" altLang="zh-CN" sz="3200" dirty="0"/>
          </a:p>
          <a:p>
            <a:pPr algn="just"/>
            <a:r>
              <a:rPr lang="en-US" altLang="zh-CN" sz="3200" dirty="0"/>
              <a:t>Before HTML5, videos could only be played with a plug-in (like flash).</a:t>
            </a:r>
            <a:endParaRPr lang="en-US" altLang="zh-CN" sz="3200" dirty="0"/>
          </a:p>
          <a:p>
            <a:pPr algn="just"/>
            <a:r>
              <a:rPr lang="en-US" altLang="zh-CN" sz="3200" dirty="0"/>
              <a:t>The HTML5 &lt;</a:t>
            </a:r>
            <a:r>
              <a:rPr lang="en-US" altLang="zh-CN" sz="3200" dirty="0">
                <a:solidFill>
                  <a:srgbClr val="FF0000"/>
                </a:solidFill>
              </a:rPr>
              <a:t>video</a:t>
            </a:r>
            <a:r>
              <a:rPr lang="en-US" altLang="zh-CN" sz="3200" dirty="0"/>
              <a:t>&gt; element specifies a standard way to embed a video in a web page.</a:t>
            </a:r>
            <a:endParaRPr lang="en-US" altLang="zh-CN"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The HTML &lt;video&gt; Element</a:t>
            </a:r>
            <a:endParaRPr lang="zh-CN" altLang="en-US" dirty="0"/>
          </a:p>
        </p:txBody>
      </p:sp>
      <p:sp>
        <p:nvSpPr>
          <p:cNvPr id="3" name="内容占位符 2"/>
          <p:cNvSpPr>
            <a:spLocks noGrp="1"/>
          </p:cNvSpPr>
          <p:nvPr>
            <p:ph idx="1"/>
          </p:nvPr>
        </p:nvSpPr>
        <p:spPr>
          <a:xfrm>
            <a:off x="1500674" y="1917048"/>
            <a:ext cx="10515600" cy="1132936"/>
          </a:xfrm>
        </p:spPr>
        <p:txBody>
          <a:bodyPr>
            <a:normAutofit/>
          </a:bodyPr>
          <a:lstStyle/>
          <a:p>
            <a:pPr marL="0" indent="0" algn="just">
              <a:buNone/>
            </a:pPr>
            <a:r>
              <a:rPr lang="en-US" altLang="zh-CN" dirty="0"/>
              <a:t>To show a video in HTML, use the &lt;</a:t>
            </a:r>
            <a:r>
              <a:rPr lang="en-US" altLang="zh-CN" dirty="0">
                <a:solidFill>
                  <a:srgbClr val="FF0000"/>
                </a:solidFill>
              </a:rPr>
              <a:t>video</a:t>
            </a:r>
            <a:r>
              <a:rPr lang="en-US" altLang="zh-CN" dirty="0"/>
              <a:t>&gt; element:</a:t>
            </a:r>
            <a:endParaRPr lang="en-US" altLang="zh-CN" dirty="0"/>
          </a:p>
          <a:p>
            <a:pPr marL="0" indent="0" algn="just">
              <a:buNone/>
            </a:pPr>
            <a:r>
              <a:rPr lang="en-US" altLang="zh-CN" dirty="0">
                <a:solidFill>
                  <a:srgbClr val="FFFF00"/>
                </a:solidFill>
              </a:rPr>
              <a:t>Example</a:t>
            </a:r>
            <a:r>
              <a:rPr lang="zh-CN" altLang="en-US" dirty="0"/>
              <a:t>：</a:t>
            </a:r>
            <a:endParaRPr lang="en-US" altLang="zh-CN"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45240" y="3253914"/>
            <a:ext cx="5765596" cy="172402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How it Works</a:t>
            </a:r>
            <a:endParaRPr lang="zh-CN" altLang="en-US" dirty="0"/>
          </a:p>
        </p:txBody>
      </p:sp>
      <p:sp>
        <p:nvSpPr>
          <p:cNvPr id="3" name="内容占位符 2"/>
          <p:cNvSpPr>
            <a:spLocks noGrp="1"/>
          </p:cNvSpPr>
          <p:nvPr>
            <p:ph idx="1"/>
          </p:nvPr>
        </p:nvSpPr>
        <p:spPr>
          <a:xfrm>
            <a:off x="738469" y="1751214"/>
            <a:ext cx="10908887" cy="4567140"/>
          </a:xfrm>
        </p:spPr>
        <p:txBody>
          <a:bodyPr>
            <a:noAutofit/>
          </a:bodyPr>
          <a:lstStyle/>
          <a:p>
            <a:pPr>
              <a:lnSpc>
                <a:spcPct val="100000"/>
              </a:lnSpc>
            </a:pPr>
            <a:r>
              <a:rPr lang="en-US" altLang="zh-CN" dirty="0"/>
              <a:t>The controls attribute adds video controls, like play, pause, and volume.</a:t>
            </a:r>
            <a:endParaRPr lang="en-US" altLang="zh-CN" dirty="0"/>
          </a:p>
          <a:p>
            <a:pPr>
              <a:lnSpc>
                <a:spcPct val="100000"/>
              </a:lnSpc>
            </a:pPr>
            <a:r>
              <a:rPr lang="en-US" altLang="zh-CN" dirty="0"/>
              <a:t>If height and width are not set, the browser does not know the size of the video. The effect will be that the page will change (or flicker) while the video loads. It is a good idea to always include width and height attributes.</a:t>
            </a:r>
            <a:endParaRPr lang="en-US" altLang="zh-CN" dirty="0"/>
          </a:p>
          <a:p>
            <a:pPr>
              <a:lnSpc>
                <a:spcPct val="100000"/>
              </a:lnSpc>
            </a:pPr>
            <a:r>
              <a:rPr lang="en-US" altLang="zh-CN" dirty="0"/>
              <a:t>Text between the &lt;video&gt; and &lt;</a:t>
            </a:r>
            <a:r>
              <a:rPr lang="en-US" altLang="zh-CN" dirty="0">
                <a:solidFill>
                  <a:srgbClr val="FF0000"/>
                </a:solidFill>
              </a:rPr>
              <a:t>/video</a:t>
            </a:r>
            <a:r>
              <a:rPr lang="en-US" altLang="zh-CN" dirty="0"/>
              <a:t>&gt; tags will only display in browsers that do not support the &lt;</a:t>
            </a:r>
            <a:r>
              <a:rPr lang="en-US" altLang="zh-CN" dirty="0">
                <a:solidFill>
                  <a:srgbClr val="FF0000"/>
                </a:solidFill>
              </a:rPr>
              <a:t>video</a:t>
            </a:r>
            <a:r>
              <a:rPr lang="en-US" altLang="zh-CN" dirty="0"/>
              <a:t>&gt; element.</a:t>
            </a:r>
            <a:endParaRPr lang="en-US" altLang="zh-CN" dirty="0"/>
          </a:p>
          <a:p>
            <a:pPr>
              <a:lnSpc>
                <a:spcPct val="100000"/>
              </a:lnSpc>
            </a:pPr>
            <a:r>
              <a:rPr lang="en-US" altLang="zh-CN" dirty="0"/>
              <a:t>Multiple &lt;</a:t>
            </a:r>
            <a:r>
              <a:rPr lang="en-US" altLang="zh-CN" dirty="0">
                <a:solidFill>
                  <a:srgbClr val="FF0000"/>
                </a:solidFill>
              </a:rPr>
              <a:t>source</a:t>
            </a:r>
            <a:r>
              <a:rPr lang="en-US" altLang="zh-CN" dirty="0"/>
              <a:t>&gt; elements can link to different video files. The browser will use the first recognized format.</a:t>
            </a: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HTML &lt;video&gt; </a:t>
            </a:r>
            <a:r>
              <a:rPr lang="en-US" altLang="zh-CN" dirty="0" err="1"/>
              <a:t>Autoplay</a:t>
            </a:r>
            <a:endParaRPr lang="zh-CN" altLang="en-US" dirty="0"/>
          </a:p>
        </p:txBody>
      </p:sp>
      <p:sp>
        <p:nvSpPr>
          <p:cNvPr id="3" name="内容占位符 2"/>
          <p:cNvSpPr>
            <a:spLocks noGrp="1"/>
          </p:cNvSpPr>
          <p:nvPr>
            <p:ph idx="1"/>
          </p:nvPr>
        </p:nvSpPr>
        <p:spPr>
          <a:xfrm>
            <a:off x="1190779" y="1744069"/>
            <a:ext cx="10515600" cy="1961453"/>
          </a:xfrm>
        </p:spPr>
        <p:txBody>
          <a:bodyPr/>
          <a:lstStyle/>
          <a:p>
            <a:pPr marL="0" indent="0" algn="just">
              <a:buNone/>
            </a:pPr>
            <a:r>
              <a:rPr lang="en-US" altLang="zh-CN" dirty="0"/>
              <a:t>To start a video automatically use the </a:t>
            </a:r>
            <a:r>
              <a:rPr lang="en-US" altLang="zh-CN" dirty="0" err="1"/>
              <a:t>autoplay</a:t>
            </a:r>
            <a:r>
              <a:rPr lang="en-US" altLang="zh-CN" dirty="0"/>
              <a:t> attribute:</a:t>
            </a:r>
            <a:endParaRPr lang="en-US" altLang="zh-CN" dirty="0"/>
          </a:p>
          <a:p>
            <a:pPr marL="0" indent="0" algn="just">
              <a:buNone/>
            </a:pPr>
            <a:r>
              <a:rPr lang="en-US" altLang="zh-CN" dirty="0">
                <a:solidFill>
                  <a:srgbClr val="FFFF00"/>
                </a:solidFill>
              </a:rPr>
              <a:t>Example</a:t>
            </a:r>
            <a:r>
              <a:rPr lang="zh-CN" altLang="en-US" dirty="0"/>
              <a:t>：</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14788" y="3187294"/>
            <a:ext cx="6562423" cy="1792742"/>
          </a:xfrm>
          <a:prstGeom prst="rect">
            <a:avLst/>
          </a:prstGeom>
        </p:spPr>
      </p:pic>
      <p:sp>
        <p:nvSpPr>
          <p:cNvPr id="6" name="文本框 5"/>
          <p:cNvSpPr txBox="1"/>
          <p:nvPr/>
        </p:nvSpPr>
        <p:spPr>
          <a:xfrm>
            <a:off x="1190779" y="5383764"/>
            <a:ext cx="103637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Tips</a:t>
            </a:r>
            <a:r>
              <a:rPr kumimoji="0" lang="en-US" altLang="zh-CN" sz="24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The </a:t>
            </a:r>
            <a:r>
              <a:rPr kumimoji="0" lang="en-US" altLang="zh-CN" sz="2400" b="0" i="0" u="none" strike="noStrike" kern="1200" cap="none" spc="0" normalizeH="0" baseline="0" noProof="0" dirty="0" err="1">
                <a:ln>
                  <a:noFill/>
                </a:ln>
                <a:solidFill>
                  <a:prstClr val="white"/>
                </a:solidFill>
                <a:effectLst/>
                <a:uLnTx/>
                <a:uFillTx/>
                <a:latin typeface="Calibri" panose="020F0502020204030204"/>
                <a:ea typeface="等线" panose="02010600030101010101" pitchFamily="2" charset="-122"/>
                <a:cs typeface="+mn-cs"/>
              </a:rPr>
              <a:t>autoplay</a:t>
            </a:r>
            <a:r>
              <a:rPr kumimoji="0" lang="en-US" altLang="zh-CN" sz="24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attribute does not work in mobile devices like iPad and iPhone.</a:t>
            </a:r>
            <a:endParaRPr kumimoji="0" lang="zh-CN" altLang="en-US" sz="24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HTML Video</a:t>
            </a:r>
            <a:endParaRPr lang="zh-CN" altLang="en-US" dirty="0"/>
          </a:p>
        </p:txBody>
      </p:sp>
      <p:sp>
        <p:nvSpPr>
          <p:cNvPr id="3" name="内容占位符 2"/>
          <p:cNvSpPr>
            <a:spLocks noGrp="1"/>
          </p:cNvSpPr>
          <p:nvPr>
            <p:ph idx="1"/>
          </p:nvPr>
        </p:nvSpPr>
        <p:spPr>
          <a:xfrm>
            <a:off x="849741" y="1239872"/>
            <a:ext cx="10515600" cy="1039497"/>
          </a:xfrm>
        </p:spPr>
        <p:txBody>
          <a:bodyPr/>
          <a:lstStyle/>
          <a:p>
            <a:pPr marL="0" indent="0" algn="just">
              <a:buNone/>
            </a:pPr>
            <a:r>
              <a:rPr lang="en-US" altLang="zh-CN" dirty="0"/>
              <a:t>Currently, there are 3 supported video formats for the &lt;</a:t>
            </a:r>
            <a:r>
              <a:rPr lang="en-US" altLang="zh-CN" dirty="0">
                <a:solidFill>
                  <a:srgbClr val="FF0000"/>
                </a:solidFill>
              </a:rPr>
              <a:t>video</a:t>
            </a:r>
            <a:r>
              <a:rPr lang="en-US" altLang="zh-CN" dirty="0"/>
              <a:t>&gt; element: MP4, </a:t>
            </a:r>
            <a:r>
              <a:rPr lang="en-US" altLang="zh-CN" dirty="0" err="1"/>
              <a:t>WebM</a:t>
            </a:r>
            <a:r>
              <a:rPr lang="en-US" altLang="zh-CN" dirty="0"/>
              <a:t>, and </a:t>
            </a:r>
            <a:r>
              <a:rPr lang="en-US" altLang="zh-CN" dirty="0" err="1"/>
              <a:t>Ogg</a:t>
            </a:r>
            <a:r>
              <a:rPr lang="en-US" altLang="zh-CN" dirty="0"/>
              <a:t>:</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69651" y="2741517"/>
            <a:ext cx="9485757" cy="191086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71842"/>
            <a:ext cx="10515600" cy="1099150"/>
          </a:xfrm>
        </p:spPr>
        <p:txBody>
          <a:bodyPr>
            <a:normAutofit fontScale="90000"/>
          </a:bodyPr>
          <a:lstStyle/>
          <a:p>
            <a:pPr algn="ctr"/>
            <a:r>
              <a:rPr lang="en-US" altLang="zh-CN" dirty="0"/>
              <a:t>HTML Video - Methods, Properties, and Events</a:t>
            </a:r>
            <a:endParaRPr lang="zh-CN" altLang="en-US" dirty="0"/>
          </a:p>
        </p:txBody>
      </p:sp>
      <p:sp>
        <p:nvSpPr>
          <p:cNvPr id="3" name="内容占位符 2"/>
          <p:cNvSpPr>
            <a:spLocks noGrp="1"/>
          </p:cNvSpPr>
          <p:nvPr>
            <p:ph idx="1"/>
          </p:nvPr>
        </p:nvSpPr>
        <p:spPr>
          <a:xfrm>
            <a:off x="838200" y="2098634"/>
            <a:ext cx="10666445" cy="2818140"/>
          </a:xfrm>
        </p:spPr>
        <p:txBody>
          <a:bodyPr>
            <a:noAutofit/>
          </a:bodyPr>
          <a:lstStyle/>
          <a:p>
            <a:pPr algn="just"/>
            <a:r>
              <a:rPr lang="en-US" altLang="zh-CN" dirty="0"/>
              <a:t>HTML5 defines DOM methods, properties, and events for the &lt;</a:t>
            </a:r>
            <a:r>
              <a:rPr lang="en-US" altLang="zh-CN" dirty="0">
                <a:solidFill>
                  <a:srgbClr val="FF0000"/>
                </a:solidFill>
              </a:rPr>
              <a:t>video</a:t>
            </a:r>
            <a:r>
              <a:rPr lang="en-US" altLang="zh-CN" dirty="0"/>
              <a:t>&gt; element.</a:t>
            </a:r>
            <a:endParaRPr lang="en-US" altLang="zh-CN" dirty="0"/>
          </a:p>
          <a:p>
            <a:pPr algn="just"/>
            <a:r>
              <a:rPr lang="en-US" altLang="zh-CN" dirty="0"/>
              <a:t>This allows you to load, play, and pause videos, as well as setting duration and volume.</a:t>
            </a:r>
            <a:endParaRPr lang="en-US" altLang="zh-CN" dirty="0"/>
          </a:p>
          <a:p>
            <a:pPr algn="just"/>
            <a:r>
              <a:rPr lang="en-US" altLang="zh-CN" dirty="0"/>
              <a:t>There are also DOM events that can notify you when a video begins to play, is paused, etc.</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19724" y="1592238"/>
            <a:ext cx="5818364" cy="5002412"/>
          </a:xfrm>
          <a:prstGeom prst="rect">
            <a:avLst/>
          </a:prstGeom>
        </p:spPr>
      </p:pic>
      <p:pic>
        <p:nvPicPr>
          <p:cNvPr id="5" name="图片 4"/>
          <p:cNvPicPr>
            <a:picLocks noChangeAspect="1"/>
          </p:cNvPicPr>
          <p:nvPr/>
        </p:nvPicPr>
        <p:blipFill>
          <a:blip r:embed="rId2"/>
          <a:stretch>
            <a:fillRect/>
          </a:stretch>
        </p:blipFill>
        <p:spPr>
          <a:xfrm>
            <a:off x="6977922" y="2202446"/>
            <a:ext cx="4698431" cy="2819059"/>
          </a:xfrm>
          <a:prstGeom prst="rect">
            <a:avLst/>
          </a:prstGeom>
        </p:spPr>
      </p:pic>
      <p:sp>
        <p:nvSpPr>
          <p:cNvPr id="7" name="标题 1"/>
          <p:cNvSpPr>
            <a:spLocks noGrp="1"/>
          </p:cNvSpPr>
          <p:nvPr>
            <p:ph type="title"/>
          </p:nvPr>
        </p:nvSpPr>
        <p:spPr>
          <a:xfrm>
            <a:off x="838200" y="271842"/>
            <a:ext cx="10515600" cy="1099150"/>
          </a:xfrm>
        </p:spPr>
        <p:txBody>
          <a:bodyPr>
            <a:normAutofit/>
          </a:bodyPr>
          <a:lstStyle/>
          <a:p>
            <a:pPr algn="ctr"/>
            <a:r>
              <a:rPr lang="en-US" altLang="zh-CN" dirty="0"/>
              <a:t>HTML Video</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HTML5 Audio</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Audio on the Web</a:t>
            </a:r>
            <a:endParaRPr lang="zh-CN" altLang="en-US" dirty="0"/>
          </a:p>
        </p:txBody>
      </p:sp>
      <p:sp>
        <p:nvSpPr>
          <p:cNvPr id="3" name="内容占位符 2"/>
          <p:cNvSpPr>
            <a:spLocks noGrp="1"/>
          </p:cNvSpPr>
          <p:nvPr>
            <p:ph idx="1"/>
          </p:nvPr>
        </p:nvSpPr>
        <p:spPr>
          <a:xfrm>
            <a:off x="743887" y="1848110"/>
            <a:ext cx="10884108" cy="2858801"/>
          </a:xfrm>
        </p:spPr>
        <p:txBody>
          <a:bodyPr>
            <a:normAutofit/>
          </a:bodyPr>
          <a:lstStyle/>
          <a:p>
            <a:r>
              <a:rPr lang="en-US" altLang="zh-CN" dirty="0"/>
              <a:t>Before HTML5, there was no standard for playing audio files on a web page.</a:t>
            </a:r>
            <a:endParaRPr lang="en-US" altLang="zh-CN" dirty="0"/>
          </a:p>
          <a:p>
            <a:r>
              <a:rPr lang="en-US" altLang="zh-CN" dirty="0"/>
              <a:t>Before HTML5, audio files could only be played with a plug-in (like flash).</a:t>
            </a:r>
            <a:endParaRPr lang="en-US" altLang="zh-CN" dirty="0"/>
          </a:p>
          <a:p>
            <a:r>
              <a:rPr lang="en-US" altLang="zh-CN" dirty="0"/>
              <a:t>The HTML5 &lt;</a:t>
            </a:r>
            <a:r>
              <a:rPr lang="en-US" altLang="zh-CN" dirty="0">
                <a:solidFill>
                  <a:srgbClr val="FF0000"/>
                </a:solidFill>
              </a:rPr>
              <a:t>audio</a:t>
            </a:r>
            <a:r>
              <a:rPr lang="en-US" altLang="zh-CN" dirty="0"/>
              <a:t>&gt; element specifies a standard way to embed audio in a web page.</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The HTML &lt;audio&gt; Element</a:t>
            </a:r>
            <a:endParaRPr lang="zh-CN" altLang="en-US" dirty="0"/>
          </a:p>
        </p:txBody>
      </p:sp>
      <p:sp>
        <p:nvSpPr>
          <p:cNvPr id="3" name="内容占位符 2"/>
          <p:cNvSpPr>
            <a:spLocks noGrp="1"/>
          </p:cNvSpPr>
          <p:nvPr>
            <p:ph idx="1"/>
          </p:nvPr>
        </p:nvSpPr>
        <p:spPr>
          <a:xfrm>
            <a:off x="1491343" y="1754888"/>
            <a:ext cx="10515600" cy="1674112"/>
          </a:xfrm>
        </p:spPr>
        <p:txBody>
          <a:bodyPr>
            <a:normAutofit/>
          </a:bodyPr>
          <a:lstStyle/>
          <a:p>
            <a:pPr marL="0" indent="0" algn="just">
              <a:buNone/>
            </a:pPr>
            <a:r>
              <a:rPr lang="en-US" altLang="zh-CN" dirty="0"/>
              <a:t>To play an audio file in HTML, use the &lt;</a:t>
            </a:r>
            <a:r>
              <a:rPr lang="en-US" altLang="zh-CN" dirty="0">
                <a:solidFill>
                  <a:srgbClr val="FF0000"/>
                </a:solidFill>
              </a:rPr>
              <a:t>audio</a:t>
            </a:r>
            <a:r>
              <a:rPr lang="en-US" altLang="zh-CN" dirty="0"/>
              <a:t>&gt; element:</a:t>
            </a:r>
            <a:endParaRPr lang="en-US" altLang="zh-CN" dirty="0"/>
          </a:p>
          <a:p>
            <a:pPr marL="0" indent="0" algn="just">
              <a:buNone/>
            </a:pPr>
            <a:endParaRPr lang="en-US" altLang="zh-CN" dirty="0"/>
          </a:p>
          <a:p>
            <a:pPr marL="0" indent="0" algn="just">
              <a:buNone/>
            </a:pPr>
            <a:r>
              <a:rPr lang="en-US" altLang="zh-CN" dirty="0">
                <a:solidFill>
                  <a:srgbClr val="FFFF00"/>
                </a:solidFill>
              </a:rPr>
              <a:t>Example</a:t>
            </a:r>
            <a:r>
              <a:rPr lang="zh-CN" altLang="en-US" dirty="0">
                <a:solidFill>
                  <a:srgbClr val="FFFF00"/>
                </a:solidFill>
              </a:rPr>
              <a:t>：</a:t>
            </a:r>
            <a:endParaRPr lang="en-US" altLang="zh-CN" dirty="0">
              <a:solidFill>
                <a:srgbClr val="FFFF00"/>
              </a:solidFill>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31251" y="3783563"/>
            <a:ext cx="6596028" cy="168344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HTML Audio - How It Works</a:t>
            </a:r>
            <a:endParaRPr lang="zh-CN" altLang="en-US" dirty="0"/>
          </a:p>
        </p:txBody>
      </p:sp>
      <p:sp>
        <p:nvSpPr>
          <p:cNvPr id="3" name="内容占位符 2"/>
          <p:cNvSpPr>
            <a:spLocks noGrp="1"/>
          </p:cNvSpPr>
          <p:nvPr>
            <p:ph idx="1"/>
          </p:nvPr>
        </p:nvSpPr>
        <p:spPr>
          <a:xfrm>
            <a:off x="838200" y="1683523"/>
            <a:ext cx="10515600" cy="3877522"/>
          </a:xfrm>
        </p:spPr>
        <p:txBody>
          <a:bodyPr>
            <a:noAutofit/>
          </a:bodyPr>
          <a:lstStyle/>
          <a:p>
            <a:r>
              <a:rPr lang="en-US" altLang="zh-CN" dirty="0"/>
              <a:t>The controls attribute adds audio controls, like play, pause, and volume.</a:t>
            </a:r>
            <a:endParaRPr lang="en-US" altLang="zh-CN" dirty="0"/>
          </a:p>
          <a:p>
            <a:pPr marL="0" indent="0">
              <a:buNone/>
            </a:pPr>
            <a:endParaRPr lang="en-US" altLang="zh-CN" dirty="0"/>
          </a:p>
          <a:p>
            <a:r>
              <a:rPr lang="en-US" altLang="zh-CN" dirty="0"/>
              <a:t>Text between the &lt;</a:t>
            </a:r>
            <a:r>
              <a:rPr lang="en-US" altLang="zh-CN" dirty="0">
                <a:solidFill>
                  <a:srgbClr val="FF0000"/>
                </a:solidFill>
              </a:rPr>
              <a:t>audio</a:t>
            </a:r>
            <a:r>
              <a:rPr lang="en-US" altLang="zh-CN" dirty="0"/>
              <a:t>&gt; and &lt;</a:t>
            </a:r>
            <a:r>
              <a:rPr lang="en-US" altLang="zh-CN" dirty="0">
                <a:solidFill>
                  <a:srgbClr val="FF0000"/>
                </a:solidFill>
              </a:rPr>
              <a:t>/audio</a:t>
            </a:r>
            <a:r>
              <a:rPr lang="en-US" altLang="zh-CN" dirty="0"/>
              <a:t>&gt; tags will display in browsers that do not support the &lt;</a:t>
            </a:r>
            <a:r>
              <a:rPr lang="en-US" altLang="zh-CN" dirty="0">
                <a:solidFill>
                  <a:srgbClr val="FF0000"/>
                </a:solidFill>
              </a:rPr>
              <a:t>audio</a:t>
            </a:r>
            <a:r>
              <a:rPr lang="en-US" altLang="zh-CN" dirty="0"/>
              <a:t>&gt; element.</a:t>
            </a:r>
            <a:endParaRPr lang="en-US" altLang="zh-CN" dirty="0"/>
          </a:p>
          <a:p>
            <a:pPr marL="0" indent="0">
              <a:buNone/>
            </a:pPr>
            <a:endParaRPr lang="en-US" altLang="zh-CN" dirty="0"/>
          </a:p>
          <a:p>
            <a:r>
              <a:rPr lang="en-US" altLang="zh-CN" dirty="0"/>
              <a:t>Multiple &lt;</a:t>
            </a:r>
            <a:r>
              <a:rPr lang="en-US" altLang="zh-CN" dirty="0">
                <a:solidFill>
                  <a:srgbClr val="FF0000"/>
                </a:solidFill>
              </a:rPr>
              <a:t>source</a:t>
            </a:r>
            <a:r>
              <a:rPr lang="en-US" altLang="zh-CN" dirty="0"/>
              <a:t>&gt; elements can link to different audio files. The browser will use the first recognized format.</a:t>
            </a:r>
            <a:endParaRPr lang="en-US" altLang="zh-C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HTML Audio - Browser Support</a:t>
            </a:r>
            <a:endParaRPr lang="zh-CN" altLang="en-US" dirty="0"/>
          </a:p>
        </p:txBody>
      </p:sp>
      <p:sp>
        <p:nvSpPr>
          <p:cNvPr id="3" name="内容占位符 2"/>
          <p:cNvSpPr>
            <a:spLocks noGrp="1"/>
          </p:cNvSpPr>
          <p:nvPr>
            <p:ph idx="1"/>
          </p:nvPr>
        </p:nvSpPr>
        <p:spPr>
          <a:xfrm>
            <a:off x="838200" y="1123695"/>
            <a:ext cx="10515600" cy="904640"/>
          </a:xfrm>
        </p:spPr>
        <p:txBody>
          <a:bodyPr/>
          <a:lstStyle/>
          <a:p>
            <a:pPr marL="0" indent="0" algn="just">
              <a:buNone/>
            </a:pPr>
            <a:r>
              <a:rPr lang="en-US" altLang="zh-CN" dirty="0"/>
              <a:t>Currently, there are 3 supported file formats for the &lt;</a:t>
            </a:r>
            <a:r>
              <a:rPr lang="en-US" altLang="zh-CN" dirty="0">
                <a:solidFill>
                  <a:srgbClr val="FF0000"/>
                </a:solidFill>
              </a:rPr>
              <a:t>audio</a:t>
            </a:r>
            <a:r>
              <a:rPr lang="en-US" altLang="zh-CN" dirty="0"/>
              <a:t>&gt; element: MP3, Wav, and </a:t>
            </a:r>
            <a:r>
              <a:rPr lang="en-US" altLang="zh-CN" dirty="0" err="1"/>
              <a:t>Ogg</a:t>
            </a:r>
            <a:r>
              <a:rPr lang="en-US" altLang="zh-CN" dirty="0"/>
              <a:t>:</a:t>
            </a:r>
            <a:endParaRPr lang="zh-CN" altLang="en-US" dirty="0"/>
          </a:p>
        </p:txBody>
      </p:sp>
      <p:pic>
        <p:nvPicPr>
          <p:cNvPr id="6" name="内容占位符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74990" y="2839967"/>
            <a:ext cx="10515600" cy="205480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normAutofit fontScale="90000"/>
          </a:bodyPr>
          <a:lstStyle/>
          <a:p>
            <a:pPr algn="ctr"/>
            <a:r>
              <a:rPr lang="en-US" altLang="zh-CN" dirty="0"/>
              <a:t>HTML Audio - Methods, Properties, and Events</a:t>
            </a:r>
            <a:endParaRPr lang="zh-CN" altLang="en-US" dirty="0"/>
          </a:p>
        </p:txBody>
      </p:sp>
      <p:sp>
        <p:nvSpPr>
          <p:cNvPr id="3" name="文本框 2"/>
          <p:cNvSpPr txBox="1"/>
          <p:nvPr/>
        </p:nvSpPr>
        <p:spPr>
          <a:xfrm>
            <a:off x="668216" y="1819469"/>
            <a:ext cx="10881360" cy="3539430"/>
          </a:xfrm>
          <a:prstGeom prst="rect">
            <a:avLst/>
          </a:prstGeom>
          <a:noFill/>
        </p:spPr>
        <p:txBody>
          <a:bodyPr wrap="square" rtlCol="0">
            <a:spAutoFit/>
          </a:bodyPr>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HTML5 defines DOM methods, properties, and events for the &lt;</a:t>
            </a:r>
            <a:r>
              <a:rPr kumimoji="0" lang="en-US" altLang="zh-CN"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audio</a:t>
            </a: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&gt; element.</a:t>
            </a: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This allows you to load, play, and pause audios, as well as set duration and volume.</a:t>
            </a: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There are also DOM events that can notify you when an audio begins to play, is paused, etc.</a:t>
            </a:r>
            <a:endPar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For a full DOM reference, go to our HTML5 Audio/Video DOM Reference.</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HTML5 Geolocation</a:t>
            </a:r>
            <a:endParaRPr lang="en-US"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What is HTML Geolocation API ?</a:t>
            </a:r>
            <a:endParaRPr lang="zh-CN" altLang="en-US" dirty="0"/>
          </a:p>
        </p:txBody>
      </p:sp>
      <p:sp>
        <p:nvSpPr>
          <p:cNvPr id="3" name="内容占位符 2"/>
          <p:cNvSpPr>
            <a:spLocks noGrp="1"/>
          </p:cNvSpPr>
          <p:nvPr>
            <p:ph idx="1"/>
          </p:nvPr>
        </p:nvSpPr>
        <p:spPr/>
        <p:txBody>
          <a:bodyPr/>
          <a:lstStyle/>
          <a:p>
            <a:r>
              <a:rPr lang="en-US" altLang="zh-CN" dirty="0"/>
              <a:t>The HTML Geolocation API is used to get the geographical position of a user.</a:t>
            </a:r>
            <a:endParaRPr lang="en-US" altLang="zh-CN" dirty="0"/>
          </a:p>
          <a:p>
            <a:r>
              <a:rPr lang="en-US" altLang="zh-CN" dirty="0"/>
              <a:t>Since this can compromise privacy, the position is not available unless the </a:t>
            </a:r>
            <a:r>
              <a:rPr lang="en-US" altLang="zh-CN" dirty="0">
                <a:solidFill>
                  <a:srgbClr val="FF0000"/>
                </a:solidFill>
              </a:rPr>
              <a:t>user approves it</a:t>
            </a:r>
            <a:r>
              <a:rPr lang="en-US" altLang="zh-CN" dirty="0"/>
              <a:t>.</a:t>
            </a:r>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t>How to use the HTML Geolocation</a:t>
            </a:r>
            <a:r>
              <a:rPr lang="zh-CN" altLang="en-US" dirty="0"/>
              <a:t>？</a:t>
            </a:r>
            <a:endParaRPr lang="zh-CN" altLang="en-US" dirty="0"/>
          </a:p>
        </p:txBody>
      </p:sp>
      <p:sp>
        <p:nvSpPr>
          <p:cNvPr id="3" name="内容占位符 2"/>
          <p:cNvSpPr>
            <a:spLocks noGrp="1"/>
          </p:cNvSpPr>
          <p:nvPr>
            <p:ph idx="1"/>
          </p:nvPr>
        </p:nvSpPr>
        <p:spPr>
          <a:xfrm>
            <a:off x="388493" y="1418813"/>
            <a:ext cx="11641113" cy="1279417"/>
          </a:xfrm>
        </p:spPr>
        <p:txBody>
          <a:bodyPr>
            <a:noAutofit/>
          </a:bodyPr>
          <a:lstStyle/>
          <a:p>
            <a:pPr marL="0" indent="0">
              <a:buNone/>
            </a:pPr>
            <a:r>
              <a:rPr lang="en-US" altLang="zh-CN" dirty="0"/>
              <a:t>The getCurrentPosition() method is used to get the user's position.</a:t>
            </a:r>
            <a:endParaRPr lang="en-US" altLang="zh-CN" dirty="0"/>
          </a:p>
          <a:p>
            <a:pPr marL="0" indent="0">
              <a:buNone/>
            </a:pPr>
            <a:r>
              <a:rPr lang="en-US" altLang="zh-CN" dirty="0"/>
              <a:t>The example below returns the latitude and longitude of the user's position:</a:t>
            </a:r>
            <a:endParaRPr lang="en-US" altLang="zh-CN" dirty="0"/>
          </a:p>
          <a:p>
            <a:pPr marL="0" indent="0">
              <a:buNone/>
            </a:pPr>
            <a:endParaRPr lang="en-US" altLang="zh-CN" dirty="0"/>
          </a:p>
        </p:txBody>
      </p:sp>
      <p:pic>
        <p:nvPicPr>
          <p:cNvPr id="4" name="图片 3"/>
          <p:cNvPicPr>
            <a:picLocks noChangeAspect="1"/>
          </p:cNvPicPr>
          <p:nvPr/>
        </p:nvPicPr>
        <p:blipFill>
          <a:blip r:embed="rId1"/>
          <a:stretch>
            <a:fillRect/>
          </a:stretch>
        </p:blipFill>
        <p:spPr>
          <a:xfrm>
            <a:off x="2430145" y="2815757"/>
            <a:ext cx="7825105" cy="392493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9105"/>
            <a:ext cx="10515600" cy="1325563"/>
          </a:xfrm>
        </p:spPr>
        <p:txBody>
          <a:bodyPr/>
          <a:lstStyle/>
          <a:p>
            <a:pPr algn="ctr"/>
            <a:r>
              <a:rPr lang="en-US" altLang="zh-CN" dirty="0"/>
              <a:t>How to use the HTML Geolocation</a:t>
            </a:r>
            <a:r>
              <a:rPr lang="zh-CN" altLang="en-US" dirty="0"/>
              <a:t>？</a:t>
            </a:r>
            <a:endParaRPr lang="zh-CN" altLang="en-US" dirty="0"/>
          </a:p>
        </p:txBody>
      </p:sp>
      <p:pic>
        <p:nvPicPr>
          <p:cNvPr id="5" name="图片 4"/>
          <p:cNvPicPr>
            <a:picLocks noChangeAspect="1"/>
          </p:cNvPicPr>
          <p:nvPr/>
        </p:nvPicPr>
        <p:blipFill>
          <a:blip r:embed="rId1"/>
          <a:stretch>
            <a:fillRect/>
          </a:stretch>
        </p:blipFill>
        <p:spPr>
          <a:xfrm>
            <a:off x="4806705" y="1541257"/>
            <a:ext cx="3842385" cy="1088390"/>
          </a:xfrm>
          <a:prstGeom prst="rect">
            <a:avLst/>
          </a:prstGeom>
        </p:spPr>
      </p:pic>
      <p:sp>
        <p:nvSpPr>
          <p:cNvPr id="6" name="文本框 5"/>
          <p:cNvSpPr txBox="1"/>
          <p:nvPr/>
        </p:nvSpPr>
        <p:spPr>
          <a:xfrm>
            <a:off x="587959" y="2586235"/>
            <a:ext cx="11109327" cy="40318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Example explained</a:t>
            </a:r>
            <a:endParaRPr kumimoji="0" lang="zh-CN" altLang="en-US" sz="32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Check</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if Geolocation is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supported</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If supported, run the getCurrentPosition() method. If not, display a message to the user</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If the getCurrentPosition() method is successful, it returns a coordinates object to the function specified in the parameter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showPosition</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The </a:t>
            </a:r>
            <a:r>
              <a:rPr kumimoji="0" lang="zh-CN" altLang="en-US" sz="2800" b="0" i="0" u="none" strike="noStrike" kern="1200" cap="none" spc="0" normalizeH="0" baseline="0" noProof="0" dirty="0">
                <a:ln>
                  <a:noFill/>
                </a:ln>
                <a:solidFill>
                  <a:srgbClr val="FF0000"/>
                </a:solidFill>
                <a:effectLst/>
                <a:uLnTx/>
                <a:uFillTx/>
                <a:latin typeface="Calibri" panose="020F0502020204030204"/>
                <a:ea typeface="等线" panose="02010600030101010101" pitchFamily="2" charset="-122"/>
                <a:cs typeface="+mn-cs"/>
              </a:rPr>
              <a:t>showPosition()</a:t>
            </a:r>
            <a:r>
              <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function outputs the Latitude and Longitude</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a:p>
            <a:pPr marL="0" marR="0" lvl="0" indent="0"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8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rPr>
              <a:t>Hint: The example above is a very basic Geolocation script, with no error handling.</a:t>
            </a:r>
            <a:endParaRPr kumimoji="0" lang="en-US" altLang="zh-CN" sz="2800" b="0" i="0" u="none" strike="noStrike" kern="1200" cap="none" spc="0" normalizeH="0" baseline="0" noProof="0" dirty="0">
              <a:ln>
                <a:noFill/>
              </a:ln>
              <a:solidFill>
                <a:srgbClr val="FFC000"/>
              </a:solidFill>
              <a:effectLst/>
              <a:uLnTx/>
              <a:uFillTx/>
              <a:latin typeface="Calibri" panose="020F0502020204030204"/>
              <a:ea typeface="等线" panose="02010600030101010101" pitchFamily="2" charset="-122"/>
              <a:cs typeface="+mn-cs"/>
            </a:endParaRPr>
          </a:p>
        </p:txBody>
      </p:sp>
      <p:sp>
        <p:nvSpPr>
          <p:cNvPr id="8" name="文本框 7"/>
          <p:cNvSpPr txBox="1"/>
          <p:nvPr/>
        </p:nvSpPr>
        <p:spPr>
          <a:xfrm>
            <a:off x="1248410" y="1424940"/>
            <a:ext cx="1169035"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rPr>
              <a:t>Result:</a:t>
            </a:r>
            <a:endParaRPr kumimoji="0" lang="en-US" altLang="zh-CN" sz="2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0"/>
            <a:ext cx="10515600" cy="957649"/>
          </a:xfrm>
        </p:spPr>
        <p:txBody>
          <a:bodyPr/>
          <a:lstStyle/>
          <a:p>
            <a:pPr algn="ctr"/>
            <a:r>
              <a:rPr lang="en-US" altLang="zh-CN" dirty="0"/>
              <a:t>Handling Errors and Rejections</a:t>
            </a:r>
            <a:endParaRPr lang="en-US" altLang="zh-CN" dirty="0"/>
          </a:p>
        </p:txBody>
      </p:sp>
      <p:sp>
        <p:nvSpPr>
          <p:cNvPr id="3" name="内容占位符 2"/>
          <p:cNvSpPr>
            <a:spLocks noGrp="1"/>
          </p:cNvSpPr>
          <p:nvPr>
            <p:ph idx="1"/>
          </p:nvPr>
        </p:nvSpPr>
        <p:spPr>
          <a:xfrm>
            <a:off x="432613" y="1004726"/>
            <a:ext cx="10948150" cy="1096645"/>
          </a:xfrm>
        </p:spPr>
        <p:txBody>
          <a:bodyPr>
            <a:noAutofit/>
          </a:bodyPr>
          <a:lstStyle/>
          <a:p>
            <a:pPr algn="just">
              <a:lnSpc>
                <a:spcPct val="100000"/>
              </a:lnSpc>
            </a:pPr>
            <a:r>
              <a:rPr lang="en-US" altLang="zh-CN" dirty="0"/>
              <a:t>The </a:t>
            </a:r>
            <a:r>
              <a:rPr lang="en-US" altLang="zh-CN" dirty="0">
                <a:solidFill>
                  <a:srgbClr val="FF0000"/>
                </a:solidFill>
              </a:rPr>
              <a:t>second parameter</a:t>
            </a:r>
            <a:r>
              <a:rPr lang="en-US" altLang="zh-CN" dirty="0"/>
              <a:t> of the getCurrentPosition() method is used to </a:t>
            </a:r>
            <a:r>
              <a:rPr lang="en-US" altLang="zh-CN" dirty="0">
                <a:solidFill>
                  <a:srgbClr val="FF0000"/>
                </a:solidFill>
              </a:rPr>
              <a:t>handle errors</a:t>
            </a:r>
            <a:r>
              <a:rPr lang="en-US" altLang="zh-CN" dirty="0"/>
              <a:t>. It </a:t>
            </a:r>
            <a:r>
              <a:rPr lang="en-US" altLang="zh-CN" dirty="0">
                <a:solidFill>
                  <a:srgbClr val="FFFF00"/>
                </a:solidFill>
              </a:rPr>
              <a:t>specifies a function to run</a:t>
            </a:r>
            <a:r>
              <a:rPr lang="en-US" altLang="zh-CN" dirty="0"/>
              <a:t> if it fails to get the user's location:</a:t>
            </a:r>
            <a:endParaRPr lang="en-US" altLang="zh-CN" dirty="0"/>
          </a:p>
        </p:txBody>
      </p:sp>
      <p:pic>
        <p:nvPicPr>
          <p:cNvPr id="4" name="图片 3"/>
          <p:cNvPicPr>
            <a:picLocks noChangeAspect="1"/>
          </p:cNvPicPr>
          <p:nvPr/>
        </p:nvPicPr>
        <p:blipFill>
          <a:blip r:embed="rId1"/>
          <a:stretch>
            <a:fillRect/>
          </a:stretch>
        </p:blipFill>
        <p:spPr>
          <a:xfrm>
            <a:off x="1124262" y="3724660"/>
            <a:ext cx="5380896" cy="3026366"/>
          </a:xfrm>
          <a:prstGeom prst="rect">
            <a:avLst/>
          </a:prstGeom>
        </p:spPr>
      </p:pic>
      <p:pic>
        <p:nvPicPr>
          <p:cNvPr id="5" name="图片 4"/>
          <p:cNvPicPr>
            <a:picLocks noChangeAspect="1"/>
          </p:cNvPicPr>
          <p:nvPr/>
        </p:nvPicPr>
        <p:blipFill>
          <a:blip r:embed="rId2"/>
          <a:stretch>
            <a:fillRect/>
          </a:stretch>
        </p:blipFill>
        <p:spPr>
          <a:xfrm>
            <a:off x="9060913" y="5046345"/>
            <a:ext cx="2562860" cy="932180"/>
          </a:xfrm>
          <a:prstGeom prst="rect">
            <a:avLst/>
          </a:prstGeom>
        </p:spPr>
      </p:pic>
      <p:sp>
        <p:nvSpPr>
          <p:cNvPr id="7" name="文本框 6"/>
          <p:cNvSpPr txBox="1"/>
          <p:nvPr/>
        </p:nvSpPr>
        <p:spPr>
          <a:xfrm>
            <a:off x="9440252" y="4217964"/>
            <a:ext cx="102743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Result:</a:t>
            </a:r>
            <a:endParaRPr kumimoji="0" lang="en-US" altLang="zh-CN" sz="24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6" name="图片 5"/>
          <p:cNvPicPr>
            <a:picLocks noChangeAspect="1"/>
          </p:cNvPicPr>
          <p:nvPr/>
        </p:nvPicPr>
        <p:blipFill>
          <a:blip r:embed="rId3"/>
          <a:stretch>
            <a:fillRect/>
          </a:stretch>
        </p:blipFill>
        <p:spPr>
          <a:xfrm>
            <a:off x="4042372" y="1992906"/>
            <a:ext cx="6247619" cy="158095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Location-specific Information</a:t>
            </a:r>
            <a:endParaRPr lang="en-US" altLang="zh-CN" dirty="0"/>
          </a:p>
        </p:txBody>
      </p:sp>
      <p:sp>
        <p:nvSpPr>
          <p:cNvPr id="3" name="内容占位符 2"/>
          <p:cNvSpPr>
            <a:spLocks noGrp="1"/>
          </p:cNvSpPr>
          <p:nvPr>
            <p:ph idx="1"/>
          </p:nvPr>
        </p:nvSpPr>
        <p:spPr>
          <a:xfrm>
            <a:off x="838200" y="1621738"/>
            <a:ext cx="10515600" cy="4389824"/>
          </a:xfrm>
        </p:spPr>
        <p:txBody>
          <a:bodyPr/>
          <a:lstStyle/>
          <a:p>
            <a:pPr marL="0" indent="0" algn="just">
              <a:buNone/>
            </a:pPr>
            <a:r>
              <a:rPr lang="zh-CN" altLang="en-US" dirty="0"/>
              <a:t>Geolocation is also very useful for </a:t>
            </a:r>
            <a:r>
              <a:rPr lang="zh-CN" altLang="en-US" dirty="0">
                <a:solidFill>
                  <a:srgbClr val="FFFF00"/>
                </a:solidFill>
              </a:rPr>
              <a:t>location-specific</a:t>
            </a:r>
            <a:r>
              <a:rPr lang="zh-CN" altLang="en-US" dirty="0"/>
              <a:t> information, like:</a:t>
            </a:r>
            <a:endParaRPr lang="zh-CN" altLang="en-US" dirty="0"/>
          </a:p>
          <a:p>
            <a:pPr algn="just"/>
            <a:r>
              <a:rPr lang="zh-CN" altLang="en-US" dirty="0">
                <a:solidFill>
                  <a:srgbClr val="FFFF00"/>
                </a:solidFill>
              </a:rPr>
              <a:t>Up-to-date</a:t>
            </a:r>
            <a:r>
              <a:rPr lang="zh-CN" altLang="en-US" dirty="0"/>
              <a:t> local information</a:t>
            </a:r>
            <a:endParaRPr lang="zh-CN" altLang="en-US" dirty="0"/>
          </a:p>
          <a:p>
            <a:pPr algn="just"/>
            <a:r>
              <a:rPr lang="zh-CN" altLang="en-US" dirty="0"/>
              <a:t>Showing </a:t>
            </a:r>
            <a:r>
              <a:rPr lang="zh-CN" altLang="en-US" dirty="0">
                <a:solidFill>
                  <a:srgbClr val="FFFF00"/>
                </a:solidFill>
              </a:rPr>
              <a:t>Points-of-interest</a:t>
            </a:r>
            <a:r>
              <a:rPr lang="zh-CN" altLang="en-US" dirty="0"/>
              <a:t> near the user</a:t>
            </a:r>
            <a:endParaRPr lang="zh-CN" altLang="en-US" dirty="0"/>
          </a:p>
          <a:p>
            <a:pPr algn="just"/>
            <a:r>
              <a:rPr lang="zh-CN" altLang="en-US" dirty="0"/>
              <a:t>Turn-by-turn navigation (</a:t>
            </a:r>
            <a:r>
              <a:rPr lang="zh-CN" altLang="en-US" dirty="0">
                <a:solidFill>
                  <a:srgbClr val="FFFF00"/>
                </a:solidFill>
              </a:rPr>
              <a:t>GPS</a:t>
            </a:r>
            <a:r>
              <a:rPr lang="zh-CN" altLang="en-US" dirty="0"/>
              <a:t>)</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73597"/>
            <a:ext cx="10515600" cy="941516"/>
          </a:xfrm>
        </p:spPr>
        <p:txBody>
          <a:bodyPr>
            <a:normAutofit fontScale="90000"/>
          </a:bodyPr>
          <a:lstStyle/>
          <a:p>
            <a:pPr algn="ctr"/>
            <a:r>
              <a:rPr lang="en-US" altLang="zh-CN" dirty="0"/>
              <a:t>The getCurrentPosition() Method - Return Data</a:t>
            </a:r>
            <a:endParaRPr lang="en-US" altLang="zh-CN" dirty="0"/>
          </a:p>
        </p:txBody>
      </p:sp>
      <p:sp>
        <p:nvSpPr>
          <p:cNvPr id="3" name="内容占位符 2"/>
          <p:cNvSpPr>
            <a:spLocks noGrp="1"/>
          </p:cNvSpPr>
          <p:nvPr>
            <p:ph idx="1"/>
          </p:nvPr>
        </p:nvSpPr>
        <p:spPr>
          <a:xfrm>
            <a:off x="838200" y="1115113"/>
            <a:ext cx="10515600" cy="1819618"/>
          </a:xfrm>
        </p:spPr>
        <p:txBody>
          <a:bodyPr/>
          <a:lstStyle/>
          <a:p>
            <a:r>
              <a:rPr lang="en-US" altLang="zh-CN" dirty="0"/>
              <a:t>The getCurrentPosition() method returns </a:t>
            </a:r>
            <a:r>
              <a:rPr lang="en-US" altLang="zh-CN" dirty="0">
                <a:solidFill>
                  <a:srgbClr val="FF0000"/>
                </a:solidFill>
              </a:rPr>
              <a:t>an object</a:t>
            </a:r>
            <a:r>
              <a:rPr lang="en-US" altLang="zh-CN" dirty="0"/>
              <a:t> if it is successful.</a:t>
            </a:r>
            <a:endParaRPr lang="en-US" altLang="zh-CN" dirty="0"/>
          </a:p>
          <a:p>
            <a:r>
              <a:rPr lang="en-US" altLang="zh-CN" dirty="0"/>
              <a:t>The latitude, longitude and accuracy properties are </a:t>
            </a:r>
            <a:r>
              <a:rPr lang="en-US" altLang="zh-CN" dirty="0">
                <a:solidFill>
                  <a:srgbClr val="FF0000"/>
                </a:solidFill>
              </a:rPr>
              <a:t>always returned</a:t>
            </a:r>
            <a:r>
              <a:rPr lang="en-US" altLang="zh-CN" dirty="0"/>
              <a:t>. The other properties are returned if available:</a:t>
            </a:r>
            <a:endParaRPr lang="en-US" altLang="zh-CN" dirty="0"/>
          </a:p>
        </p:txBody>
      </p:sp>
      <p:pic>
        <p:nvPicPr>
          <p:cNvPr id="5" name="图片 4"/>
          <p:cNvPicPr>
            <a:picLocks noChangeAspect="1"/>
          </p:cNvPicPr>
          <p:nvPr/>
        </p:nvPicPr>
        <p:blipFill>
          <a:blip r:embed="rId1"/>
          <a:stretch>
            <a:fillRect/>
          </a:stretch>
        </p:blipFill>
        <p:spPr>
          <a:xfrm>
            <a:off x="2882900" y="2569845"/>
            <a:ext cx="6426200" cy="404495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65307"/>
            <a:ext cx="10515600" cy="876729"/>
          </a:xfrm>
        </p:spPr>
        <p:txBody>
          <a:bodyPr/>
          <a:lstStyle/>
          <a:p>
            <a:pPr algn="ctr"/>
            <a:r>
              <a:rPr lang="en-US" altLang="zh-CN" dirty="0"/>
              <a:t>Other interesting Methods</a:t>
            </a:r>
            <a:endParaRPr lang="en-US" altLang="zh-CN" dirty="0"/>
          </a:p>
        </p:txBody>
      </p:sp>
      <p:sp>
        <p:nvSpPr>
          <p:cNvPr id="3" name="内容占位符 2"/>
          <p:cNvSpPr>
            <a:spLocks noGrp="1"/>
          </p:cNvSpPr>
          <p:nvPr>
            <p:ph idx="1"/>
          </p:nvPr>
        </p:nvSpPr>
        <p:spPr>
          <a:xfrm>
            <a:off x="1010920" y="1042036"/>
            <a:ext cx="10515600" cy="1970987"/>
          </a:xfrm>
        </p:spPr>
        <p:txBody>
          <a:bodyPr>
            <a:noAutofit/>
          </a:bodyPr>
          <a:lstStyle/>
          <a:p>
            <a:r>
              <a:rPr lang="zh-CN" altLang="en-US" sz="2400" dirty="0">
                <a:solidFill>
                  <a:srgbClr val="FF0000"/>
                </a:solidFill>
              </a:rPr>
              <a:t>watchPosition()</a:t>
            </a:r>
            <a:r>
              <a:rPr lang="zh-CN" altLang="en-US" sz="2400" dirty="0"/>
              <a:t> - Returns the current position of the user and continues to return updated position as the user moves (like the GPS in a car).</a:t>
            </a:r>
            <a:endParaRPr lang="zh-CN" altLang="en-US" sz="2400" dirty="0"/>
          </a:p>
          <a:p>
            <a:r>
              <a:rPr lang="zh-CN" altLang="en-US" sz="2400" dirty="0">
                <a:solidFill>
                  <a:srgbClr val="FF0000"/>
                </a:solidFill>
              </a:rPr>
              <a:t>clearWatch()</a:t>
            </a:r>
            <a:r>
              <a:rPr lang="zh-CN" altLang="en-US" sz="2400" dirty="0"/>
              <a:t> - Stops the watchPosition() method.</a:t>
            </a:r>
            <a:endParaRPr lang="zh-CN" altLang="en-US" sz="2400" dirty="0"/>
          </a:p>
          <a:p>
            <a:pPr marL="0" indent="0">
              <a:buNone/>
            </a:pPr>
            <a:r>
              <a:rPr lang="zh-CN" altLang="en-US" sz="2400" dirty="0"/>
              <a:t>The example below shows the </a:t>
            </a:r>
            <a:r>
              <a:rPr lang="zh-CN" altLang="en-US" sz="2400" dirty="0">
                <a:solidFill>
                  <a:srgbClr val="FFFF00"/>
                </a:solidFill>
              </a:rPr>
              <a:t>watchPosition()</a:t>
            </a:r>
            <a:r>
              <a:rPr lang="zh-CN" altLang="en-US" sz="2400" dirty="0"/>
              <a:t> method. You need an accurate GPS device to test this (like iPhone):</a:t>
            </a:r>
            <a:endParaRPr lang="zh-CN" altLang="en-US" sz="2400" dirty="0"/>
          </a:p>
        </p:txBody>
      </p:sp>
      <p:pic>
        <p:nvPicPr>
          <p:cNvPr id="6" name="图片 5"/>
          <p:cNvPicPr>
            <a:picLocks noChangeAspect="1"/>
          </p:cNvPicPr>
          <p:nvPr/>
        </p:nvPicPr>
        <p:blipFill>
          <a:blip r:embed="rId1"/>
          <a:stretch>
            <a:fillRect/>
          </a:stretch>
        </p:blipFill>
        <p:spPr>
          <a:xfrm>
            <a:off x="2886710" y="3259455"/>
            <a:ext cx="6764020" cy="341439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HTML5 DRAG and DROP</a:t>
            </a:r>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31800"/>
            <a:ext cx="10515600" cy="1325563"/>
          </a:xfrm>
        </p:spPr>
        <p:txBody>
          <a:bodyPr/>
          <a:lstStyle/>
          <a:p>
            <a:pPr algn="ctr"/>
            <a:r>
              <a:rPr lang="en-US" altLang="zh-CN" dirty="0"/>
              <a:t> Drag and Drop</a:t>
            </a:r>
            <a:endParaRPr lang="en-US" altLang="zh-CN" dirty="0"/>
          </a:p>
        </p:txBody>
      </p:sp>
      <p:sp>
        <p:nvSpPr>
          <p:cNvPr id="3" name="内容占位符 2"/>
          <p:cNvSpPr>
            <a:spLocks noGrp="1"/>
          </p:cNvSpPr>
          <p:nvPr>
            <p:ph idx="1"/>
          </p:nvPr>
        </p:nvSpPr>
        <p:spPr>
          <a:xfrm>
            <a:off x="838200" y="1557363"/>
            <a:ext cx="10515600" cy="4351338"/>
          </a:xfrm>
        </p:spPr>
        <p:txBody>
          <a:bodyPr>
            <a:normAutofit/>
          </a:bodyPr>
          <a:lstStyle/>
          <a:p>
            <a:pPr algn="just"/>
            <a:r>
              <a:rPr lang="en-US" altLang="zh-CN" dirty="0"/>
              <a:t>Drag and drop is a very common feature. It is when you "grab" an object and drag it to a different location.</a:t>
            </a:r>
            <a:endParaRPr lang="en-US" altLang="zh-CN" dirty="0"/>
          </a:p>
          <a:p>
            <a:pPr algn="just"/>
            <a:r>
              <a:rPr lang="en-US" altLang="zh-CN" dirty="0"/>
              <a:t>In HTML5, drag and drop is part of the standard, and any element can be </a:t>
            </a:r>
            <a:r>
              <a:rPr lang="en-US" altLang="zh-CN" dirty="0" err="1"/>
              <a:t>draggable</a:t>
            </a:r>
            <a:r>
              <a:rPr lang="en-US" altLang="zh-CN" dirty="0"/>
              <a:t>.</a:t>
            </a:r>
            <a:endParaRPr lang="en-US" altLang="zh-CN" dirty="0"/>
          </a:p>
          <a:p>
            <a:pPr algn="just"/>
            <a:r>
              <a:rPr lang="en-US" altLang="zh-CN" dirty="0"/>
              <a:t>The advantage of having drag and drop built into the browser is that it is properly integrated into the operating system and, as you will see, works between browsers.</a:t>
            </a:r>
            <a:endParaRPr lang="en-US" altLang="zh-CN" dirty="0"/>
          </a:p>
        </p:txBody>
      </p:sp>
      <p:pic>
        <p:nvPicPr>
          <p:cNvPr id="4" name="图片 3"/>
          <p:cNvPicPr>
            <a:picLocks noChangeAspect="1"/>
          </p:cNvPicPr>
          <p:nvPr/>
        </p:nvPicPr>
        <p:blipFill>
          <a:blip r:embed="rId1"/>
          <a:stretch>
            <a:fillRect/>
          </a:stretch>
        </p:blipFill>
        <p:spPr>
          <a:xfrm>
            <a:off x="1072692" y="5396121"/>
            <a:ext cx="3076190" cy="847619"/>
          </a:xfrm>
          <a:prstGeom prst="rect">
            <a:avLst/>
          </a:prstGeom>
        </p:spPr>
      </p:pic>
      <p:pic>
        <p:nvPicPr>
          <p:cNvPr id="5" name="图片 4"/>
          <p:cNvPicPr>
            <a:picLocks noChangeAspect="1"/>
          </p:cNvPicPr>
          <p:nvPr/>
        </p:nvPicPr>
        <p:blipFill>
          <a:blip r:embed="rId2"/>
          <a:stretch>
            <a:fillRect/>
          </a:stretch>
        </p:blipFill>
        <p:spPr>
          <a:xfrm>
            <a:off x="7211699" y="5448501"/>
            <a:ext cx="2895238" cy="742857"/>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14396"/>
            <a:ext cx="10515600" cy="1325563"/>
          </a:xfrm>
        </p:spPr>
        <p:txBody>
          <a:bodyPr/>
          <a:lstStyle/>
          <a:p>
            <a:pPr algn="ctr"/>
            <a:r>
              <a:rPr lang="en-US" altLang="zh-CN" dirty="0"/>
              <a:t>HTML Drag and Drop Example</a:t>
            </a:r>
            <a:endParaRPr lang="en-US" altLang="zh-CN" dirty="0"/>
          </a:p>
        </p:txBody>
      </p:sp>
      <p:sp>
        <p:nvSpPr>
          <p:cNvPr id="3" name="内容占位符 2"/>
          <p:cNvSpPr>
            <a:spLocks noGrp="1"/>
          </p:cNvSpPr>
          <p:nvPr>
            <p:ph idx="1"/>
          </p:nvPr>
        </p:nvSpPr>
        <p:spPr>
          <a:xfrm>
            <a:off x="838200" y="834880"/>
            <a:ext cx="10515600" cy="552574"/>
          </a:xfrm>
        </p:spPr>
        <p:txBody>
          <a:bodyPr/>
          <a:lstStyle/>
          <a:p>
            <a:r>
              <a:rPr lang="en-US" altLang="zh-CN" dirty="0"/>
              <a:t>The example below is a simple drag and drop example:</a:t>
            </a:r>
            <a:endParaRPr lang="zh-CN" altLang="en-US" dirty="0"/>
          </a:p>
        </p:txBody>
      </p:sp>
      <p:pic>
        <p:nvPicPr>
          <p:cNvPr id="4" name="图片 3"/>
          <p:cNvPicPr>
            <a:picLocks noChangeAspect="1"/>
          </p:cNvPicPr>
          <p:nvPr/>
        </p:nvPicPr>
        <p:blipFill>
          <a:blip r:embed="rId1"/>
          <a:stretch>
            <a:fillRect/>
          </a:stretch>
        </p:blipFill>
        <p:spPr>
          <a:xfrm>
            <a:off x="4616970" y="1595637"/>
            <a:ext cx="7312619" cy="4785580"/>
          </a:xfrm>
          <a:prstGeom prst="rect">
            <a:avLst/>
          </a:prstGeom>
        </p:spPr>
      </p:pic>
      <p:pic>
        <p:nvPicPr>
          <p:cNvPr id="6" name="图片 5"/>
          <p:cNvPicPr>
            <a:picLocks noChangeAspect="1"/>
          </p:cNvPicPr>
          <p:nvPr/>
        </p:nvPicPr>
        <p:blipFill>
          <a:blip r:embed="rId2"/>
          <a:stretch>
            <a:fillRect/>
          </a:stretch>
        </p:blipFill>
        <p:spPr>
          <a:xfrm>
            <a:off x="262411" y="1595637"/>
            <a:ext cx="3990476" cy="1942857"/>
          </a:xfrm>
          <a:prstGeom prst="rect">
            <a:avLst/>
          </a:prstGeom>
        </p:spPr>
      </p:pic>
      <p:pic>
        <p:nvPicPr>
          <p:cNvPr id="7" name="图片 6"/>
          <p:cNvPicPr>
            <a:picLocks noChangeAspect="1"/>
          </p:cNvPicPr>
          <p:nvPr/>
        </p:nvPicPr>
        <p:blipFill>
          <a:blip r:embed="rId3"/>
          <a:stretch>
            <a:fillRect/>
          </a:stretch>
        </p:blipFill>
        <p:spPr>
          <a:xfrm>
            <a:off x="262411" y="4914917"/>
            <a:ext cx="3847619" cy="138095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26076"/>
            <a:ext cx="10515600" cy="1325563"/>
          </a:xfrm>
        </p:spPr>
        <p:txBody>
          <a:bodyPr/>
          <a:lstStyle/>
          <a:p>
            <a:pPr algn="ctr"/>
            <a:r>
              <a:rPr lang="en-US" altLang="zh-CN" dirty="0"/>
              <a:t>Make an Element </a:t>
            </a:r>
            <a:r>
              <a:rPr lang="en-US" altLang="zh-CN" dirty="0" err="1"/>
              <a:t>Draggable</a:t>
            </a:r>
            <a:endParaRPr lang="en-US" altLang="zh-CN" dirty="0"/>
          </a:p>
        </p:txBody>
      </p:sp>
      <p:sp>
        <p:nvSpPr>
          <p:cNvPr id="3" name="内容占位符 2"/>
          <p:cNvSpPr>
            <a:spLocks noGrp="1"/>
          </p:cNvSpPr>
          <p:nvPr>
            <p:ph idx="1"/>
          </p:nvPr>
        </p:nvSpPr>
        <p:spPr>
          <a:xfrm>
            <a:off x="838200" y="1853092"/>
            <a:ext cx="10515600" cy="1257367"/>
          </a:xfrm>
        </p:spPr>
        <p:txBody>
          <a:bodyPr>
            <a:normAutofit/>
          </a:bodyPr>
          <a:lstStyle/>
          <a:p>
            <a:r>
              <a:rPr lang="en-US" altLang="zh-CN" dirty="0"/>
              <a:t>First of all: </a:t>
            </a:r>
            <a:endParaRPr lang="en-US" altLang="zh-CN" dirty="0"/>
          </a:p>
          <a:p>
            <a:pPr marL="0" indent="0">
              <a:buNone/>
            </a:pPr>
            <a:r>
              <a:rPr lang="en-US" altLang="zh-CN" dirty="0"/>
              <a:t>To make an element </a:t>
            </a:r>
            <a:r>
              <a:rPr lang="en-US" altLang="zh-CN" dirty="0" err="1"/>
              <a:t>draggable</a:t>
            </a:r>
            <a:r>
              <a:rPr lang="en-US" altLang="zh-CN" dirty="0"/>
              <a:t>, set the </a:t>
            </a:r>
            <a:r>
              <a:rPr lang="en-US" altLang="zh-CN" dirty="0" err="1"/>
              <a:t>draggable</a:t>
            </a:r>
            <a:r>
              <a:rPr lang="en-US" altLang="zh-CN" dirty="0"/>
              <a:t> attribute to true:</a:t>
            </a:r>
            <a:endParaRPr lang="en-US" altLang="zh-CN" dirty="0"/>
          </a:p>
        </p:txBody>
      </p:sp>
      <p:sp>
        <p:nvSpPr>
          <p:cNvPr id="4" name="矩形 3"/>
          <p:cNvSpPr/>
          <p:nvPr/>
        </p:nvSpPr>
        <p:spPr>
          <a:xfrm>
            <a:off x="971861" y="3543257"/>
            <a:ext cx="9716125" cy="830997"/>
          </a:xfrm>
          <a:prstGeom prst="rect">
            <a:avLst/>
          </a:prstGeom>
        </p:spPr>
        <p:txBody>
          <a:bodyPr wrap="square">
            <a:spAutoFit/>
          </a:bodyPr>
          <a:lstStyle/>
          <a:p>
            <a:r>
              <a:rPr lang="en-US" altLang="zh-CN" sz="2400" dirty="0">
                <a:latin typeface="Consolas" panose="020B0609020204030204" pitchFamily="49" charset="0"/>
              </a:rPr>
              <a:t>&lt;</a:t>
            </a:r>
            <a:r>
              <a:rPr lang="en-US" altLang="zh-CN" sz="2400" dirty="0" err="1">
                <a:latin typeface="Consolas" panose="020B0609020204030204" pitchFamily="49" charset="0"/>
              </a:rPr>
              <a:t>img</a:t>
            </a:r>
            <a:r>
              <a:rPr lang="en-US" altLang="zh-CN" sz="2400" dirty="0">
                <a:latin typeface="Consolas" panose="020B0609020204030204" pitchFamily="49" charset="0"/>
              </a:rPr>
              <a:t> id="drag1" </a:t>
            </a:r>
            <a:r>
              <a:rPr lang="en-US" altLang="zh-CN" sz="2400" dirty="0" err="1">
                <a:latin typeface="Consolas" panose="020B0609020204030204" pitchFamily="49" charset="0"/>
              </a:rPr>
              <a:t>src</a:t>
            </a:r>
            <a:r>
              <a:rPr lang="en-US" altLang="zh-CN" sz="2400" dirty="0">
                <a:latin typeface="Consolas" panose="020B0609020204030204" pitchFamily="49" charset="0"/>
              </a:rPr>
              <a:t>=“smiley.gif" </a:t>
            </a:r>
            <a:r>
              <a:rPr lang="en-US" altLang="zh-CN" sz="2400" dirty="0" err="1">
                <a:latin typeface="Consolas" panose="020B0609020204030204" pitchFamily="49" charset="0"/>
              </a:rPr>
              <a:t>draggable</a:t>
            </a:r>
            <a:r>
              <a:rPr lang="en-US" altLang="zh-CN" sz="2400" dirty="0">
                <a:latin typeface="Consolas" panose="020B0609020204030204" pitchFamily="49" charset="0"/>
              </a:rPr>
              <a:t>="true”  </a:t>
            </a:r>
            <a:r>
              <a:rPr lang="en-US" altLang="zh-CN" sz="2400" dirty="0" err="1">
                <a:latin typeface="Consolas" panose="020B0609020204030204" pitchFamily="49" charset="0"/>
              </a:rPr>
              <a:t>ondragstart</a:t>
            </a:r>
            <a:r>
              <a:rPr lang="en-US" altLang="zh-CN" sz="2400" dirty="0">
                <a:latin typeface="Consolas" panose="020B0609020204030204" pitchFamily="49" charset="0"/>
              </a:rPr>
              <a:t>="drag(event)" width="336" height="69"&gt;</a:t>
            </a:r>
            <a:endParaRPr lang="zh-CN" alt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85140"/>
            <a:ext cx="10515600" cy="1325563"/>
          </a:xfrm>
        </p:spPr>
        <p:txBody>
          <a:bodyPr/>
          <a:lstStyle/>
          <a:p>
            <a:pPr algn="ctr"/>
            <a:r>
              <a:rPr lang="en-US" altLang="zh-CN" dirty="0"/>
              <a:t>What to Drag - </a:t>
            </a:r>
            <a:r>
              <a:rPr lang="en-US" altLang="zh-CN" dirty="0" err="1"/>
              <a:t>ondragstart</a:t>
            </a:r>
            <a:r>
              <a:rPr lang="en-US" altLang="zh-CN" dirty="0"/>
              <a:t> and </a:t>
            </a:r>
            <a:r>
              <a:rPr lang="en-US" altLang="zh-CN" dirty="0" err="1"/>
              <a:t>setData</a:t>
            </a:r>
            <a:r>
              <a:rPr lang="en-US" altLang="zh-CN" dirty="0"/>
              <a:t>()</a:t>
            </a:r>
            <a:endParaRPr lang="en-US" altLang="zh-CN" dirty="0"/>
          </a:p>
        </p:txBody>
      </p:sp>
      <p:sp>
        <p:nvSpPr>
          <p:cNvPr id="3" name="内容占位符 2"/>
          <p:cNvSpPr>
            <a:spLocks noGrp="1"/>
          </p:cNvSpPr>
          <p:nvPr>
            <p:ph idx="1"/>
          </p:nvPr>
        </p:nvSpPr>
        <p:spPr>
          <a:xfrm>
            <a:off x="838200" y="1510703"/>
            <a:ext cx="10873154" cy="4482113"/>
          </a:xfrm>
        </p:spPr>
        <p:txBody>
          <a:bodyPr>
            <a:normAutofit fontScale="92500" lnSpcReduction="10000"/>
          </a:bodyPr>
          <a:lstStyle/>
          <a:p>
            <a:r>
              <a:rPr lang="en-US" altLang="zh-CN" dirty="0"/>
              <a:t>Then, specify what should happen when the element is dragged.</a:t>
            </a:r>
            <a:endParaRPr lang="en-US" altLang="zh-CN" dirty="0"/>
          </a:p>
          <a:p>
            <a:r>
              <a:rPr lang="en-US" altLang="zh-CN" dirty="0"/>
              <a:t>In the example above, the </a:t>
            </a:r>
            <a:r>
              <a:rPr lang="en-US" altLang="zh-CN" dirty="0" err="1"/>
              <a:t>ondragstart</a:t>
            </a:r>
            <a:r>
              <a:rPr lang="en-US" altLang="zh-CN" dirty="0"/>
              <a:t> attribute calls a function, drag(event), that specifies what data to be dragged.</a:t>
            </a:r>
            <a:endParaRPr lang="en-US" altLang="zh-CN" dirty="0"/>
          </a:p>
          <a:p>
            <a:r>
              <a:rPr lang="en-US" altLang="zh-CN" dirty="0"/>
              <a:t>The </a:t>
            </a:r>
            <a:r>
              <a:rPr lang="en-US" altLang="zh-CN" dirty="0" err="1"/>
              <a:t>dataTransfer.setData</a:t>
            </a:r>
            <a:r>
              <a:rPr lang="en-US" altLang="zh-CN" dirty="0"/>
              <a:t>() method sets the data type and the value of the dragged data:</a:t>
            </a:r>
            <a:endParaRPr lang="en-US" altLang="zh-CN" dirty="0"/>
          </a:p>
          <a:p>
            <a:pPr algn="just"/>
            <a:endParaRPr lang="en-US" altLang="zh-CN" dirty="0"/>
          </a:p>
          <a:p>
            <a:pPr algn="just"/>
            <a:endParaRPr lang="en-US" altLang="zh-CN" dirty="0"/>
          </a:p>
          <a:p>
            <a:pPr algn="just"/>
            <a:endParaRPr lang="en-US" altLang="zh-CN" dirty="0"/>
          </a:p>
          <a:p>
            <a:pPr algn="just"/>
            <a:endParaRPr lang="en-US" altLang="zh-CN" dirty="0"/>
          </a:p>
          <a:p>
            <a:pPr algn="just"/>
            <a:r>
              <a:rPr lang="en-US" altLang="zh-CN" dirty="0"/>
              <a:t>In this case, the data type is "text" and the value is the id of the </a:t>
            </a:r>
            <a:r>
              <a:rPr lang="en-US" altLang="zh-CN" dirty="0" err="1"/>
              <a:t>draggable</a:t>
            </a:r>
            <a:r>
              <a:rPr lang="en-US" altLang="zh-CN" dirty="0"/>
              <a:t> element ("drag1").</a:t>
            </a:r>
            <a:endParaRPr lang="en-US" altLang="zh-CN" dirty="0"/>
          </a:p>
        </p:txBody>
      </p:sp>
      <p:pic>
        <p:nvPicPr>
          <p:cNvPr id="4" name="图片 3"/>
          <p:cNvPicPr>
            <a:picLocks noChangeAspect="1"/>
          </p:cNvPicPr>
          <p:nvPr/>
        </p:nvPicPr>
        <p:blipFill>
          <a:blip r:embed="rId1"/>
          <a:stretch>
            <a:fillRect/>
          </a:stretch>
        </p:blipFill>
        <p:spPr>
          <a:xfrm>
            <a:off x="3040838" y="3802869"/>
            <a:ext cx="5921928" cy="94212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85140"/>
            <a:ext cx="10515600" cy="1325563"/>
          </a:xfrm>
        </p:spPr>
        <p:txBody>
          <a:bodyPr/>
          <a:lstStyle/>
          <a:p>
            <a:pPr algn="ctr"/>
            <a:r>
              <a:rPr lang="en-US" altLang="zh-CN" dirty="0"/>
              <a:t>Where to Drop - </a:t>
            </a:r>
            <a:r>
              <a:rPr lang="en-US" altLang="zh-CN" dirty="0" err="1"/>
              <a:t>ondragover</a:t>
            </a:r>
            <a:endParaRPr lang="en-US" altLang="zh-CN" dirty="0"/>
          </a:p>
        </p:txBody>
      </p:sp>
      <p:sp>
        <p:nvSpPr>
          <p:cNvPr id="3" name="内容占位符 2"/>
          <p:cNvSpPr>
            <a:spLocks noGrp="1"/>
          </p:cNvSpPr>
          <p:nvPr>
            <p:ph idx="1"/>
          </p:nvPr>
        </p:nvSpPr>
        <p:spPr>
          <a:xfrm>
            <a:off x="838200" y="1667222"/>
            <a:ext cx="10515600" cy="4482113"/>
          </a:xfrm>
        </p:spPr>
        <p:txBody>
          <a:bodyPr>
            <a:normAutofit/>
          </a:bodyPr>
          <a:lstStyle/>
          <a:p>
            <a:pPr algn="just"/>
            <a:r>
              <a:rPr lang="en-US" altLang="zh-CN" dirty="0"/>
              <a:t>The </a:t>
            </a:r>
            <a:r>
              <a:rPr lang="en-US" altLang="zh-CN" dirty="0" err="1"/>
              <a:t>ondragover</a:t>
            </a:r>
            <a:r>
              <a:rPr lang="en-US" altLang="zh-CN" dirty="0"/>
              <a:t> event specifies where the dragged data can be dropped.</a:t>
            </a:r>
            <a:endParaRPr lang="en-US" altLang="zh-CN" dirty="0"/>
          </a:p>
          <a:p>
            <a:pPr algn="just"/>
            <a:r>
              <a:rPr lang="en-US" altLang="zh-CN" dirty="0"/>
              <a:t>By default, data/elements cannot be dropped in other elements. To allow a drop, we must prevent the default handling of the element.</a:t>
            </a:r>
            <a:endParaRPr lang="en-US" altLang="zh-CN" dirty="0"/>
          </a:p>
          <a:p>
            <a:pPr algn="just"/>
            <a:r>
              <a:rPr lang="en-US" altLang="zh-CN" dirty="0"/>
              <a:t>This is done by calling the </a:t>
            </a:r>
            <a:r>
              <a:rPr lang="en-US" altLang="zh-CN" dirty="0" err="1"/>
              <a:t>event.preventDefault</a:t>
            </a:r>
            <a:r>
              <a:rPr lang="en-US" altLang="zh-CN" dirty="0"/>
              <a:t>() method for the </a:t>
            </a:r>
            <a:r>
              <a:rPr lang="en-US" altLang="zh-CN" dirty="0" err="1"/>
              <a:t>ondragover</a:t>
            </a:r>
            <a:r>
              <a:rPr lang="en-US" altLang="zh-CN" dirty="0"/>
              <a:t> event:</a:t>
            </a:r>
            <a:endParaRPr lang="en-US" altLang="zh-CN" dirty="0"/>
          </a:p>
        </p:txBody>
      </p:sp>
      <p:pic>
        <p:nvPicPr>
          <p:cNvPr id="5" name="图片 4"/>
          <p:cNvPicPr>
            <a:picLocks noChangeAspect="1"/>
          </p:cNvPicPr>
          <p:nvPr/>
        </p:nvPicPr>
        <p:blipFill>
          <a:blip r:embed="rId1"/>
          <a:stretch>
            <a:fillRect/>
          </a:stretch>
        </p:blipFill>
        <p:spPr>
          <a:xfrm>
            <a:off x="2672861" y="5009886"/>
            <a:ext cx="7214529" cy="87744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1325563"/>
          </a:xfrm>
        </p:spPr>
        <p:txBody>
          <a:bodyPr/>
          <a:lstStyle/>
          <a:p>
            <a:pPr algn="ctr"/>
            <a:r>
              <a:rPr lang="en-US" altLang="zh-CN" dirty="0"/>
              <a:t>Do the Drop - </a:t>
            </a:r>
            <a:r>
              <a:rPr lang="en-US" altLang="zh-CN" dirty="0" err="1"/>
              <a:t>ondrop</a:t>
            </a:r>
            <a:endParaRPr lang="en-US" altLang="zh-CN" dirty="0"/>
          </a:p>
        </p:txBody>
      </p:sp>
      <p:sp>
        <p:nvSpPr>
          <p:cNvPr id="3" name="内容占位符 2"/>
          <p:cNvSpPr>
            <a:spLocks noGrp="1"/>
          </p:cNvSpPr>
          <p:nvPr>
            <p:ph idx="1"/>
          </p:nvPr>
        </p:nvSpPr>
        <p:spPr>
          <a:xfrm>
            <a:off x="838200" y="1041147"/>
            <a:ext cx="10515600" cy="5722118"/>
          </a:xfrm>
        </p:spPr>
        <p:txBody>
          <a:bodyPr>
            <a:normAutofit fontScale="92500" lnSpcReduction="10000"/>
          </a:bodyPr>
          <a:lstStyle/>
          <a:p>
            <a:pPr marL="0" indent="0">
              <a:buNone/>
            </a:pPr>
            <a:r>
              <a:rPr lang="en-US" altLang="zh-CN" dirty="0"/>
              <a:t>When the dragged data is dropped, a drop event occurs.</a:t>
            </a:r>
            <a:endParaRPr lang="en-US" altLang="zh-CN" dirty="0"/>
          </a:p>
          <a:p>
            <a:r>
              <a:rPr lang="en-US" altLang="zh-CN" dirty="0"/>
              <a:t>In the example above, the </a:t>
            </a:r>
            <a:r>
              <a:rPr lang="en-US" altLang="zh-CN" dirty="0" err="1"/>
              <a:t>ondrop</a:t>
            </a:r>
            <a:r>
              <a:rPr lang="en-US" altLang="zh-CN" dirty="0"/>
              <a:t> attribute calls a function, drop(event):</a:t>
            </a:r>
            <a:endParaRPr lang="en-US" altLang="zh-CN" dirty="0"/>
          </a:p>
          <a:p>
            <a:endParaRPr lang="en-US" altLang="zh-CN" dirty="0"/>
          </a:p>
          <a:p>
            <a:endParaRPr lang="en-US" altLang="zh-CN" dirty="0"/>
          </a:p>
          <a:p>
            <a:endParaRPr lang="en-US" altLang="zh-CN" dirty="0"/>
          </a:p>
          <a:p>
            <a:endParaRPr lang="en-US" altLang="zh-CN" dirty="0"/>
          </a:p>
          <a:p>
            <a:pPr marL="0" indent="0">
              <a:buNone/>
            </a:pPr>
            <a:r>
              <a:rPr lang="en-US" altLang="zh-CN" dirty="0"/>
              <a:t>Code explained:</a:t>
            </a:r>
            <a:endParaRPr lang="en-US" altLang="zh-CN" dirty="0"/>
          </a:p>
          <a:p>
            <a:r>
              <a:rPr lang="en-US" altLang="zh-CN" dirty="0"/>
              <a:t>Call </a:t>
            </a:r>
            <a:r>
              <a:rPr lang="en-US" altLang="zh-CN" dirty="0" err="1"/>
              <a:t>preventDefault</a:t>
            </a:r>
            <a:r>
              <a:rPr lang="en-US" altLang="zh-CN" dirty="0"/>
              <a:t>() to prevent the browser default handling of the data (default is open as link on drop)</a:t>
            </a:r>
            <a:endParaRPr lang="en-US" altLang="zh-CN" dirty="0"/>
          </a:p>
          <a:p>
            <a:r>
              <a:rPr lang="en-US" altLang="zh-CN" dirty="0"/>
              <a:t>Get the dragged data with the </a:t>
            </a:r>
            <a:r>
              <a:rPr lang="en-US" altLang="zh-CN" dirty="0" err="1"/>
              <a:t>dataTransfer.getData</a:t>
            </a:r>
            <a:r>
              <a:rPr lang="en-US" altLang="zh-CN" dirty="0"/>
              <a:t>() method. This method will return any data that was set to the same type in the </a:t>
            </a:r>
            <a:r>
              <a:rPr lang="en-US" altLang="zh-CN" dirty="0" err="1"/>
              <a:t>setData</a:t>
            </a:r>
            <a:r>
              <a:rPr lang="en-US" altLang="zh-CN" dirty="0"/>
              <a:t>() method</a:t>
            </a:r>
            <a:endParaRPr lang="en-US" altLang="zh-CN" dirty="0"/>
          </a:p>
          <a:p>
            <a:r>
              <a:rPr lang="en-US" altLang="zh-CN" dirty="0"/>
              <a:t>The dragged data is the id of the dragged element ("drag1")</a:t>
            </a:r>
            <a:endParaRPr lang="en-US" altLang="zh-CN" dirty="0"/>
          </a:p>
          <a:p>
            <a:r>
              <a:rPr lang="en-US" altLang="zh-CN" dirty="0"/>
              <a:t>Append the dragged element into the drop element</a:t>
            </a:r>
            <a:endParaRPr lang="en-US" altLang="zh-CN" dirty="0"/>
          </a:p>
        </p:txBody>
      </p:sp>
      <p:pic>
        <p:nvPicPr>
          <p:cNvPr id="4" name="图片 3"/>
          <p:cNvPicPr>
            <a:picLocks noChangeAspect="1"/>
          </p:cNvPicPr>
          <p:nvPr/>
        </p:nvPicPr>
        <p:blipFill>
          <a:blip r:embed="rId1"/>
          <a:stretch>
            <a:fillRect/>
          </a:stretch>
        </p:blipFill>
        <p:spPr>
          <a:xfrm>
            <a:off x="2918245" y="2056521"/>
            <a:ext cx="6783672" cy="146743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52700"/>
            <a:ext cx="10515600" cy="871564"/>
          </a:xfrm>
        </p:spPr>
        <p:txBody>
          <a:bodyPr/>
          <a:lstStyle/>
          <a:p>
            <a:pPr algn="ctr"/>
            <a:r>
              <a:rPr lang="en-US" altLang="zh-CN" dirty="0"/>
              <a:t>drag image back and forth</a:t>
            </a:r>
            <a:endParaRPr lang="zh-CN" altLang="en-US" dirty="0"/>
          </a:p>
        </p:txBody>
      </p:sp>
      <p:pic>
        <p:nvPicPr>
          <p:cNvPr id="4" name="图片 3"/>
          <p:cNvPicPr>
            <a:picLocks noChangeAspect="1"/>
          </p:cNvPicPr>
          <p:nvPr/>
        </p:nvPicPr>
        <p:blipFill>
          <a:blip r:embed="rId1"/>
          <a:stretch>
            <a:fillRect/>
          </a:stretch>
        </p:blipFill>
        <p:spPr>
          <a:xfrm>
            <a:off x="4392117" y="1410082"/>
            <a:ext cx="7650204" cy="5305511"/>
          </a:xfrm>
          <a:prstGeom prst="rect">
            <a:avLst/>
          </a:prstGeom>
        </p:spPr>
      </p:pic>
      <p:pic>
        <p:nvPicPr>
          <p:cNvPr id="5" name="图片 4"/>
          <p:cNvPicPr>
            <a:picLocks noChangeAspect="1"/>
          </p:cNvPicPr>
          <p:nvPr/>
        </p:nvPicPr>
        <p:blipFill>
          <a:blip r:embed="rId2"/>
          <a:stretch>
            <a:fillRect/>
          </a:stretch>
        </p:blipFill>
        <p:spPr>
          <a:xfrm>
            <a:off x="744232" y="1604229"/>
            <a:ext cx="3028571" cy="771429"/>
          </a:xfrm>
          <a:prstGeom prst="rect">
            <a:avLst/>
          </a:prstGeom>
        </p:spPr>
      </p:pic>
      <p:pic>
        <p:nvPicPr>
          <p:cNvPr id="6" name="图片 5"/>
          <p:cNvPicPr>
            <a:picLocks noChangeAspect="1"/>
          </p:cNvPicPr>
          <p:nvPr/>
        </p:nvPicPr>
        <p:blipFill>
          <a:blip r:embed="rId3"/>
          <a:stretch>
            <a:fillRect/>
          </a:stretch>
        </p:blipFill>
        <p:spPr>
          <a:xfrm>
            <a:off x="744232" y="2855623"/>
            <a:ext cx="2923809" cy="838095"/>
          </a:xfrm>
          <a:prstGeom prst="rect">
            <a:avLst/>
          </a:prstGeom>
        </p:spPr>
      </p:pic>
      <p:pic>
        <p:nvPicPr>
          <p:cNvPr id="7" name="图片 6"/>
          <p:cNvPicPr>
            <a:picLocks noChangeAspect="1"/>
          </p:cNvPicPr>
          <p:nvPr/>
        </p:nvPicPr>
        <p:blipFill>
          <a:blip r:embed="rId4"/>
          <a:stretch>
            <a:fillRect/>
          </a:stretch>
        </p:blipFill>
        <p:spPr>
          <a:xfrm>
            <a:off x="744232" y="4534102"/>
            <a:ext cx="2790476" cy="742857"/>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HTML5  LOCAL STORAG</a:t>
            </a:r>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71849"/>
            <a:ext cx="10515600" cy="1325563"/>
          </a:xfrm>
        </p:spPr>
        <p:txBody>
          <a:bodyPr/>
          <a:lstStyle/>
          <a:p>
            <a:pPr algn="ctr"/>
            <a:r>
              <a:rPr lang="en-US" altLang="zh-CN" dirty="0"/>
              <a:t>What is HTML Local Storage?</a:t>
            </a:r>
            <a:endParaRPr lang="en-US" altLang="zh-CN" dirty="0"/>
          </a:p>
        </p:txBody>
      </p:sp>
      <p:sp>
        <p:nvSpPr>
          <p:cNvPr id="3" name="内容占位符 2"/>
          <p:cNvSpPr>
            <a:spLocks noGrp="1"/>
          </p:cNvSpPr>
          <p:nvPr>
            <p:ph idx="1"/>
          </p:nvPr>
        </p:nvSpPr>
        <p:spPr>
          <a:xfrm>
            <a:off x="838200" y="1597412"/>
            <a:ext cx="10515600" cy="4351338"/>
          </a:xfrm>
        </p:spPr>
        <p:txBody>
          <a:bodyPr>
            <a:normAutofit/>
          </a:bodyPr>
          <a:lstStyle/>
          <a:p>
            <a:pPr algn="just"/>
            <a:r>
              <a:rPr lang="en-US" altLang="zh-CN" dirty="0"/>
              <a:t>With local storage, web applications can store data locally within the user's browser.</a:t>
            </a:r>
            <a:endParaRPr lang="en-US" altLang="zh-CN" dirty="0"/>
          </a:p>
          <a:p>
            <a:pPr algn="just"/>
            <a:r>
              <a:rPr lang="en-US" altLang="zh-CN" dirty="0"/>
              <a:t>Before HTML5, application data had to be stored in cookies, included in every server request. Local storage is more secure, and large amounts of data can be stored locally, without affecting website performance.</a:t>
            </a:r>
            <a:endParaRPr lang="en-US" altLang="zh-CN" dirty="0"/>
          </a:p>
          <a:p>
            <a:pPr algn="just"/>
            <a:r>
              <a:rPr lang="en-US" altLang="zh-CN" dirty="0"/>
              <a:t>Unlike cookies, the storage limit is far larger (at least 5MB) and information is never transferred to the server.</a:t>
            </a:r>
            <a:endParaRPr lang="en-US" altLang="zh-CN" dirty="0"/>
          </a:p>
          <a:p>
            <a:pPr algn="just"/>
            <a:r>
              <a:rPr lang="en-US" altLang="zh-CN" dirty="0"/>
              <a:t>Local storage is per origin (per domain and protocol). All pages, from one origin, can store and access the same data.</a:t>
            </a:r>
            <a:endParaRPr lang="en-US"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71849"/>
            <a:ext cx="10515600" cy="1325563"/>
          </a:xfrm>
        </p:spPr>
        <p:txBody>
          <a:bodyPr/>
          <a:lstStyle/>
          <a:p>
            <a:pPr algn="ctr"/>
            <a:r>
              <a:rPr lang="en-US" altLang="zh-CN" dirty="0"/>
              <a:t>HTML Local Storage Objects</a:t>
            </a:r>
            <a:endParaRPr lang="en-US" altLang="zh-CN" dirty="0"/>
          </a:p>
        </p:txBody>
      </p:sp>
      <p:sp>
        <p:nvSpPr>
          <p:cNvPr id="3" name="内容占位符 2"/>
          <p:cNvSpPr>
            <a:spLocks noGrp="1"/>
          </p:cNvSpPr>
          <p:nvPr>
            <p:ph idx="1"/>
          </p:nvPr>
        </p:nvSpPr>
        <p:spPr>
          <a:xfrm>
            <a:off x="838200" y="1597412"/>
            <a:ext cx="10515600" cy="4351338"/>
          </a:xfrm>
        </p:spPr>
        <p:txBody>
          <a:bodyPr>
            <a:normAutofit/>
          </a:bodyPr>
          <a:lstStyle/>
          <a:p>
            <a:pPr algn="just">
              <a:lnSpc>
                <a:spcPct val="100000"/>
              </a:lnSpc>
            </a:pPr>
            <a:r>
              <a:rPr lang="en-US" altLang="zh-CN" dirty="0"/>
              <a:t>HTML local storage provides two objects for storing data on the client:</a:t>
            </a:r>
            <a:endParaRPr lang="en-US" altLang="zh-CN" dirty="0"/>
          </a:p>
          <a:p>
            <a:pPr lvl="1" algn="just">
              <a:lnSpc>
                <a:spcPct val="100000"/>
              </a:lnSpc>
            </a:pPr>
            <a:r>
              <a:rPr lang="en-US" altLang="zh-CN" dirty="0" err="1"/>
              <a:t>window.localStorage</a:t>
            </a:r>
            <a:r>
              <a:rPr lang="en-US" altLang="zh-CN" dirty="0"/>
              <a:t> - stores data with no expiration date</a:t>
            </a:r>
            <a:endParaRPr lang="en-US" altLang="zh-CN" dirty="0"/>
          </a:p>
          <a:p>
            <a:pPr lvl="1" algn="just">
              <a:lnSpc>
                <a:spcPct val="100000"/>
              </a:lnSpc>
            </a:pPr>
            <a:r>
              <a:rPr lang="en-US" altLang="zh-CN" dirty="0" err="1"/>
              <a:t>window.sessionStorage</a:t>
            </a:r>
            <a:r>
              <a:rPr lang="en-US" altLang="zh-CN" dirty="0"/>
              <a:t> - stores data for one session (data is lost when the browser tab is closed)</a:t>
            </a:r>
            <a:endParaRPr lang="en-US" altLang="zh-CN" dirty="0"/>
          </a:p>
          <a:p>
            <a:pPr algn="just">
              <a:lnSpc>
                <a:spcPct val="100000"/>
              </a:lnSpc>
            </a:pPr>
            <a:r>
              <a:rPr lang="en-US" altLang="zh-CN" dirty="0"/>
              <a:t>Before using local storage, check browser support for </a:t>
            </a:r>
            <a:r>
              <a:rPr lang="en-US" altLang="zh-CN" dirty="0" err="1"/>
              <a:t>localStorage</a:t>
            </a:r>
            <a:r>
              <a:rPr lang="en-US" altLang="zh-CN" dirty="0"/>
              <a:t> and </a:t>
            </a:r>
            <a:r>
              <a:rPr lang="en-US" altLang="zh-CN" dirty="0" err="1"/>
              <a:t>sessionStorage</a:t>
            </a:r>
            <a:r>
              <a:rPr lang="en-US" altLang="zh-CN" dirty="0"/>
              <a:t>:</a:t>
            </a:r>
            <a:endParaRPr lang="en-US" altLang="zh-CN" dirty="0"/>
          </a:p>
        </p:txBody>
      </p:sp>
      <p:pic>
        <p:nvPicPr>
          <p:cNvPr id="5" name="图片 4"/>
          <p:cNvPicPr>
            <a:picLocks noChangeAspect="1"/>
          </p:cNvPicPr>
          <p:nvPr/>
        </p:nvPicPr>
        <p:blipFill>
          <a:blip r:embed="rId1"/>
          <a:stretch>
            <a:fillRect/>
          </a:stretch>
        </p:blipFill>
        <p:spPr>
          <a:xfrm>
            <a:off x="2452980" y="4564690"/>
            <a:ext cx="7349902" cy="189941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788334"/>
          </a:xfrm>
        </p:spPr>
        <p:txBody>
          <a:bodyPr/>
          <a:lstStyle/>
          <a:p>
            <a:pPr algn="ctr"/>
            <a:r>
              <a:rPr lang="en-US" altLang="zh-CN" dirty="0"/>
              <a:t>HTML Local Storage Objects</a:t>
            </a:r>
            <a:endParaRPr lang="zh-CN" altLang="en-US" dirty="0"/>
          </a:p>
        </p:txBody>
      </p:sp>
      <p:pic>
        <p:nvPicPr>
          <p:cNvPr id="4" name="图片 3"/>
          <p:cNvPicPr>
            <a:picLocks noChangeAspect="1"/>
          </p:cNvPicPr>
          <p:nvPr/>
        </p:nvPicPr>
        <p:blipFill>
          <a:blip r:embed="rId1"/>
          <a:stretch>
            <a:fillRect/>
          </a:stretch>
        </p:blipFill>
        <p:spPr>
          <a:xfrm>
            <a:off x="1696000" y="1503880"/>
            <a:ext cx="8800000" cy="3790476"/>
          </a:xfrm>
          <a:prstGeom prst="rect">
            <a:avLst/>
          </a:prstGeom>
        </p:spPr>
      </p:pic>
      <p:pic>
        <p:nvPicPr>
          <p:cNvPr id="5" name="图片 4"/>
          <p:cNvPicPr>
            <a:picLocks noChangeAspect="1"/>
          </p:cNvPicPr>
          <p:nvPr/>
        </p:nvPicPr>
        <p:blipFill>
          <a:blip r:embed="rId2"/>
          <a:stretch>
            <a:fillRect/>
          </a:stretch>
        </p:blipFill>
        <p:spPr>
          <a:xfrm>
            <a:off x="5176278" y="5890254"/>
            <a:ext cx="1504762" cy="542857"/>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71849"/>
            <a:ext cx="10515600" cy="1325563"/>
          </a:xfrm>
        </p:spPr>
        <p:txBody>
          <a:bodyPr/>
          <a:lstStyle/>
          <a:p>
            <a:pPr algn="ctr"/>
            <a:r>
              <a:rPr lang="en-US" altLang="zh-CN" dirty="0"/>
              <a:t>HTML Local Storage Objects</a:t>
            </a:r>
            <a:endParaRPr lang="en-US" altLang="zh-CN" dirty="0"/>
          </a:p>
        </p:txBody>
      </p:sp>
      <p:sp>
        <p:nvSpPr>
          <p:cNvPr id="3" name="内容占位符 2"/>
          <p:cNvSpPr>
            <a:spLocks noGrp="1"/>
          </p:cNvSpPr>
          <p:nvPr>
            <p:ph idx="1"/>
          </p:nvPr>
        </p:nvSpPr>
        <p:spPr>
          <a:xfrm>
            <a:off x="838200" y="1597412"/>
            <a:ext cx="10515600" cy="4351338"/>
          </a:xfrm>
        </p:spPr>
        <p:txBody>
          <a:bodyPr>
            <a:normAutofit/>
          </a:bodyPr>
          <a:lstStyle/>
          <a:p>
            <a:pPr>
              <a:lnSpc>
                <a:spcPct val="100000"/>
              </a:lnSpc>
            </a:pPr>
            <a:r>
              <a:rPr lang="en-US" altLang="zh-CN" dirty="0"/>
              <a:t>Before using local storage, check browser support for </a:t>
            </a:r>
            <a:r>
              <a:rPr lang="en-US" altLang="zh-CN" dirty="0" err="1"/>
              <a:t>localStorage</a:t>
            </a:r>
            <a:r>
              <a:rPr lang="en-US" altLang="zh-CN" dirty="0"/>
              <a:t> and </a:t>
            </a:r>
            <a:r>
              <a:rPr lang="en-US" altLang="zh-CN" dirty="0" err="1"/>
              <a:t>sessionStorage</a:t>
            </a:r>
            <a:r>
              <a:rPr lang="en-US" altLang="zh-CN" dirty="0"/>
              <a:t>:</a:t>
            </a:r>
            <a:endParaRPr lang="en-US" altLang="zh-CN" dirty="0"/>
          </a:p>
        </p:txBody>
      </p:sp>
      <p:pic>
        <p:nvPicPr>
          <p:cNvPr id="5" name="图片 4"/>
          <p:cNvPicPr>
            <a:picLocks noChangeAspect="1"/>
          </p:cNvPicPr>
          <p:nvPr/>
        </p:nvPicPr>
        <p:blipFill>
          <a:blip r:embed="rId1"/>
          <a:stretch>
            <a:fillRect/>
          </a:stretch>
        </p:blipFill>
        <p:spPr>
          <a:xfrm>
            <a:off x="1747251" y="3375465"/>
            <a:ext cx="9185957" cy="2373899"/>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94872"/>
            <a:ext cx="10515600" cy="1233503"/>
          </a:xfrm>
        </p:spPr>
        <p:txBody>
          <a:bodyPr/>
          <a:lstStyle/>
          <a:p>
            <a:pPr algn="ctr"/>
            <a:r>
              <a:rPr lang="en-US" altLang="zh-CN" dirty="0"/>
              <a:t>The </a:t>
            </a:r>
            <a:r>
              <a:rPr lang="en-US" altLang="zh-CN" dirty="0" err="1"/>
              <a:t>localStorage</a:t>
            </a:r>
            <a:r>
              <a:rPr lang="en-US" altLang="zh-CN" dirty="0"/>
              <a:t> Object</a:t>
            </a:r>
            <a:endParaRPr lang="en-US" altLang="zh-CN" dirty="0"/>
          </a:p>
        </p:txBody>
      </p:sp>
      <p:sp>
        <p:nvSpPr>
          <p:cNvPr id="3" name="内容占位符 2"/>
          <p:cNvSpPr>
            <a:spLocks noGrp="1"/>
          </p:cNvSpPr>
          <p:nvPr>
            <p:ph idx="1"/>
          </p:nvPr>
        </p:nvSpPr>
        <p:spPr>
          <a:xfrm>
            <a:off x="522376" y="1808423"/>
            <a:ext cx="11236377" cy="1825272"/>
          </a:xfrm>
        </p:spPr>
        <p:txBody>
          <a:bodyPr>
            <a:normAutofit/>
          </a:bodyPr>
          <a:lstStyle/>
          <a:p>
            <a:r>
              <a:rPr lang="en-US" altLang="zh-CN" dirty="0"/>
              <a:t>Create a </a:t>
            </a:r>
            <a:r>
              <a:rPr lang="en-US" altLang="zh-CN" dirty="0" err="1"/>
              <a:t>localStorage</a:t>
            </a:r>
            <a:r>
              <a:rPr lang="en-US" altLang="zh-CN" dirty="0"/>
              <a:t> name/value pair with name="</a:t>
            </a:r>
            <a:r>
              <a:rPr lang="en-US" altLang="zh-CN" dirty="0" err="1"/>
              <a:t>lastname</a:t>
            </a:r>
            <a:r>
              <a:rPr lang="en-US" altLang="zh-CN" dirty="0"/>
              <a:t>" and value="Smith"</a:t>
            </a:r>
            <a:endParaRPr lang="en-US" altLang="zh-CN" dirty="0"/>
          </a:p>
          <a:p>
            <a:r>
              <a:rPr lang="en-US" altLang="zh-CN" dirty="0"/>
              <a:t>Retrieve the value of "</a:t>
            </a:r>
            <a:r>
              <a:rPr lang="en-US" altLang="zh-CN" dirty="0" err="1"/>
              <a:t>lastname</a:t>
            </a:r>
            <a:r>
              <a:rPr lang="en-US" altLang="zh-CN" dirty="0"/>
              <a:t>" and insert it into the element with id="result"</a:t>
            </a:r>
            <a:endParaRPr lang="en-US" altLang="zh-CN" dirty="0"/>
          </a:p>
          <a:p>
            <a:endParaRPr lang="en-US" altLang="zh-CN" dirty="0"/>
          </a:p>
        </p:txBody>
      </p:sp>
      <p:pic>
        <p:nvPicPr>
          <p:cNvPr id="4" name="图片 3"/>
          <p:cNvPicPr>
            <a:picLocks noChangeAspect="1"/>
          </p:cNvPicPr>
          <p:nvPr/>
        </p:nvPicPr>
        <p:blipFill>
          <a:blip r:embed="rId1"/>
          <a:stretch>
            <a:fillRect/>
          </a:stretch>
        </p:blipFill>
        <p:spPr>
          <a:xfrm>
            <a:off x="1017494" y="4584225"/>
            <a:ext cx="10444494" cy="133248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955675"/>
          </a:xfrm>
        </p:spPr>
        <p:txBody>
          <a:bodyPr/>
          <a:lstStyle/>
          <a:p>
            <a:pPr algn="ctr"/>
            <a:r>
              <a:rPr lang="en-US" altLang="zh-CN" dirty="0"/>
              <a:t>The </a:t>
            </a:r>
            <a:r>
              <a:rPr lang="en-US" altLang="zh-CN" dirty="0" err="1"/>
              <a:t>localStorage</a:t>
            </a:r>
            <a:r>
              <a:rPr lang="en-US" altLang="zh-CN" dirty="0"/>
              <a:t> Object</a:t>
            </a:r>
            <a:endParaRPr lang="zh-CN" altLang="en-US" dirty="0"/>
          </a:p>
        </p:txBody>
      </p:sp>
      <p:sp>
        <p:nvSpPr>
          <p:cNvPr id="3" name="内容占位符 2"/>
          <p:cNvSpPr>
            <a:spLocks noGrp="1"/>
          </p:cNvSpPr>
          <p:nvPr>
            <p:ph idx="1"/>
          </p:nvPr>
        </p:nvSpPr>
        <p:spPr>
          <a:xfrm>
            <a:off x="838200" y="1365437"/>
            <a:ext cx="10515600" cy="2656728"/>
          </a:xfrm>
        </p:spPr>
        <p:txBody>
          <a:bodyPr>
            <a:normAutofit/>
          </a:bodyPr>
          <a:lstStyle/>
          <a:p>
            <a:pPr algn="just">
              <a:lnSpc>
                <a:spcPct val="100000"/>
              </a:lnSpc>
            </a:pPr>
            <a:r>
              <a:rPr lang="en-US" altLang="zh-CN" sz="3200" dirty="0"/>
              <a:t>The </a:t>
            </a:r>
            <a:r>
              <a:rPr lang="en-US" altLang="zh-CN" sz="3200" dirty="0" err="1"/>
              <a:t>localStorage</a:t>
            </a:r>
            <a:r>
              <a:rPr lang="en-US" altLang="zh-CN" sz="3200" dirty="0"/>
              <a:t> object stores the data with no expiration date. The data will not be deleted when the browser is closed, and will be available the next day, week, or year.</a:t>
            </a:r>
            <a:endParaRPr lang="en-US" altLang="zh-CN" sz="3200" dirty="0"/>
          </a:p>
          <a:p>
            <a:pPr algn="just">
              <a:lnSpc>
                <a:spcPct val="100000"/>
              </a:lnSpc>
            </a:pPr>
            <a:r>
              <a:rPr lang="en-US" altLang="zh-CN" sz="3200" dirty="0"/>
              <a:t>The example above could also be written like this:</a:t>
            </a:r>
            <a:endParaRPr lang="en-US" altLang="zh-CN" sz="3200" dirty="0"/>
          </a:p>
        </p:txBody>
      </p:sp>
      <p:pic>
        <p:nvPicPr>
          <p:cNvPr id="4" name="图片 3"/>
          <p:cNvPicPr>
            <a:picLocks noChangeAspect="1"/>
          </p:cNvPicPr>
          <p:nvPr/>
        </p:nvPicPr>
        <p:blipFill>
          <a:blip r:embed="rId1"/>
          <a:stretch>
            <a:fillRect/>
          </a:stretch>
        </p:blipFill>
        <p:spPr>
          <a:xfrm>
            <a:off x="759012" y="4228438"/>
            <a:ext cx="11179292" cy="151495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71033"/>
            <a:ext cx="10515600" cy="1235676"/>
          </a:xfrm>
        </p:spPr>
        <p:txBody>
          <a:bodyPr/>
          <a:lstStyle/>
          <a:p>
            <a:pPr algn="ctr"/>
            <a:r>
              <a:rPr lang="en-US" altLang="zh-CN" dirty="0"/>
              <a:t>The </a:t>
            </a:r>
            <a:r>
              <a:rPr lang="en-US" altLang="zh-CN" dirty="0" err="1"/>
              <a:t>localStorage</a:t>
            </a:r>
            <a:r>
              <a:rPr lang="en-US" altLang="zh-CN" dirty="0"/>
              <a:t> Object</a:t>
            </a:r>
            <a:endParaRPr lang="en-US" altLang="zh-CN" dirty="0"/>
          </a:p>
        </p:txBody>
      </p:sp>
      <p:sp>
        <p:nvSpPr>
          <p:cNvPr id="3" name="内容占位符 2"/>
          <p:cNvSpPr>
            <a:spLocks noGrp="1"/>
          </p:cNvSpPr>
          <p:nvPr>
            <p:ph idx="1"/>
          </p:nvPr>
        </p:nvSpPr>
        <p:spPr>
          <a:xfrm>
            <a:off x="838200" y="1300848"/>
            <a:ext cx="10996534" cy="3050023"/>
          </a:xfrm>
        </p:spPr>
        <p:txBody>
          <a:bodyPr>
            <a:normAutofit/>
          </a:bodyPr>
          <a:lstStyle/>
          <a:p>
            <a:r>
              <a:rPr lang="en-US" altLang="zh-CN" dirty="0"/>
              <a:t>The syntax for removing the "</a:t>
            </a:r>
            <a:r>
              <a:rPr lang="en-US" altLang="zh-CN" dirty="0" err="1"/>
              <a:t>lastname</a:t>
            </a:r>
            <a:r>
              <a:rPr lang="en-US" altLang="zh-CN" dirty="0"/>
              <a:t>" item from local storage is as follows:</a:t>
            </a:r>
            <a:endParaRPr lang="en-US" altLang="zh-CN" dirty="0"/>
          </a:p>
          <a:p>
            <a:endParaRPr lang="en-US" altLang="zh-CN" dirty="0"/>
          </a:p>
          <a:p>
            <a:endParaRPr lang="en-US" altLang="zh-CN" dirty="0"/>
          </a:p>
          <a:p>
            <a:r>
              <a:rPr lang="en-US" altLang="zh-CN" b="1" dirty="0"/>
              <a:t>Note:</a:t>
            </a:r>
            <a:r>
              <a:rPr lang="en-US" altLang="zh-CN" dirty="0"/>
              <a:t> Name/value pairs are always stored as strings. Remember to convert them to another format when needed!</a:t>
            </a:r>
            <a:endParaRPr lang="en-US" altLang="zh-CN" dirty="0"/>
          </a:p>
        </p:txBody>
      </p:sp>
      <p:pic>
        <p:nvPicPr>
          <p:cNvPr id="6" name="图片 5"/>
          <p:cNvPicPr>
            <a:picLocks noChangeAspect="1"/>
          </p:cNvPicPr>
          <p:nvPr/>
        </p:nvPicPr>
        <p:blipFill>
          <a:blip r:embed="rId1"/>
          <a:stretch>
            <a:fillRect/>
          </a:stretch>
        </p:blipFill>
        <p:spPr>
          <a:xfrm>
            <a:off x="1793817" y="2393318"/>
            <a:ext cx="8705929" cy="702494"/>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71033"/>
            <a:ext cx="10515600" cy="1235676"/>
          </a:xfrm>
        </p:spPr>
        <p:txBody>
          <a:bodyPr/>
          <a:lstStyle/>
          <a:p>
            <a:pPr algn="ctr"/>
            <a:r>
              <a:rPr lang="en-US" altLang="zh-CN" dirty="0"/>
              <a:t>The </a:t>
            </a:r>
            <a:r>
              <a:rPr lang="en-US" altLang="zh-CN" dirty="0" err="1"/>
              <a:t>localStorage</a:t>
            </a:r>
            <a:r>
              <a:rPr lang="en-US" altLang="zh-CN" dirty="0"/>
              <a:t> Object</a:t>
            </a:r>
            <a:endParaRPr lang="en-US" altLang="zh-CN" dirty="0"/>
          </a:p>
        </p:txBody>
      </p:sp>
      <p:sp>
        <p:nvSpPr>
          <p:cNvPr id="3" name="内容占位符 2"/>
          <p:cNvSpPr>
            <a:spLocks noGrp="1"/>
          </p:cNvSpPr>
          <p:nvPr>
            <p:ph idx="1"/>
          </p:nvPr>
        </p:nvSpPr>
        <p:spPr>
          <a:xfrm>
            <a:off x="912481" y="1170192"/>
            <a:ext cx="10515600" cy="5165853"/>
          </a:xfrm>
        </p:spPr>
        <p:txBody>
          <a:bodyPr>
            <a:normAutofit/>
          </a:bodyPr>
          <a:lstStyle/>
          <a:p>
            <a:r>
              <a:rPr lang="en-US" altLang="zh-CN" dirty="0"/>
              <a:t>The following example counts the number of times a user has clicked a button. In this code the value string is converted to a number to be able to increase the counter:</a:t>
            </a:r>
            <a:endParaRPr lang="en-US" altLang="zh-CN" dirty="0"/>
          </a:p>
        </p:txBody>
      </p:sp>
      <p:pic>
        <p:nvPicPr>
          <p:cNvPr id="4" name="图片 3"/>
          <p:cNvPicPr>
            <a:picLocks noChangeAspect="1"/>
          </p:cNvPicPr>
          <p:nvPr/>
        </p:nvPicPr>
        <p:blipFill>
          <a:blip r:embed="rId1"/>
          <a:stretch>
            <a:fillRect/>
          </a:stretch>
        </p:blipFill>
        <p:spPr>
          <a:xfrm>
            <a:off x="2243662" y="2520602"/>
            <a:ext cx="8084359" cy="1708270"/>
          </a:xfrm>
          <a:prstGeom prst="rect">
            <a:avLst/>
          </a:prstGeom>
        </p:spPr>
      </p:pic>
      <p:pic>
        <p:nvPicPr>
          <p:cNvPr id="5" name="图片 4"/>
          <p:cNvPicPr>
            <a:picLocks noChangeAspect="1"/>
          </p:cNvPicPr>
          <p:nvPr/>
        </p:nvPicPr>
        <p:blipFill>
          <a:blip r:embed="rId2"/>
          <a:stretch>
            <a:fillRect/>
          </a:stretch>
        </p:blipFill>
        <p:spPr>
          <a:xfrm>
            <a:off x="1683546" y="5013056"/>
            <a:ext cx="9409524" cy="1523810"/>
          </a:xfrm>
          <a:prstGeom prst="rect">
            <a:avLst/>
          </a:prstGeom>
        </p:spPr>
      </p:pic>
      <p:sp>
        <p:nvSpPr>
          <p:cNvPr id="6" name="内容占位符 2"/>
          <p:cNvSpPr txBox="1"/>
          <p:nvPr/>
        </p:nvSpPr>
        <p:spPr>
          <a:xfrm>
            <a:off x="1130508" y="4348107"/>
            <a:ext cx="10515600" cy="5457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Result</a:t>
            </a:r>
            <a:r>
              <a:rPr lang="zh-CN" altLang="en-US"/>
              <a:t>：</a:t>
            </a:r>
            <a:endParaRPr lang="en-US" altLang="zh-CN"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71033"/>
            <a:ext cx="10515600" cy="1235676"/>
          </a:xfrm>
        </p:spPr>
        <p:txBody>
          <a:bodyPr/>
          <a:lstStyle/>
          <a:p>
            <a:pPr algn="ctr"/>
            <a:r>
              <a:rPr lang="en-US" altLang="zh-CN" dirty="0"/>
              <a:t>The </a:t>
            </a:r>
            <a:r>
              <a:rPr lang="en-US" altLang="zh-CN" dirty="0" err="1"/>
              <a:t>sessionStorage</a:t>
            </a:r>
            <a:r>
              <a:rPr lang="en-US" altLang="zh-CN" dirty="0"/>
              <a:t> Object</a:t>
            </a:r>
            <a:endParaRPr lang="en-US" altLang="zh-CN" dirty="0"/>
          </a:p>
        </p:txBody>
      </p:sp>
      <p:sp>
        <p:nvSpPr>
          <p:cNvPr id="3" name="内容占位符 2"/>
          <p:cNvSpPr>
            <a:spLocks noGrp="1"/>
          </p:cNvSpPr>
          <p:nvPr>
            <p:ph idx="1"/>
          </p:nvPr>
        </p:nvSpPr>
        <p:spPr>
          <a:xfrm>
            <a:off x="785734" y="1170192"/>
            <a:ext cx="10515600" cy="2359992"/>
          </a:xfrm>
        </p:spPr>
        <p:txBody>
          <a:bodyPr>
            <a:normAutofit/>
          </a:bodyPr>
          <a:lstStyle/>
          <a:p>
            <a:pPr algn="just">
              <a:lnSpc>
                <a:spcPct val="100000"/>
              </a:lnSpc>
              <a:spcBef>
                <a:spcPts val="0"/>
              </a:spcBef>
            </a:pPr>
            <a:r>
              <a:rPr lang="en-US" altLang="zh-CN" sz="3200" dirty="0"/>
              <a:t>The </a:t>
            </a:r>
            <a:r>
              <a:rPr lang="en-US" altLang="zh-CN" sz="3200" dirty="0" err="1"/>
              <a:t>sessionStorage</a:t>
            </a:r>
            <a:r>
              <a:rPr lang="en-US" altLang="zh-CN" sz="3200" dirty="0"/>
              <a:t> object is equal to the </a:t>
            </a:r>
            <a:r>
              <a:rPr lang="en-US" altLang="zh-CN" sz="3200" dirty="0" err="1"/>
              <a:t>localStorage</a:t>
            </a:r>
            <a:r>
              <a:rPr lang="en-US" altLang="zh-CN" sz="3200" dirty="0"/>
              <a:t>  object, </a:t>
            </a:r>
            <a:r>
              <a:rPr lang="en-US" altLang="zh-CN" sz="3200" b="1" dirty="0"/>
              <a:t>except</a:t>
            </a:r>
            <a:r>
              <a:rPr lang="en-US" altLang="zh-CN" sz="3200" dirty="0"/>
              <a:t> that it stores the data for only one session. </a:t>
            </a:r>
            <a:endParaRPr lang="en-US" altLang="zh-CN" sz="3200" dirty="0"/>
          </a:p>
          <a:p>
            <a:pPr algn="just">
              <a:lnSpc>
                <a:spcPct val="100000"/>
              </a:lnSpc>
              <a:spcBef>
                <a:spcPts val="0"/>
              </a:spcBef>
            </a:pPr>
            <a:r>
              <a:rPr lang="en-US" altLang="zh-CN" sz="3200" dirty="0"/>
              <a:t>The data is deleted when the user closes the specific browser tab.</a:t>
            </a:r>
            <a:endParaRPr lang="en-US" altLang="zh-CN" sz="3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71033"/>
            <a:ext cx="10515600" cy="1235676"/>
          </a:xfrm>
        </p:spPr>
        <p:txBody>
          <a:bodyPr/>
          <a:lstStyle/>
          <a:p>
            <a:pPr algn="ctr"/>
            <a:r>
              <a:rPr lang="en-US" altLang="zh-CN" dirty="0"/>
              <a:t>The </a:t>
            </a:r>
            <a:r>
              <a:rPr lang="en-US" altLang="zh-CN" dirty="0" err="1"/>
              <a:t>sessionStorage</a:t>
            </a:r>
            <a:r>
              <a:rPr lang="en-US" altLang="zh-CN" dirty="0"/>
              <a:t> Object</a:t>
            </a:r>
            <a:endParaRPr lang="en-US" altLang="zh-CN" dirty="0"/>
          </a:p>
        </p:txBody>
      </p:sp>
      <p:sp>
        <p:nvSpPr>
          <p:cNvPr id="3" name="内容占位符 2"/>
          <p:cNvSpPr>
            <a:spLocks noGrp="1"/>
          </p:cNvSpPr>
          <p:nvPr>
            <p:ph idx="1"/>
          </p:nvPr>
        </p:nvSpPr>
        <p:spPr>
          <a:xfrm>
            <a:off x="785734" y="1170192"/>
            <a:ext cx="10515600" cy="1447502"/>
          </a:xfrm>
        </p:spPr>
        <p:txBody>
          <a:bodyPr>
            <a:normAutofit/>
          </a:bodyPr>
          <a:lstStyle/>
          <a:p>
            <a:pPr algn="just">
              <a:lnSpc>
                <a:spcPct val="100000"/>
              </a:lnSpc>
              <a:spcBef>
                <a:spcPts val="0"/>
              </a:spcBef>
            </a:pPr>
            <a:r>
              <a:rPr lang="en-US" altLang="zh-CN" sz="3200" dirty="0"/>
              <a:t>The following example counts the number of times a user has clicked a button, in the current session:</a:t>
            </a:r>
            <a:endParaRPr lang="en-US" altLang="zh-CN" sz="3200" dirty="0"/>
          </a:p>
        </p:txBody>
      </p:sp>
      <p:pic>
        <p:nvPicPr>
          <p:cNvPr id="5" name="图片 4"/>
          <p:cNvPicPr>
            <a:picLocks noChangeAspect="1"/>
          </p:cNvPicPr>
          <p:nvPr/>
        </p:nvPicPr>
        <p:blipFill>
          <a:blip r:embed="rId1"/>
          <a:stretch>
            <a:fillRect/>
          </a:stretch>
        </p:blipFill>
        <p:spPr>
          <a:xfrm>
            <a:off x="2702479" y="2556448"/>
            <a:ext cx="6878708" cy="1512009"/>
          </a:xfrm>
          <a:prstGeom prst="rect">
            <a:avLst/>
          </a:prstGeom>
        </p:spPr>
      </p:pic>
      <p:pic>
        <p:nvPicPr>
          <p:cNvPr id="4" name="图片 3"/>
          <p:cNvPicPr>
            <a:picLocks noChangeAspect="1"/>
          </p:cNvPicPr>
          <p:nvPr/>
        </p:nvPicPr>
        <p:blipFill>
          <a:blip r:embed="rId2"/>
          <a:stretch>
            <a:fillRect/>
          </a:stretch>
        </p:blipFill>
        <p:spPr>
          <a:xfrm>
            <a:off x="2022518" y="5224053"/>
            <a:ext cx="8847619" cy="1285714"/>
          </a:xfrm>
          <a:prstGeom prst="rect">
            <a:avLst/>
          </a:prstGeom>
        </p:spPr>
      </p:pic>
      <p:sp>
        <p:nvSpPr>
          <p:cNvPr id="6" name="矩形 5"/>
          <p:cNvSpPr/>
          <p:nvPr/>
        </p:nvSpPr>
        <p:spPr>
          <a:xfrm>
            <a:off x="1197484" y="4508280"/>
            <a:ext cx="825034" cy="369332"/>
          </a:xfrm>
          <a:prstGeom prst="rect">
            <a:avLst/>
          </a:prstGeom>
        </p:spPr>
        <p:txBody>
          <a:bodyPr wrap="none">
            <a:spAutoFit/>
          </a:bodyPr>
          <a:lstStyle/>
          <a:p>
            <a:r>
              <a:rPr lang="en-US" altLang="zh-CN" dirty="0"/>
              <a:t>Result:</a:t>
            </a:r>
            <a:endParaRPr lang="en-US" altLang="zh-C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1886507"/>
          </a:xfrm>
        </p:spPr>
        <p:txBody>
          <a:bodyPr/>
          <a:lstStyle/>
          <a:p>
            <a:r>
              <a:rPr lang="en-US" altLang="zh-CN" dirty="0"/>
              <a:t>HTML5 Web Workers</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What is Web Worker?</a:t>
            </a:r>
            <a:endParaRPr lang="zh-CN" altLang="en-US" dirty="0"/>
          </a:p>
        </p:txBody>
      </p:sp>
      <p:sp>
        <p:nvSpPr>
          <p:cNvPr id="3" name="内容占位符 2"/>
          <p:cNvSpPr>
            <a:spLocks noGrp="1"/>
          </p:cNvSpPr>
          <p:nvPr>
            <p:ph idx="1"/>
          </p:nvPr>
        </p:nvSpPr>
        <p:spPr>
          <a:xfrm>
            <a:off x="733425" y="2000584"/>
            <a:ext cx="10515600" cy="3885866"/>
          </a:xfrm>
        </p:spPr>
        <p:txBody>
          <a:bodyPr>
            <a:normAutofit/>
          </a:bodyPr>
          <a:lstStyle/>
          <a:p>
            <a:pPr>
              <a:lnSpc>
                <a:spcPct val="100000"/>
              </a:lnSpc>
            </a:pPr>
            <a:r>
              <a:rPr lang="en-US" altLang="zh-CN" sz="3200" dirty="0"/>
              <a:t>When executing scripts in an HTML page, the page becomes unresponsive until the script is finished.</a:t>
            </a:r>
            <a:endParaRPr lang="en-US" altLang="zh-CN" sz="3200" dirty="0"/>
          </a:p>
          <a:p>
            <a:pPr algn="just">
              <a:lnSpc>
                <a:spcPct val="100000"/>
              </a:lnSpc>
            </a:pPr>
            <a:r>
              <a:rPr lang="en-US" altLang="zh-CN" sz="3200" dirty="0"/>
              <a:t>A web worker is a JavaScript that runs in the background, independently of other scripts, without affecting the performance of the page. You can continue to do whatever you want: clicking, selecting things, etc., while the web worker runs in the background.</a:t>
            </a:r>
            <a:endParaRPr lang="en-US" altLang="zh-CN" sz="3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70238" y="265671"/>
            <a:ext cx="10515600" cy="686830"/>
          </a:xfrm>
        </p:spPr>
        <p:txBody>
          <a:bodyPr>
            <a:normAutofit fontScale="90000"/>
          </a:bodyPr>
          <a:lstStyle/>
          <a:p>
            <a:pPr algn="ctr"/>
            <a:r>
              <a:rPr lang="en-US" altLang="zh-CN" dirty="0"/>
              <a:t>HTML Web Workers Example</a:t>
            </a:r>
            <a:endParaRPr lang="zh-CN" altLang="en-US" dirty="0"/>
          </a:p>
        </p:txBody>
      </p:sp>
      <p:pic>
        <p:nvPicPr>
          <p:cNvPr id="3" name="图片 2"/>
          <p:cNvPicPr>
            <a:picLocks noChangeAspect="1"/>
          </p:cNvPicPr>
          <p:nvPr/>
        </p:nvPicPr>
        <p:blipFill>
          <a:blip r:embed="rId1"/>
          <a:stretch>
            <a:fillRect/>
          </a:stretch>
        </p:blipFill>
        <p:spPr>
          <a:xfrm>
            <a:off x="3098800" y="952500"/>
            <a:ext cx="6431279" cy="5829299"/>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00808"/>
            <a:ext cx="10515600" cy="963226"/>
          </a:xfrm>
        </p:spPr>
        <p:txBody>
          <a:bodyPr/>
          <a:lstStyle/>
          <a:p>
            <a:pPr algn="ctr"/>
            <a:r>
              <a:rPr lang="en-US" altLang="zh-CN" dirty="0"/>
              <a:t>Check Web Worker Support</a:t>
            </a:r>
            <a:endParaRPr lang="zh-CN" altLang="en-US" dirty="0"/>
          </a:p>
        </p:txBody>
      </p:sp>
      <p:sp>
        <p:nvSpPr>
          <p:cNvPr id="3" name="内容占位符 2"/>
          <p:cNvSpPr>
            <a:spLocks noGrp="1"/>
          </p:cNvSpPr>
          <p:nvPr>
            <p:ph idx="1"/>
          </p:nvPr>
        </p:nvSpPr>
        <p:spPr>
          <a:xfrm>
            <a:off x="838200" y="1353323"/>
            <a:ext cx="10617200" cy="1002527"/>
          </a:xfrm>
        </p:spPr>
        <p:txBody>
          <a:bodyPr>
            <a:noAutofit/>
          </a:bodyPr>
          <a:lstStyle/>
          <a:p>
            <a:pPr>
              <a:lnSpc>
                <a:spcPct val="110000"/>
              </a:lnSpc>
            </a:pPr>
            <a:r>
              <a:rPr lang="en-US" altLang="zh-CN" dirty="0"/>
              <a:t>Before creating a web worker, check whether the user's browser supports it:</a:t>
            </a:r>
            <a:endParaRPr lang="zh-CN" altLang="en-US" dirty="0">
              <a:solidFill>
                <a:srgbClr val="FFFF00"/>
              </a:solidFill>
            </a:endParaRPr>
          </a:p>
        </p:txBody>
      </p:sp>
      <p:pic>
        <p:nvPicPr>
          <p:cNvPr id="4" name="图片 3"/>
          <p:cNvPicPr>
            <a:picLocks noChangeAspect="1"/>
          </p:cNvPicPr>
          <p:nvPr/>
        </p:nvPicPr>
        <p:blipFill>
          <a:blip r:embed="rId1"/>
          <a:stretch>
            <a:fillRect/>
          </a:stretch>
        </p:blipFill>
        <p:spPr>
          <a:xfrm>
            <a:off x="973356" y="2445139"/>
            <a:ext cx="10715219" cy="4152511"/>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9456"/>
            <a:ext cx="10515600" cy="1099150"/>
          </a:xfrm>
        </p:spPr>
        <p:txBody>
          <a:bodyPr/>
          <a:lstStyle/>
          <a:p>
            <a:pPr algn="ctr"/>
            <a:r>
              <a:rPr lang="en-US" altLang="zh-CN" dirty="0"/>
              <a:t>Create a Web Worker File</a:t>
            </a:r>
            <a:endParaRPr lang="zh-CN" altLang="en-US" dirty="0"/>
          </a:p>
        </p:txBody>
      </p:sp>
      <p:sp>
        <p:nvSpPr>
          <p:cNvPr id="3" name="内容占位符 2"/>
          <p:cNvSpPr>
            <a:spLocks noGrp="1"/>
          </p:cNvSpPr>
          <p:nvPr>
            <p:ph idx="1"/>
          </p:nvPr>
        </p:nvSpPr>
        <p:spPr>
          <a:xfrm>
            <a:off x="711200" y="1130788"/>
            <a:ext cx="10922000" cy="945662"/>
          </a:xfrm>
        </p:spPr>
        <p:txBody>
          <a:bodyPr>
            <a:normAutofit/>
          </a:bodyPr>
          <a:lstStyle/>
          <a:p>
            <a:r>
              <a:rPr lang="en-US" altLang="zh-CN" dirty="0"/>
              <a:t>Now, let's create our web worker in an </a:t>
            </a:r>
            <a:r>
              <a:rPr lang="en-US" altLang="zh-CN" dirty="0">
                <a:solidFill>
                  <a:srgbClr val="FFFF00"/>
                </a:solidFill>
              </a:rPr>
              <a:t>external JavaScript</a:t>
            </a:r>
            <a:r>
              <a:rPr lang="en-US" altLang="zh-CN" dirty="0"/>
              <a:t>. Here, we create a script that counts. The script is stored in the "demo_workers.js"</a:t>
            </a:r>
            <a:endParaRPr lang="zh-CN" altLang="en-US" dirty="0"/>
          </a:p>
        </p:txBody>
      </p:sp>
      <p:sp>
        <p:nvSpPr>
          <p:cNvPr id="6" name="文本框 5"/>
          <p:cNvSpPr txBox="1"/>
          <p:nvPr/>
        </p:nvSpPr>
        <p:spPr>
          <a:xfrm>
            <a:off x="7639050" y="2623820"/>
            <a:ext cx="4397375" cy="2186305"/>
          </a:xfrm>
          <a:prstGeom prst="rect">
            <a:avLst/>
          </a:prstGeom>
          <a:noFill/>
        </p:spPr>
        <p:txBody>
          <a:bodyPr wrap="square" rtlCol="0">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The important part of the code above is the</a:t>
            </a:r>
            <a:r>
              <a:rPr kumimoji="0" lang="en-US" altLang="zh-CN" sz="2000" b="0" i="0" u="none" strike="noStrike" kern="1200" cap="none" spc="0" normalizeH="0" baseline="0" noProof="0" dirty="0">
                <a:ln>
                  <a:noFill/>
                </a:ln>
                <a:solidFill>
                  <a:srgbClr val="92D050"/>
                </a:solidFill>
                <a:effectLst/>
                <a:uLnTx/>
                <a:uFillTx/>
                <a:latin typeface="Calibri" panose="020F0502020204030204"/>
                <a:ea typeface="等线" panose="02010600030101010101" pitchFamily="2" charset="-122"/>
                <a:cs typeface="+mn-cs"/>
              </a:rPr>
              <a:t> </a:t>
            </a:r>
            <a:r>
              <a:rPr kumimoji="0" lang="en-US" altLang="zh-CN" sz="2000" b="1" i="0" u="none" strike="noStrike" kern="1200" cap="none" spc="0" normalizeH="0" baseline="0" noProof="0" dirty="0">
                <a:ln>
                  <a:noFill/>
                </a:ln>
                <a:solidFill>
                  <a:srgbClr val="92D050"/>
                </a:solidFill>
                <a:effectLst/>
                <a:uLnTx/>
                <a:uFillTx/>
                <a:latin typeface="Calibri" panose="020F0502020204030204"/>
                <a:ea typeface="等线" panose="02010600030101010101" pitchFamily="2" charset="-122"/>
                <a:cs typeface="+mn-cs"/>
              </a:rPr>
              <a:t>postMessage()</a:t>
            </a:r>
            <a:r>
              <a:rPr kumimoji="0" lang="en-US" altLang="zh-CN" sz="20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method - which is used to post a message back to the HTML page.</a:t>
            </a:r>
            <a:endParaRPr kumimoji="0" lang="en-US" altLang="zh-CN" sz="20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p:cNvSpPr txBox="1"/>
          <p:nvPr/>
        </p:nvSpPr>
        <p:spPr>
          <a:xfrm>
            <a:off x="1114697" y="5889744"/>
            <a:ext cx="1002544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Note:</a:t>
            </a:r>
            <a:r>
              <a:rPr kumimoji="0" lang="en-US" altLang="zh-CN" sz="24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 </a:t>
            </a:r>
            <a:r>
              <a:rPr kumimoji="0" lang="en-US" altLang="zh-CN" sz="2400" b="0" i="0" u="none" strike="noStrike" kern="1200" cap="none" spc="0" normalizeH="0" baseline="0" noProof="0" dirty="0">
                <a:ln>
                  <a:noFill/>
                </a:ln>
                <a:solidFill>
                  <a:srgbClr val="FFFF00"/>
                </a:solidFill>
                <a:effectLst/>
                <a:uLnTx/>
                <a:uFillTx/>
                <a:latin typeface="Calibri" panose="020F0502020204030204"/>
                <a:ea typeface="等线" panose="02010600030101010101" pitchFamily="2" charset="-122"/>
                <a:cs typeface="+mn-cs"/>
              </a:rPr>
              <a:t>Normally web workers are not used for such simple scripts, but for more CPU intensive tasks</a:t>
            </a:r>
            <a:r>
              <a:rPr kumimoji="0" lang="en-US" altLang="zh-CN" sz="24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rPr>
              <a:t>.</a:t>
            </a:r>
            <a:endParaRPr kumimoji="0" lang="zh-CN" altLang="en-US" sz="24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pic>
        <p:nvPicPr>
          <p:cNvPr id="4" name="图片 3"/>
          <p:cNvPicPr>
            <a:picLocks noChangeAspect="1"/>
          </p:cNvPicPr>
          <p:nvPr/>
        </p:nvPicPr>
        <p:blipFill>
          <a:blip r:embed="rId1"/>
          <a:stretch>
            <a:fillRect/>
          </a:stretch>
        </p:blipFill>
        <p:spPr>
          <a:xfrm>
            <a:off x="1114697" y="2054531"/>
            <a:ext cx="6143412" cy="3655158"/>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73597"/>
            <a:ext cx="10515600" cy="941516"/>
          </a:xfrm>
        </p:spPr>
        <p:txBody>
          <a:bodyPr/>
          <a:lstStyle/>
          <a:p>
            <a:pPr algn="ctr"/>
            <a:r>
              <a:rPr lang="en-US" altLang="zh-CN" dirty="0"/>
              <a:t>Create a Web Worker Object</a:t>
            </a:r>
            <a:endParaRPr lang="zh-CN" altLang="en-US" dirty="0"/>
          </a:p>
        </p:txBody>
      </p:sp>
      <p:sp>
        <p:nvSpPr>
          <p:cNvPr id="3" name="内容占位符 2"/>
          <p:cNvSpPr>
            <a:spLocks noGrp="1"/>
          </p:cNvSpPr>
          <p:nvPr>
            <p:ph idx="1"/>
          </p:nvPr>
        </p:nvSpPr>
        <p:spPr>
          <a:xfrm>
            <a:off x="838200" y="1115112"/>
            <a:ext cx="10515600" cy="5133287"/>
          </a:xfrm>
        </p:spPr>
        <p:txBody>
          <a:bodyPr>
            <a:normAutofit/>
          </a:bodyPr>
          <a:lstStyle/>
          <a:p>
            <a:pPr algn="just"/>
            <a:r>
              <a:rPr lang="en-US" altLang="zh-CN" sz="3200" dirty="0"/>
              <a:t>Now that we have the web worker file, we need to call it from an HTML page.</a:t>
            </a:r>
            <a:endParaRPr lang="en-US" altLang="zh-CN" sz="3200" dirty="0"/>
          </a:p>
          <a:p>
            <a:pPr algn="just"/>
            <a:r>
              <a:rPr lang="en-US" altLang="zh-CN" sz="3200" dirty="0"/>
              <a:t>The following lines checks if the worker already exists, if not - it creates a new web worker object and runs the code in "demo_workers.js":</a:t>
            </a:r>
            <a:endParaRPr lang="en-US" altLang="zh-CN" sz="3200" dirty="0"/>
          </a:p>
          <a:p>
            <a:endParaRPr lang="en-US" altLang="zh-CN" sz="3200" dirty="0"/>
          </a:p>
          <a:p>
            <a:endParaRPr lang="en-US" altLang="zh-CN" sz="3200" dirty="0"/>
          </a:p>
          <a:p>
            <a:pPr marL="0" indent="0">
              <a:buNone/>
            </a:pPr>
            <a:endParaRPr lang="en-US" altLang="zh-CN" sz="3600" dirty="0"/>
          </a:p>
        </p:txBody>
      </p:sp>
      <p:pic>
        <p:nvPicPr>
          <p:cNvPr id="4" name="图片 3"/>
          <p:cNvPicPr>
            <a:picLocks noChangeAspect="1"/>
          </p:cNvPicPr>
          <p:nvPr/>
        </p:nvPicPr>
        <p:blipFill>
          <a:blip r:embed="rId1"/>
          <a:stretch>
            <a:fillRect/>
          </a:stretch>
        </p:blipFill>
        <p:spPr>
          <a:xfrm>
            <a:off x="928902" y="3878604"/>
            <a:ext cx="10812143" cy="251584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73597"/>
            <a:ext cx="10515600" cy="941516"/>
          </a:xfrm>
        </p:spPr>
        <p:txBody>
          <a:bodyPr/>
          <a:lstStyle/>
          <a:p>
            <a:pPr algn="ctr"/>
            <a:r>
              <a:rPr lang="en-US" altLang="zh-CN" dirty="0"/>
              <a:t>Create a Web Worker Object</a:t>
            </a:r>
            <a:endParaRPr lang="zh-CN" altLang="en-US" dirty="0"/>
          </a:p>
        </p:txBody>
      </p:sp>
      <p:sp>
        <p:nvSpPr>
          <p:cNvPr id="3" name="内容占位符 2"/>
          <p:cNvSpPr>
            <a:spLocks noGrp="1"/>
          </p:cNvSpPr>
          <p:nvPr>
            <p:ph idx="1"/>
          </p:nvPr>
        </p:nvSpPr>
        <p:spPr>
          <a:xfrm>
            <a:off x="838200" y="1115112"/>
            <a:ext cx="10515600" cy="5133287"/>
          </a:xfrm>
        </p:spPr>
        <p:txBody>
          <a:bodyPr>
            <a:normAutofit/>
          </a:bodyPr>
          <a:lstStyle/>
          <a:p>
            <a:pPr algn="just"/>
            <a:r>
              <a:rPr lang="en-US" altLang="zh-CN" dirty="0"/>
              <a:t>Then we can send and receive messages from the web worker by adding an "</a:t>
            </a:r>
            <a:r>
              <a:rPr lang="en-US" altLang="zh-CN" dirty="0">
                <a:solidFill>
                  <a:schemeClr val="accent1">
                    <a:lumMod val="60000"/>
                    <a:lumOff val="40000"/>
                  </a:schemeClr>
                </a:solidFill>
              </a:rPr>
              <a:t>onmessage</a:t>
            </a:r>
            <a:r>
              <a:rPr lang="en-US" altLang="zh-CN" dirty="0"/>
              <a:t>" event listener to the web worker.</a:t>
            </a:r>
            <a:endParaRPr lang="en-US" altLang="zh-CN" dirty="0"/>
          </a:p>
          <a:p>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algn="just"/>
            <a:r>
              <a:rPr lang="en-US" altLang="zh-CN" dirty="0"/>
              <a:t>When the web worker posts a message, the code within the event listener is executed. The data from the web worker is stored in </a:t>
            </a:r>
            <a:r>
              <a:rPr lang="en-US" altLang="zh-CN" dirty="0">
                <a:solidFill>
                  <a:srgbClr val="FFC000"/>
                </a:solidFill>
              </a:rPr>
              <a:t>event.data</a:t>
            </a:r>
            <a:r>
              <a:rPr lang="en-US" altLang="zh-CN" dirty="0"/>
              <a:t>.</a:t>
            </a:r>
            <a:endParaRPr lang="en-US" altLang="zh-CN" dirty="0"/>
          </a:p>
          <a:p>
            <a:endParaRPr lang="en-US" altLang="zh-CN" sz="2400" dirty="0"/>
          </a:p>
          <a:p>
            <a:pPr marL="0" indent="0">
              <a:buNone/>
            </a:pPr>
            <a:endParaRPr lang="en-US" altLang="zh-CN" dirty="0"/>
          </a:p>
        </p:txBody>
      </p:sp>
      <p:pic>
        <p:nvPicPr>
          <p:cNvPr id="4" name="图片 3"/>
          <p:cNvPicPr>
            <a:picLocks noChangeAspect="1"/>
          </p:cNvPicPr>
          <p:nvPr/>
        </p:nvPicPr>
        <p:blipFill>
          <a:blip r:embed="rId1"/>
          <a:stretch>
            <a:fillRect/>
          </a:stretch>
        </p:blipFill>
        <p:spPr>
          <a:xfrm>
            <a:off x="730250" y="2579728"/>
            <a:ext cx="11012147" cy="1585872"/>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876729"/>
          </a:xfrm>
        </p:spPr>
        <p:txBody>
          <a:bodyPr/>
          <a:lstStyle/>
          <a:p>
            <a:pPr algn="ctr"/>
            <a:r>
              <a:rPr lang="en-US" altLang="zh-CN" dirty="0"/>
              <a:t>Terminate a Web Worker</a:t>
            </a:r>
            <a:endParaRPr lang="zh-CN" altLang="en-US" dirty="0"/>
          </a:p>
        </p:txBody>
      </p:sp>
      <p:sp>
        <p:nvSpPr>
          <p:cNvPr id="3" name="内容占位符 2"/>
          <p:cNvSpPr>
            <a:spLocks noGrp="1"/>
          </p:cNvSpPr>
          <p:nvPr>
            <p:ph idx="1"/>
          </p:nvPr>
        </p:nvSpPr>
        <p:spPr>
          <a:xfrm>
            <a:off x="527050" y="1312820"/>
            <a:ext cx="11328400" cy="2763880"/>
          </a:xfrm>
        </p:spPr>
        <p:txBody>
          <a:bodyPr>
            <a:normAutofit fontScale="92500" lnSpcReduction="10000"/>
          </a:bodyPr>
          <a:lstStyle/>
          <a:p>
            <a:pPr>
              <a:lnSpc>
                <a:spcPct val="110000"/>
              </a:lnSpc>
            </a:pPr>
            <a:r>
              <a:rPr lang="en-US" altLang="zh-CN" dirty="0"/>
              <a:t>When a web worker object is created, it will continue to listen for messages (even after the external script is finished) until it is terminated.</a:t>
            </a:r>
            <a:endParaRPr lang="en-US" altLang="zh-CN" dirty="0"/>
          </a:p>
          <a:p>
            <a:pPr>
              <a:lnSpc>
                <a:spcPct val="110000"/>
              </a:lnSpc>
            </a:pPr>
            <a:r>
              <a:rPr lang="en-US" altLang="zh-CN" dirty="0"/>
              <a:t>To terminate a web worker, and free browser/computer resources, use the </a:t>
            </a:r>
            <a:r>
              <a:rPr lang="en-US" altLang="zh-CN" dirty="0">
                <a:solidFill>
                  <a:schemeClr val="accent1"/>
                </a:solidFill>
              </a:rPr>
              <a:t>terminate() </a:t>
            </a:r>
            <a:r>
              <a:rPr lang="en-US" altLang="zh-CN" dirty="0"/>
              <a:t>method.</a:t>
            </a:r>
            <a:endParaRPr lang="en-US" altLang="zh-CN" dirty="0"/>
          </a:p>
          <a:p>
            <a:pPr>
              <a:lnSpc>
                <a:spcPct val="110000"/>
              </a:lnSpc>
            </a:pPr>
            <a:r>
              <a:rPr lang="en-US" altLang="zh-CN" dirty="0"/>
              <a:t>If you set the worker variable to undefined, after it has been terminated, you can set the </a:t>
            </a:r>
            <a:r>
              <a:rPr lang="en-US" altLang="zh-CN" dirty="0">
                <a:solidFill>
                  <a:schemeClr val="accent1">
                    <a:lumMod val="75000"/>
                  </a:schemeClr>
                </a:solidFill>
              </a:rPr>
              <a:t>w</a:t>
            </a:r>
            <a:r>
              <a:rPr lang="en-US" altLang="zh-CN" dirty="0"/>
              <a:t> as </a:t>
            </a:r>
            <a:r>
              <a:rPr lang="en-US" altLang="zh-CN" dirty="0">
                <a:solidFill>
                  <a:srgbClr val="FFC000"/>
                </a:solidFill>
              </a:rPr>
              <a:t>undefined</a:t>
            </a:r>
            <a:r>
              <a:rPr lang="en-US" altLang="zh-CN" dirty="0"/>
              <a:t>:</a:t>
            </a:r>
            <a:endParaRPr lang="en-US" altLang="zh-CN" dirty="0"/>
          </a:p>
          <a:p>
            <a:pPr marL="0" indent="0">
              <a:lnSpc>
                <a:spcPct val="110000"/>
              </a:lnSpc>
              <a:buNone/>
            </a:pPr>
            <a:endParaRPr lang="zh-CN" altLang="en-US" dirty="0"/>
          </a:p>
        </p:txBody>
      </p:sp>
      <p:pic>
        <p:nvPicPr>
          <p:cNvPr id="5" name="图片 4"/>
          <p:cNvPicPr>
            <a:picLocks noChangeAspect="1"/>
          </p:cNvPicPr>
          <p:nvPr/>
        </p:nvPicPr>
        <p:blipFill>
          <a:blip r:embed="rId1"/>
          <a:stretch>
            <a:fillRect/>
          </a:stretch>
        </p:blipFill>
        <p:spPr>
          <a:xfrm>
            <a:off x="2961672" y="4337050"/>
            <a:ext cx="6459156" cy="22479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796410"/>
          </a:xfrm>
        </p:spPr>
        <p:txBody>
          <a:bodyPr/>
          <a:lstStyle/>
          <a:p>
            <a:pPr algn="ctr"/>
            <a:r>
              <a:rPr lang="en-US" altLang="zh-CN" dirty="0"/>
              <a:t>Web Workers and the DOM</a:t>
            </a:r>
            <a:endParaRPr lang="zh-CN" altLang="en-US" dirty="0"/>
          </a:p>
        </p:txBody>
      </p:sp>
      <p:sp>
        <p:nvSpPr>
          <p:cNvPr id="3" name="内容占位符 2"/>
          <p:cNvSpPr>
            <a:spLocks noGrp="1"/>
          </p:cNvSpPr>
          <p:nvPr>
            <p:ph idx="1"/>
          </p:nvPr>
        </p:nvSpPr>
        <p:spPr>
          <a:xfrm>
            <a:off x="838200" y="1538931"/>
            <a:ext cx="10857470" cy="2900834"/>
          </a:xfrm>
        </p:spPr>
        <p:txBody>
          <a:bodyPr>
            <a:normAutofit/>
          </a:bodyPr>
          <a:lstStyle/>
          <a:p>
            <a:pPr marL="0" indent="0">
              <a:buNone/>
            </a:pPr>
            <a:r>
              <a:rPr lang="en-US" altLang="zh-CN" dirty="0"/>
              <a:t>Since web workers are in external files, they do not have access to the following JavaScript objects:</a:t>
            </a:r>
            <a:endParaRPr lang="en-US" altLang="zh-CN" dirty="0"/>
          </a:p>
          <a:p>
            <a:r>
              <a:rPr lang="en-US" altLang="zh-CN" dirty="0"/>
              <a:t>The window object</a:t>
            </a:r>
            <a:endParaRPr lang="en-US" altLang="zh-CN" dirty="0"/>
          </a:p>
          <a:p>
            <a:r>
              <a:rPr lang="en-US" altLang="zh-CN" dirty="0"/>
              <a:t>The document object</a:t>
            </a:r>
            <a:endParaRPr lang="en-US" altLang="zh-CN" dirty="0"/>
          </a:p>
          <a:p>
            <a:r>
              <a:rPr lang="en-US" altLang="zh-CN" dirty="0"/>
              <a:t>The parent object</a:t>
            </a:r>
            <a:endParaRPr lang="en-US" altLang="zh-CN" dirty="0"/>
          </a:p>
        </p:txBody>
      </p:sp>
    </p:spTree>
  </p:cSld>
  <p:clrMapOvr>
    <a:masterClrMapping/>
  </p:clrMapOvr>
</p:sld>
</file>

<file path=ppt/tags/tag1.xml><?xml version="1.0" encoding="utf-8"?>
<p:tagLst xmlns:p="http://schemas.openxmlformats.org/presentationml/2006/main">
  <p:tag name="commondata" val="eyJoZGlkIjoiNWQyMzkyOWRjOGE1NzM3ODdhMDA3YmE1MDAyZWE4MjMifQ=="/>
</p:tagLst>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15055</Words>
  <Application>WPS 演示</Application>
  <PresentationFormat>宽屏</PresentationFormat>
  <Paragraphs>425</Paragraphs>
  <Slides>73</Slides>
  <Notes>1</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73</vt:i4>
      </vt:variant>
    </vt:vector>
  </HeadingPairs>
  <TitlesOfParts>
    <vt:vector size="85" baseType="lpstr">
      <vt:lpstr>Arial</vt:lpstr>
      <vt:lpstr>宋体</vt:lpstr>
      <vt:lpstr>Wingdings</vt:lpstr>
      <vt:lpstr>Calibri</vt:lpstr>
      <vt:lpstr>等线</vt:lpstr>
      <vt:lpstr>Calibri Light</vt:lpstr>
      <vt:lpstr>微软雅黑</vt:lpstr>
      <vt:lpstr>Arial Unicode MS</vt:lpstr>
      <vt:lpstr>等线 Light</vt:lpstr>
      <vt:lpstr>Consolas</vt:lpstr>
      <vt:lpstr>Office Theme</vt:lpstr>
      <vt:lpstr>1_Office Theme</vt:lpstr>
      <vt:lpstr>Meta Data</vt:lpstr>
      <vt:lpstr>HTML Comments</vt:lpstr>
      <vt:lpstr>Style Sheets</vt:lpstr>
      <vt:lpstr>Loading JavaScript in HTML</vt:lpstr>
      <vt:lpstr>Use Lower Case File Names</vt:lpstr>
      <vt:lpstr>File Extensions</vt:lpstr>
      <vt:lpstr>Differences Between .htm and .html</vt:lpstr>
      <vt:lpstr>Technically Differences</vt:lpstr>
      <vt:lpstr>HTML5 Canvas</vt:lpstr>
      <vt:lpstr>What is HTML Canvas?</vt:lpstr>
      <vt:lpstr>What is HTML Canvas?</vt:lpstr>
      <vt:lpstr>Canvas Examples</vt:lpstr>
      <vt:lpstr>Canvas Examples</vt:lpstr>
      <vt:lpstr>Canvas Examples</vt:lpstr>
      <vt:lpstr>Canvas Examples</vt:lpstr>
      <vt:lpstr>Canvas Examples</vt:lpstr>
      <vt:lpstr>Canvas Examples</vt:lpstr>
      <vt:lpstr>Canvas Examples</vt:lpstr>
      <vt:lpstr>Canvas Examples</vt:lpstr>
      <vt:lpstr>HTML Multimedia</vt:lpstr>
      <vt:lpstr>What is Multimedia?</vt:lpstr>
      <vt:lpstr>Browser Support</vt:lpstr>
      <vt:lpstr>Multimedia Formats</vt:lpstr>
      <vt:lpstr>HTML5 Video</vt:lpstr>
      <vt:lpstr>Playing Videos in HTML</vt:lpstr>
      <vt:lpstr>The HTML &lt;video&gt; Element</vt:lpstr>
      <vt:lpstr>How it Works</vt:lpstr>
      <vt:lpstr>HTML &lt;video&gt; Autoplay</vt:lpstr>
      <vt:lpstr>HTML Video</vt:lpstr>
      <vt:lpstr>HTML Video - Methods, Properties, and Events</vt:lpstr>
      <vt:lpstr>HTML Video</vt:lpstr>
      <vt:lpstr>HTML5 Audio</vt:lpstr>
      <vt:lpstr>Audio on the Web</vt:lpstr>
      <vt:lpstr>The HTML &lt;audio&gt; Element</vt:lpstr>
      <vt:lpstr>HTML Audio - How It Works</vt:lpstr>
      <vt:lpstr>HTML Audio - Browser Support</vt:lpstr>
      <vt:lpstr>HTML Audio - Methods, Properties, and Events</vt:lpstr>
      <vt:lpstr>HTML5 Geolocation</vt:lpstr>
      <vt:lpstr>What is HTML Geolocation API ?</vt:lpstr>
      <vt:lpstr>How to use the HTML Geolocation？</vt:lpstr>
      <vt:lpstr>How to use the HTML Geolocation？</vt:lpstr>
      <vt:lpstr>Handling Errors and Rejections</vt:lpstr>
      <vt:lpstr>Location-specific Information</vt:lpstr>
      <vt:lpstr>The getCurrentPosition() Method - Return Data</vt:lpstr>
      <vt:lpstr>Other interesting Methods</vt:lpstr>
      <vt:lpstr>HTML5 DRAG and DROP</vt:lpstr>
      <vt:lpstr> Drag and Drop</vt:lpstr>
      <vt:lpstr>HTML Drag and Drop Example</vt:lpstr>
      <vt:lpstr>Make an Element Draggable</vt:lpstr>
      <vt:lpstr>What to Drag - ondragstart and setData()</vt:lpstr>
      <vt:lpstr>Where to Drop - ondragover</vt:lpstr>
      <vt:lpstr>Do the Drop - ondrop</vt:lpstr>
      <vt:lpstr>drag image back and forth</vt:lpstr>
      <vt:lpstr>HTML5  LOCAL STORAG</vt:lpstr>
      <vt:lpstr>What is HTML Local Storage?</vt:lpstr>
      <vt:lpstr>HTML Local Storage Objects</vt:lpstr>
      <vt:lpstr>HTML Local Storage Objects</vt:lpstr>
      <vt:lpstr>HTML Local Storage Objects</vt:lpstr>
      <vt:lpstr>The localStorage Object</vt:lpstr>
      <vt:lpstr>The localStorage Object</vt:lpstr>
      <vt:lpstr>The localStorage Object</vt:lpstr>
      <vt:lpstr>The localStorage Object</vt:lpstr>
      <vt:lpstr>The sessionStorage Object</vt:lpstr>
      <vt:lpstr>The sessionStorage Object</vt:lpstr>
      <vt:lpstr>HTML5 Web Workers</vt:lpstr>
      <vt:lpstr>What is Web Worker?</vt:lpstr>
      <vt:lpstr>HTML Web Workers Example</vt:lpstr>
      <vt:lpstr>Check Web Worker Support</vt:lpstr>
      <vt:lpstr>Create a Web Worker File</vt:lpstr>
      <vt:lpstr>Create a Web Worker Object</vt:lpstr>
      <vt:lpstr>Create a Web Worker Object</vt:lpstr>
      <vt:lpstr>Terminate a Web Worker</vt:lpstr>
      <vt:lpstr>Web Workers and the DOM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HTML5 Introduction</dc:title>
  <dc:creator/>
  <cp:lastModifiedBy>陈羽中</cp:lastModifiedBy>
  <cp:revision>427</cp:revision>
  <dcterms:created xsi:type="dcterms:W3CDTF">2019-06-19T02:08:00Z</dcterms:created>
  <dcterms:modified xsi:type="dcterms:W3CDTF">2025-04-16T23:59:44Z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2052-12.1.0.15990</vt:lpwstr>
  </property>
  <property fmtid="{D5CDD505-2E9C-101B-9397-08002B2CF9AE}" pid="3" name="ICV">
    <vt:lpwstr>0F1F263D1B0B4B74A16DEBE41AFDFC56_12</vt:lpwstr>
  </property>
</Properties>
</file>