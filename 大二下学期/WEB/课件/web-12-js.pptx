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7"/>
  </p:notesMasterIdLst>
  <p:sldIdLst>
    <p:sldId id="272" r:id="rId3"/>
    <p:sldId id="446" r:id="rId4"/>
    <p:sldId id="273" r:id="rId5"/>
    <p:sldId id="287" r:id="rId6"/>
    <p:sldId id="290" r:id="rId7"/>
    <p:sldId id="291" r:id="rId8"/>
    <p:sldId id="295" r:id="rId9"/>
    <p:sldId id="297" r:id="rId10"/>
    <p:sldId id="299" r:id="rId11"/>
    <p:sldId id="300" r:id="rId12"/>
    <p:sldId id="301" r:id="rId13"/>
    <p:sldId id="447" r:id="rId14"/>
    <p:sldId id="303" r:id="rId15"/>
    <p:sldId id="305" r:id="rId16"/>
    <p:sldId id="448" r:id="rId17"/>
    <p:sldId id="449" r:id="rId18"/>
    <p:sldId id="574" r:id="rId19"/>
    <p:sldId id="450" r:id="rId20"/>
    <p:sldId id="453" r:id="rId21"/>
    <p:sldId id="451" r:id="rId22"/>
    <p:sldId id="454" r:id="rId23"/>
    <p:sldId id="577" r:id="rId24"/>
    <p:sldId id="578" r:id="rId25"/>
    <p:sldId id="579" r:id="rId26"/>
    <p:sldId id="580" r:id="rId27"/>
    <p:sldId id="455" r:id="rId28"/>
    <p:sldId id="456" r:id="rId29"/>
    <p:sldId id="575" r:id="rId30"/>
    <p:sldId id="452" r:id="rId31"/>
    <p:sldId id="457" r:id="rId32"/>
    <p:sldId id="458" r:id="rId33"/>
    <p:sldId id="459" r:id="rId34"/>
    <p:sldId id="460" r:id="rId35"/>
    <p:sldId id="461" r:id="rId36"/>
    <p:sldId id="307" r:id="rId37"/>
    <p:sldId id="462" r:id="rId38"/>
    <p:sldId id="463" r:id="rId39"/>
    <p:sldId id="464" r:id="rId40"/>
    <p:sldId id="465" r:id="rId41"/>
    <p:sldId id="309" r:id="rId42"/>
    <p:sldId id="466" r:id="rId43"/>
    <p:sldId id="467" r:id="rId44"/>
    <p:sldId id="468" r:id="rId45"/>
    <p:sldId id="469"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04" autoAdjust="0"/>
    <p:restoredTop sz="94660"/>
  </p:normalViewPr>
  <p:slideViewPr>
    <p:cSldViewPr snapToGrid="0">
      <p:cViewPr varScale="1">
        <p:scale>
          <a:sx n="149" d="100"/>
          <a:sy n="149" d="100"/>
        </p:scale>
        <p:origin x="289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97F1B8-9F3B-49AA-8FAA-F9E790E5C120}" type="datetimeFigureOut">
              <a:rPr lang="zh-CN" altLang="en-US" smtClean="0"/>
              <a:t>2023/6/19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C5B329-2E57-4B33-B06E-CECBC5CB751B}" type="slidenum">
              <a:rPr lang="zh-CN" altLang="en-US" smtClean="0"/>
              <a:t>‹#›</a:t>
            </a:fld>
            <a:endParaRPr lang="zh-CN" altLang="en-US"/>
          </a:p>
        </p:txBody>
      </p:sp>
    </p:spTree>
    <p:extLst>
      <p:ext uri="{BB962C8B-B14F-4D97-AF65-F5344CB8AC3E}">
        <p14:creationId xmlns:p14="http://schemas.microsoft.com/office/powerpoint/2010/main" val="1754973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5B329-2E57-4B33-B06E-CECBC5CB751B}" type="slidenum">
              <a:rPr lang="zh-CN" altLang="en-US" smtClean="0"/>
              <a:t>38</a:t>
            </a:fld>
            <a:endParaRPr lang="zh-CN" altLang="en-US"/>
          </a:p>
        </p:txBody>
      </p:sp>
    </p:spTree>
    <p:extLst>
      <p:ext uri="{BB962C8B-B14F-4D97-AF65-F5344CB8AC3E}">
        <p14:creationId xmlns:p14="http://schemas.microsoft.com/office/powerpoint/2010/main" val="2138017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ECBB1C-D734-4977-960B-058DEADE3DB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7D407A7-0827-4623-B535-AEE9BF2B87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E3B145F-4891-46FD-B596-25A4A5C00EF6}"/>
              </a:ext>
            </a:extLst>
          </p:cNvPr>
          <p:cNvSpPr>
            <a:spLocks noGrp="1"/>
          </p:cNvSpPr>
          <p:nvPr>
            <p:ph type="dt" sz="half" idx="10"/>
          </p:nvPr>
        </p:nvSpPr>
        <p:spPr/>
        <p:txBody>
          <a:bodyPr/>
          <a:lstStyle/>
          <a:p>
            <a:fld id="{A87570A2-0954-4BF2-AF24-69305F566B3B}" type="datetimeFigureOut">
              <a:rPr lang="zh-CN" altLang="en-US" smtClean="0"/>
              <a:t>2023/6/19</a:t>
            </a:fld>
            <a:endParaRPr lang="zh-CN" altLang="en-US"/>
          </a:p>
        </p:txBody>
      </p:sp>
      <p:sp>
        <p:nvSpPr>
          <p:cNvPr id="5" name="页脚占位符 4">
            <a:extLst>
              <a:ext uri="{FF2B5EF4-FFF2-40B4-BE49-F238E27FC236}">
                <a16:creationId xmlns:a16="http://schemas.microsoft.com/office/drawing/2014/main" id="{EF9DBB96-BC83-4C0F-BF10-787DDCA215D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17FD46-D1FD-4795-92AF-81F84A7D1918}"/>
              </a:ext>
            </a:extLst>
          </p:cNvPr>
          <p:cNvSpPr>
            <a:spLocks noGrp="1"/>
          </p:cNvSpPr>
          <p:nvPr>
            <p:ph type="sldNum" sz="quarter" idx="12"/>
          </p:nvPr>
        </p:nvSpPr>
        <p:spPr/>
        <p:txBody>
          <a:bodyPr/>
          <a:lstStyle/>
          <a:p>
            <a:fld id="{52DAC7A9-B6A6-4DD5-A30B-BA970835F6CB}" type="slidenum">
              <a:rPr lang="zh-CN" altLang="en-US" smtClean="0"/>
              <a:t>‹#›</a:t>
            </a:fld>
            <a:endParaRPr lang="zh-CN" altLang="en-US"/>
          </a:p>
        </p:txBody>
      </p:sp>
    </p:spTree>
    <p:extLst>
      <p:ext uri="{BB962C8B-B14F-4D97-AF65-F5344CB8AC3E}">
        <p14:creationId xmlns:p14="http://schemas.microsoft.com/office/powerpoint/2010/main" val="1025873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FFEFDE-BE78-4571-8F1D-7D9F21AD601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8CC6E75-7CA9-4C5E-8D90-AAD1D203038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115C0A-6E06-49B4-8CB2-A1F1E3C8FA9A}"/>
              </a:ext>
            </a:extLst>
          </p:cNvPr>
          <p:cNvSpPr>
            <a:spLocks noGrp="1"/>
          </p:cNvSpPr>
          <p:nvPr>
            <p:ph type="dt" sz="half" idx="10"/>
          </p:nvPr>
        </p:nvSpPr>
        <p:spPr/>
        <p:txBody>
          <a:bodyPr/>
          <a:lstStyle/>
          <a:p>
            <a:fld id="{A87570A2-0954-4BF2-AF24-69305F566B3B}" type="datetimeFigureOut">
              <a:rPr lang="zh-CN" altLang="en-US" smtClean="0"/>
              <a:t>2023/6/19</a:t>
            </a:fld>
            <a:endParaRPr lang="zh-CN" altLang="en-US"/>
          </a:p>
        </p:txBody>
      </p:sp>
      <p:sp>
        <p:nvSpPr>
          <p:cNvPr id="5" name="页脚占位符 4">
            <a:extLst>
              <a:ext uri="{FF2B5EF4-FFF2-40B4-BE49-F238E27FC236}">
                <a16:creationId xmlns:a16="http://schemas.microsoft.com/office/drawing/2014/main" id="{C4CCE5E7-380C-4E2F-BACD-5FAF732B39E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1E6884-AC3B-4EDD-8EDE-2142D9310231}"/>
              </a:ext>
            </a:extLst>
          </p:cNvPr>
          <p:cNvSpPr>
            <a:spLocks noGrp="1"/>
          </p:cNvSpPr>
          <p:nvPr>
            <p:ph type="sldNum" sz="quarter" idx="12"/>
          </p:nvPr>
        </p:nvSpPr>
        <p:spPr/>
        <p:txBody>
          <a:bodyPr/>
          <a:lstStyle/>
          <a:p>
            <a:fld id="{52DAC7A9-B6A6-4DD5-A30B-BA970835F6CB}" type="slidenum">
              <a:rPr lang="zh-CN" altLang="en-US" smtClean="0"/>
              <a:t>‹#›</a:t>
            </a:fld>
            <a:endParaRPr lang="zh-CN" altLang="en-US"/>
          </a:p>
        </p:txBody>
      </p:sp>
    </p:spTree>
    <p:extLst>
      <p:ext uri="{BB962C8B-B14F-4D97-AF65-F5344CB8AC3E}">
        <p14:creationId xmlns:p14="http://schemas.microsoft.com/office/powerpoint/2010/main" val="1833314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1F347-DCA4-42A7-BAB1-FE79F4546BD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15A438C-50DC-4B53-9179-DB6631CDDB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CAA2B8-7F7F-492B-9516-C9585A123191}"/>
              </a:ext>
            </a:extLst>
          </p:cNvPr>
          <p:cNvSpPr>
            <a:spLocks noGrp="1"/>
          </p:cNvSpPr>
          <p:nvPr>
            <p:ph type="dt" sz="half" idx="10"/>
          </p:nvPr>
        </p:nvSpPr>
        <p:spPr/>
        <p:txBody>
          <a:bodyPr/>
          <a:lstStyle/>
          <a:p>
            <a:fld id="{A87570A2-0954-4BF2-AF24-69305F566B3B}" type="datetimeFigureOut">
              <a:rPr lang="zh-CN" altLang="en-US" smtClean="0"/>
              <a:t>2023/6/19</a:t>
            </a:fld>
            <a:endParaRPr lang="zh-CN" altLang="en-US"/>
          </a:p>
        </p:txBody>
      </p:sp>
      <p:sp>
        <p:nvSpPr>
          <p:cNvPr id="5" name="页脚占位符 4">
            <a:extLst>
              <a:ext uri="{FF2B5EF4-FFF2-40B4-BE49-F238E27FC236}">
                <a16:creationId xmlns:a16="http://schemas.microsoft.com/office/drawing/2014/main" id="{F003FFF9-279B-422B-A7E4-C7C3099150C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3E49EAE-F83A-489D-B342-D13AC51DB0C1}"/>
              </a:ext>
            </a:extLst>
          </p:cNvPr>
          <p:cNvSpPr>
            <a:spLocks noGrp="1"/>
          </p:cNvSpPr>
          <p:nvPr>
            <p:ph type="sldNum" sz="quarter" idx="12"/>
          </p:nvPr>
        </p:nvSpPr>
        <p:spPr/>
        <p:txBody>
          <a:bodyPr/>
          <a:lstStyle/>
          <a:p>
            <a:fld id="{52DAC7A9-B6A6-4DD5-A30B-BA970835F6CB}" type="slidenum">
              <a:rPr lang="zh-CN" altLang="en-US" smtClean="0"/>
              <a:t>‹#›</a:t>
            </a:fld>
            <a:endParaRPr lang="zh-CN" altLang="en-US"/>
          </a:p>
        </p:txBody>
      </p:sp>
    </p:spTree>
    <p:extLst>
      <p:ext uri="{BB962C8B-B14F-4D97-AF65-F5344CB8AC3E}">
        <p14:creationId xmlns:p14="http://schemas.microsoft.com/office/powerpoint/2010/main" val="3531310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DD01F2-0619-4DAD-B7A6-117D6F86293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21AB2C8-F9A0-41E1-BA0F-342E9947E51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889B671-BEAA-47B3-8EF3-026433BF669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6ACAF25-6253-4952-B817-800B3979DCC7}"/>
              </a:ext>
            </a:extLst>
          </p:cNvPr>
          <p:cNvSpPr>
            <a:spLocks noGrp="1"/>
          </p:cNvSpPr>
          <p:nvPr>
            <p:ph type="dt" sz="half" idx="10"/>
          </p:nvPr>
        </p:nvSpPr>
        <p:spPr/>
        <p:txBody>
          <a:bodyPr/>
          <a:lstStyle/>
          <a:p>
            <a:fld id="{A87570A2-0954-4BF2-AF24-69305F566B3B}" type="datetimeFigureOut">
              <a:rPr lang="zh-CN" altLang="en-US" smtClean="0"/>
              <a:t>2023/6/19</a:t>
            </a:fld>
            <a:endParaRPr lang="zh-CN" altLang="en-US"/>
          </a:p>
        </p:txBody>
      </p:sp>
      <p:sp>
        <p:nvSpPr>
          <p:cNvPr id="6" name="页脚占位符 5">
            <a:extLst>
              <a:ext uri="{FF2B5EF4-FFF2-40B4-BE49-F238E27FC236}">
                <a16:creationId xmlns:a16="http://schemas.microsoft.com/office/drawing/2014/main" id="{383E2DC1-A893-4C2F-B011-858EF6C7BF1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BF3CD4B-74CD-484E-A6D1-82E8CCC2D21C}"/>
              </a:ext>
            </a:extLst>
          </p:cNvPr>
          <p:cNvSpPr>
            <a:spLocks noGrp="1"/>
          </p:cNvSpPr>
          <p:nvPr>
            <p:ph type="sldNum" sz="quarter" idx="12"/>
          </p:nvPr>
        </p:nvSpPr>
        <p:spPr/>
        <p:txBody>
          <a:bodyPr/>
          <a:lstStyle/>
          <a:p>
            <a:fld id="{52DAC7A9-B6A6-4DD5-A30B-BA970835F6CB}" type="slidenum">
              <a:rPr lang="zh-CN" altLang="en-US" smtClean="0"/>
              <a:t>‹#›</a:t>
            </a:fld>
            <a:endParaRPr lang="zh-CN" altLang="en-US"/>
          </a:p>
        </p:txBody>
      </p:sp>
    </p:spTree>
    <p:extLst>
      <p:ext uri="{BB962C8B-B14F-4D97-AF65-F5344CB8AC3E}">
        <p14:creationId xmlns:p14="http://schemas.microsoft.com/office/powerpoint/2010/main" val="3738538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838DC6-0018-45AD-B18C-AEDCF29CDA0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5D3408D-2711-477A-A814-1F5D0FC93A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D1594AE-6AA2-4C8B-AF15-7FDC6A3F860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26801B-AF1D-4724-9B66-FE67716362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8C37CD-9E4A-46F3-BB86-54A658E44D8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5AF37BA-3D6C-4ED3-BBC9-1B7319342242}"/>
              </a:ext>
            </a:extLst>
          </p:cNvPr>
          <p:cNvSpPr>
            <a:spLocks noGrp="1"/>
          </p:cNvSpPr>
          <p:nvPr>
            <p:ph type="dt" sz="half" idx="10"/>
          </p:nvPr>
        </p:nvSpPr>
        <p:spPr/>
        <p:txBody>
          <a:bodyPr/>
          <a:lstStyle/>
          <a:p>
            <a:fld id="{A87570A2-0954-4BF2-AF24-69305F566B3B}" type="datetimeFigureOut">
              <a:rPr lang="zh-CN" altLang="en-US" smtClean="0"/>
              <a:t>2023/6/19</a:t>
            </a:fld>
            <a:endParaRPr lang="zh-CN" altLang="en-US"/>
          </a:p>
        </p:txBody>
      </p:sp>
      <p:sp>
        <p:nvSpPr>
          <p:cNvPr id="8" name="页脚占位符 7">
            <a:extLst>
              <a:ext uri="{FF2B5EF4-FFF2-40B4-BE49-F238E27FC236}">
                <a16:creationId xmlns:a16="http://schemas.microsoft.com/office/drawing/2014/main" id="{E33B51E9-5507-4DFF-A2E5-F970D223B10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C697DE5-245A-4833-AEB1-2DE8FD22F1B5}"/>
              </a:ext>
            </a:extLst>
          </p:cNvPr>
          <p:cNvSpPr>
            <a:spLocks noGrp="1"/>
          </p:cNvSpPr>
          <p:nvPr>
            <p:ph type="sldNum" sz="quarter" idx="12"/>
          </p:nvPr>
        </p:nvSpPr>
        <p:spPr/>
        <p:txBody>
          <a:bodyPr/>
          <a:lstStyle/>
          <a:p>
            <a:fld id="{52DAC7A9-B6A6-4DD5-A30B-BA970835F6CB}" type="slidenum">
              <a:rPr lang="zh-CN" altLang="en-US" smtClean="0"/>
              <a:t>‹#›</a:t>
            </a:fld>
            <a:endParaRPr lang="zh-CN" altLang="en-US"/>
          </a:p>
        </p:txBody>
      </p:sp>
    </p:spTree>
    <p:extLst>
      <p:ext uri="{BB962C8B-B14F-4D97-AF65-F5344CB8AC3E}">
        <p14:creationId xmlns:p14="http://schemas.microsoft.com/office/powerpoint/2010/main" val="2129593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EF9FA3-E85E-4E02-B6FF-B2143F56A0D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683DCD7-A314-4625-A936-6918B807548A}"/>
              </a:ext>
            </a:extLst>
          </p:cNvPr>
          <p:cNvSpPr>
            <a:spLocks noGrp="1"/>
          </p:cNvSpPr>
          <p:nvPr>
            <p:ph type="dt" sz="half" idx="10"/>
          </p:nvPr>
        </p:nvSpPr>
        <p:spPr/>
        <p:txBody>
          <a:bodyPr/>
          <a:lstStyle/>
          <a:p>
            <a:fld id="{A87570A2-0954-4BF2-AF24-69305F566B3B}" type="datetimeFigureOut">
              <a:rPr lang="zh-CN" altLang="en-US" smtClean="0"/>
              <a:t>2023/6/19</a:t>
            </a:fld>
            <a:endParaRPr lang="zh-CN" altLang="en-US"/>
          </a:p>
        </p:txBody>
      </p:sp>
      <p:sp>
        <p:nvSpPr>
          <p:cNvPr id="4" name="页脚占位符 3">
            <a:extLst>
              <a:ext uri="{FF2B5EF4-FFF2-40B4-BE49-F238E27FC236}">
                <a16:creationId xmlns:a16="http://schemas.microsoft.com/office/drawing/2014/main" id="{6C083669-C740-4D09-8591-2F38186EEA7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5119AE4-AD1E-4872-ABD9-F87338C2D2FA}"/>
              </a:ext>
            </a:extLst>
          </p:cNvPr>
          <p:cNvSpPr>
            <a:spLocks noGrp="1"/>
          </p:cNvSpPr>
          <p:nvPr>
            <p:ph type="sldNum" sz="quarter" idx="12"/>
          </p:nvPr>
        </p:nvSpPr>
        <p:spPr/>
        <p:txBody>
          <a:bodyPr/>
          <a:lstStyle/>
          <a:p>
            <a:fld id="{52DAC7A9-B6A6-4DD5-A30B-BA970835F6CB}" type="slidenum">
              <a:rPr lang="zh-CN" altLang="en-US" smtClean="0"/>
              <a:t>‹#›</a:t>
            </a:fld>
            <a:endParaRPr lang="zh-CN" altLang="en-US"/>
          </a:p>
        </p:txBody>
      </p:sp>
    </p:spTree>
    <p:extLst>
      <p:ext uri="{BB962C8B-B14F-4D97-AF65-F5344CB8AC3E}">
        <p14:creationId xmlns:p14="http://schemas.microsoft.com/office/powerpoint/2010/main" val="403318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F73851B-1C1F-4916-BB38-1DF6F5A9B17B}"/>
              </a:ext>
            </a:extLst>
          </p:cNvPr>
          <p:cNvSpPr>
            <a:spLocks noGrp="1"/>
          </p:cNvSpPr>
          <p:nvPr>
            <p:ph type="dt" sz="half" idx="10"/>
          </p:nvPr>
        </p:nvSpPr>
        <p:spPr/>
        <p:txBody>
          <a:bodyPr/>
          <a:lstStyle/>
          <a:p>
            <a:fld id="{A87570A2-0954-4BF2-AF24-69305F566B3B}" type="datetimeFigureOut">
              <a:rPr lang="zh-CN" altLang="en-US" smtClean="0"/>
              <a:t>2023/6/19</a:t>
            </a:fld>
            <a:endParaRPr lang="zh-CN" altLang="en-US"/>
          </a:p>
        </p:txBody>
      </p:sp>
      <p:sp>
        <p:nvSpPr>
          <p:cNvPr id="3" name="页脚占位符 2">
            <a:extLst>
              <a:ext uri="{FF2B5EF4-FFF2-40B4-BE49-F238E27FC236}">
                <a16:creationId xmlns:a16="http://schemas.microsoft.com/office/drawing/2014/main" id="{32C62CD4-8E04-4113-8B7D-A44040BB544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7B865AD-6F68-45D3-A7EC-B2AAA517C0E1}"/>
              </a:ext>
            </a:extLst>
          </p:cNvPr>
          <p:cNvSpPr>
            <a:spLocks noGrp="1"/>
          </p:cNvSpPr>
          <p:nvPr>
            <p:ph type="sldNum" sz="quarter" idx="12"/>
          </p:nvPr>
        </p:nvSpPr>
        <p:spPr/>
        <p:txBody>
          <a:bodyPr/>
          <a:lstStyle/>
          <a:p>
            <a:fld id="{52DAC7A9-B6A6-4DD5-A30B-BA970835F6CB}" type="slidenum">
              <a:rPr lang="zh-CN" altLang="en-US" smtClean="0"/>
              <a:t>‹#›</a:t>
            </a:fld>
            <a:endParaRPr lang="zh-CN" altLang="en-US"/>
          </a:p>
        </p:txBody>
      </p:sp>
    </p:spTree>
    <p:extLst>
      <p:ext uri="{BB962C8B-B14F-4D97-AF65-F5344CB8AC3E}">
        <p14:creationId xmlns:p14="http://schemas.microsoft.com/office/powerpoint/2010/main" val="4035454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87F782-9A9D-48D3-872E-DFE2021E182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959FDDE-3D33-4256-AF29-A5051DAC7D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160AD51-E0E8-4D40-BEA6-8D54A2FB61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B292808-CE35-49D3-A24D-60A06FCA7F05}"/>
              </a:ext>
            </a:extLst>
          </p:cNvPr>
          <p:cNvSpPr>
            <a:spLocks noGrp="1"/>
          </p:cNvSpPr>
          <p:nvPr>
            <p:ph type="dt" sz="half" idx="10"/>
          </p:nvPr>
        </p:nvSpPr>
        <p:spPr/>
        <p:txBody>
          <a:bodyPr/>
          <a:lstStyle/>
          <a:p>
            <a:fld id="{A87570A2-0954-4BF2-AF24-69305F566B3B}" type="datetimeFigureOut">
              <a:rPr lang="zh-CN" altLang="en-US" smtClean="0"/>
              <a:t>2023/6/19</a:t>
            </a:fld>
            <a:endParaRPr lang="zh-CN" altLang="en-US"/>
          </a:p>
        </p:txBody>
      </p:sp>
      <p:sp>
        <p:nvSpPr>
          <p:cNvPr id="6" name="页脚占位符 5">
            <a:extLst>
              <a:ext uri="{FF2B5EF4-FFF2-40B4-BE49-F238E27FC236}">
                <a16:creationId xmlns:a16="http://schemas.microsoft.com/office/drawing/2014/main" id="{77A2A963-CA8C-4746-A5AC-3BCE23E638D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8EEF30F-75F3-4E94-A7FE-DF0A202CDD08}"/>
              </a:ext>
            </a:extLst>
          </p:cNvPr>
          <p:cNvSpPr>
            <a:spLocks noGrp="1"/>
          </p:cNvSpPr>
          <p:nvPr>
            <p:ph type="sldNum" sz="quarter" idx="12"/>
          </p:nvPr>
        </p:nvSpPr>
        <p:spPr/>
        <p:txBody>
          <a:bodyPr/>
          <a:lstStyle/>
          <a:p>
            <a:fld id="{52DAC7A9-B6A6-4DD5-A30B-BA970835F6CB}" type="slidenum">
              <a:rPr lang="zh-CN" altLang="en-US" smtClean="0"/>
              <a:t>‹#›</a:t>
            </a:fld>
            <a:endParaRPr lang="zh-CN" altLang="en-US"/>
          </a:p>
        </p:txBody>
      </p:sp>
    </p:spTree>
    <p:extLst>
      <p:ext uri="{BB962C8B-B14F-4D97-AF65-F5344CB8AC3E}">
        <p14:creationId xmlns:p14="http://schemas.microsoft.com/office/powerpoint/2010/main" val="3220618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D51A5A-5F2E-45A3-A040-B7F24BEA997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4A44630-D338-4038-AC97-9EC5B0BE8B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C82B8CA-1F04-47C2-84BB-43E2E71910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D5C33D3-D66C-4831-9BDA-9246BA6B862F}"/>
              </a:ext>
            </a:extLst>
          </p:cNvPr>
          <p:cNvSpPr>
            <a:spLocks noGrp="1"/>
          </p:cNvSpPr>
          <p:nvPr>
            <p:ph type="dt" sz="half" idx="10"/>
          </p:nvPr>
        </p:nvSpPr>
        <p:spPr/>
        <p:txBody>
          <a:bodyPr/>
          <a:lstStyle/>
          <a:p>
            <a:fld id="{A87570A2-0954-4BF2-AF24-69305F566B3B}" type="datetimeFigureOut">
              <a:rPr lang="zh-CN" altLang="en-US" smtClean="0"/>
              <a:t>2023/6/19</a:t>
            </a:fld>
            <a:endParaRPr lang="zh-CN" altLang="en-US"/>
          </a:p>
        </p:txBody>
      </p:sp>
      <p:sp>
        <p:nvSpPr>
          <p:cNvPr id="6" name="页脚占位符 5">
            <a:extLst>
              <a:ext uri="{FF2B5EF4-FFF2-40B4-BE49-F238E27FC236}">
                <a16:creationId xmlns:a16="http://schemas.microsoft.com/office/drawing/2014/main" id="{4C345A99-3199-460B-B59E-EB94534B698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B116157-9AAB-4FEE-A865-65EF0AD09112}"/>
              </a:ext>
            </a:extLst>
          </p:cNvPr>
          <p:cNvSpPr>
            <a:spLocks noGrp="1"/>
          </p:cNvSpPr>
          <p:nvPr>
            <p:ph type="sldNum" sz="quarter" idx="12"/>
          </p:nvPr>
        </p:nvSpPr>
        <p:spPr/>
        <p:txBody>
          <a:bodyPr/>
          <a:lstStyle/>
          <a:p>
            <a:fld id="{52DAC7A9-B6A6-4DD5-A30B-BA970835F6CB}" type="slidenum">
              <a:rPr lang="zh-CN" altLang="en-US" smtClean="0"/>
              <a:t>‹#›</a:t>
            </a:fld>
            <a:endParaRPr lang="zh-CN" altLang="en-US"/>
          </a:p>
        </p:txBody>
      </p:sp>
    </p:spTree>
    <p:extLst>
      <p:ext uri="{BB962C8B-B14F-4D97-AF65-F5344CB8AC3E}">
        <p14:creationId xmlns:p14="http://schemas.microsoft.com/office/powerpoint/2010/main" val="284642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F7C524-129E-45AF-801B-188CAD92241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83F0CEB-E60C-4166-97FF-495C3B5C924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1FF9D6F-A80B-4247-BE00-02B6AA9770AB}"/>
              </a:ext>
            </a:extLst>
          </p:cNvPr>
          <p:cNvSpPr>
            <a:spLocks noGrp="1"/>
          </p:cNvSpPr>
          <p:nvPr>
            <p:ph type="dt" sz="half" idx="10"/>
          </p:nvPr>
        </p:nvSpPr>
        <p:spPr/>
        <p:txBody>
          <a:bodyPr/>
          <a:lstStyle/>
          <a:p>
            <a:fld id="{A87570A2-0954-4BF2-AF24-69305F566B3B}" type="datetimeFigureOut">
              <a:rPr lang="zh-CN" altLang="en-US" smtClean="0"/>
              <a:t>2023/6/19</a:t>
            </a:fld>
            <a:endParaRPr lang="zh-CN" altLang="en-US"/>
          </a:p>
        </p:txBody>
      </p:sp>
      <p:sp>
        <p:nvSpPr>
          <p:cNvPr id="5" name="页脚占位符 4">
            <a:extLst>
              <a:ext uri="{FF2B5EF4-FFF2-40B4-BE49-F238E27FC236}">
                <a16:creationId xmlns:a16="http://schemas.microsoft.com/office/drawing/2014/main" id="{3D864FA1-1282-4CBE-98E1-87E7A30AF0F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5C7B00-3EC3-4B1A-9F16-2BD0DF94F54E}"/>
              </a:ext>
            </a:extLst>
          </p:cNvPr>
          <p:cNvSpPr>
            <a:spLocks noGrp="1"/>
          </p:cNvSpPr>
          <p:nvPr>
            <p:ph type="sldNum" sz="quarter" idx="12"/>
          </p:nvPr>
        </p:nvSpPr>
        <p:spPr/>
        <p:txBody>
          <a:bodyPr/>
          <a:lstStyle/>
          <a:p>
            <a:fld id="{52DAC7A9-B6A6-4DD5-A30B-BA970835F6CB}" type="slidenum">
              <a:rPr lang="zh-CN" altLang="en-US" smtClean="0"/>
              <a:t>‹#›</a:t>
            </a:fld>
            <a:endParaRPr lang="zh-CN" altLang="en-US"/>
          </a:p>
        </p:txBody>
      </p:sp>
    </p:spTree>
    <p:extLst>
      <p:ext uri="{BB962C8B-B14F-4D97-AF65-F5344CB8AC3E}">
        <p14:creationId xmlns:p14="http://schemas.microsoft.com/office/powerpoint/2010/main" val="2535497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DFB5862-F3A2-4CA3-8F84-76B1099FA1D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4C3D7E9-625B-46DC-86B6-7146075317A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376321-4609-4BED-AA88-B85AF7EC0636}"/>
              </a:ext>
            </a:extLst>
          </p:cNvPr>
          <p:cNvSpPr>
            <a:spLocks noGrp="1"/>
          </p:cNvSpPr>
          <p:nvPr>
            <p:ph type="dt" sz="half" idx="10"/>
          </p:nvPr>
        </p:nvSpPr>
        <p:spPr/>
        <p:txBody>
          <a:bodyPr/>
          <a:lstStyle/>
          <a:p>
            <a:fld id="{A87570A2-0954-4BF2-AF24-69305F566B3B}" type="datetimeFigureOut">
              <a:rPr lang="zh-CN" altLang="en-US" smtClean="0"/>
              <a:t>2023/6/19</a:t>
            </a:fld>
            <a:endParaRPr lang="zh-CN" altLang="en-US"/>
          </a:p>
        </p:txBody>
      </p:sp>
      <p:sp>
        <p:nvSpPr>
          <p:cNvPr id="5" name="页脚占位符 4">
            <a:extLst>
              <a:ext uri="{FF2B5EF4-FFF2-40B4-BE49-F238E27FC236}">
                <a16:creationId xmlns:a16="http://schemas.microsoft.com/office/drawing/2014/main" id="{21B9F0D0-5394-4638-BF83-7AFC8B34BEE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8D4CF9-5CA5-4D82-8F52-A33C46BF7874}"/>
              </a:ext>
            </a:extLst>
          </p:cNvPr>
          <p:cNvSpPr>
            <a:spLocks noGrp="1"/>
          </p:cNvSpPr>
          <p:nvPr>
            <p:ph type="sldNum" sz="quarter" idx="12"/>
          </p:nvPr>
        </p:nvSpPr>
        <p:spPr/>
        <p:txBody>
          <a:bodyPr/>
          <a:lstStyle/>
          <a:p>
            <a:fld id="{52DAC7A9-B6A6-4DD5-A30B-BA970835F6CB}" type="slidenum">
              <a:rPr lang="zh-CN" altLang="en-US" smtClean="0"/>
              <a:t>‹#›</a:t>
            </a:fld>
            <a:endParaRPr lang="zh-CN" altLang="en-US"/>
          </a:p>
        </p:txBody>
      </p:sp>
    </p:spTree>
    <p:extLst>
      <p:ext uri="{BB962C8B-B14F-4D97-AF65-F5344CB8AC3E}">
        <p14:creationId xmlns:p14="http://schemas.microsoft.com/office/powerpoint/2010/main" val="2384818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2023/6/19</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2032636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2023/6/19</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41052915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2023/6/19</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729245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2023/6/19</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9190516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2023/6/19</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13230705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2023/6/19</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27806123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2023/6/19</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298996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2023/6/19</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22279484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2023/6/19</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13430281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2023/6/19</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185273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2023/6/19</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1339124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5E4D146-27F8-4825-B569-B9003B72F6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2A7022A-757B-4578-BE95-79A246EFE0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E0DBE1D-2133-4EB7-BC3B-ED16C03C01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7570A2-0954-4BF2-AF24-69305F566B3B}" type="datetimeFigureOut">
              <a:rPr lang="zh-CN" altLang="en-US" smtClean="0"/>
              <a:t>2023/6/19</a:t>
            </a:fld>
            <a:endParaRPr lang="zh-CN" altLang="en-US"/>
          </a:p>
        </p:txBody>
      </p:sp>
      <p:sp>
        <p:nvSpPr>
          <p:cNvPr id="5" name="页脚占位符 4">
            <a:extLst>
              <a:ext uri="{FF2B5EF4-FFF2-40B4-BE49-F238E27FC236}">
                <a16:creationId xmlns:a16="http://schemas.microsoft.com/office/drawing/2014/main" id="{7E86DA30-CC05-4ABB-831A-58A20A69E2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3B9704C-9364-4351-BDB1-62824D33C0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DAC7A9-B6A6-4DD5-A30B-BA970835F6CB}" type="slidenum">
              <a:rPr lang="zh-CN" altLang="en-US" smtClean="0"/>
              <a:t>‹#›</a:t>
            </a:fld>
            <a:endParaRPr lang="zh-CN" altLang="en-US"/>
          </a:p>
        </p:txBody>
      </p:sp>
    </p:spTree>
    <p:extLst>
      <p:ext uri="{BB962C8B-B14F-4D97-AF65-F5344CB8AC3E}">
        <p14:creationId xmlns:p14="http://schemas.microsoft.com/office/powerpoint/2010/main" val="4233978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2023/6/19</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37100796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CBEA91-AEC8-4772-9B50-B3D92175AB68}"/>
              </a:ext>
            </a:extLst>
          </p:cNvPr>
          <p:cNvSpPr>
            <a:spLocks noGrp="1"/>
          </p:cNvSpPr>
          <p:nvPr>
            <p:ph type="ctrTitle"/>
          </p:nvPr>
        </p:nvSpPr>
        <p:spPr/>
        <p:txBody>
          <a:bodyPr/>
          <a:lstStyle/>
          <a:p>
            <a:r>
              <a:rPr lang="en-US" altLang="zh-CN" b="0" i="0" dirty="0">
                <a:solidFill>
                  <a:schemeClr val="bg1"/>
                </a:solidFill>
                <a:effectLst/>
                <a:latin typeface="Segoe UI" panose="020B0502040204020203" pitchFamily="34" charset="0"/>
              </a:rPr>
              <a:t>JavaScript DOM</a:t>
            </a:r>
            <a:endParaRPr lang="zh-CN" altLang="en-US" dirty="0">
              <a:solidFill>
                <a:schemeClr val="bg1"/>
              </a:solidFill>
            </a:endParaRPr>
          </a:p>
        </p:txBody>
      </p:sp>
    </p:spTree>
    <p:extLst>
      <p:ext uri="{BB962C8B-B14F-4D97-AF65-F5344CB8AC3E}">
        <p14:creationId xmlns:p14="http://schemas.microsoft.com/office/powerpoint/2010/main" val="159524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876820" y="324323"/>
            <a:ext cx="3480441" cy="64633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What is the DOM</a:t>
            </a:r>
          </a:p>
        </p:txBody>
      </p:sp>
      <p:sp>
        <p:nvSpPr>
          <p:cNvPr id="4" name="文本框 3"/>
          <p:cNvSpPr txBox="1"/>
          <p:nvPr/>
        </p:nvSpPr>
        <p:spPr>
          <a:xfrm>
            <a:off x="650949" y="1469417"/>
            <a:ext cx="11159517" cy="4708981"/>
          </a:xfrm>
          <a:prstGeom prst="rect">
            <a:avLst/>
          </a:prstGeom>
          <a:noFill/>
        </p:spPr>
        <p:txBody>
          <a:bodyPr wrap="square" rtlCol="0">
            <a:spAutoFit/>
          </a:bodyPr>
          <a:lstStyle/>
          <a:p>
            <a:pPr marL="342900" indent="-342900">
              <a:buFont typeface="Wingdings" panose="05000000000000000000" pitchFamily="2" charset="2"/>
              <a:buChar char="l"/>
            </a:pPr>
            <a:r>
              <a:rPr lang="en-US" altLang="zh-CN" sz="3200" dirty="0">
                <a:latin typeface="Times New Roman" panose="02020603050405020304" pitchFamily="18" charset="0"/>
                <a:cs typeface="Times New Roman" panose="02020603050405020304" pitchFamily="18" charset="0"/>
              </a:rPr>
              <a:t>The DOM is a W3C (World Wide Web Consortium) standard.</a:t>
            </a:r>
          </a:p>
          <a:p>
            <a:pPr marL="342900" indent="-342900">
              <a:buFont typeface="Wingdings" panose="05000000000000000000" pitchFamily="2" charset="2"/>
              <a:buChar char="l"/>
            </a:pPr>
            <a:endParaRPr lang="en-US" altLang="zh-CN" sz="3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l"/>
            </a:pPr>
            <a:r>
              <a:rPr lang="en-US" altLang="zh-CN" sz="3200" dirty="0">
                <a:latin typeface="Times New Roman" panose="02020603050405020304" pitchFamily="18" charset="0"/>
                <a:cs typeface="Times New Roman" panose="02020603050405020304" pitchFamily="18" charset="0"/>
              </a:rPr>
              <a:t>The DOM defines a standard for accessing documents:</a:t>
            </a:r>
          </a:p>
          <a:p>
            <a:pPr marL="342900" indent="-342900">
              <a:buFont typeface="Wingdings" panose="05000000000000000000" pitchFamily="2" charset="2"/>
              <a:buChar char="l"/>
            </a:pPr>
            <a:endParaRPr lang="en-US" altLang="zh-CN" sz="3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l"/>
            </a:pPr>
            <a:r>
              <a:rPr lang="en-US" altLang="zh-CN" sz="3200" dirty="0">
                <a:latin typeface="Times New Roman" panose="02020603050405020304" pitchFamily="18" charset="0"/>
                <a:cs typeface="Times New Roman" panose="02020603050405020304" pitchFamily="18" charset="0"/>
              </a:rPr>
              <a:t>The W3C DOM standard is separated into 3 different parts:</a:t>
            </a:r>
          </a:p>
          <a:p>
            <a:endParaRPr lang="en-US" altLang="zh-CN" sz="2800" dirty="0" smtClean="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altLang="zh-CN" sz="2800" dirty="0" smtClean="0">
                <a:latin typeface="Times New Roman" panose="02020603050405020304" pitchFamily="18" charset="0"/>
                <a:cs typeface="Times New Roman" panose="02020603050405020304" pitchFamily="18" charset="0"/>
              </a:rPr>
              <a:t>Core </a:t>
            </a:r>
            <a:r>
              <a:rPr lang="en-US" altLang="zh-CN" sz="2800" dirty="0">
                <a:latin typeface="Times New Roman" panose="02020603050405020304" pitchFamily="18" charset="0"/>
                <a:cs typeface="Times New Roman" panose="02020603050405020304" pitchFamily="18" charset="0"/>
              </a:rPr>
              <a:t>DOM - standard model for all document types</a:t>
            </a:r>
          </a:p>
          <a:p>
            <a:pPr marL="800100" lvl="1" indent="-342900">
              <a:buFont typeface="Wingdings" panose="05000000000000000000" pitchFamily="2" charset="2"/>
              <a:buChar char="ü"/>
            </a:pPr>
            <a:r>
              <a:rPr lang="en-US" altLang="zh-CN" sz="2800" dirty="0">
                <a:latin typeface="Times New Roman" panose="02020603050405020304" pitchFamily="18" charset="0"/>
                <a:cs typeface="Times New Roman" panose="02020603050405020304" pitchFamily="18" charset="0"/>
              </a:rPr>
              <a:t>XML DOM - standard model for XML documents</a:t>
            </a:r>
          </a:p>
          <a:p>
            <a:pPr marL="800100" lvl="1" indent="-342900">
              <a:buFont typeface="Wingdings" panose="05000000000000000000" pitchFamily="2" charset="2"/>
              <a:buChar char="ü"/>
            </a:pPr>
            <a:r>
              <a:rPr lang="en-US" altLang="zh-CN" sz="2800" dirty="0">
                <a:latin typeface="Times New Roman" panose="02020603050405020304" pitchFamily="18" charset="0"/>
                <a:cs typeface="Times New Roman" panose="02020603050405020304" pitchFamily="18" charset="0"/>
              </a:rPr>
              <a:t>HTML DOM - standard model for HTML documents</a:t>
            </a:r>
          </a:p>
          <a:p>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2517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1889171" y="310012"/>
            <a:ext cx="8515986" cy="64633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HTML DOM (Document</a:t>
            </a:r>
            <a:r>
              <a:rPr kumimoji="0" lang="en-US" altLang="zh-CN" sz="3600" b="0" i="0" u="none" strike="noStrike" kern="1200" cap="none" spc="0" normalizeH="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Object Model</a:t>
            </a: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p:txBody>
      </p:sp>
      <p:sp>
        <p:nvSpPr>
          <p:cNvPr id="3" name="矩形 2"/>
          <p:cNvSpPr/>
          <p:nvPr/>
        </p:nvSpPr>
        <p:spPr>
          <a:xfrm>
            <a:off x="593622" y="1258045"/>
            <a:ext cx="11004771" cy="954107"/>
          </a:xfrm>
          <a:prstGeom prst="rect">
            <a:avLst/>
          </a:prstGeom>
        </p:spPr>
        <p:txBody>
          <a:bodyPr wrap="square">
            <a:spAutoFit/>
          </a:bodyPr>
          <a:lstStyle/>
          <a:p>
            <a:pPr lvl="0" algn="just">
              <a:defRPr/>
            </a:pPr>
            <a:r>
              <a:rPr lang="en-US" altLang="zh-CN" sz="2800" dirty="0">
                <a:solidFill>
                  <a:prstClr val="white"/>
                </a:solidFill>
                <a:latin typeface="Times New Roman" panose="02020603050405020304" pitchFamily="18" charset="0"/>
                <a:cs typeface="Times New Roman" panose="02020603050405020304" pitchFamily="18" charset="0"/>
              </a:rPr>
              <a:t>When a web page is loaded, the browser creates a Document Object Model of the page</a:t>
            </a:r>
            <a:r>
              <a:rPr lang="en-US" altLang="zh-CN" sz="2800" dirty="0" smtClean="0">
                <a:solidFill>
                  <a:prstClr val="white"/>
                </a:solidFill>
                <a:latin typeface="Times New Roman" panose="02020603050405020304" pitchFamily="18" charset="0"/>
                <a:cs typeface="Times New Roman" panose="02020603050405020304" pitchFamily="18" charset="0"/>
              </a:rPr>
              <a:t>. The </a:t>
            </a:r>
            <a:r>
              <a:rPr lang="en-US" altLang="zh-CN" sz="2800" dirty="0">
                <a:solidFill>
                  <a:prstClr val="white"/>
                </a:solidFill>
                <a:latin typeface="Times New Roman" panose="02020603050405020304" pitchFamily="18" charset="0"/>
                <a:cs typeface="Times New Roman" panose="02020603050405020304" pitchFamily="18" charset="0"/>
              </a:rPr>
              <a:t>HTML DOM model is constructed as a tree of Objects:</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2807255" y="2673714"/>
            <a:ext cx="7032274" cy="3632656"/>
          </a:xfrm>
          <a:prstGeom prst="rect">
            <a:avLst/>
          </a:prstGeom>
        </p:spPr>
      </p:pic>
    </p:spTree>
    <p:extLst>
      <p:ext uri="{BB962C8B-B14F-4D97-AF65-F5344CB8AC3E}">
        <p14:creationId xmlns:p14="http://schemas.microsoft.com/office/powerpoint/2010/main" val="584626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文本框 3"/>
          <p:cNvSpPr txBox="1"/>
          <p:nvPr/>
        </p:nvSpPr>
        <p:spPr>
          <a:xfrm>
            <a:off x="833398" y="1740266"/>
            <a:ext cx="10917284" cy="461665"/>
          </a:xfrm>
          <a:prstGeom prst="rect">
            <a:avLst/>
          </a:prstGeom>
          <a:noFill/>
        </p:spPr>
        <p:txBody>
          <a:bodyPr wrap="none" rtlCol="0">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With the object model, JavaScript gets all the power it needs to create dynamic HTML:</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
        <p:nvSpPr>
          <p:cNvPr id="5" name="文本框 4"/>
          <p:cNvSpPr txBox="1"/>
          <p:nvPr/>
        </p:nvSpPr>
        <p:spPr>
          <a:xfrm>
            <a:off x="940038" y="2627366"/>
            <a:ext cx="9413963" cy="3416320"/>
          </a:xfrm>
          <a:prstGeom prst="rect">
            <a:avLst/>
          </a:prstGeom>
          <a:noFill/>
        </p:spPr>
        <p:txBody>
          <a:bodyPr wrap="square" rtlCol="0">
            <a:spAutoFit/>
          </a:bodyPr>
          <a:lstStyle/>
          <a:p>
            <a:pPr marL="285750" indent="-285750">
              <a:buFont typeface="Arial" panose="020B0604020202020204" pitchFamily="34" charset="0"/>
              <a:buChar char="•"/>
            </a:pPr>
            <a:r>
              <a:rPr lang="en-US" altLang="zh-CN" sz="2800" dirty="0">
                <a:solidFill>
                  <a:schemeClr val="bg1"/>
                </a:solidFill>
                <a:latin typeface="Times New Roman" panose="02020603050405020304" pitchFamily="18" charset="0"/>
                <a:cs typeface="Times New Roman" panose="02020603050405020304" pitchFamily="18" charset="0"/>
              </a:rPr>
              <a:t>JavaScript can change all the HTML elements in the page</a:t>
            </a:r>
          </a:p>
          <a:p>
            <a:pPr marL="285750" indent="-285750">
              <a:buFont typeface="Arial" panose="020B0604020202020204" pitchFamily="34" charset="0"/>
              <a:buChar char="•"/>
            </a:pPr>
            <a:r>
              <a:rPr lang="en-US" altLang="zh-CN" sz="2800" dirty="0">
                <a:solidFill>
                  <a:schemeClr val="bg1"/>
                </a:solidFill>
                <a:latin typeface="Times New Roman" panose="02020603050405020304" pitchFamily="18" charset="0"/>
                <a:cs typeface="Times New Roman" panose="02020603050405020304" pitchFamily="18" charset="0"/>
              </a:rPr>
              <a:t>JavaScript can change all the HTML attributes in the page</a:t>
            </a:r>
          </a:p>
          <a:p>
            <a:pPr marL="285750" indent="-285750">
              <a:buFont typeface="Arial" panose="020B0604020202020204" pitchFamily="34" charset="0"/>
              <a:buChar char="•"/>
            </a:pPr>
            <a:r>
              <a:rPr lang="en-US" altLang="zh-CN" sz="2800" dirty="0">
                <a:solidFill>
                  <a:schemeClr val="bg1"/>
                </a:solidFill>
                <a:latin typeface="Times New Roman" panose="02020603050405020304" pitchFamily="18" charset="0"/>
                <a:cs typeface="Times New Roman" panose="02020603050405020304" pitchFamily="18" charset="0"/>
              </a:rPr>
              <a:t>JavaScript can change all the CSS styles in the page</a:t>
            </a:r>
          </a:p>
          <a:p>
            <a:pPr marL="285750" indent="-285750">
              <a:buFont typeface="Arial" panose="020B0604020202020204" pitchFamily="34" charset="0"/>
              <a:buChar char="•"/>
            </a:pPr>
            <a:r>
              <a:rPr lang="en-US" altLang="zh-CN" sz="2800" dirty="0">
                <a:solidFill>
                  <a:schemeClr val="bg1"/>
                </a:solidFill>
                <a:latin typeface="Times New Roman" panose="02020603050405020304" pitchFamily="18" charset="0"/>
                <a:cs typeface="Times New Roman" panose="02020603050405020304" pitchFamily="18" charset="0"/>
              </a:rPr>
              <a:t>JavaScript can remove existing HTML elements and attributes</a:t>
            </a:r>
          </a:p>
          <a:p>
            <a:pPr marL="285750" indent="-285750">
              <a:buFont typeface="Arial" panose="020B0604020202020204" pitchFamily="34" charset="0"/>
              <a:buChar char="•"/>
            </a:pPr>
            <a:r>
              <a:rPr lang="en-US" altLang="zh-CN" sz="2800" dirty="0">
                <a:solidFill>
                  <a:schemeClr val="bg1"/>
                </a:solidFill>
                <a:latin typeface="Times New Roman" panose="02020603050405020304" pitchFamily="18" charset="0"/>
                <a:cs typeface="Times New Roman" panose="02020603050405020304" pitchFamily="18" charset="0"/>
              </a:rPr>
              <a:t>JavaScript can add new HTML elements and attributes</a:t>
            </a:r>
          </a:p>
          <a:p>
            <a:pPr marL="285750" indent="-285750">
              <a:buFont typeface="Arial" panose="020B0604020202020204" pitchFamily="34" charset="0"/>
              <a:buChar char="•"/>
            </a:pPr>
            <a:r>
              <a:rPr lang="en-US" altLang="zh-CN" sz="2800" dirty="0">
                <a:solidFill>
                  <a:schemeClr val="bg1"/>
                </a:solidFill>
                <a:latin typeface="Times New Roman" panose="02020603050405020304" pitchFamily="18" charset="0"/>
                <a:cs typeface="Times New Roman" panose="02020603050405020304" pitchFamily="18" charset="0"/>
              </a:rPr>
              <a:t>JavaScript can react to all existing HTML events in the page</a:t>
            </a:r>
          </a:p>
          <a:p>
            <a:pPr marL="285750" indent="-285750">
              <a:buFont typeface="Arial" panose="020B0604020202020204" pitchFamily="34" charset="0"/>
              <a:buChar char="•"/>
            </a:pPr>
            <a:r>
              <a:rPr lang="en-US" altLang="zh-CN" sz="2800" dirty="0">
                <a:solidFill>
                  <a:schemeClr val="bg1"/>
                </a:solidFill>
                <a:latin typeface="Times New Roman" panose="02020603050405020304" pitchFamily="18" charset="0"/>
                <a:cs typeface="Times New Roman" panose="02020603050405020304" pitchFamily="18" charset="0"/>
              </a:rPr>
              <a:t>JavaScript can create new HTML events in the page</a:t>
            </a:r>
          </a:p>
          <a:p>
            <a:endParaRPr lang="zh-CN" altLang="en-US" sz="2000" dirty="0">
              <a:solidFill>
                <a:schemeClr val="bg1"/>
              </a:solidFill>
            </a:endParaRPr>
          </a:p>
        </p:txBody>
      </p:sp>
      <p:sp>
        <p:nvSpPr>
          <p:cNvPr id="6" name="矩形 5"/>
          <p:cNvSpPr/>
          <p:nvPr/>
        </p:nvSpPr>
        <p:spPr>
          <a:xfrm>
            <a:off x="1838015" y="344708"/>
            <a:ext cx="8515986" cy="64633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HTML DOM (Document</a:t>
            </a:r>
            <a:r>
              <a:rPr kumimoji="0" lang="en-US" altLang="zh-CN" sz="3600" b="0" i="0" u="none" strike="noStrike" kern="1200" cap="none" spc="0" normalizeH="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Object Model</a:t>
            </a: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1728192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2742102" y="251752"/>
            <a:ext cx="6707798"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JavaScript - HTML DOM Methods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854536" y="1306676"/>
            <a:ext cx="10692450" cy="1938992"/>
          </a:xfrm>
          <a:prstGeom prst="rect">
            <a:avLst/>
          </a:prstGeom>
        </p:spPr>
        <p:txBody>
          <a:bodyPr wrap="square">
            <a:spAutoFit/>
          </a:bodyPr>
          <a:lstStyle/>
          <a:p>
            <a:pPr marL="342900" lvl="0" indent="-342900" algn="just">
              <a:buFont typeface="Wingdings" panose="05000000000000000000" pitchFamily="2" charset="2"/>
              <a:buChar char="l"/>
              <a:defRPr/>
            </a:pPr>
            <a:r>
              <a:rPr lang="en-US" altLang="zh-CN" sz="2400" dirty="0">
                <a:solidFill>
                  <a:prstClr val="white"/>
                </a:solidFill>
                <a:latin typeface="Times New Roman" panose="02020603050405020304" pitchFamily="18" charset="0"/>
                <a:cs typeface="Times New Roman" panose="02020603050405020304" pitchFamily="18" charset="0"/>
              </a:rPr>
              <a:t>HTML DOM methods are actions you can perform (on HTML Elements).</a:t>
            </a:r>
          </a:p>
          <a:p>
            <a:pPr marL="342900" lvl="0" indent="-342900" algn="just">
              <a:buFont typeface="Wingdings" panose="05000000000000000000" pitchFamily="2" charset="2"/>
              <a:buChar char="l"/>
              <a:defRPr/>
            </a:pPr>
            <a:endParaRPr lang="en-US" altLang="zh-CN" sz="2400" dirty="0">
              <a:solidFill>
                <a:prstClr val="white"/>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l"/>
              <a:defRPr/>
            </a:pPr>
            <a:r>
              <a:rPr lang="en-US" altLang="zh-CN" sz="2400" dirty="0">
                <a:solidFill>
                  <a:prstClr val="white"/>
                </a:solidFill>
                <a:latin typeface="Times New Roman" panose="02020603050405020304" pitchFamily="18" charset="0"/>
                <a:cs typeface="Times New Roman" panose="02020603050405020304" pitchFamily="18" charset="0"/>
              </a:rPr>
              <a:t>HTML DOM properties are values (of HTML Elements) that you can set or change</a:t>
            </a:r>
            <a:r>
              <a:rPr lang="en-US" altLang="zh-CN" sz="2400" dirty="0" smtClean="0">
                <a:solidFill>
                  <a:prstClr val="white"/>
                </a:solidFill>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l"/>
              <a:defRPr/>
            </a:pPr>
            <a:endParaRPr lang="en-US" altLang="zh-CN" sz="2400" dirty="0" smtClean="0">
              <a:solidFill>
                <a:schemeClr val="bg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l"/>
              <a:defRPr/>
            </a:pPr>
            <a:r>
              <a:rPr lang="en-US" altLang="zh-CN" sz="2400" dirty="0" smtClean="0">
                <a:solidFill>
                  <a:schemeClr val="bg1"/>
                </a:solidFill>
                <a:latin typeface="Times New Roman" panose="02020603050405020304" pitchFamily="18" charset="0"/>
                <a:cs typeface="Times New Roman" panose="02020603050405020304" pitchFamily="18" charset="0"/>
              </a:rPr>
              <a:t>The </a:t>
            </a:r>
            <a:r>
              <a:rPr lang="en-US" altLang="zh-CN" sz="2400" dirty="0">
                <a:solidFill>
                  <a:schemeClr val="bg1"/>
                </a:solidFill>
                <a:latin typeface="Times New Roman" panose="02020603050405020304" pitchFamily="18" charset="0"/>
                <a:cs typeface="Times New Roman" panose="02020603050405020304" pitchFamily="18" charset="0"/>
              </a:rPr>
              <a:t>DOM Programming </a:t>
            </a:r>
            <a:r>
              <a:rPr lang="en-US" altLang="zh-CN" sz="2400" dirty="0" smtClean="0">
                <a:solidFill>
                  <a:schemeClr val="bg1"/>
                </a:solidFill>
                <a:latin typeface="Times New Roman" panose="02020603050405020304" pitchFamily="18" charset="0"/>
                <a:cs typeface="Times New Roman" panose="02020603050405020304" pitchFamily="18" charset="0"/>
              </a:rPr>
              <a:t>Interface</a:t>
            </a:r>
            <a:r>
              <a:rPr lang="zh-CN" altLang="en-US" sz="2400" dirty="0">
                <a:solidFill>
                  <a:prstClr val="white"/>
                </a:solidFill>
                <a:latin typeface="Times New Roman" panose="02020603050405020304" pitchFamily="18" charset="0"/>
                <a:ea typeface="等线" panose="02010600030101010101" pitchFamily="2" charset="-122"/>
                <a:cs typeface="Times New Roman" panose="02020603050405020304" pitchFamily="18" charset="0"/>
              </a:rPr>
              <a:t>：</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
        <p:nvSpPr>
          <p:cNvPr id="7" name="文本框 6"/>
          <p:cNvSpPr txBox="1"/>
          <p:nvPr/>
        </p:nvSpPr>
        <p:spPr>
          <a:xfrm>
            <a:off x="1264521" y="3566373"/>
            <a:ext cx="10040787" cy="2677656"/>
          </a:xfrm>
          <a:prstGeom prst="rect">
            <a:avLst/>
          </a:prstGeom>
          <a:noFill/>
        </p:spPr>
        <p:txBody>
          <a:bodyPr wrap="square" rtlCol="0">
            <a:spAutoFit/>
          </a:bodyPr>
          <a:lstStyle/>
          <a:p>
            <a:pPr marL="342900" indent="-342900">
              <a:buFont typeface="Wingdings" panose="05000000000000000000" pitchFamily="2" charset="2"/>
              <a:buChar char="ü"/>
            </a:pPr>
            <a:r>
              <a:rPr lang="en-US" altLang="zh-CN" sz="2400" dirty="0">
                <a:solidFill>
                  <a:schemeClr val="bg1"/>
                </a:solidFill>
                <a:latin typeface="Times New Roman" panose="02020603050405020304" pitchFamily="18" charset="0"/>
                <a:cs typeface="Times New Roman" panose="02020603050405020304" pitchFamily="18" charset="0"/>
              </a:rPr>
              <a:t>The HTML DOM can be accessed with JavaScript (and with other programming languages).</a:t>
            </a:r>
          </a:p>
          <a:p>
            <a:pPr marL="342900" indent="-342900">
              <a:buFont typeface="Wingdings" panose="05000000000000000000" pitchFamily="2" charset="2"/>
              <a:buChar char="ü"/>
            </a:pPr>
            <a:r>
              <a:rPr lang="en-US" altLang="zh-CN" sz="2400" dirty="0">
                <a:solidFill>
                  <a:schemeClr val="bg1"/>
                </a:solidFill>
                <a:latin typeface="Times New Roman" panose="02020603050405020304" pitchFamily="18" charset="0"/>
                <a:cs typeface="Times New Roman" panose="02020603050405020304" pitchFamily="18" charset="0"/>
              </a:rPr>
              <a:t>In the DOM, all HTML elements are defined as </a:t>
            </a:r>
            <a:r>
              <a:rPr lang="en-US" altLang="zh-CN" sz="2400" b="1" dirty="0">
                <a:solidFill>
                  <a:schemeClr val="bg1"/>
                </a:solidFill>
                <a:latin typeface="Times New Roman" panose="02020603050405020304" pitchFamily="18" charset="0"/>
                <a:cs typeface="Times New Roman" panose="02020603050405020304" pitchFamily="18" charset="0"/>
              </a:rPr>
              <a:t>objects</a:t>
            </a:r>
            <a:r>
              <a:rPr lang="en-US" altLang="zh-CN" sz="2400" dirty="0">
                <a:solidFill>
                  <a:schemeClr val="bg1"/>
                </a:solidFill>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ü"/>
            </a:pPr>
            <a:r>
              <a:rPr lang="en-US" altLang="zh-CN" sz="2400" dirty="0">
                <a:solidFill>
                  <a:schemeClr val="bg1"/>
                </a:solidFill>
                <a:latin typeface="Times New Roman" panose="02020603050405020304" pitchFamily="18" charset="0"/>
                <a:cs typeface="Times New Roman" panose="02020603050405020304" pitchFamily="18" charset="0"/>
              </a:rPr>
              <a:t>The programming interface is the properties and methods of each object.</a:t>
            </a:r>
          </a:p>
          <a:p>
            <a:pPr marL="342900" indent="-342900">
              <a:buFont typeface="Wingdings" panose="05000000000000000000" pitchFamily="2" charset="2"/>
              <a:buChar char="ü"/>
            </a:pPr>
            <a:r>
              <a:rPr lang="en-US" altLang="zh-CN" sz="2400" dirty="0">
                <a:solidFill>
                  <a:schemeClr val="bg1"/>
                </a:solidFill>
                <a:latin typeface="Times New Roman" panose="02020603050405020304" pitchFamily="18" charset="0"/>
                <a:cs typeface="Times New Roman" panose="02020603050405020304" pitchFamily="18" charset="0"/>
              </a:rPr>
              <a:t>A </a:t>
            </a:r>
            <a:r>
              <a:rPr lang="en-US" altLang="zh-CN" sz="2400" b="1" dirty="0">
                <a:solidFill>
                  <a:schemeClr val="bg1"/>
                </a:solidFill>
                <a:latin typeface="Times New Roman" panose="02020603050405020304" pitchFamily="18" charset="0"/>
                <a:cs typeface="Times New Roman" panose="02020603050405020304" pitchFamily="18" charset="0"/>
              </a:rPr>
              <a:t>property</a:t>
            </a:r>
            <a:r>
              <a:rPr lang="en-US" altLang="zh-CN" sz="2400" dirty="0">
                <a:solidFill>
                  <a:schemeClr val="bg1"/>
                </a:solidFill>
                <a:latin typeface="Times New Roman" panose="02020603050405020304" pitchFamily="18" charset="0"/>
                <a:cs typeface="Times New Roman" panose="02020603050405020304" pitchFamily="18" charset="0"/>
              </a:rPr>
              <a:t> is a value that you can get or set (like changing the content of an HTML element).</a:t>
            </a:r>
          </a:p>
          <a:p>
            <a:pPr marL="342900" indent="-342900">
              <a:buFont typeface="Wingdings" panose="05000000000000000000" pitchFamily="2" charset="2"/>
              <a:buChar char="ü"/>
            </a:pPr>
            <a:r>
              <a:rPr lang="en-US" altLang="zh-CN" sz="2400" dirty="0">
                <a:solidFill>
                  <a:schemeClr val="bg1"/>
                </a:solidFill>
                <a:latin typeface="Times New Roman" panose="02020603050405020304" pitchFamily="18" charset="0"/>
                <a:cs typeface="Times New Roman" panose="02020603050405020304" pitchFamily="18" charset="0"/>
              </a:rPr>
              <a:t>A </a:t>
            </a:r>
            <a:r>
              <a:rPr lang="en-US" altLang="zh-CN" sz="2400" b="1" dirty="0">
                <a:solidFill>
                  <a:schemeClr val="bg1"/>
                </a:solidFill>
                <a:latin typeface="Times New Roman" panose="02020603050405020304" pitchFamily="18" charset="0"/>
                <a:cs typeface="Times New Roman" panose="02020603050405020304" pitchFamily="18" charset="0"/>
              </a:rPr>
              <a:t>method</a:t>
            </a:r>
            <a:r>
              <a:rPr lang="en-US" altLang="zh-CN" sz="2400" dirty="0">
                <a:solidFill>
                  <a:schemeClr val="bg1"/>
                </a:solidFill>
                <a:latin typeface="Times New Roman" panose="02020603050405020304" pitchFamily="18" charset="0"/>
                <a:cs typeface="Times New Roman" panose="02020603050405020304" pitchFamily="18" charset="0"/>
              </a:rPr>
              <a:t> is an action you can do (like add or deleting an HTML element</a:t>
            </a:r>
            <a:r>
              <a:rPr lang="en-US" altLang="zh-CN" sz="2400" dirty="0" smtClean="0">
                <a:solidFill>
                  <a:schemeClr val="bg1"/>
                </a:solidFill>
                <a:latin typeface="Times New Roman" panose="02020603050405020304" pitchFamily="18" charset="0"/>
                <a:cs typeface="Times New Roman" panose="02020603050405020304" pitchFamily="18" charset="0"/>
              </a:rPr>
              <a:t>).</a:t>
            </a:r>
            <a:endParaRPr lang="en-US" altLang="zh-C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7405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矩形 2"/>
          <p:cNvSpPr/>
          <p:nvPr/>
        </p:nvSpPr>
        <p:spPr>
          <a:xfrm>
            <a:off x="245119" y="993757"/>
            <a:ext cx="11701763" cy="954107"/>
          </a:xfrm>
          <a:prstGeom prst="rect">
            <a:avLst/>
          </a:prstGeom>
        </p:spPr>
        <p:txBody>
          <a:bodyPr wrap="square">
            <a:spAutoFit/>
          </a:bodyPr>
          <a:lstStyle/>
          <a:p>
            <a:pPr algn="just">
              <a:defRPr/>
            </a:pPr>
            <a:r>
              <a:rPr lang="en-US" altLang="zh-CN" sz="2800" dirty="0">
                <a:solidFill>
                  <a:prstClr val="white"/>
                </a:solidFill>
                <a:latin typeface="Times New Roman" panose="02020603050405020304" pitchFamily="18" charset="0"/>
                <a:cs typeface="Times New Roman" panose="02020603050405020304" pitchFamily="18" charset="0"/>
              </a:rPr>
              <a:t>The following example changes the content (the </a:t>
            </a:r>
            <a:r>
              <a:rPr lang="en-US" altLang="zh-CN" sz="2800" dirty="0" err="1">
                <a:solidFill>
                  <a:prstClr val="white"/>
                </a:solidFill>
                <a:latin typeface="Times New Roman" panose="02020603050405020304" pitchFamily="18" charset="0"/>
                <a:cs typeface="Times New Roman" panose="02020603050405020304" pitchFamily="18" charset="0"/>
              </a:rPr>
              <a:t>innerHTML</a:t>
            </a:r>
            <a:r>
              <a:rPr lang="en-US" altLang="zh-CN" sz="2800" dirty="0">
                <a:solidFill>
                  <a:prstClr val="white"/>
                </a:solidFill>
                <a:latin typeface="Times New Roman" panose="02020603050405020304" pitchFamily="18" charset="0"/>
                <a:cs typeface="Times New Roman" panose="02020603050405020304" pitchFamily="18" charset="0"/>
              </a:rPr>
              <a:t>) of the &lt;p&gt; element with id</a:t>
            </a:r>
            <a:r>
              <a:rPr lang="en-US" altLang="zh-CN" sz="2800" dirty="0" smtClean="0">
                <a:solidFill>
                  <a:prstClr val="white"/>
                </a:solidFill>
                <a:latin typeface="Times New Roman" panose="02020603050405020304" pitchFamily="18" charset="0"/>
                <a:cs typeface="Times New Roman" panose="02020603050405020304" pitchFamily="18" charset="0"/>
              </a:rPr>
              <a:t>=“demo”, </a:t>
            </a:r>
            <a:r>
              <a:rPr lang="en-US" altLang="zh-CN" sz="2800" dirty="0" err="1" smtClean="0">
                <a:solidFill>
                  <a:prstClr val="white"/>
                </a:solidFill>
                <a:latin typeface="Times New Roman" panose="02020603050405020304" pitchFamily="18" charset="0"/>
                <a:cs typeface="Times New Roman" panose="02020603050405020304" pitchFamily="18" charset="0"/>
              </a:rPr>
              <a:t>getElementById</a:t>
            </a:r>
            <a:r>
              <a:rPr lang="en-US" altLang="zh-CN" sz="2800" dirty="0" smtClean="0">
                <a:solidFill>
                  <a:prstClr val="white"/>
                </a:solidFill>
                <a:latin typeface="Times New Roman" panose="02020603050405020304" pitchFamily="18" charset="0"/>
                <a:cs typeface="Times New Roman" panose="02020603050405020304" pitchFamily="18" charset="0"/>
              </a:rPr>
              <a:t> </a:t>
            </a:r>
            <a:r>
              <a:rPr lang="en-US" altLang="zh-CN" sz="2800" dirty="0">
                <a:solidFill>
                  <a:prstClr val="white"/>
                </a:solidFill>
                <a:latin typeface="Times New Roman" panose="02020603050405020304" pitchFamily="18" charset="0"/>
                <a:cs typeface="Times New Roman" panose="02020603050405020304" pitchFamily="18" charset="0"/>
              </a:rPr>
              <a:t>is a method, </a:t>
            </a:r>
            <a:r>
              <a:rPr lang="en-US" altLang="zh-CN" sz="2800" dirty="0" err="1" smtClean="0">
                <a:solidFill>
                  <a:prstClr val="white"/>
                </a:solidFill>
                <a:latin typeface="Times New Roman" panose="02020603050405020304" pitchFamily="18" charset="0"/>
                <a:cs typeface="Times New Roman" panose="02020603050405020304" pitchFamily="18" charset="0"/>
              </a:rPr>
              <a:t>innerHTML</a:t>
            </a:r>
            <a:r>
              <a:rPr lang="en-US" altLang="zh-CN" sz="2800" dirty="0" smtClean="0">
                <a:solidFill>
                  <a:prstClr val="white"/>
                </a:solidFill>
                <a:latin typeface="Times New Roman" panose="02020603050405020304" pitchFamily="18" charset="0"/>
                <a:cs typeface="Times New Roman" panose="02020603050405020304" pitchFamily="18" charset="0"/>
              </a:rPr>
              <a:t> </a:t>
            </a:r>
            <a:r>
              <a:rPr lang="en-US" altLang="zh-CN" sz="2800" dirty="0">
                <a:solidFill>
                  <a:prstClr val="white"/>
                </a:solidFill>
                <a:latin typeface="Times New Roman" panose="02020603050405020304" pitchFamily="18" charset="0"/>
                <a:cs typeface="Times New Roman" panose="02020603050405020304" pitchFamily="18" charset="0"/>
              </a:rPr>
              <a:t>is a property</a:t>
            </a:r>
            <a:r>
              <a:rPr lang="en-US" altLang="zh-CN" sz="2800" dirty="0" smtClean="0">
                <a:solidFill>
                  <a:prstClr val="white"/>
                </a:solidFill>
                <a:latin typeface="Times New Roman" panose="02020603050405020304" pitchFamily="18" charset="0"/>
                <a:cs typeface="Times New Roman" panose="02020603050405020304" pitchFamily="18" charset="0"/>
              </a:rPr>
              <a:t>.</a:t>
            </a:r>
            <a:endParaRPr lang="zh-CN" altLang="en-US" sz="2800" dirty="0">
              <a:solidFill>
                <a:prstClr val="white"/>
              </a:solidFill>
              <a:latin typeface="Times New Roman" panose="02020603050405020304" pitchFamily="18" charset="0"/>
              <a:cs typeface="Times New Roman" panose="02020603050405020304" pitchFamily="18" charset="0"/>
            </a:endParaRPr>
          </a:p>
        </p:txBody>
      </p:sp>
      <p:sp>
        <p:nvSpPr>
          <p:cNvPr id="9" name="矩形 8"/>
          <p:cNvSpPr/>
          <p:nvPr/>
        </p:nvSpPr>
        <p:spPr>
          <a:xfrm>
            <a:off x="2742102" y="138535"/>
            <a:ext cx="6707798"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JavaScript - HTML DOM Methods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13" name="图片 12"/>
          <p:cNvPicPr>
            <a:picLocks noChangeAspect="1"/>
          </p:cNvPicPr>
          <p:nvPr/>
        </p:nvPicPr>
        <p:blipFill>
          <a:blip r:embed="rId2"/>
          <a:stretch>
            <a:fillRect/>
          </a:stretch>
        </p:blipFill>
        <p:spPr>
          <a:xfrm>
            <a:off x="908004" y="2074595"/>
            <a:ext cx="5438337" cy="2523049"/>
          </a:xfrm>
          <a:prstGeom prst="rect">
            <a:avLst/>
          </a:prstGeom>
        </p:spPr>
      </p:pic>
      <p:pic>
        <p:nvPicPr>
          <p:cNvPr id="14" name="图片 13"/>
          <p:cNvPicPr>
            <a:picLocks noChangeAspect="1"/>
          </p:cNvPicPr>
          <p:nvPr/>
        </p:nvPicPr>
        <p:blipFill>
          <a:blip r:embed="rId3"/>
          <a:stretch>
            <a:fillRect/>
          </a:stretch>
        </p:blipFill>
        <p:spPr>
          <a:xfrm>
            <a:off x="8182069" y="2288219"/>
            <a:ext cx="2535661" cy="1047901"/>
          </a:xfrm>
          <a:prstGeom prst="rect">
            <a:avLst/>
          </a:prstGeom>
        </p:spPr>
      </p:pic>
      <p:sp>
        <p:nvSpPr>
          <p:cNvPr id="2" name="矩形 1"/>
          <p:cNvSpPr/>
          <p:nvPr/>
        </p:nvSpPr>
        <p:spPr>
          <a:xfrm>
            <a:off x="495645" y="4937999"/>
            <a:ext cx="11308428" cy="1569660"/>
          </a:xfrm>
          <a:prstGeom prst="rect">
            <a:avLst/>
          </a:prstGeom>
        </p:spPr>
        <p:txBody>
          <a:bodyPr wrap="square">
            <a:spAutoFit/>
          </a:bodyPr>
          <a:lstStyle/>
          <a:p>
            <a:pPr marL="571500" lvl="0" indent="-571500" algn="just">
              <a:buFont typeface="Wingdings" panose="05000000000000000000" pitchFamily="2" charset="2"/>
              <a:buChar char="l"/>
              <a:defRPr/>
            </a:pPr>
            <a:r>
              <a:rPr lang="en-US" altLang="zh-CN" sz="2400" dirty="0">
                <a:solidFill>
                  <a:prstClr val="white"/>
                </a:solidFill>
                <a:latin typeface="Times New Roman" panose="02020603050405020304" pitchFamily="18" charset="0"/>
                <a:cs typeface="Times New Roman" panose="02020603050405020304" pitchFamily="18" charset="0"/>
              </a:rPr>
              <a:t>The </a:t>
            </a:r>
            <a:r>
              <a:rPr lang="en-US" altLang="zh-CN" sz="2400" dirty="0" err="1">
                <a:solidFill>
                  <a:prstClr val="white"/>
                </a:solidFill>
                <a:latin typeface="Times New Roman" panose="02020603050405020304" pitchFamily="18" charset="0"/>
                <a:cs typeface="Times New Roman" panose="02020603050405020304" pitchFamily="18" charset="0"/>
              </a:rPr>
              <a:t>getElementById</a:t>
            </a:r>
            <a:r>
              <a:rPr lang="en-US" altLang="zh-CN" sz="2400" dirty="0">
                <a:solidFill>
                  <a:prstClr val="white"/>
                </a:solidFill>
                <a:latin typeface="Times New Roman" panose="02020603050405020304" pitchFamily="18" charset="0"/>
                <a:cs typeface="Times New Roman" panose="02020603050405020304" pitchFamily="18" charset="0"/>
              </a:rPr>
              <a:t> Method</a:t>
            </a:r>
            <a:r>
              <a:rPr lang="zh-CN" altLang="en-US" sz="2400" dirty="0">
                <a:solidFill>
                  <a:prstClr val="white"/>
                </a:solidFill>
                <a:latin typeface="Times New Roman" panose="02020603050405020304" pitchFamily="18" charset="0"/>
                <a:cs typeface="Times New Roman" panose="02020603050405020304" pitchFamily="18" charset="0"/>
              </a:rPr>
              <a:t>：</a:t>
            </a:r>
            <a:r>
              <a:rPr lang="en-US" altLang="zh-CN" sz="2400" dirty="0">
                <a:solidFill>
                  <a:prstClr val="white"/>
                </a:solidFill>
                <a:latin typeface="Times New Roman" panose="02020603050405020304" pitchFamily="18" charset="0"/>
                <a:cs typeface="Times New Roman" panose="02020603050405020304" pitchFamily="18" charset="0"/>
              </a:rPr>
              <a:t>The most common way to access an HTML element is to use the id of the element.</a:t>
            </a:r>
          </a:p>
          <a:p>
            <a:pPr marL="571500" indent="-571500" algn="just">
              <a:buFont typeface="Wingdings" panose="05000000000000000000" pitchFamily="2" charset="2"/>
              <a:buChar char="l"/>
              <a:defRPr/>
            </a:pPr>
            <a:r>
              <a:rPr lang="en-US" altLang="zh-CN" sz="2400" dirty="0" err="1">
                <a:solidFill>
                  <a:prstClr val="white"/>
                </a:solidFill>
                <a:latin typeface="Times New Roman" panose="02020603050405020304" pitchFamily="18" charset="0"/>
                <a:cs typeface="Times New Roman" panose="02020603050405020304" pitchFamily="18" charset="0"/>
              </a:rPr>
              <a:t>innerHTML</a:t>
            </a:r>
            <a:r>
              <a:rPr lang="zh-CN" altLang="en-US" sz="2400" dirty="0">
                <a:solidFill>
                  <a:prstClr val="white"/>
                </a:solidFill>
                <a:latin typeface="Times New Roman" panose="02020603050405020304" pitchFamily="18" charset="0"/>
                <a:cs typeface="Times New Roman" panose="02020603050405020304" pitchFamily="18" charset="0"/>
              </a:rPr>
              <a:t>：</a:t>
            </a:r>
            <a:r>
              <a:rPr lang="en-US" altLang="zh-CN" sz="2400" dirty="0">
                <a:solidFill>
                  <a:prstClr val="white"/>
                </a:solidFill>
                <a:latin typeface="Times New Roman" panose="02020603050405020304" pitchFamily="18" charset="0"/>
                <a:cs typeface="Times New Roman" panose="02020603050405020304" pitchFamily="18" charset="0"/>
              </a:rPr>
              <a:t>The easiest way to get the content of an element is by using the </a:t>
            </a:r>
            <a:r>
              <a:rPr lang="en-US" altLang="zh-CN" sz="2400" dirty="0" err="1">
                <a:solidFill>
                  <a:prstClr val="white"/>
                </a:solidFill>
                <a:latin typeface="Times New Roman" panose="02020603050405020304" pitchFamily="18" charset="0"/>
                <a:cs typeface="Times New Roman" panose="02020603050405020304" pitchFamily="18" charset="0"/>
              </a:rPr>
              <a:t>innerHTML</a:t>
            </a:r>
            <a:r>
              <a:rPr lang="en-US" altLang="zh-CN" sz="2400" dirty="0">
                <a:solidFill>
                  <a:prstClr val="white"/>
                </a:solidFill>
                <a:latin typeface="Times New Roman" panose="02020603050405020304" pitchFamily="18" charset="0"/>
                <a:cs typeface="Times New Roman" panose="02020603050405020304" pitchFamily="18" charset="0"/>
              </a:rPr>
              <a:t> property.</a:t>
            </a:r>
          </a:p>
        </p:txBody>
      </p:sp>
    </p:spTree>
    <p:extLst>
      <p:ext uri="{BB962C8B-B14F-4D97-AF65-F5344CB8AC3E}">
        <p14:creationId xmlns:p14="http://schemas.microsoft.com/office/powerpoint/2010/main" val="102109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矩形 5"/>
          <p:cNvSpPr/>
          <p:nvPr/>
        </p:nvSpPr>
        <p:spPr>
          <a:xfrm>
            <a:off x="2742102" y="138535"/>
            <a:ext cx="6707798"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JavaScript - HTML DOM Methods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矩形 6"/>
          <p:cNvSpPr/>
          <p:nvPr/>
        </p:nvSpPr>
        <p:spPr>
          <a:xfrm>
            <a:off x="163429" y="1079009"/>
            <a:ext cx="3307316" cy="461665"/>
          </a:xfrm>
          <a:prstGeom prst="rect">
            <a:avLst/>
          </a:prstGeom>
        </p:spPr>
        <p:txBody>
          <a:bodyPr wrap="none">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Finding HTML Elements</a:t>
            </a:r>
          </a:p>
        </p:txBody>
      </p:sp>
      <p:pic>
        <p:nvPicPr>
          <p:cNvPr id="8" name="图片 7"/>
          <p:cNvPicPr>
            <a:picLocks noChangeAspect="1"/>
          </p:cNvPicPr>
          <p:nvPr/>
        </p:nvPicPr>
        <p:blipFill>
          <a:blip r:embed="rId2"/>
          <a:stretch>
            <a:fillRect/>
          </a:stretch>
        </p:blipFill>
        <p:spPr>
          <a:xfrm>
            <a:off x="163429" y="1643581"/>
            <a:ext cx="11990476" cy="1466667"/>
          </a:xfrm>
          <a:prstGeom prst="rect">
            <a:avLst/>
          </a:prstGeom>
        </p:spPr>
      </p:pic>
      <p:sp>
        <p:nvSpPr>
          <p:cNvPr id="9" name="矩形 8"/>
          <p:cNvSpPr/>
          <p:nvPr/>
        </p:nvSpPr>
        <p:spPr>
          <a:xfrm>
            <a:off x="163429" y="3355597"/>
            <a:ext cx="3537956" cy="461665"/>
          </a:xfrm>
          <a:prstGeom prst="rect">
            <a:avLst/>
          </a:prstGeom>
        </p:spPr>
        <p:txBody>
          <a:bodyPr wrap="none">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Changing HTML Elements</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3"/>
          <a:stretch>
            <a:fillRect/>
          </a:stretch>
        </p:blipFill>
        <p:spPr>
          <a:xfrm>
            <a:off x="163429" y="3997467"/>
            <a:ext cx="12028571" cy="2238095"/>
          </a:xfrm>
          <a:prstGeom prst="rect">
            <a:avLst/>
          </a:prstGeom>
        </p:spPr>
      </p:pic>
    </p:spTree>
    <p:extLst>
      <p:ext uri="{BB962C8B-B14F-4D97-AF65-F5344CB8AC3E}">
        <p14:creationId xmlns:p14="http://schemas.microsoft.com/office/powerpoint/2010/main" val="132866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矩形 5"/>
          <p:cNvSpPr/>
          <p:nvPr/>
        </p:nvSpPr>
        <p:spPr>
          <a:xfrm>
            <a:off x="2742102" y="138535"/>
            <a:ext cx="6707798"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JavaScript - HTML DOM Methods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矩形 6"/>
          <p:cNvSpPr/>
          <p:nvPr/>
        </p:nvSpPr>
        <p:spPr>
          <a:xfrm>
            <a:off x="56002" y="1181319"/>
            <a:ext cx="3983783" cy="461665"/>
          </a:xfrm>
          <a:prstGeom prst="rect">
            <a:avLst/>
          </a:prstGeom>
        </p:spPr>
        <p:txBody>
          <a:bodyPr wrap="none">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Adding and Deleting Elements</a:t>
            </a:r>
          </a:p>
        </p:txBody>
      </p:sp>
      <p:sp>
        <p:nvSpPr>
          <p:cNvPr id="8" name="矩形 7"/>
          <p:cNvSpPr/>
          <p:nvPr/>
        </p:nvSpPr>
        <p:spPr>
          <a:xfrm>
            <a:off x="56002" y="4629913"/>
            <a:ext cx="3307316" cy="461665"/>
          </a:xfrm>
          <a:prstGeom prst="rect">
            <a:avLst/>
          </a:prstGeom>
        </p:spPr>
        <p:txBody>
          <a:bodyPr wrap="none">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Adding Events Handlers</a:t>
            </a:r>
          </a:p>
        </p:txBody>
      </p:sp>
      <p:pic>
        <p:nvPicPr>
          <p:cNvPr id="9" name="图片 8"/>
          <p:cNvPicPr>
            <a:picLocks noChangeAspect="1"/>
          </p:cNvPicPr>
          <p:nvPr/>
        </p:nvPicPr>
        <p:blipFill>
          <a:blip r:embed="rId2"/>
          <a:stretch>
            <a:fillRect/>
          </a:stretch>
        </p:blipFill>
        <p:spPr>
          <a:xfrm>
            <a:off x="91726" y="1642984"/>
            <a:ext cx="12038095" cy="2247619"/>
          </a:xfrm>
          <a:prstGeom prst="rect">
            <a:avLst/>
          </a:prstGeom>
        </p:spPr>
      </p:pic>
      <p:pic>
        <p:nvPicPr>
          <p:cNvPr id="10" name="图片 9"/>
          <p:cNvPicPr>
            <a:picLocks noChangeAspect="1"/>
          </p:cNvPicPr>
          <p:nvPr/>
        </p:nvPicPr>
        <p:blipFill>
          <a:blip r:embed="rId3"/>
          <a:stretch>
            <a:fillRect/>
          </a:stretch>
        </p:blipFill>
        <p:spPr>
          <a:xfrm>
            <a:off x="100435" y="5300241"/>
            <a:ext cx="12038095" cy="742857"/>
          </a:xfrm>
          <a:prstGeom prst="rect">
            <a:avLst/>
          </a:prstGeom>
        </p:spPr>
      </p:pic>
    </p:spTree>
    <p:extLst>
      <p:ext uri="{BB962C8B-B14F-4D97-AF65-F5344CB8AC3E}">
        <p14:creationId xmlns:p14="http://schemas.microsoft.com/office/powerpoint/2010/main" val="2170761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2825457" y="205570"/>
            <a:ext cx="6541086"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JavaScript HTML DOM Elements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724370" y="1398567"/>
            <a:ext cx="10287000" cy="2308324"/>
          </a:xfrm>
          <a:prstGeom prst="rect">
            <a:avLst/>
          </a:prstGeom>
        </p:spPr>
        <p:txBody>
          <a:bodyPr wrap="square">
            <a:spAutoFit/>
          </a:bodyPr>
          <a:lstStyle/>
          <a:p>
            <a:pPr lvl="0" algn="just">
              <a:defRPr/>
            </a:pPr>
            <a:r>
              <a:rPr lang="en-US" altLang="zh-CN" sz="2400" b="1" dirty="0">
                <a:solidFill>
                  <a:prstClr val="white"/>
                </a:solidFill>
                <a:latin typeface="Times New Roman" panose="02020603050405020304" pitchFamily="18" charset="0"/>
                <a:cs typeface="Times New Roman" panose="02020603050405020304" pitchFamily="18" charset="0"/>
              </a:rPr>
              <a:t>Finding HTML </a:t>
            </a:r>
            <a:r>
              <a:rPr lang="en-US" altLang="zh-CN" sz="2400" b="1" dirty="0" smtClean="0">
                <a:solidFill>
                  <a:prstClr val="white"/>
                </a:solidFill>
                <a:latin typeface="Times New Roman" panose="02020603050405020304" pitchFamily="18" charset="0"/>
                <a:cs typeface="Times New Roman" panose="02020603050405020304" pitchFamily="18" charset="0"/>
              </a:rPr>
              <a:t>Elements</a:t>
            </a:r>
            <a:r>
              <a:rPr lang="zh-CN" altLang="en-US" sz="2400" b="1" dirty="0" smtClean="0">
                <a:solidFill>
                  <a:prstClr val="white"/>
                </a:solidFill>
                <a:latin typeface="Times New Roman" panose="02020603050405020304" pitchFamily="18" charset="0"/>
                <a:cs typeface="Times New Roman" panose="02020603050405020304" pitchFamily="18" charset="0"/>
              </a:rPr>
              <a:t>，</a:t>
            </a:r>
            <a:r>
              <a:rPr lang="en-US" altLang="zh-CN" sz="2000" b="1" dirty="0" smtClean="0">
                <a:solidFill>
                  <a:prstClr val="white"/>
                </a:solidFill>
                <a:latin typeface="Times New Roman" panose="02020603050405020304" pitchFamily="18" charset="0"/>
                <a:cs typeface="Times New Roman" panose="02020603050405020304" pitchFamily="18" charset="0"/>
              </a:rPr>
              <a:t>There </a:t>
            </a:r>
            <a:r>
              <a:rPr lang="en-US" altLang="zh-CN" sz="2000" b="1" dirty="0">
                <a:solidFill>
                  <a:prstClr val="white"/>
                </a:solidFill>
                <a:latin typeface="Times New Roman" panose="02020603050405020304" pitchFamily="18" charset="0"/>
                <a:cs typeface="Times New Roman" panose="02020603050405020304" pitchFamily="18" charset="0"/>
              </a:rPr>
              <a:t>are several ways to do this:</a:t>
            </a:r>
          </a:p>
          <a:p>
            <a:pPr marL="1371600" lvl="2" indent="-457200" algn="just">
              <a:buFont typeface="Arial" panose="020B0604020202020204" pitchFamily="34" charset="0"/>
              <a:buChar char="•"/>
              <a:defRPr/>
            </a:pPr>
            <a:r>
              <a:rPr lang="en-US" altLang="zh-CN" sz="2400" b="1" dirty="0">
                <a:solidFill>
                  <a:prstClr val="white"/>
                </a:solidFill>
                <a:latin typeface="Times New Roman" panose="02020603050405020304" pitchFamily="18" charset="0"/>
                <a:cs typeface="Times New Roman" panose="02020603050405020304" pitchFamily="18" charset="0"/>
              </a:rPr>
              <a:t>Finding HTML elements by id</a:t>
            </a:r>
          </a:p>
          <a:p>
            <a:pPr marL="1371600" lvl="2" indent="-457200" algn="just">
              <a:buFont typeface="Arial" panose="020B0604020202020204" pitchFamily="34" charset="0"/>
              <a:buChar char="•"/>
              <a:defRPr/>
            </a:pPr>
            <a:r>
              <a:rPr lang="en-US" altLang="zh-CN" sz="2400" b="1" dirty="0">
                <a:solidFill>
                  <a:prstClr val="white"/>
                </a:solidFill>
                <a:latin typeface="Times New Roman" panose="02020603050405020304" pitchFamily="18" charset="0"/>
                <a:cs typeface="Times New Roman" panose="02020603050405020304" pitchFamily="18" charset="0"/>
              </a:rPr>
              <a:t>Finding HTML elements by tag name</a:t>
            </a:r>
          </a:p>
          <a:p>
            <a:pPr marL="1371600" lvl="2" indent="-457200" algn="just">
              <a:buFont typeface="Arial" panose="020B0604020202020204" pitchFamily="34" charset="0"/>
              <a:buChar char="•"/>
              <a:defRPr/>
            </a:pPr>
            <a:r>
              <a:rPr lang="en-US" altLang="zh-CN" sz="2400" b="1" dirty="0">
                <a:solidFill>
                  <a:prstClr val="white"/>
                </a:solidFill>
                <a:latin typeface="Times New Roman" panose="02020603050405020304" pitchFamily="18" charset="0"/>
                <a:cs typeface="Times New Roman" panose="02020603050405020304" pitchFamily="18" charset="0"/>
              </a:rPr>
              <a:t>Finding HTML elements by class name</a:t>
            </a:r>
          </a:p>
          <a:p>
            <a:pPr marL="1371600" lvl="2" indent="-457200" algn="just">
              <a:buFont typeface="Arial" panose="020B0604020202020204" pitchFamily="34" charset="0"/>
              <a:buChar char="•"/>
              <a:defRPr/>
            </a:pPr>
            <a:r>
              <a:rPr lang="en-US" altLang="zh-CN" sz="2400" b="1" dirty="0">
                <a:solidFill>
                  <a:prstClr val="white"/>
                </a:solidFill>
                <a:latin typeface="Times New Roman" panose="02020603050405020304" pitchFamily="18" charset="0"/>
                <a:cs typeface="Times New Roman" panose="02020603050405020304" pitchFamily="18" charset="0"/>
              </a:rPr>
              <a:t>Finding HTML elements by CSS selectors</a:t>
            </a:r>
          </a:p>
          <a:p>
            <a:pPr marL="1371600" lvl="2" indent="-457200" algn="just">
              <a:buFont typeface="Arial" panose="020B0604020202020204" pitchFamily="34" charset="0"/>
              <a:buChar char="•"/>
              <a:defRPr/>
            </a:pPr>
            <a:r>
              <a:rPr lang="en-US" altLang="zh-CN" sz="2400" b="1" dirty="0">
                <a:solidFill>
                  <a:prstClr val="white"/>
                </a:solidFill>
                <a:latin typeface="Times New Roman" panose="02020603050405020304" pitchFamily="18" charset="0"/>
                <a:cs typeface="Times New Roman" panose="02020603050405020304" pitchFamily="18" charset="0"/>
              </a:rPr>
              <a:t>Finding HTML elements by HTML object collections</a:t>
            </a:r>
            <a:endPar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文本框 6"/>
          <p:cNvSpPr txBox="1"/>
          <p:nvPr/>
        </p:nvSpPr>
        <p:spPr>
          <a:xfrm>
            <a:off x="674265" y="4079266"/>
            <a:ext cx="11118989" cy="461665"/>
          </a:xfrm>
          <a:prstGeom prst="rect">
            <a:avLst/>
          </a:prstGeom>
          <a:noFill/>
        </p:spPr>
        <p:txBody>
          <a:bodyPr wrap="square" rtlCol="0">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Finding HTML Elements by Tag </a:t>
            </a:r>
            <a:r>
              <a:rPr lang="en-US" altLang="zh-CN" sz="2400" dirty="0" smtClean="0">
                <a:solidFill>
                  <a:schemeClr val="bg1"/>
                </a:solidFill>
                <a:latin typeface="Times New Roman" panose="02020603050405020304" pitchFamily="18" charset="0"/>
                <a:cs typeface="Times New Roman" panose="02020603050405020304" pitchFamily="18" charset="0"/>
              </a:rPr>
              <a:t>Name</a:t>
            </a:r>
            <a:r>
              <a:rPr lang="zh-CN" altLang="en-US" sz="2400" dirty="0" smtClean="0">
                <a:solidFill>
                  <a:schemeClr val="bg1"/>
                </a:solidFill>
                <a:latin typeface="Times New Roman" panose="02020603050405020304" pitchFamily="18" charset="0"/>
                <a:cs typeface="Times New Roman" panose="02020603050405020304" pitchFamily="18" charset="0"/>
              </a:rPr>
              <a:t>，</a:t>
            </a:r>
            <a:r>
              <a:rPr lang="en-US" altLang="zh-CN" sz="2000" dirty="0" smtClean="0">
                <a:solidFill>
                  <a:schemeClr val="bg1"/>
                </a:solidFill>
                <a:latin typeface="Times New Roman" panose="02020603050405020304" pitchFamily="18" charset="0"/>
                <a:cs typeface="Times New Roman" panose="02020603050405020304" pitchFamily="18" charset="0"/>
              </a:rPr>
              <a:t>This </a:t>
            </a:r>
            <a:r>
              <a:rPr lang="en-US" altLang="zh-CN" sz="2000" dirty="0">
                <a:solidFill>
                  <a:schemeClr val="bg1"/>
                </a:solidFill>
                <a:latin typeface="Times New Roman" panose="02020603050405020304" pitchFamily="18" charset="0"/>
                <a:cs typeface="Times New Roman" panose="02020603050405020304" pitchFamily="18" charset="0"/>
              </a:rPr>
              <a:t>example finds all &lt;p&gt; elements:</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2"/>
          <a:stretch>
            <a:fillRect/>
          </a:stretch>
        </p:blipFill>
        <p:spPr>
          <a:xfrm>
            <a:off x="2244865" y="4913306"/>
            <a:ext cx="6971005" cy="1531335"/>
          </a:xfrm>
          <a:prstGeom prst="rect">
            <a:avLst/>
          </a:prstGeom>
        </p:spPr>
      </p:pic>
    </p:spTree>
    <p:extLst>
      <p:ext uri="{BB962C8B-B14F-4D97-AF65-F5344CB8AC3E}">
        <p14:creationId xmlns:p14="http://schemas.microsoft.com/office/powerpoint/2010/main" val="1226714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矩形 7"/>
          <p:cNvSpPr/>
          <p:nvPr/>
        </p:nvSpPr>
        <p:spPr>
          <a:xfrm>
            <a:off x="2825457" y="205570"/>
            <a:ext cx="6541086"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JavaScript HTML DOM Elements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文本框 8"/>
          <p:cNvSpPr txBox="1"/>
          <p:nvPr/>
        </p:nvSpPr>
        <p:spPr>
          <a:xfrm>
            <a:off x="799573" y="935914"/>
            <a:ext cx="10887330" cy="769441"/>
          </a:xfrm>
          <a:prstGeom prst="rect">
            <a:avLst/>
          </a:prstGeom>
          <a:noFill/>
        </p:spPr>
        <p:txBody>
          <a:bodyPr wrap="square" rtlCol="0">
            <a:spAutoFit/>
          </a:bodyPr>
          <a:lstStyle/>
          <a:p>
            <a:pPr algn="just"/>
            <a:r>
              <a:rPr lang="en-US" altLang="zh-CN" sz="2400" dirty="0">
                <a:solidFill>
                  <a:schemeClr val="bg1"/>
                </a:solidFill>
                <a:latin typeface="Times New Roman" panose="02020603050405020304" pitchFamily="18" charset="0"/>
                <a:cs typeface="Times New Roman" panose="02020603050405020304" pitchFamily="18" charset="0"/>
              </a:rPr>
              <a:t>Finding HTML Elements by Class </a:t>
            </a:r>
            <a:r>
              <a:rPr lang="en-US" altLang="zh-CN" sz="2400" dirty="0" smtClean="0">
                <a:solidFill>
                  <a:schemeClr val="bg1"/>
                </a:solidFill>
                <a:latin typeface="Times New Roman" panose="02020603050405020304" pitchFamily="18" charset="0"/>
                <a:cs typeface="Times New Roman" panose="02020603050405020304" pitchFamily="18" charset="0"/>
              </a:rPr>
              <a:t>Name, </a:t>
            </a:r>
            <a:r>
              <a:rPr lang="en-US" altLang="zh-CN" sz="2000" dirty="0" smtClean="0">
                <a:solidFill>
                  <a:schemeClr val="bg1"/>
                </a:solidFill>
                <a:latin typeface="Times New Roman" panose="02020603050405020304" pitchFamily="18" charset="0"/>
                <a:cs typeface="Times New Roman" panose="02020603050405020304" pitchFamily="18" charset="0"/>
              </a:rPr>
              <a:t>use </a:t>
            </a:r>
            <a:r>
              <a:rPr lang="en-US" altLang="zh-CN" sz="2000" dirty="0" err="1">
                <a:solidFill>
                  <a:schemeClr val="bg1"/>
                </a:solidFill>
                <a:latin typeface="Times New Roman" panose="02020603050405020304" pitchFamily="18" charset="0"/>
                <a:cs typeface="Times New Roman" panose="02020603050405020304" pitchFamily="18" charset="0"/>
              </a:rPr>
              <a:t>getElementsByClassName</a:t>
            </a:r>
            <a:r>
              <a:rPr lang="en-US" altLang="zh-CN" sz="2000" dirty="0" smtClean="0">
                <a:solidFill>
                  <a:schemeClr val="bg1"/>
                </a:solidFill>
                <a:latin typeface="Times New Roman" panose="02020603050405020304" pitchFamily="18" charset="0"/>
                <a:cs typeface="Times New Roman" panose="02020603050405020304" pitchFamily="18" charset="0"/>
              </a:rPr>
              <a:t>()</a:t>
            </a:r>
            <a:r>
              <a:rPr lang="zh-CN" altLang="en-US" sz="2000" dirty="0" smtClean="0">
                <a:solidFill>
                  <a:schemeClr val="bg1"/>
                </a:solidFill>
                <a:latin typeface="Times New Roman" panose="02020603050405020304" pitchFamily="18" charset="0"/>
                <a:cs typeface="Times New Roman" panose="02020603050405020304" pitchFamily="18" charset="0"/>
              </a:rPr>
              <a:t>，</a:t>
            </a:r>
            <a:r>
              <a:rPr lang="en-US" altLang="zh-CN" sz="2000" dirty="0" smtClean="0">
                <a:solidFill>
                  <a:schemeClr val="bg1"/>
                </a:solidFill>
                <a:latin typeface="Times New Roman" panose="02020603050405020304" pitchFamily="18" charset="0"/>
                <a:cs typeface="Times New Roman" panose="02020603050405020304" pitchFamily="18" charset="0"/>
              </a:rPr>
              <a:t>This </a:t>
            </a:r>
            <a:r>
              <a:rPr lang="en-US" altLang="zh-CN" sz="2000" dirty="0">
                <a:solidFill>
                  <a:schemeClr val="bg1"/>
                </a:solidFill>
                <a:latin typeface="Times New Roman" panose="02020603050405020304" pitchFamily="18" charset="0"/>
                <a:cs typeface="Times New Roman" panose="02020603050405020304" pitchFamily="18" charset="0"/>
              </a:rPr>
              <a:t>example returns a list of all elements with </a:t>
            </a:r>
            <a:r>
              <a:rPr lang="en-US" altLang="zh-CN" sz="2000" b="1" dirty="0">
                <a:solidFill>
                  <a:schemeClr val="bg1"/>
                </a:solidFill>
                <a:latin typeface="Times New Roman" panose="02020603050405020304" pitchFamily="18" charset="0"/>
                <a:cs typeface="Times New Roman" panose="02020603050405020304" pitchFamily="18" charset="0"/>
              </a:rPr>
              <a:t>class="intro".</a:t>
            </a:r>
            <a:endParaRPr lang="zh-CN" altLang="en-US" b="1" dirty="0">
              <a:solidFill>
                <a:schemeClr val="bg1"/>
              </a:solidFill>
              <a:latin typeface="Times New Roman" panose="02020603050405020304" pitchFamily="18" charset="0"/>
              <a:cs typeface="Times New Roman" panose="02020603050405020304" pitchFamily="18" charset="0"/>
            </a:endParaRPr>
          </a:p>
        </p:txBody>
      </p:sp>
      <p:pic>
        <p:nvPicPr>
          <p:cNvPr id="11" name="图片 10"/>
          <p:cNvPicPr>
            <a:picLocks noChangeAspect="1"/>
          </p:cNvPicPr>
          <p:nvPr/>
        </p:nvPicPr>
        <p:blipFill>
          <a:blip r:embed="rId2"/>
          <a:stretch>
            <a:fillRect/>
          </a:stretch>
        </p:blipFill>
        <p:spPr>
          <a:xfrm>
            <a:off x="1932619" y="2018134"/>
            <a:ext cx="7988557" cy="1200219"/>
          </a:xfrm>
          <a:prstGeom prst="rect">
            <a:avLst/>
          </a:prstGeom>
        </p:spPr>
      </p:pic>
      <p:sp>
        <p:nvSpPr>
          <p:cNvPr id="12" name="文本框 11"/>
          <p:cNvSpPr txBox="1"/>
          <p:nvPr/>
        </p:nvSpPr>
        <p:spPr>
          <a:xfrm>
            <a:off x="799573" y="3699613"/>
            <a:ext cx="10887330" cy="769441"/>
          </a:xfrm>
          <a:prstGeom prst="rect">
            <a:avLst/>
          </a:prstGeom>
          <a:noFill/>
        </p:spPr>
        <p:txBody>
          <a:bodyPr wrap="square" rtlCol="0">
            <a:spAutoFit/>
          </a:bodyPr>
          <a:lstStyle/>
          <a:p>
            <a:pPr algn="just"/>
            <a:r>
              <a:rPr lang="en-US" altLang="zh-CN" sz="2400" dirty="0">
                <a:solidFill>
                  <a:schemeClr val="bg1"/>
                </a:solidFill>
                <a:latin typeface="Times New Roman" panose="02020603050405020304" pitchFamily="18" charset="0"/>
                <a:cs typeface="Times New Roman" panose="02020603050405020304" pitchFamily="18" charset="0"/>
              </a:rPr>
              <a:t>Finding HTML Elements by CSS </a:t>
            </a:r>
            <a:r>
              <a:rPr lang="en-US" altLang="zh-CN" sz="2400" dirty="0" smtClean="0">
                <a:solidFill>
                  <a:schemeClr val="bg1"/>
                </a:solidFill>
                <a:latin typeface="Times New Roman" panose="02020603050405020304" pitchFamily="18" charset="0"/>
                <a:cs typeface="Times New Roman" panose="02020603050405020304" pitchFamily="18" charset="0"/>
              </a:rPr>
              <a:t>Selectors, </a:t>
            </a:r>
            <a:r>
              <a:rPr lang="en-US" altLang="zh-CN" sz="2000" dirty="0" smtClean="0">
                <a:solidFill>
                  <a:schemeClr val="bg1"/>
                </a:solidFill>
                <a:latin typeface="Times New Roman" panose="02020603050405020304" pitchFamily="18" charset="0"/>
                <a:cs typeface="Times New Roman" panose="02020603050405020304" pitchFamily="18" charset="0"/>
              </a:rPr>
              <a:t>use </a:t>
            </a:r>
            <a:r>
              <a:rPr lang="en-US" altLang="zh-CN" sz="2000" dirty="0">
                <a:solidFill>
                  <a:schemeClr val="bg1"/>
                </a:solidFill>
                <a:latin typeface="Times New Roman" panose="02020603050405020304" pitchFamily="18" charset="0"/>
                <a:cs typeface="Times New Roman" panose="02020603050405020304" pitchFamily="18" charset="0"/>
              </a:rPr>
              <a:t>the </a:t>
            </a:r>
            <a:r>
              <a:rPr lang="en-US" altLang="zh-CN" sz="2000" dirty="0" err="1">
                <a:solidFill>
                  <a:schemeClr val="bg1"/>
                </a:solidFill>
                <a:latin typeface="Times New Roman" panose="02020603050405020304" pitchFamily="18" charset="0"/>
                <a:cs typeface="Times New Roman" panose="02020603050405020304" pitchFamily="18" charset="0"/>
              </a:rPr>
              <a:t>querySelectorAll</a:t>
            </a:r>
            <a:r>
              <a:rPr lang="en-US" altLang="zh-CN" sz="2000" dirty="0">
                <a:solidFill>
                  <a:schemeClr val="bg1"/>
                </a:solidFill>
                <a:latin typeface="Times New Roman" panose="02020603050405020304" pitchFamily="18" charset="0"/>
                <a:cs typeface="Times New Roman" panose="02020603050405020304" pitchFamily="18" charset="0"/>
              </a:rPr>
              <a:t>() </a:t>
            </a:r>
            <a:r>
              <a:rPr lang="en-US" altLang="zh-CN" sz="2000" dirty="0" smtClean="0">
                <a:solidFill>
                  <a:schemeClr val="bg1"/>
                </a:solidFill>
                <a:latin typeface="Times New Roman" panose="02020603050405020304" pitchFamily="18" charset="0"/>
                <a:cs typeface="Times New Roman" panose="02020603050405020304" pitchFamily="18" charset="0"/>
              </a:rPr>
              <a:t>method, This </a:t>
            </a:r>
            <a:r>
              <a:rPr lang="en-US" altLang="zh-CN" sz="2000" dirty="0">
                <a:solidFill>
                  <a:schemeClr val="bg1"/>
                </a:solidFill>
                <a:latin typeface="Times New Roman" panose="02020603050405020304" pitchFamily="18" charset="0"/>
                <a:cs typeface="Times New Roman" panose="02020603050405020304" pitchFamily="18" charset="0"/>
              </a:rPr>
              <a:t>example returns a list of all &lt;p&gt; elements with class="intro".</a:t>
            </a:r>
            <a:endParaRPr lang="zh-CN" altLang="en-US" b="1" dirty="0">
              <a:solidFill>
                <a:schemeClr val="bg1"/>
              </a:solidFill>
              <a:latin typeface="Times New Roman" panose="02020603050405020304" pitchFamily="18" charset="0"/>
              <a:cs typeface="Times New Roman" panose="02020603050405020304" pitchFamily="18" charset="0"/>
            </a:endParaRPr>
          </a:p>
        </p:txBody>
      </p:sp>
      <p:pic>
        <p:nvPicPr>
          <p:cNvPr id="13" name="图片 12"/>
          <p:cNvPicPr>
            <a:picLocks noChangeAspect="1"/>
          </p:cNvPicPr>
          <p:nvPr/>
        </p:nvPicPr>
        <p:blipFill>
          <a:blip r:embed="rId3"/>
          <a:stretch>
            <a:fillRect/>
          </a:stretch>
        </p:blipFill>
        <p:spPr>
          <a:xfrm>
            <a:off x="1932620" y="5030212"/>
            <a:ext cx="7988557" cy="1193095"/>
          </a:xfrm>
          <a:prstGeom prst="rect">
            <a:avLst/>
          </a:prstGeom>
        </p:spPr>
      </p:pic>
    </p:spTree>
    <p:extLst>
      <p:ext uri="{BB962C8B-B14F-4D97-AF65-F5344CB8AC3E}">
        <p14:creationId xmlns:p14="http://schemas.microsoft.com/office/powerpoint/2010/main" val="3750294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矩形 7"/>
          <p:cNvSpPr/>
          <p:nvPr/>
        </p:nvSpPr>
        <p:spPr>
          <a:xfrm>
            <a:off x="2825457" y="205570"/>
            <a:ext cx="6541086"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JavaScript HTML DOM Elements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矩形 1"/>
          <p:cNvSpPr/>
          <p:nvPr/>
        </p:nvSpPr>
        <p:spPr>
          <a:xfrm>
            <a:off x="1359550" y="1273635"/>
            <a:ext cx="9318171" cy="461665"/>
          </a:xfrm>
          <a:prstGeom prst="rect">
            <a:avLst/>
          </a:prstGeom>
        </p:spPr>
        <p:txBody>
          <a:bodyPr wrap="square">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The following HTML objects (and object collections) are also accessible:</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
        <p:nvSpPr>
          <p:cNvPr id="3" name="文本框 2"/>
          <p:cNvSpPr txBox="1"/>
          <p:nvPr/>
        </p:nvSpPr>
        <p:spPr>
          <a:xfrm>
            <a:off x="1950183" y="2250978"/>
            <a:ext cx="7886086" cy="4154984"/>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err="1">
                <a:solidFill>
                  <a:schemeClr val="bg1"/>
                </a:solidFill>
                <a:latin typeface="Times New Roman" panose="02020603050405020304" pitchFamily="18" charset="0"/>
                <a:cs typeface="Times New Roman" panose="02020603050405020304" pitchFamily="18" charset="0"/>
              </a:rPr>
              <a:t>document.anchors</a:t>
            </a:r>
            <a:endParaRPr lang="en-US" altLang="zh-CN"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sz="2400" dirty="0" err="1">
                <a:solidFill>
                  <a:schemeClr val="bg1"/>
                </a:solidFill>
                <a:latin typeface="Times New Roman" panose="02020603050405020304" pitchFamily="18" charset="0"/>
                <a:cs typeface="Times New Roman" panose="02020603050405020304" pitchFamily="18" charset="0"/>
              </a:rPr>
              <a:t>document.body</a:t>
            </a:r>
            <a:endParaRPr lang="en-US" altLang="zh-CN"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sz="2400" dirty="0" err="1">
                <a:solidFill>
                  <a:schemeClr val="bg1"/>
                </a:solidFill>
                <a:latin typeface="Times New Roman" panose="02020603050405020304" pitchFamily="18" charset="0"/>
                <a:cs typeface="Times New Roman" panose="02020603050405020304" pitchFamily="18" charset="0"/>
              </a:rPr>
              <a:t>document.documentElement</a:t>
            </a:r>
            <a:endParaRPr lang="en-US" altLang="zh-CN"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sz="2400" dirty="0" err="1">
                <a:solidFill>
                  <a:schemeClr val="bg1"/>
                </a:solidFill>
                <a:latin typeface="Times New Roman" panose="02020603050405020304" pitchFamily="18" charset="0"/>
                <a:cs typeface="Times New Roman" panose="02020603050405020304" pitchFamily="18" charset="0"/>
              </a:rPr>
              <a:t>document.embeds</a:t>
            </a:r>
            <a:endParaRPr lang="en-US" altLang="zh-CN"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sz="2400" dirty="0" err="1">
                <a:solidFill>
                  <a:schemeClr val="bg1"/>
                </a:solidFill>
                <a:latin typeface="Times New Roman" panose="02020603050405020304" pitchFamily="18" charset="0"/>
                <a:cs typeface="Times New Roman" panose="02020603050405020304" pitchFamily="18" charset="0"/>
              </a:rPr>
              <a:t>document.forms</a:t>
            </a:r>
            <a:endParaRPr lang="en-US" altLang="zh-CN"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sz="2400" dirty="0" err="1">
                <a:solidFill>
                  <a:schemeClr val="bg1"/>
                </a:solidFill>
                <a:latin typeface="Times New Roman" panose="02020603050405020304" pitchFamily="18" charset="0"/>
                <a:cs typeface="Times New Roman" panose="02020603050405020304" pitchFamily="18" charset="0"/>
              </a:rPr>
              <a:t>document.head</a:t>
            </a:r>
            <a:endParaRPr lang="en-US" altLang="zh-CN"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sz="2400" dirty="0" err="1">
                <a:solidFill>
                  <a:schemeClr val="bg1"/>
                </a:solidFill>
                <a:latin typeface="Times New Roman" panose="02020603050405020304" pitchFamily="18" charset="0"/>
                <a:cs typeface="Times New Roman" panose="02020603050405020304" pitchFamily="18" charset="0"/>
              </a:rPr>
              <a:t>document.images</a:t>
            </a:r>
            <a:endParaRPr lang="en-US" altLang="zh-CN"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sz="2400" dirty="0" err="1">
                <a:solidFill>
                  <a:schemeClr val="bg1"/>
                </a:solidFill>
                <a:latin typeface="Times New Roman" panose="02020603050405020304" pitchFamily="18" charset="0"/>
                <a:cs typeface="Times New Roman" panose="02020603050405020304" pitchFamily="18" charset="0"/>
              </a:rPr>
              <a:t>document.links</a:t>
            </a:r>
            <a:endParaRPr lang="en-US" altLang="zh-CN"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sz="2400" dirty="0" err="1">
                <a:solidFill>
                  <a:schemeClr val="bg1"/>
                </a:solidFill>
                <a:latin typeface="Times New Roman" panose="02020603050405020304" pitchFamily="18" charset="0"/>
                <a:cs typeface="Times New Roman" panose="02020603050405020304" pitchFamily="18" charset="0"/>
              </a:rPr>
              <a:t>document.scripts</a:t>
            </a:r>
            <a:endParaRPr lang="en-US" altLang="zh-CN"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sz="2400" dirty="0" err="1">
                <a:solidFill>
                  <a:schemeClr val="bg1"/>
                </a:solidFill>
                <a:latin typeface="Times New Roman" panose="02020603050405020304" pitchFamily="18" charset="0"/>
                <a:cs typeface="Times New Roman" panose="02020603050405020304" pitchFamily="18" charset="0"/>
              </a:rPr>
              <a:t>document.title</a:t>
            </a:r>
            <a:endParaRPr lang="en-US" altLang="zh-CN"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zh-CN" alt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5623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2883166" y="76261"/>
            <a:ext cx="6425670"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DOM - Changing HTML Content</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459412" y="1007915"/>
            <a:ext cx="10859377" cy="523220"/>
          </a:xfrm>
          <a:prstGeom prst="rect">
            <a:avLst/>
          </a:prstGeom>
        </p:spPr>
        <p:txBody>
          <a:bodyPr wrap="square">
            <a:spAutoFit/>
          </a:bodyPr>
          <a:lstStyle/>
          <a:p>
            <a:pPr lvl="0" algn="just">
              <a:defRPr/>
            </a:pPr>
            <a:r>
              <a:rPr lang="en-US" altLang="zh-CN" sz="2800" dirty="0">
                <a:solidFill>
                  <a:prstClr val="white"/>
                </a:solidFill>
                <a:latin typeface="Times New Roman" panose="02020603050405020304" pitchFamily="18" charset="0"/>
                <a:cs typeface="Times New Roman" panose="02020603050405020304" pitchFamily="18" charset="0"/>
              </a:rPr>
              <a:t>To change the content of an HTML element, use this syntax:</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矩形 6"/>
          <p:cNvSpPr/>
          <p:nvPr/>
        </p:nvSpPr>
        <p:spPr>
          <a:xfrm>
            <a:off x="459412" y="1893948"/>
            <a:ext cx="9598988" cy="461665"/>
          </a:xfrm>
          <a:prstGeom prst="rect">
            <a:avLst/>
          </a:prstGeom>
        </p:spPr>
        <p:txBody>
          <a:bodyPr wrap="square">
            <a:spAutoFit/>
          </a:bodyPr>
          <a:lstStyle/>
          <a:p>
            <a:r>
              <a:rPr lang="en-US" altLang="zh-CN" sz="2400" dirty="0" err="1">
                <a:solidFill>
                  <a:schemeClr val="bg1"/>
                </a:solidFill>
                <a:latin typeface="Times New Roman" panose="02020603050405020304" pitchFamily="18" charset="0"/>
                <a:cs typeface="Times New Roman" panose="02020603050405020304" pitchFamily="18" charset="0"/>
              </a:rPr>
              <a:t>document.getElementById</a:t>
            </a:r>
            <a:r>
              <a:rPr lang="en-US" altLang="zh-CN" sz="2400" dirty="0">
                <a:solidFill>
                  <a:schemeClr val="bg1"/>
                </a:solidFill>
                <a:latin typeface="Times New Roman" panose="02020603050405020304" pitchFamily="18" charset="0"/>
                <a:cs typeface="Times New Roman" panose="02020603050405020304" pitchFamily="18" charset="0"/>
              </a:rPr>
              <a:t>(id).</a:t>
            </a:r>
            <a:r>
              <a:rPr lang="en-US" altLang="zh-CN" sz="2400" dirty="0" err="1">
                <a:solidFill>
                  <a:schemeClr val="bg1"/>
                </a:solidFill>
                <a:latin typeface="Times New Roman" panose="02020603050405020304" pitchFamily="18" charset="0"/>
                <a:cs typeface="Times New Roman" panose="02020603050405020304" pitchFamily="18" charset="0"/>
              </a:rPr>
              <a:t>innerHTML</a:t>
            </a:r>
            <a:r>
              <a:rPr lang="en-US" altLang="zh-CN" sz="2400" dirty="0">
                <a:solidFill>
                  <a:schemeClr val="bg1"/>
                </a:solidFill>
                <a:latin typeface="Times New Roman" panose="02020603050405020304" pitchFamily="18" charset="0"/>
                <a:cs typeface="Times New Roman" panose="02020603050405020304" pitchFamily="18" charset="0"/>
              </a:rPr>
              <a:t> = new HTML</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2"/>
          <a:stretch>
            <a:fillRect/>
          </a:stretch>
        </p:blipFill>
        <p:spPr>
          <a:xfrm>
            <a:off x="459412" y="2879848"/>
            <a:ext cx="6548562" cy="3704927"/>
          </a:xfrm>
          <a:prstGeom prst="rect">
            <a:avLst/>
          </a:prstGeom>
        </p:spPr>
      </p:pic>
      <p:pic>
        <p:nvPicPr>
          <p:cNvPr id="9" name="图片 8"/>
          <p:cNvPicPr>
            <a:picLocks noChangeAspect="1"/>
          </p:cNvPicPr>
          <p:nvPr/>
        </p:nvPicPr>
        <p:blipFill>
          <a:blip r:embed="rId3"/>
          <a:stretch>
            <a:fillRect/>
          </a:stretch>
        </p:blipFill>
        <p:spPr>
          <a:xfrm>
            <a:off x="7317828" y="2879848"/>
            <a:ext cx="4514286" cy="1504762"/>
          </a:xfrm>
          <a:prstGeom prst="rect">
            <a:avLst/>
          </a:prstGeom>
        </p:spPr>
      </p:pic>
      <p:cxnSp>
        <p:nvCxnSpPr>
          <p:cNvPr id="11" name="直接连接符 10"/>
          <p:cNvCxnSpPr/>
          <p:nvPr/>
        </p:nvCxnSpPr>
        <p:spPr>
          <a:xfrm>
            <a:off x="1738879" y="4384610"/>
            <a:ext cx="128886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直接连接符 13"/>
          <p:cNvCxnSpPr/>
          <p:nvPr/>
        </p:nvCxnSpPr>
        <p:spPr>
          <a:xfrm>
            <a:off x="5163453" y="5120484"/>
            <a:ext cx="128886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接连接符 14"/>
          <p:cNvCxnSpPr/>
          <p:nvPr/>
        </p:nvCxnSpPr>
        <p:spPr>
          <a:xfrm>
            <a:off x="7410264" y="3814199"/>
            <a:ext cx="685873"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032485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2793302" y="76261"/>
            <a:ext cx="6605398"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DOM - Changing HTML Attribute</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623420" y="873742"/>
            <a:ext cx="10531358" cy="523220"/>
          </a:xfrm>
          <a:prstGeom prst="rect">
            <a:avLst/>
          </a:prstGeom>
        </p:spPr>
        <p:txBody>
          <a:bodyPr wrap="square">
            <a:spAutoFit/>
          </a:bodyPr>
          <a:lstStyle/>
          <a:p>
            <a:pPr lvl="0" algn="just">
              <a:defRPr/>
            </a:pPr>
            <a:r>
              <a:rPr lang="en-US" altLang="zh-CN" sz="2800" dirty="0">
                <a:solidFill>
                  <a:prstClr val="white"/>
                </a:solidFill>
                <a:latin typeface="Times New Roman" panose="02020603050405020304" pitchFamily="18" charset="0"/>
                <a:cs typeface="Times New Roman" panose="02020603050405020304" pitchFamily="18" charset="0"/>
              </a:rPr>
              <a:t>To change the value of an HTML attribute, use this syntax:</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矩形 6"/>
          <p:cNvSpPr/>
          <p:nvPr/>
        </p:nvSpPr>
        <p:spPr>
          <a:xfrm>
            <a:off x="635872" y="1560650"/>
            <a:ext cx="6857674" cy="400110"/>
          </a:xfrm>
          <a:prstGeom prst="rect">
            <a:avLst/>
          </a:prstGeom>
        </p:spPr>
        <p:txBody>
          <a:bodyPr wrap="square">
            <a:spAutoFit/>
          </a:bodyPr>
          <a:lstStyle/>
          <a:p>
            <a:r>
              <a:rPr lang="en-US" altLang="zh-CN" sz="2000" dirty="0" err="1">
                <a:solidFill>
                  <a:schemeClr val="bg1"/>
                </a:solidFill>
                <a:latin typeface="Cambria" panose="02040503050406030204" pitchFamily="18" charset="0"/>
                <a:ea typeface="Cambria" panose="02040503050406030204" pitchFamily="18" charset="0"/>
              </a:rPr>
              <a:t>document.getElementById</a:t>
            </a:r>
            <a:r>
              <a:rPr lang="en-US" altLang="zh-CN" sz="2000" dirty="0">
                <a:solidFill>
                  <a:schemeClr val="bg1"/>
                </a:solidFill>
                <a:latin typeface="Cambria" panose="02040503050406030204" pitchFamily="18" charset="0"/>
                <a:ea typeface="Cambria" panose="02040503050406030204" pitchFamily="18" charset="0"/>
              </a:rPr>
              <a:t>(id).attribute = new value</a:t>
            </a:r>
          </a:p>
        </p:txBody>
      </p:sp>
      <p:cxnSp>
        <p:nvCxnSpPr>
          <p:cNvPr id="14" name="直接连接符 13"/>
          <p:cNvCxnSpPr/>
          <p:nvPr/>
        </p:nvCxnSpPr>
        <p:spPr>
          <a:xfrm>
            <a:off x="5244665" y="4257239"/>
            <a:ext cx="1288869" cy="0"/>
          </a:xfrm>
          <a:prstGeom prst="line">
            <a:avLst/>
          </a:prstGeom>
        </p:spPr>
        <p:style>
          <a:lnRef idx="3">
            <a:schemeClr val="accent2"/>
          </a:lnRef>
          <a:fillRef idx="0">
            <a:schemeClr val="accent2"/>
          </a:fillRef>
          <a:effectRef idx="2">
            <a:schemeClr val="accent2"/>
          </a:effectRef>
          <a:fontRef idx="minor">
            <a:schemeClr val="tx1"/>
          </a:fontRef>
        </p:style>
      </p:cxnSp>
      <p:pic>
        <p:nvPicPr>
          <p:cNvPr id="17" name="图片 16"/>
          <p:cNvPicPr>
            <a:picLocks noChangeAspect="1"/>
          </p:cNvPicPr>
          <p:nvPr/>
        </p:nvPicPr>
        <p:blipFill>
          <a:blip r:embed="rId2"/>
          <a:stretch>
            <a:fillRect/>
          </a:stretch>
        </p:blipFill>
        <p:spPr>
          <a:xfrm>
            <a:off x="737417" y="2070904"/>
            <a:ext cx="6376033" cy="2541369"/>
          </a:xfrm>
          <a:prstGeom prst="rect">
            <a:avLst/>
          </a:prstGeom>
        </p:spPr>
      </p:pic>
      <p:pic>
        <p:nvPicPr>
          <p:cNvPr id="18" name="图片 17"/>
          <p:cNvPicPr>
            <a:picLocks noChangeAspect="1"/>
          </p:cNvPicPr>
          <p:nvPr/>
        </p:nvPicPr>
        <p:blipFill>
          <a:blip r:embed="rId3"/>
          <a:stretch>
            <a:fillRect/>
          </a:stretch>
        </p:blipFill>
        <p:spPr>
          <a:xfrm>
            <a:off x="6120658" y="4722418"/>
            <a:ext cx="5685714" cy="2076190"/>
          </a:xfrm>
          <a:prstGeom prst="rect">
            <a:avLst/>
          </a:prstGeom>
        </p:spPr>
      </p:pic>
      <p:cxnSp>
        <p:nvCxnSpPr>
          <p:cNvPr id="11" name="直接连接符 10"/>
          <p:cNvCxnSpPr/>
          <p:nvPr/>
        </p:nvCxnSpPr>
        <p:spPr>
          <a:xfrm>
            <a:off x="2348110" y="3135265"/>
            <a:ext cx="981964"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0" name="直接连接符 19"/>
          <p:cNvCxnSpPr/>
          <p:nvPr/>
        </p:nvCxnSpPr>
        <p:spPr>
          <a:xfrm>
            <a:off x="3925434" y="3656408"/>
            <a:ext cx="981964"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372646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3383856" y="208521"/>
            <a:ext cx="5229124"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JavaScript Form Validation</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578931" y="938214"/>
            <a:ext cx="6834563" cy="461665"/>
          </a:xfrm>
          <a:prstGeom prst="rect">
            <a:avLst/>
          </a:prstGeom>
        </p:spPr>
        <p:txBody>
          <a:bodyPr wrap="none">
            <a:spAutoFit/>
          </a:bodyPr>
          <a:lstStyle/>
          <a:p>
            <a:pPr lvl="0">
              <a:defRPr/>
            </a:pPr>
            <a:r>
              <a:rPr lang="en-US" altLang="zh-CN" sz="2400" b="1" dirty="0">
                <a:solidFill>
                  <a:prstClr val="white"/>
                </a:solidFill>
                <a:latin typeface="Times New Roman" panose="02020603050405020304" pitchFamily="18" charset="0"/>
                <a:cs typeface="Times New Roman" panose="02020603050405020304" pitchFamily="18" charset="0"/>
              </a:rPr>
              <a:t>HTML form validation can be done by JavaScript.</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353462" y="2373197"/>
            <a:ext cx="7474596" cy="4197274"/>
          </a:xfrm>
          <a:prstGeom prst="rect">
            <a:avLst/>
          </a:prstGeom>
        </p:spPr>
      </p:pic>
      <p:sp>
        <p:nvSpPr>
          <p:cNvPr id="8" name="矩形 7"/>
          <p:cNvSpPr/>
          <p:nvPr/>
        </p:nvSpPr>
        <p:spPr>
          <a:xfrm>
            <a:off x="578931" y="1471039"/>
            <a:ext cx="11010857" cy="830997"/>
          </a:xfrm>
          <a:prstGeom prst="rect">
            <a:avLst/>
          </a:prstGeom>
        </p:spPr>
        <p:txBody>
          <a:bodyPr wrap="square">
            <a:spAutoFit/>
          </a:bodyPr>
          <a:lstStyle/>
          <a:p>
            <a:pPr algn="just"/>
            <a:r>
              <a:rPr lang="en-US" altLang="zh-CN" sz="2400" dirty="0">
                <a:solidFill>
                  <a:schemeClr val="bg1"/>
                </a:solidFill>
                <a:latin typeface="Times New Roman" panose="02020603050405020304" pitchFamily="18" charset="0"/>
                <a:ea typeface="Cambria" panose="02040503050406030204" pitchFamily="18" charset="0"/>
                <a:cs typeface="Times New Roman" panose="02020603050405020304" pitchFamily="18" charset="0"/>
              </a:rPr>
              <a:t>If a form field (</a:t>
            </a:r>
            <a:r>
              <a:rPr lang="en-US" altLang="zh-CN" sz="2400" dirty="0" err="1">
                <a:solidFill>
                  <a:schemeClr val="bg1"/>
                </a:solidFill>
                <a:latin typeface="Times New Roman" panose="02020603050405020304" pitchFamily="18" charset="0"/>
                <a:ea typeface="Cambria" panose="02040503050406030204" pitchFamily="18" charset="0"/>
                <a:cs typeface="Times New Roman" panose="02020603050405020304" pitchFamily="18" charset="0"/>
              </a:rPr>
              <a:t>fname</a:t>
            </a:r>
            <a:r>
              <a:rPr lang="en-US" altLang="zh-CN" sz="2400" dirty="0">
                <a:solidFill>
                  <a:schemeClr val="bg1"/>
                </a:solidFill>
                <a:latin typeface="Times New Roman" panose="02020603050405020304" pitchFamily="18" charset="0"/>
                <a:ea typeface="Cambria" panose="02040503050406030204" pitchFamily="18" charset="0"/>
                <a:cs typeface="Times New Roman" panose="02020603050405020304" pitchFamily="18" charset="0"/>
              </a:rPr>
              <a:t>) is empty, this function alerts a message, and returns false, to prevent the form from being submitted:</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8283395" y="2874239"/>
            <a:ext cx="3542857" cy="1104762"/>
          </a:xfrm>
          <a:prstGeom prst="rect">
            <a:avLst/>
          </a:prstGeom>
        </p:spPr>
      </p:pic>
      <p:pic>
        <p:nvPicPr>
          <p:cNvPr id="11" name="图片 10"/>
          <p:cNvPicPr>
            <a:picLocks noChangeAspect="1"/>
          </p:cNvPicPr>
          <p:nvPr/>
        </p:nvPicPr>
        <p:blipFill>
          <a:blip r:embed="rId4"/>
          <a:stretch>
            <a:fillRect/>
          </a:stretch>
        </p:blipFill>
        <p:spPr>
          <a:xfrm>
            <a:off x="8283395" y="4809556"/>
            <a:ext cx="3219079" cy="970035"/>
          </a:xfrm>
          <a:prstGeom prst="rect">
            <a:avLst/>
          </a:prstGeom>
        </p:spPr>
      </p:pic>
    </p:spTree>
    <p:extLst>
      <p:ext uri="{BB962C8B-B14F-4D97-AF65-F5344CB8AC3E}">
        <p14:creationId xmlns:p14="http://schemas.microsoft.com/office/powerpoint/2010/main" val="3223109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3383856" y="208521"/>
            <a:ext cx="4378122"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 Changing CSS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692942" y="1298785"/>
            <a:ext cx="8938794" cy="523220"/>
          </a:xfrm>
          <a:prstGeom prst="rect">
            <a:avLst/>
          </a:prstGeom>
        </p:spPr>
        <p:txBody>
          <a:bodyPr wrap="none">
            <a:spAutoFit/>
          </a:bodyPr>
          <a:lstStyle/>
          <a:p>
            <a:pPr lvl="0">
              <a:defRPr/>
            </a:pPr>
            <a:r>
              <a:rPr lang="en-US" altLang="zh-CN" sz="2800" b="1" dirty="0">
                <a:solidFill>
                  <a:prstClr val="white"/>
                </a:solidFill>
                <a:latin typeface="Times New Roman" panose="02020603050405020304" pitchFamily="18" charset="0"/>
                <a:cs typeface="Times New Roman" panose="02020603050405020304" pitchFamily="18" charset="0"/>
              </a:rPr>
              <a:t>To change the style of an HTML element, use this syntax:</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矩形 7"/>
          <p:cNvSpPr/>
          <p:nvPr/>
        </p:nvSpPr>
        <p:spPr>
          <a:xfrm>
            <a:off x="692942" y="2199602"/>
            <a:ext cx="9091749" cy="461665"/>
          </a:xfrm>
          <a:prstGeom prst="rect">
            <a:avLst/>
          </a:prstGeom>
        </p:spPr>
        <p:txBody>
          <a:bodyPr wrap="square">
            <a:spAutoFit/>
          </a:bodyPr>
          <a:lstStyle/>
          <a:p>
            <a:r>
              <a:rPr lang="en-US" altLang="zh-CN" sz="2400" dirty="0" err="1">
                <a:solidFill>
                  <a:schemeClr val="bg1"/>
                </a:solidFill>
                <a:latin typeface="Times New Roman" panose="02020603050405020304" pitchFamily="18" charset="0"/>
                <a:cs typeface="Times New Roman" panose="02020603050405020304" pitchFamily="18" charset="0"/>
              </a:rPr>
              <a:t>document.getElementById</a:t>
            </a:r>
            <a:r>
              <a:rPr lang="en-US" altLang="zh-CN" sz="2400" dirty="0">
                <a:solidFill>
                  <a:schemeClr val="bg1"/>
                </a:solidFill>
                <a:latin typeface="Times New Roman" panose="02020603050405020304" pitchFamily="18" charset="0"/>
                <a:cs typeface="Times New Roman" panose="02020603050405020304" pitchFamily="18" charset="0"/>
              </a:rPr>
              <a:t>(id).</a:t>
            </a:r>
            <a:r>
              <a:rPr lang="en-US" altLang="zh-CN" sz="2400" dirty="0" err="1">
                <a:solidFill>
                  <a:schemeClr val="bg1"/>
                </a:solidFill>
                <a:latin typeface="Times New Roman" panose="02020603050405020304" pitchFamily="18" charset="0"/>
                <a:cs typeface="Times New Roman" panose="02020603050405020304" pitchFamily="18" charset="0"/>
              </a:rPr>
              <a:t>style.property</a:t>
            </a:r>
            <a:r>
              <a:rPr lang="en-US" altLang="zh-CN" sz="2400" dirty="0">
                <a:solidFill>
                  <a:schemeClr val="bg1"/>
                </a:solidFill>
                <a:latin typeface="Times New Roman" panose="02020603050405020304" pitchFamily="18" charset="0"/>
                <a:cs typeface="Times New Roman" panose="02020603050405020304" pitchFamily="18" charset="0"/>
              </a:rPr>
              <a:t> = new style</a:t>
            </a:r>
          </a:p>
        </p:txBody>
      </p:sp>
      <p:pic>
        <p:nvPicPr>
          <p:cNvPr id="4" name="图片 3"/>
          <p:cNvPicPr>
            <a:picLocks noChangeAspect="1"/>
          </p:cNvPicPr>
          <p:nvPr/>
        </p:nvPicPr>
        <p:blipFill>
          <a:blip r:embed="rId2"/>
          <a:stretch>
            <a:fillRect/>
          </a:stretch>
        </p:blipFill>
        <p:spPr>
          <a:xfrm>
            <a:off x="610246" y="2894213"/>
            <a:ext cx="4628571" cy="3514286"/>
          </a:xfrm>
          <a:prstGeom prst="rect">
            <a:avLst/>
          </a:prstGeom>
        </p:spPr>
      </p:pic>
      <p:pic>
        <p:nvPicPr>
          <p:cNvPr id="5" name="图片 4"/>
          <p:cNvPicPr>
            <a:picLocks noChangeAspect="1"/>
          </p:cNvPicPr>
          <p:nvPr/>
        </p:nvPicPr>
        <p:blipFill>
          <a:blip r:embed="rId3"/>
          <a:stretch>
            <a:fillRect/>
          </a:stretch>
        </p:blipFill>
        <p:spPr>
          <a:xfrm>
            <a:off x="7433932" y="3770403"/>
            <a:ext cx="2895238" cy="1761905"/>
          </a:xfrm>
          <a:prstGeom prst="rect">
            <a:avLst/>
          </a:prstGeom>
        </p:spPr>
      </p:pic>
    </p:spTree>
    <p:extLst>
      <p:ext uri="{BB962C8B-B14F-4D97-AF65-F5344CB8AC3E}">
        <p14:creationId xmlns:p14="http://schemas.microsoft.com/office/powerpoint/2010/main" val="1311442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3383856" y="208521"/>
            <a:ext cx="4378122"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 Changing CSS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629035" y="1026020"/>
            <a:ext cx="9005029" cy="461665"/>
          </a:xfrm>
          <a:prstGeom prst="rect">
            <a:avLst/>
          </a:prstGeom>
        </p:spPr>
        <p:txBody>
          <a:bodyPr wrap="none">
            <a:spAutoFit/>
          </a:bodyPr>
          <a:lstStyle/>
          <a:p>
            <a:pPr lvl="0">
              <a:defRPr/>
            </a:pPr>
            <a:r>
              <a:rPr lang="en-US" altLang="zh-CN" sz="2400" b="1" dirty="0">
                <a:solidFill>
                  <a:prstClr val="white"/>
                </a:solidFill>
                <a:latin typeface="Times New Roman" panose="02020603050405020304" pitchFamily="18" charset="0"/>
                <a:cs typeface="Times New Roman" panose="02020603050405020304" pitchFamily="18" charset="0"/>
              </a:rPr>
              <a:t>The HTML DOM allows you to execute code when an event occurs.</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矩形 7"/>
          <p:cNvSpPr/>
          <p:nvPr/>
        </p:nvSpPr>
        <p:spPr>
          <a:xfrm>
            <a:off x="629035" y="1791968"/>
            <a:ext cx="9091749" cy="1938992"/>
          </a:xfrm>
          <a:prstGeom prst="rect">
            <a:avLst/>
          </a:prstGeom>
        </p:spPr>
        <p:txBody>
          <a:bodyPr wrap="square">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Events are generated by the browser when "things happen" to HTML elements</a:t>
            </a:r>
          </a:p>
          <a:p>
            <a:pPr marL="1200150" lvl="2" indent="-285750">
              <a:buFont typeface="Arial" panose="020B0604020202020204" pitchFamily="34" charset="0"/>
              <a:buChar char="•"/>
            </a:pPr>
            <a:r>
              <a:rPr lang="en-US" altLang="zh-CN" sz="2400" dirty="0">
                <a:solidFill>
                  <a:schemeClr val="bg1"/>
                </a:solidFill>
                <a:latin typeface="Times New Roman" panose="02020603050405020304" pitchFamily="18" charset="0"/>
                <a:cs typeface="Times New Roman" panose="02020603050405020304" pitchFamily="18" charset="0"/>
              </a:rPr>
              <a:t>An element is clicked on</a:t>
            </a:r>
          </a:p>
          <a:p>
            <a:pPr marL="1200150" lvl="2" indent="-285750">
              <a:buFont typeface="Arial" panose="020B0604020202020204" pitchFamily="34" charset="0"/>
              <a:buChar char="•"/>
            </a:pPr>
            <a:r>
              <a:rPr lang="en-US" altLang="zh-CN" sz="2400" dirty="0">
                <a:solidFill>
                  <a:schemeClr val="bg1"/>
                </a:solidFill>
                <a:latin typeface="Times New Roman" panose="02020603050405020304" pitchFamily="18" charset="0"/>
                <a:cs typeface="Times New Roman" panose="02020603050405020304" pitchFamily="18" charset="0"/>
              </a:rPr>
              <a:t>The page has loaded</a:t>
            </a:r>
          </a:p>
          <a:p>
            <a:pPr marL="1200150" lvl="2" indent="-285750">
              <a:buFont typeface="Arial" panose="020B0604020202020204" pitchFamily="34" charset="0"/>
              <a:buChar char="•"/>
            </a:pPr>
            <a:r>
              <a:rPr lang="en-US" altLang="zh-CN" sz="2400" dirty="0">
                <a:solidFill>
                  <a:schemeClr val="bg1"/>
                </a:solidFill>
                <a:latin typeface="Times New Roman" panose="02020603050405020304" pitchFamily="18" charset="0"/>
                <a:cs typeface="Times New Roman" panose="02020603050405020304" pitchFamily="18" charset="0"/>
              </a:rPr>
              <a:t>Input fields are </a:t>
            </a:r>
            <a:r>
              <a:rPr lang="en-US" altLang="zh-CN" sz="2400" dirty="0" smtClean="0">
                <a:solidFill>
                  <a:schemeClr val="bg1"/>
                </a:solidFill>
                <a:latin typeface="Times New Roman" panose="02020603050405020304" pitchFamily="18" charset="0"/>
                <a:cs typeface="Times New Roman" panose="02020603050405020304" pitchFamily="18" charset="0"/>
              </a:rPr>
              <a:t>changed</a:t>
            </a:r>
            <a:endParaRPr lang="en-US" altLang="zh-CN" sz="2400" dirty="0">
              <a:solidFill>
                <a:schemeClr val="bg1"/>
              </a:solidFill>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475475" y="4035244"/>
            <a:ext cx="6159054" cy="2682921"/>
          </a:xfrm>
          <a:prstGeom prst="rect">
            <a:avLst/>
          </a:prstGeom>
        </p:spPr>
      </p:pic>
      <p:pic>
        <p:nvPicPr>
          <p:cNvPr id="7" name="图片 6"/>
          <p:cNvPicPr>
            <a:picLocks noChangeAspect="1"/>
          </p:cNvPicPr>
          <p:nvPr/>
        </p:nvPicPr>
        <p:blipFill>
          <a:blip r:embed="rId3"/>
          <a:stretch>
            <a:fillRect/>
          </a:stretch>
        </p:blipFill>
        <p:spPr>
          <a:xfrm>
            <a:off x="8314231" y="4874395"/>
            <a:ext cx="2742857" cy="1219048"/>
          </a:xfrm>
          <a:prstGeom prst="rect">
            <a:avLst/>
          </a:prstGeom>
        </p:spPr>
      </p:pic>
    </p:spTree>
    <p:extLst>
      <p:ext uri="{BB962C8B-B14F-4D97-AF65-F5344CB8AC3E}">
        <p14:creationId xmlns:p14="http://schemas.microsoft.com/office/powerpoint/2010/main" val="2090120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CBEA91-AEC8-4772-9B50-B3D92175AB68}"/>
              </a:ext>
            </a:extLst>
          </p:cNvPr>
          <p:cNvSpPr>
            <a:spLocks noGrp="1"/>
          </p:cNvSpPr>
          <p:nvPr>
            <p:ph type="ctrTitle"/>
          </p:nvPr>
        </p:nvSpPr>
        <p:spPr/>
        <p:txBody>
          <a:bodyPr/>
          <a:lstStyle/>
          <a:p>
            <a:r>
              <a:rPr lang="en-US" altLang="zh-CN" b="0" i="0" dirty="0">
                <a:solidFill>
                  <a:schemeClr val="bg1"/>
                </a:solidFill>
                <a:effectLst/>
                <a:latin typeface="Segoe UI" panose="020B0502040204020203" pitchFamily="34" charset="0"/>
              </a:rPr>
              <a:t>JavaScript DOM Events</a:t>
            </a:r>
            <a:endParaRPr lang="zh-CN" altLang="en-US" dirty="0">
              <a:solidFill>
                <a:schemeClr val="bg1"/>
              </a:solidFill>
            </a:endParaRPr>
          </a:p>
        </p:txBody>
      </p:sp>
    </p:spTree>
    <p:extLst>
      <p:ext uri="{BB962C8B-B14F-4D97-AF65-F5344CB8AC3E}">
        <p14:creationId xmlns:p14="http://schemas.microsoft.com/office/powerpoint/2010/main" val="831667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030033" y="146966"/>
            <a:ext cx="2634054"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Events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876342" y="1365287"/>
            <a:ext cx="8988743" cy="523220"/>
          </a:xfrm>
          <a:prstGeom prst="rect">
            <a:avLst/>
          </a:prstGeom>
        </p:spPr>
        <p:txBody>
          <a:bodyPr wrap="none">
            <a:spAutoFit/>
          </a:bodyPr>
          <a:lstStyle/>
          <a:p>
            <a:pPr lvl="0">
              <a:defRPr/>
            </a:pPr>
            <a:r>
              <a:rPr lang="en-US" altLang="zh-CN" sz="2800" b="1" dirty="0">
                <a:solidFill>
                  <a:prstClr val="white"/>
                </a:solidFill>
                <a:latin typeface="Times New Roman" panose="02020603050405020304" pitchFamily="18" charset="0"/>
                <a:cs typeface="Times New Roman" panose="02020603050405020304" pitchFamily="18" charset="0"/>
              </a:rPr>
              <a:t>HTML DOM allows JavaScript to react to HTML events:</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矩形 7"/>
          <p:cNvSpPr/>
          <p:nvPr/>
        </p:nvSpPr>
        <p:spPr>
          <a:xfrm>
            <a:off x="876342" y="2124446"/>
            <a:ext cx="9091749" cy="4401205"/>
          </a:xfrm>
          <a:prstGeom prst="rect">
            <a:avLst/>
          </a:prstGeom>
        </p:spPr>
        <p:txBody>
          <a:bodyPr wrap="square">
            <a:spAutoFit/>
          </a:bodyPr>
          <a:lstStyle/>
          <a:p>
            <a:r>
              <a:rPr lang="en-US" altLang="zh-CN" sz="2800" dirty="0">
                <a:solidFill>
                  <a:schemeClr val="bg1"/>
                </a:solidFill>
                <a:latin typeface="Times New Roman" panose="02020603050405020304" pitchFamily="18" charset="0"/>
                <a:cs typeface="Times New Roman" panose="02020603050405020304" pitchFamily="18" charset="0"/>
              </a:rPr>
              <a:t>Examples of HTML events:</a:t>
            </a:r>
          </a:p>
          <a:p>
            <a:endParaRPr lang="en-US" altLang="zh-CN" sz="2800" dirty="0">
              <a:solidFill>
                <a:schemeClr val="bg1"/>
              </a:solidFill>
            </a:endParaRPr>
          </a:p>
          <a:p>
            <a:pPr marL="1200150" lvl="2" indent="-285750">
              <a:buFont typeface="Arial" panose="020B0604020202020204" pitchFamily="34" charset="0"/>
              <a:buChar char="•"/>
            </a:pPr>
            <a:r>
              <a:rPr lang="en-US" altLang="zh-CN" sz="3200" dirty="0">
                <a:solidFill>
                  <a:schemeClr val="bg1"/>
                </a:solidFill>
                <a:latin typeface="Times New Roman" panose="02020603050405020304" pitchFamily="18" charset="0"/>
                <a:cs typeface="Times New Roman" panose="02020603050405020304" pitchFamily="18" charset="0"/>
              </a:rPr>
              <a:t>When a user </a:t>
            </a:r>
            <a:r>
              <a:rPr lang="en-US" altLang="zh-CN" sz="3200" u="sng" dirty="0">
                <a:solidFill>
                  <a:schemeClr val="bg1"/>
                </a:solidFill>
                <a:latin typeface="Times New Roman" panose="02020603050405020304" pitchFamily="18" charset="0"/>
                <a:cs typeface="Times New Roman" panose="02020603050405020304" pitchFamily="18" charset="0"/>
              </a:rPr>
              <a:t>clicks</a:t>
            </a:r>
            <a:r>
              <a:rPr lang="en-US" altLang="zh-CN" sz="3200" dirty="0">
                <a:solidFill>
                  <a:schemeClr val="bg1"/>
                </a:solidFill>
                <a:latin typeface="Times New Roman" panose="02020603050405020304" pitchFamily="18" charset="0"/>
                <a:cs typeface="Times New Roman" panose="02020603050405020304" pitchFamily="18" charset="0"/>
              </a:rPr>
              <a:t> the mouse</a:t>
            </a:r>
          </a:p>
          <a:p>
            <a:pPr marL="1200150" lvl="2" indent="-285750">
              <a:buFont typeface="Arial" panose="020B0604020202020204" pitchFamily="34" charset="0"/>
              <a:buChar char="•"/>
            </a:pPr>
            <a:r>
              <a:rPr lang="en-US" altLang="zh-CN" sz="3200" dirty="0">
                <a:solidFill>
                  <a:schemeClr val="bg1"/>
                </a:solidFill>
                <a:latin typeface="Times New Roman" panose="02020603050405020304" pitchFamily="18" charset="0"/>
                <a:cs typeface="Times New Roman" panose="02020603050405020304" pitchFamily="18" charset="0"/>
              </a:rPr>
              <a:t>When a web page has </a:t>
            </a:r>
            <a:r>
              <a:rPr lang="en-US" altLang="zh-CN" sz="3200" u="sng" dirty="0">
                <a:solidFill>
                  <a:schemeClr val="bg1"/>
                </a:solidFill>
                <a:latin typeface="Times New Roman" panose="02020603050405020304" pitchFamily="18" charset="0"/>
                <a:cs typeface="Times New Roman" panose="02020603050405020304" pitchFamily="18" charset="0"/>
              </a:rPr>
              <a:t>loaded</a:t>
            </a:r>
          </a:p>
          <a:p>
            <a:pPr marL="1200150" lvl="2" indent="-285750">
              <a:buFont typeface="Arial" panose="020B0604020202020204" pitchFamily="34" charset="0"/>
              <a:buChar char="•"/>
            </a:pPr>
            <a:r>
              <a:rPr lang="en-US" altLang="zh-CN" sz="3200" dirty="0">
                <a:solidFill>
                  <a:schemeClr val="bg1"/>
                </a:solidFill>
                <a:latin typeface="Times New Roman" panose="02020603050405020304" pitchFamily="18" charset="0"/>
                <a:cs typeface="Times New Roman" panose="02020603050405020304" pitchFamily="18" charset="0"/>
              </a:rPr>
              <a:t>When an image has been loaded</a:t>
            </a:r>
          </a:p>
          <a:p>
            <a:pPr marL="1200150" lvl="2" indent="-285750">
              <a:buFont typeface="Arial" panose="020B0604020202020204" pitchFamily="34" charset="0"/>
              <a:buChar char="•"/>
            </a:pPr>
            <a:r>
              <a:rPr lang="en-US" altLang="zh-CN" sz="3200" dirty="0">
                <a:solidFill>
                  <a:schemeClr val="bg1"/>
                </a:solidFill>
                <a:latin typeface="Times New Roman" panose="02020603050405020304" pitchFamily="18" charset="0"/>
                <a:cs typeface="Times New Roman" panose="02020603050405020304" pitchFamily="18" charset="0"/>
              </a:rPr>
              <a:t>When the mouse moves </a:t>
            </a:r>
            <a:r>
              <a:rPr lang="en-US" altLang="zh-CN" sz="3200" u="sng" dirty="0">
                <a:solidFill>
                  <a:schemeClr val="bg1"/>
                </a:solidFill>
                <a:latin typeface="Times New Roman" panose="02020603050405020304" pitchFamily="18" charset="0"/>
                <a:cs typeface="Times New Roman" panose="02020603050405020304" pitchFamily="18" charset="0"/>
              </a:rPr>
              <a:t>over</a:t>
            </a:r>
            <a:r>
              <a:rPr lang="en-US" altLang="zh-CN" sz="3200" dirty="0">
                <a:solidFill>
                  <a:schemeClr val="bg1"/>
                </a:solidFill>
                <a:latin typeface="Times New Roman" panose="02020603050405020304" pitchFamily="18" charset="0"/>
                <a:cs typeface="Times New Roman" panose="02020603050405020304" pitchFamily="18" charset="0"/>
              </a:rPr>
              <a:t> an element</a:t>
            </a:r>
          </a:p>
          <a:p>
            <a:pPr marL="1200150" lvl="2" indent="-285750">
              <a:buFont typeface="Arial" panose="020B0604020202020204" pitchFamily="34" charset="0"/>
              <a:buChar char="•"/>
            </a:pPr>
            <a:r>
              <a:rPr lang="en-US" altLang="zh-CN" sz="3200" dirty="0">
                <a:solidFill>
                  <a:schemeClr val="bg1"/>
                </a:solidFill>
                <a:latin typeface="Times New Roman" panose="02020603050405020304" pitchFamily="18" charset="0"/>
                <a:cs typeface="Times New Roman" panose="02020603050405020304" pitchFamily="18" charset="0"/>
              </a:rPr>
              <a:t>When an input field is </a:t>
            </a:r>
            <a:r>
              <a:rPr lang="en-US" altLang="zh-CN" sz="3200" u="sng" dirty="0">
                <a:solidFill>
                  <a:schemeClr val="bg1"/>
                </a:solidFill>
                <a:latin typeface="Times New Roman" panose="02020603050405020304" pitchFamily="18" charset="0"/>
                <a:cs typeface="Times New Roman" panose="02020603050405020304" pitchFamily="18" charset="0"/>
              </a:rPr>
              <a:t>changed</a:t>
            </a:r>
          </a:p>
          <a:p>
            <a:pPr marL="1200150" lvl="2" indent="-285750">
              <a:buFont typeface="Arial" panose="020B0604020202020204" pitchFamily="34" charset="0"/>
              <a:buChar char="•"/>
            </a:pPr>
            <a:r>
              <a:rPr lang="en-US" altLang="zh-CN" sz="3200" dirty="0">
                <a:solidFill>
                  <a:schemeClr val="bg1"/>
                </a:solidFill>
                <a:latin typeface="Times New Roman" panose="02020603050405020304" pitchFamily="18" charset="0"/>
                <a:cs typeface="Times New Roman" panose="02020603050405020304" pitchFamily="18" charset="0"/>
              </a:rPr>
              <a:t>When an HTML form is </a:t>
            </a:r>
            <a:r>
              <a:rPr lang="en-US" altLang="zh-CN" sz="3200" u="sng" dirty="0">
                <a:solidFill>
                  <a:schemeClr val="bg1"/>
                </a:solidFill>
                <a:latin typeface="Times New Roman" panose="02020603050405020304" pitchFamily="18" charset="0"/>
                <a:cs typeface="Times New Roman" panose="02020603050405020304" pitchFamily="18" charset="0"/>
              </a:rPr>
              <a:t>submitted</a:t>
            </a:r>
          </a:p>
          <a:p>
            <a:pPr marL="1200150" lvl="2" indent="-285750">
              <a:buFont typeface="Arial" panose="020B0604020202020204" pitchFamily="34" charset="0"/>
              <a:buChar char="•"/>
            </a:pPr>
            <a:r>
              <a:rPr lang="en-US" altLang="zh-CN" sz="3200" dirty="0">
                <a:solidFill>
                  <a:schemeClr val="bg1"/>
                </a:solidFill>
                <a:latin typeface="Times New Roman" panose="02020603050405020304" pitchFamily="18" charset="0"/>
                <a:cs typeface="Times New Roman" panose="02020603050405020304" pitchFamily="18" charset="0"/>
              </a:rPr>
              <a:t>When a user strokes a key</a:t>
            </a:r>
          </a:p>
        </p:txBody>
      </p:sp>
    </p:spTree>
    <p:extLst>
      <p:ext uri="{BB962C8B-B14F-4D97-AF65-F5344CB8AC3E}">
        <p14:creationId xmlns:p14="http://schemas.microsoft.com/office/powerpoint/2010/main" val="1980386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5107272" y="184544"/>
            <a:ext cx="2634054"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Events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510216" y="921391"/>
            <a:ext cx="4514377" cy="461665"/>
          </a:xfrm>
          <a:prstGeom prst="rect">
            <a:avLst/>
          </a:prstGeom>
        </p:spPr>
        <p:txBody>
          <a:bodyPr wrap="none">
            <a:spAutoFit/>
          </a:bodyPr>
          <a:lstStyle/>
          <a:p>
            <a:pPr lvl="0">
              <a:defRPr/>
            </a:pPr>
            <a:r>
              <a:rPr lang="en-US" altLang="zh-CN" sz="2400" b="1" dirty="0">
                <a:solidFill>
                  <a:prstClr val="white"/>
                </a:solidFill>
                <a:latin typeface="Times New Roman" panose="02020603050405020304" pitchFamily="18" charset="0"/>
                <a:cs typeface="Times New Roman" panose="02020603050405020304" pitchFamily="18" charset="0"/>
              </a:rPr>
              <a:t>The </a:t>
            </a:r>
            <a:r>
              <a:rPr lang="en-US" altLang="zh-CN" sz="2400" b="1" dirty="0" err="1">
                <a:solidFill>
                  <a:prstClr val="white"/>
                </a:solidFill>
                <a:latin typeface="Times New Roman" panose="02020603050405020304" pitchFamily="18" charset="0"/>
                <a:cs typeface="Times New Roman" panose="02020603050405020304" pitchFamily="18" charset="0"/>
              </a:rPr>
              <a:t>onload</a:t>
            </a:r>
            <a:r>
              <a:rPr lang="en-US" altLang="zh-CN" sz="2400" b="1" dirty="0">
                <a:solidFill>
                  <a:prstClr val="white"/>
                </a:solidFill>
                <a:latin typeface="Times New Roman" panose="02020603050405020304" pitchFamily="18" charset="0"/>
                <a:cs typeface="Times New Roman" panose="02020603050405020304" pitchFamily="18" charset="0"/>
              </a:rPr>
              <a:t> and </a:t>
            </a:r>
            <a:r>
              <a:rPr lang="en-US" altLang="zh-CN" sz="2400" b="1" dirty="0" err="1">
                <a:solidFill>
                  <a:prstClr val="white"/>
                </a:solidFill>
                <a:latin typeface="Times New Roman" panose="02020603050405020304" pitchFamily="18" charset="0"/>
                <a:cs typeface="Times New Roman" panose="02020603050405020304" pitchFamily="18" charset="0"/>
              </a:rPr>
              <a:t>onunload</a:t>
            </a:r>
            <a:r>
              <a:rPr lang="en-US" altLang="zh-CN" sz="2400" b="1" dirty="0">
                <a:solidFill>
                  <a:prstClr val="white"/>
                </a:solidFill>
                <a:latin typeface="Times New Roman" panose="02020603050405020304" pitchFamily="18" charset="0"/>
                <a:cs typeface="Times New Roman" panose="02020603050405020304" pitchFamily="18" charset="0"/>
              </a:rPr>
              <a:t> Events</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矩形 7"/>
          <p:cNvSpPr/>
          <p:nvPr/>
        </p:nvSpPr>
        <p:spPr>
          <a:xfrm>
            <a:off x="801185" y="1508105"/>
            <a:ext cx="10478503" cy="1323439"/>
          </a:xfrm>
          <a:prstGeom prst="rect">
            <a:avLst/>
          </a:prstGeom>
        </p:spPr>
        <p:txBody>
          <a:bodyPr wrap="square">
            <a:spAutoFit/>
          </a:bodyPr>
          <a:lstStyle/>
          <a:p>
            <a:pPr marL="342900" indent="-342900" algn="just">
              <a:buFont typeface="Wingdings" panose="05000000000000000000" pitchFamily="2" charset="2"/>
              <a:buChar char="l"/>
            </a:pPr>
            <a:r>
              <a:rPr lang="en-US" altLang="zh-CN" sz="2000" dirty="0">
                <a:solidFill>
                  <a:schemeClr val="bg1"/>
                </a:solidFill>
                <a:latin typeface="Times New Roman" panose="02020603050405020304" pitchFamily="18" charset="0"/>
                <a:cs typeface="Times New Roman" panose="02020603050405020304" pitchFamily="18" charset="0"/>
              </a:rPr>
              <a:t>The </a:t>
            </a:r>
            <a:r>
              <a:rPr lang="en-US" altLang="zh-CN" sz="2000" dirty="0" err="1">
                <a:solidFill>
                  <a:schemeClr val="bg1"/>
                </a:solidFill>
                <a:latin typeface="Times New Roman" panose="02020603050405020304" pitchFamily="18" charset="0"/>
                <a:cs typeface="Times New Roman" panose="02020603050405020304" pitchFamily="18" charset="0"/>
              </a:rPr>
              <a:t>onload</a:t>
            </a:r>
            <a:r>
              <a:rPr lang="en-US" altLang="zh-CN" sz="2000" dirty="0">
                <a:solidFill>
                  <a:schemeClr val="bg1"/>
                </a:solidFill>
                <a:latin typeface="Times New Roman" panose="02020603050405020304" pitchFamily="18" charset="0"/>
                <a:cs typeface="Times New Roman" panose="02020603050405020304" pitchFamily="18" charset="0"/>
              </a:rPr>
              <a:t> and </a:t>
            </a:r>
            <a:r>
              <a:rPr lang="en-US" altLang="zh-CN" sz="2000" dirty="0" err="1">
                <a:solidFill>
                  <a:schemeClr val="bg1"/>
                </a:solidFill>
                <a:latin typeface="Times New Roman" panose="02020603050405020304" pitchFamily="18" charset="0"/>
                <a:cs typeface="Times New Roman" panose="02020603050405020304" pitchFamily="18" charset="0"/>
              </a:rPr>
              <a:t>onunload</a:t>
            </a:r>
            <a:r>
              <a:rPr lang="en-US" altLang="zh-CN" sz="2000" dirty="0">
                <a:solidFill>
                  <a:schemeClr val="bg1"/>
                </a:solidFill>
                <a:latin typeface="Times New Roman" panose="02020603050405020304" pitchFamily="18" charset="0"/>
                <a:cs typeface="Times New Roman" panose="02020603050405020304" pitchFamily="18" charset="0"/>
              </a:rPr>
              <a:t> events are triggered when the user enters or leaves the page</a:t>
            </a:r>
            <a:r>
              <a:rPr lang="en-US" altLang="zh-CN" sz="2000" dirty="0" smtClean="0">
                <a:solidFill>
                  <a:schemeClr val="bg1"/>
                </a:solidFill>
                <a:latin typeface="Times New Roman" panose="02020603050405020304" pitchFamily="18" charset="0"/>
                <a:cs typeface="Times New Roman" panose="02020603050405020304" pitchFamily="18" charset="0"/>
              </a:rPr>
              <a:t>.</a:t>
            </a:r>
            <a:endParaRPr lang="en-US" altLang="zh-CN" sz="2000" dirty="0">
              <a:solidFill>
                <a:schemeClr val="bg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l"/>
            </a:pPr>
            <a:r>
              <a:rPr lang="en-US" altLang="zh-CN" sz="2000" dirty="0">
                <a:solidFill>
                  <a:schemeClr val="bg1"/>
                </a:solidFill>
                <a:latin typeface="Times New Roman" panose="02020603050405020304" pitchFamily="18" charset="0"/>
                <a:cs typeface="Times New Roman" panose="02020603050405020304" pitchFamily="18" charset="0"/>
              </a:rPr>
              <a:t>The </a:t>
            </a:r>
            <a:r>
              <a:rPr lang="en-US" altLang="zh-CN" sz="2000" dirty="0" err="1">
                <a:solidFill>
                  <a:schemeClr val="bg1"/>
                </a:solidFill>
                <a:latin typeface="Times New Roman" panose="02020603050405020304" pitchFamily="18" charset="0"/>
                <a:cs typeface="Times New Roman" panose="02020603050405020304" pitchFamily="18" charset="0"/>
              </a:rPr>
              <a:t>onload</a:t>
            </a:r>
            <a:r>
              <a:rPr lang="en-US" altLang="zh-CN" sz="2000" dirty="0">
                <a:solidFill>
                  <a:schemeClr val="bg1"/>
                </a:solidFill>
                <a:latin typeface="Times New Roman" panose="02020603050405020304" pitchFamily="18" charset="0"/>
                <a:cs typeface="Times New Roman" panose="02020603050405020304" pitchFamily="18" charset="0"/>
              </a:rPr>
              <a:t> event can be used to check the visitor's browser type and browser version, and load the proper version of the web page based on the information</a:t>
            </a:r>
            <a:r>
              <a:rPr lang="en-US" altLang="zh-CN" sz="2000" dirty="0" smtClean="0">
                <a:solidFill>
                  <a:schemeClr val="bg1"/>
                </a:solidFill>
                <a:latin typeface="Times New Roman" panose="02020603050405020304" pitchFamily="18" charset="0"/>
                <a:cs typeface="Times New Roman" panose="02020603050405020304" pitchFamily="18" charset="0"/>
              </a:rPr>
              <a:t>.</a:t>
            </a:r>
            <a:endParaRPr lang="en-US" altLang="zh-CN" sz="2000" dirty="0">
              <a:solidFill>
                <a:schemeClr val="bg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l"/>
            </a:pPr>
            <a:r>
              <a:rPr lang="en-US" altLang="zh-CN" sz="2000" dirty="0">
                <a:solidFill>
                  <a:schemeClr val="bg1"/>
                </a:solidFill>
                <a:latin typeface="Times New Roman" panose="02020603050405020304" pitchFamily="18" charset="0"/>
                <a:cs typeface="Times New Roman" panose="02020603050405020304" pitchFamily="18" charset="0"/>
              </a:rPr>
              <a:t>The </a:t>
            </a:r>
            <a:r>
              <a:rPr lang="en-US" altLang="zh-CN" sz="2000" dirty="0" err="1">
                <a:solidFill>
                  <a:schemeClr val="bg1"/>
                </a:solidFill>
                <a:latin typeface="Times New Roman" panose="02020603050405020304" pitchFamily="18" charset="0"/>
                <a:cs typeface="Times New Roman" panose="02020603050405020304" pitchFamily="18" charset="0"/>
              </a:rPr>
              <a:t>onload</a:t>
            </a:r>
            <a:r>
              <a:rPr lang="en-US" altLang="zh-CN" sz="2000" dirty="0">
                <a:solidFill>
                  <a:schemeClr val="bg1"/>
                </a:solidFill>
                <a:latin typeface="Times New Roman" panose="02020603050405020304" pitchFamily="18" charset="0"/>
                <a:cs typeface="Times New Roman" panose="02020603050405020304" pitchFamily="18" charset="0"/>
              </a:rPr>
              <a:t> and </a:t>
            </a:r>
            <a:r>
              <a:rPr lang="en-US" altLang="zh-CN" sz="2000" dirty="0" err="1">
                <a:solidFill>
                  <a:schemeClr val="bg1"/>
                </a:solidFill>
                <a:latin typeface="Times New Roman" panose="02020603050405020304" pitchFamily="18" charset="0"/>
                <a:cs typeface="Times New Roman" panose="02020603050405020304" pitchFamily="18" charset="0"/>
              </a:rPr>
              <a:t>onunload</a:t>
            </a:r>
            <a:r>
              <a:rPr lang="en-US" altLang="zh-CN" sz="2000" dirty="0">
                <a:solidFill>
                  <a:schemeClr val="bg1"/>
                </a:solidFill>
                <a:latin typeface="Times New Roman" panose="02020603050405020304" pitchFamily="18" charset="0"/>
                <a:cs typeface="Times New Roman" panose="02020603050405020304" pitchFamily="18" charset="0"/>
              </a:rPr>
              <a:t> events can be used to deal with cookies.</a:t>
            </a:r>
            <a:endParaRPr lang="en-US" altLang="zh-CN" sz="2800" dirty="0">
              <a:solidFill>
                <a:schemeClr val="bg1"/>
              </a:solidFill>
              <a:latin typeface="Times New Roman" panose="02020603050405020304" pitchFamily="18" charset="0"/>
              <a:cs typeface="Times New Roman" panose="02020603050405020304" pitchFamily="18" charset="0"/>
            </a:endParaRPr>
          </a:p>
        </p:txBody>
      </p:sp>
      <p:sp>
        <p:nvSpPr>
          <p:cNvPr id="5" name="矩形 4"/>
          <p:cNvSpPr/>
          <p:nvPr/>
        </p:nvSpPr>
        <p:spPr>
          <a:xfrm>
            <a:off x="510216" y="3098965"/>
            <a:ext cx="10919784" cy="830997"/>
          </a:xfrm>
          <a:prstGeom prst="rect">
            <a:avLst/>
          </a:prstGeom>
        </p:spPr>
        <p:txBody>
          <a:bodyPr wrap="square">
            <a:spAutoFit/>
          </a:bodyPr>
          <a:lstStyle/>
          <a:p>
            <a:pPr algn="just">
              <a:defRPr/>
            </a:pPr>
            <a:r>
              <a:rPr lang="en-US" altLang="zh-CN" sz="2400" b="1" dirty="0">
                <a:solidFill>
                  <a:prstClr val="white"/>
                </a:solidFill>
                <a:latin typeface="Times New Roman" panose="02020603050405020304" pitchFamily="18" charset="0"/>
                <a:cs typeface="Times New Roman" panose="02020603050405020304" pitchFamily="18" charset="0"/>
              </a:rPr>
              <a:t>The </a:t>
            </a:r>
            <a:r>
              <a:rPr lang="en-US" altLang="zh-CN" sz="2400" b="1" dirty="0" err="1">
                <a:solidFill>
                  <a:prstClr val="white"/>
                </a:solidFill>
                <a:latin typeface="Times New Roman" panose="02020603050405020304" pitchFamily="18" charset="0"/>
                <a:cs typeface="Times New Roman" panose="02020603050405020304" pitchFamily="18" charset="0"/>
              </a:rPr>
              <a:t>onchange</a:t>
            </a:r>
            <a:r>
              <a:rPr lang="en-US" altLang="zh-CN" sz="2400" b="1" dirty="0">
                <a:solidFill>
                  <a:prstClr val="white"/>
                </a:solidFill>
                <a:latin typeface="Times New Roman" panose="02020603050405020304" pitchFamily="18" charset="0"/>
                <a:cs typeface="Times New Roman" panose="02020603050405020304" pitchFamily="18" charset="0"/>
              </a:rPr>
              <a:t> </a:t>
            </a:r>
            <a:r>
              <a:rPr lang="en-US" altLang="zh-CN" sz="2400" b="1" dirty="0" err="1" smtClean="0">
                <a:solidFill>
                  <a:prstClr val="white"/>
                </a:solidFill>
                <a:latin typeface="Times New Roman" panose="02020603050405020304" pitchFamily="18" charset="0"/>
                <a:cs typeface="Times New Roman" panose="02020603050405020304" pitchFamily="18" charset="0"/>
              </a:rPr>
              <a:t>Event:</a:t>
            </a:r>
            <a:r>
              <a:rPr lang="en-US" altLang="zh-CN" sz="2400" dirty="0" err="1">
                <a:solidFill>
                  <a:schemeClr val="bg1"/>
                </a:solidFill>
                <a:latin typeface="Times New Roman" panose="02020603050405020304" pitchFamily="18" charset="0"/>
                <a:cs typeface="Times New Roman" panose="02020603050405020304" pitchFamily="18" charset="0"/>
              </a:rPr>
              <a:t>The</a:t>
            </a:r>
            <a:r>
              <a:rPr lang="en-US" altLang="zh-CN" sz="2400" dirty="0">
                <a:solidFill>
                  <a:schemeClr val="bg1"/>
                </a:solidFill>
                <a:latin typeface="Times New Roman" panose="02020603050405020304" pitchFamily="18" charset="0"/>
                <a:cs typeface="Times New Roman" panose="02020603050405020304" pitchFamily="18" charset="0"/>
              </a:rPr>
              <a:t> </a:t>
            </a:r>
            <a:r>
              <a:rPr lang="en-US" altLang="zh-CN" sz="2400" dirty="0" err="1">
                <a:solidFill>
                  <a:schemeClr val="bg1"/>
                </a:solidFill>
                <a:latin typeface="Times New Roman" panose="02020603050405020304" pitchFamily="18" charset="0"/>
                <a:cs typeface="Times New Roman" panose="02020603050405020304" pitchFamily="18" charset="0"/>
              </a:rPr>
              <a:t>onchange</a:t>
            </a:r>
            <a:r>
              <a:rPr lang="en-US" altLang="zh-CN" sz="2400" dirty="0">
                <a:solidFill>
                  <a:schemeClr val="bg1"/>
                </a:solidFill>
                <a:latin typeface="Times New Roman" panose="02020603050405020304" pitchFamily="18" charset="0"/>
                <a:cs typeface="Times New Roman" panose="02020603050405020304" pitchFamily="18" charset="0"/>
              </a:rPr>
              <a:t> event is often used in combination with validation of input fields</a:t>
            </a:r>
            <a:r>
              <a:rPr lang="en-US" altLang="zh-CN" sz="2400" dirty="0" smtClean="0">
                <a:solidFill>
                  <a:schemeClr val="bg1"/>
                </a:solidFill>
                <a:latin typeface="Times New Roman" panose="02020603050405020304" pitchFamily="18" charset="0"/>
                <a:cs typeface="Times New Roman" panose="02020603050405020304" pitchFamily="18" charset="0"/>
              </a:rPr>
              <a:t>.</a:t>
            </a:r>
            <a:endParaRPr lang="en-US" altLang="zh-CN" sz="3200" dirty="0">
              <a:solidFill>
                <a:schemeClr val="bg1"/>
              </a:solidFill>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2"/>
          <a:stretch>
            <a:fillRect/>
          </a:stretch>
        </p:blipFill>
        <p:spPr>
          <a:xfrm>
            <a:off x="713802" y="4145668"/>
            <a:ext cx="5529946" cy="2471386"/>
          </a:xfrm>
          <a:prstGeom prst="rect">
            <a:avLst/>
          </a:prstGeom>
        </p:spPr>
      </p:pic>
      <p:pic>
        <p:nvPicPr>
          <p:cNvPr id="10" name="图片 9"/>
          <p:cNvPicPr>
            <a:picLocks noChangeAspect="1"/>
          </p:cNvPicPr>
          <p:nvPr/>
        </p:nvPicPr>
        <p:blipFill>
          <a:blip r:embed="rId3"/>
          <a:stretch>
            <a:fillRect/>
          </a:stretch>
        </p:blipFill>
        <p:spPr>
          <a:xfrm>
            <a:off x="7327307" y="4145668"/>
            <a:ext cx="3952381" cy="885714"/>
          </a:xfrm>
          <a:prstGeom prst="rect">
            <a:avLst/>
          </a:prstGeom>
        </p:spPr>
      </p:pic>
      <p:pic>
        <p:nvPicPr>
          <p:cNvPr id="11" name="图片 10"/>
          <p:cNvPicPr>
            <a:picLocks noChangeAspect="1"/>
          </p:cNvPicPr>
          <p:nvPr/>
        </p:nvPicPr>
        <p:blipFill>
          <a:blip r:embed="rId4"/>
          <a:stretch>
            <a:fillRect/>
          </a:stretch>
        </p:blipFill>
        <p:spPr>
          <a:xfrm>
            <a:off x="7327307" y="5537782"/>
            <a:ext cx="3476190" cy="895238"/>
          </a:xfrm>
          <a:prstGeom prst="rect">
            <a:avLst/>
          </a:prstGeom>
        </p:spPr>
      </p:pic>
    </p:spTree>
    <p:extLst>
      <p:ext uri="{BB962C8B-B14F-4D97-AF65-F5344CB8AC3E}">
        <p14:creationId xmlns:p14="http://schemas.microsoft.com/office/powerpoint/2010/main" val="3913060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030033" y="146966"/>
            <a:ext cx="3967753"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a:t>
            </a:r>
            <a:r>
              <a:rPr lang="en-US" altLang="zh-CN" sz="3600" dirty="0" err="1">
                <a:solidFill>
                  <a:prstClr val="white"/>
                </a:solidFill>
                <a:latin typeface="Times New Roman" panose="02020603050405020304" pitchFamily="18" charset="0"/>
                <a:cs typeface="Times New Roman" panose="02020603050405020304" pitchFamily="18" charset="0"/>
              </a:rPr>
              <a:t>EventListener</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7326752" y="2193388"/>
            <a:ext cx="4410135" cy="1200329"/>
          </a:xfrm>
          <a:prstGeom prst="rect">
            <a:avLst/>
          </a:prstGeom>
        </p:spPr>
        <p:txBody>
          <a:bodyPr wrap="square">
            <a:spAutoFit/>
          </a:bodyPr>
          <a:lstStyle/>
          <a:p>
            <a:pPr lvl="0" algn="just">
              <a:defRPr/>
            </a:pPr>
            <a:r>
              <a:rPr lang="en-US" altLang="zh-CN" sz="2400" b="1" dirty="0">
                <a:solidFill>
                  <a:prstClr val="white"/>
                </a:solidFill>
                <a:latin typeface="Times New Roman" panose="02020603050405020304" pitchFamily="18" charset="0"/>
                <a:cs typeface="Times New Roman" panose="02020603050405020304" pitchFamily="18" charset="0"/>
              </a:rPr>
              <a:t>The </a:t>
            </a:r>
            <a:r>
              <a:rPr lang="en-US" altLang="zh-CN" sz="2400" b="1" dirty="0" err="1">
                <a:solidFill>
                  <a:prstClr val="white"/>
                </a:solidFill>
                <a:latin typeface="Times New Roman" panose="02020603050405020304" pitchFamily="18" charset="0"/>
                <a:cs typeface="Times New Roman" panose="02020603050405020304" pitchFamily="18" charset="0"/>
              </a:rPr>
              <a:t>addEventListener</a:t>
            </a:r>
            <a:r>
              <a:rPr lang="en-US" altLang="zh-CN" sz="2400" b="1" dirty="0">
                <a:solidFill>
                  <a:prstClr val="white"/>
                </a:solidFill>
                <a:latin typeface="Times New Roman" panose="02020603050405020304" pitchFamily="18" charset="0"/>
                <a:cs typeface="Times New Roman" panose="02020603050405020304" pitchFamily="18" charset="0"/>
              </a:rPr>
              <a:t>() </a:t>
            </a:r>
            <a:r>
              <a:rPr lang="en-US" altLang="zh-CN" sz="2400" b="1" dirty="0" smtClean="0">
                <a:solidFill>
                  <a:prstClr val="white"/>
                </a:solidFill>
                <a:latin typeface="Times New Roman" panose="02020603050405020304" pitchFamily="18" charset="0"/>
                <a:cs typeface="Times New Roman" panose="02020603050405020304" pitchFamily="18" charset="0"/>
              </a:rPr>
              <a:t>method</a:t>
            </a:r>
          </a:p>
          <a:p>
            <a:pPr algn="just">
              <a:defRPr/>
            </a:pPr>
            <a:r>
              <a:rPr lang="en-US" altLang="zh-CN" sz="2400" dirty="0" smtClean="0">
                <a:solidFill>
                  <a:schemeClr val="bg1"/>
                </a:solidFill>
                <a:latin typeface="Times New Roman" panose="02020603050405020304" pitchFamily="18" charset="0"/>
                <a:cs typeface="Times New Roman" panose="02020603050405020304" pitchFamily="18" charset="0"/>
              </a:rPr>
              <a:t>adds </a:t>
            </a:r>
            <a:r>
              <a:rPr lang="en-US" altLang="zh-CN" sz="2400" dirty="0">
                <a:solidFill>
                  <a:schemeClr val="bg1"/>
                </a:solidFill>
                <a:latin typeface="Times New Roman" panose="02020603050405020304" pitchFamily="18" charset="0"/>
                <a:cs typeface="Times New Roman" panose="02020603050405020304" pitchFamily="18" charset="0"/>
              </a:rPr>
              <a:t>an event listener that fires when a user clicks a button</a:t>
            </a:r>
            <a:r>
              <a:rPr lang="en-US" altLang="zh-CN" sz="2400" dirty="0" smtClean="0">
                <a:solidFill>
                  <a:schemeClr val="bg1"/>
                </a:solidFill>
                <a:latin typeface="Times New Roman" panose="02020603050405020304" pitchFamily="18" charset="0"/>
                <a:cs typeface="Times New Roman" panose="02020603050405020304" pitchFamily="18" charset="0"/>
              </a:rPr>
              <a:t>:</a:t>
            </a:r>
            <a:endParaRPr lang="en-US" altLang="zh-CN" sz="2400" dirty="0">
              <a:solidFill>
                <a:schemeClr val="bg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a:blip r:embed="rId2"/>
          <a:stretch>
            <a:fillRect/>
          </a:stretch>
        </p:blipFill>
        <p:spPr>
          <a:xfrm>
            <a:off x="312177" y="1479253"/>
            <a:ext cx="6419048" cy="3359970"/>
          </a:xfrm>
          <a:prstGeom prst="rect">
            <a:avLst/>
          </a:prstGeom>
        </p:spPr>
      </p:pic>
      <p:cxnSp>
        <p:nvCxnSpPr>
          <p:cNvPr id="14" name="直接连接符 13"/>
          <p:cNvCxnSpPr/>
          <p:nvPr/>
        </p:nvCxnSpPr>
        <p:spPr>
          <a:xfrm>
            <a:off x="2535030" y="3613997"/>
            <a:ext cx="2769325" cy="0"/>
          </a:xfrm>
          <a:prstGeom prst="line">
            <a:avLst/>
          </a:prstGeom>
        </p:spPr>
        <p:style>
          <a:lnRef idx="3">
            <a:schemeClr val="accent2"/>
          </a:lnRef>
          <a:fillRef idx="0">
            <a:schemeClr val="accent2"/>
          </a:fillRef>
          <a:effectRef idx="2">
            <a:schemeClr val="accent2"/>
          </a:effectRef>
          <a:fontRef idx="minor">
            <a:schemeClr val="tx1"/>
          </a:fontRef>
        </p:style>
      </p:cxnSp>
      <p:pic>
        <p:nvPicPr>
          <p:cNvPr id="18" name="图片 17"/>
          <p:cNvPicPr>
            <a:picLocks noChangeAspect="1"/>
          </p:cNvPicPr>
          <p:nvPr/>
        </p:nvPicPr>
        <p:blipFill>
          <a:blip r:embed="rId3"/>
          <a:stretch>
            <a:fillRect/>
          </a:stretch>
        </p:blipFill>
        <p:spPr>
          <a:xfrm>
            <a:off x="312177" y="5169403"/>
            <a:ext cx="6419048" cy="1580952"/>
          </a:xfrm>
          <a:prstGeom prst="rect">
            <a:avLst/>
          </a:prstGeom>
        </p:spPr>
      </p:pic>
    </p:spTree>
    <p:extLst>
      <p:ext uri="{BB962C8B-B14F-4D97-AF65-F5344CB8AC3E}">
        <p14:creationId xmlns:p14="http://schemas.microsoft.com/office/powerpoint/2010/main" val="1168822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030033" y="146966"/>
            <a:ext cx="3967753"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a:t>
            </a:r>
            <a:r>
              <a:rPr lang="en-US" altLang="zh-CN" sz="3600" dirty="0" err="1">
                <a:solidFill>
                  <a:prstClr val="white"/>
                </a:solidFill>
                <a:latin typeface="Times New Roman" panose="02020603050405020304" pitchFamily="18" charset="0"/>
                <a:cs typeface="Times New Roman" panose="02020603050405020304" pitchFamily="18" charset="0"/>
              </a:rPr>
              <a:t>EventListener</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716896" y="1186441"/>
            <a:ext cx="4514377" cy="461665"/>
          </a:xfrm>
          <a:prstGeom prst="rect">
            <a:avLst/>
          </a:prstGeom>
        </p:spPr>
        <p:txBody>
          <a:bodyPr wrap="none">
            <a:spAutoFit/>
          </a:bodyPr>
          <a:lstStyle/>
          <a:p>
            <a:pPr lvl="0">
              <a:defRPr/>
            </a:pPr>
            <a:r>
              <a:rPr lang="en-US" altLang="zh-CN" sz="2400" b="1" dirty="0">
                <a:solidFill>
                  <a:prstClr val="white"/>
                </a:solidFill>
                <a:latin typeface="Times New Roman" panose="02020603050405020304" pitchFamily="18" charset="0"/>
                <a:cs typeface="Times New Roman" panose="02020603050405020304" pitchFamily="18" charset="0"/>
              </a:rPr>
              <a:t>The </a:t>
            </a:r>
            <a:r>
              <a:rPr lang="en-US" altLang="zh-CN" sz="2400" b="1" dirty="0" err="1">
                <a:solidFill>
                  <a:prstClr val="white"/>
                </a:solidFill>
                <a:latin typeface="Times New Roman" panose="02020603050405020304" pitchFamily="18" charset="0"/>
                <a:cs typeface="Times New Roman" panose="02020603050405020304" pitchFamily="18" charset="0"/>
              </a:rPr>
              <a:t>addEventListener</a:t>
            </a:r>
            <a:r>
              <a:rPr lang="en-US" altLang="zh-CN" sz="2400" b="1" dirty="0">
                <a:solidFill>
                  <a:prstClr val="white"/>
                </a:solidFill>
                <a:latin typeface="Times New Roman" panose="02020603050405020304" pitchFamily="18" charset="0"/>
                <a:cs typeface="Times New Roman" panose="02020603050405020304" pitchFamily="18" charset="0"/>
              </a:rPr>
              <a:t>() method</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6" name="文本框 5"/>
          <p:cNvSpPr txBox="1"/>
          <p:nvPr/>
        </p:nvSpPr>
        <p:spPr>
          <a:xfrm>
            <a:off x="832434" y="2181293"/>
            <a:ext cx="10845761" cy="3046988"/>
          </a:xfrm>
          <a:prstGeom prst="rect">
            <a:avLst/>
          </a:prstGeom>
          <a:noFill/>
        </p:spPr>
        <p:txBody>
          <a:bodyPr wrap="square" rtlCol="0">
            <a:spAutoFit/>
          </a:bodyPr>
          <a:lstStyle/>
          <a:p>
            <a:pPr marL="457200" indent="-457200">
              <a:buFont typeface="Wingdings" panose="05000000000000000000" pitchFamily="2" charset="2"/>
              <a:buChar char="l"/>
            </a:pPr>
            <a:r>
              <a:rPr lang="en-US" altLang="zh-CN" sz="2800" dirty="0">
                <a:solidFill>
                  <a:schemeClr val="bg1"/>
                </a:solidFill>
                <a:latin typeface="Times New Roman" panose="02020603050405020304" pitchFamily="18" charset="0"/>
                <a:cs typeface="Times New Roman" panose="02020603050405020304" pitchFamily="18" charset="0"/>
              </a:rPr>
              <a:t>Syntax</a:t>
            </a:r>
            <a:endParaRPr lang="en-US" altLang="zh-CN" sz="2000" dirty="0">
              <a:solidFill>
                <a:schemeClr val="bg1"/>
              </a:solidFill>
              <a:latin typeface="Times New Roman" panose="02020603050405020304" pitchFamily="18" charset="0"/>
              <a:cs typeface="Times New Roman" panose="02020603050405020304" pitchFamily="18" charset="0"/>
            </a:endParaRPr>
          </a:p>
          <a:p>
            <a:r>
              <a:rPr lang="en-US" altLang="zh-CN" sz="2400" dirty="0">
                <a:solidFill>
                  <a:schemeClr val="bg1"/>
                </a:solidFill>
                <a:latin typeface="Times New Roman" panose="02020603050405020304" pitchFamily="18" charset="0"/>
                <a:cs typeface="Times New Roman" panose="02020603050405020304" pitchFamily="18" charset="0"/>
              </a:rPr>
              <a:t>	</a:t>
            </a:r>
            <a:r>
              <a:rPr lang="en-US" altLang="zh-CN" sz="2400" dirty="0" err="1">
                <a:solidFill>
                  <a:schemeClr val="bg1"/>
                </a:solidFill>
                <a:latin typeface="Times New Roman" panose="02020603050405020304" pitchFamily="18" charset="0"/>
                <a:cs typeface="Times New Roman" panose="02020603050405020304" pitchFamily="18" charset="0"/>
              </a:rPr>
              <a:t>element.addEventListener</a:t>
            </a:r>
            <a:r>
              <a:rPr lang="en-US" altLang="zh-CN" sz="2400" dirty="0">
                <a:solidFill>
                  <a:schemeClr val="bg1"/>
                </a:solidFill>
                <a:latin typeface="Times New Roman" panose="02020603050405020304" pitchFamily="18" charset="0"/>
                <a:cs typeface="Times New Roman" panose="02020603050405020304" pitchFamily="18" charset="0"/>
              </a:rPr>
              <a:t>(event, function, </a:t>
            </a:r>
            <a:r>
              <a:rPr lang="en-US" altLang="zh-CN" sz="2400" dirty="0" err="1">
                <a:solidFill>
                  <a:schemeClr val="bg1"/>
                </a:solidFill>
                <a:latin typeface="Times New Roman" panose="02020603050405020304" pitchFamily="18" charset="0"/>
                <a:cs typeface="Times New Roman" panose="02020603050405020304" pitchFamily="18" charset="0"/>
              </a:rPr>
              <a:t>useCapture</a:t>
            </a:r>
            <a:r>
              <a:rPr lang="en-US" altLang="zh-CN" sz="2400" dirty="0">
                <a:solidFill>
                  <a:schemeClr val="bg1"/>
                </a:solidFill>
                <a:latin typeface="Times New Roman" panose="02020603050405020304" pitchFamily="18" charset="0"/>
                <a:cs typeface="Times New Roman" panose="02020603050405020304" pitchFamily="18" charset="0"/>
              </a:rPr>
              <a:t>);</a:t>
            </a:r>
          </a:p>
          <a:p>
            <a:endParaRPr lang="en-US" altLang="zh-CN"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l"/>
            </a:pPr>
            <a:r>
              <a:rPr lang="en-US" altLang="zh-CN" sz="2400" dirty="0">
                <a:solidFill>
                  <a:schemeClr val="bg1"/>
                </a:solidFill>
                <a:latin typeface="Times New Roman" panose="02020603050405020304" pitchFamily="18" charset="0"/>
                <a:cs typeface="Times New Roman" panose="02020603050405020304" pitchFamily="18" charset="0"/>
              </a:rPr>
              <a:t>The first parameter is the type of the event (like "click" or "</a:t>
            </a:r>
            <a:r>
              <a:rPr lang="en-US" altLang="zh-CN" sz="2400" dirty="0" err="1">
                <a:solidFill>
                  <a:schemeClr val="bg1"/>
                </a:solidFill>
                <a:latin typeface="Times New Roman" panose="02020603050405020304" pitchFamily="18" charset="0"/>
                <a:cs typeface="Times New Roman" panose="02020603050405020304" pitchFamily="18" charset="0"/>
              </a:rPr>
              <a:t>mousedown</a:t>
            </a:r>
            <a:r>
              <a:rPr lang="en-US" altLang="zh-CN" sz="2400" dirty="0">
                <a:solidFill>
                  <a:schemeClr val="bg1"/>
                </a:solidFill>
                <a:latin typeface="Times New Roman" panose="02020603050405020304" pitchFamily="18" charset="0"/>
                <a:cs typeface="Times New Roman" panose="02020603050405020304" pitchFamily="18" charset="0"/>
              </a:rPr>
              <a:t>" or any other HTML DOM Event</a:t>
            </a:r>
            <a:r>
              <a:rPr lang="en-US" altLang="zh-CN" sz="2400" dirty="0" smtClean="0">
                <a:solidFill>
                  <a:schemeClr val="bg1"/>
                </a:solidFill>
                <a:latin typeface="Times New Roman" panose="02020603050405020304" pitchFamily="18" charset="0"/>
                <a:cs typeface="Times New Roman" panose="02020603050405020304" pitchFamily="18" charset="0"/>
              </a:rPr>
              <a:t>.)</a:t>
            </a:r>
            <a:endParaRPr lang="en-US" altLang="zh-CN" sz="24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l"/>
            </a:pPr>
            <a:r>
              <a:rPr lang="en-US" altLang="zh-CN" sz="2400" dirty="0">
                <a:solidFill>
                  <a:schemeClr val="bg1"/>
                </a:solidFill>
                <a:latin typeface="Times New Roman" panose="02020603050405020304" pitchFamily="18" charset="0"/>
                <a:cs typeface="Times New Roman" panose="02020603050405020304" pitchFamily="18" charset="0"/>
              </a:rPr>
              <a:t>The second parameter is the function we want to call when the event occurs</a:t>
            </a:r>
            <a:r>
              <a:rPr lang="en-US" altLang="zh-CN" sz="2400" dirty="0" smtClean="0">
                <a:solidFill>
                  <a:schemeClr val="bg1"/>
                </a:solidFill>
                <a:latin typeface="Times New Roman" panose="02020603050405020304" pitchFamily="18" charset="0"/>
                <a:cs typeface="Times New Roman" panose="02020603050405020304" pitchFamily="18" charset="0"/>
              </a:rPr>
              <a:t>.</a:t>
            </a:r>
            <a:endParaRPr lang="en-US" altLang="zh-CN" sz="24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l"/>
            </a:pPr>
            <a:r>
              <a:rPr lang="en-US" altLang="zh-CN" sz="2400" dirty="0">
                <a:solidFill>
                  <a:schemeClr val="bg1"/>
                </a:solidFill>
                <a:latin typeface="Times New Roman" panose="02020603050405020304" pitchFamily="18" charset="0"/>
                <a:cs typeface="Times New Roman" panose="02020603050405020304" pitchFamily="18" charset="0"/>
              </a:rPr>
              <a:t>The third parameter is a </a:t>
            </a:r>
            <a:r>
              <a:rPr lang="en-US" altLang="zh-CN" sz="2400" dirty="0" err="1">
                <a:solidFill>
                  <a:schemeClr val="bg1"/>
                </a:solidFill>
                <a:latin typeface="Times New Roman" panose="02020603050405020304" pitchFamily="18" charset="0"/>
                <a:cs typeface="Times New Roman" panose="02020603050405020304" pitchFamily="18" charset="0"/>
              </a:rPr>
              <a:t>boolean</a:t>
            </a:r>
            <a:r>
              <a:rPr lang="en-US" altLang="zh-CN" sz="2400" dirty="0">
                <a:solidFill>
                  <a:schemeClr val="bg1"/>
                </a:solidFill>
                <a:latin typeface="Times New Roman" panose="02020603050405020304" pitchFamily="18" charset="0"/>
                <a:cs typeface="Times New Roman" panose="02020603050405020304" pitchFamily="18" charset="0"/>
              </a:rPr>
              <a:t> value specifying whether to use event bubbling or event capturing. This parameter is optional.</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
        <p:nvSpPr>
          <p:cNvPr id="4" name="矩形 3"/>
          <p:cNvSpPr/>
          <p:nvPr/>
        </p:nvSpPr>
        <p:spPr>
          <a:xfrm>
            <a:off x="832434" y="5580026"/>
            <a:ext cx="10503621" cy="461665"/>
          </a:xfrm>
          <a:prstGeom prst="rect">
            <a:avLst/>
          </a:prstGeom>
        </p:spPr>
        <p:txBody>
          <a:bodyPr wrap="square">
            <a:spAutoFit/>
          </a:bodyPr>
          <a:lstStyle/>
          <a:p>
            <a:r>
              <a:rPr lang="en-US" altLang="zh-CN" sz="2400" b="1" dirty="0">
                <a:solidFill>
                  <a:schemeClr val="bg1"/>
                </a:solidFill>
                <a:latin typeface="Times New Roman" panose="02020603050405020304" pitchFamily="18" charset="0"/>
                <a:cs typeface="Times New Roman" panose="02020603050405020304" pitchFamily="18" charset="0"/>
              </a:rPr>
              <a:t>Note</a:t>
            </a:r>
            <a:r>
              <a:rPr lang="en-US" altLang="zh-CN" sz="2400" dirty="0">
                <a:solidFill>
                  <a:schemeClr val="bg1"/>
                </a:solidFill>
                <a:latin typeface="Times New Roman" panose="02020603050405020304" pitchFamily="18" charset="0"/>
                <a:cs typeface="Times New Roman" panose="02020603050405020304" pitchFamily="18" charset="0"/>
              </a:rPr>
              <a:t> that you don't use the "on" prefix for the event; use "click" instead of "</a:t>
            </a:r>
            <a:r>
              <a:rPr lang="en-US" altLang="zh-CN" sz="2400" dirty="0" err="1">
                <a:solidFill>
                  <a:schemeClr val="bg1"/>
                </a:solidFill>
                <a:latin typeface="Times New Roman" panose="02020603050405020304" pitchFamily="18" charset="0"/>
                <a:cs typeface="Times New Roman" panose="02020603050405020304" pitchFamily="18" charset="0"/>
              </a:rPr>
              <a:t>onclick</a:t>
            </a:r>
            <a:r>
              <a:rPr lang="en-US" altLang="zh-CN" sz="2400" dirty="0">
                <a:solidFill>
                  <a:schemeClr val="bg1"/>
                </a:solidFill>
                <a:latin typeface="Times New Roman" panose="02020603050405020304" pitchFamily="18" charset="0"/>
                <a:cs typeface="Times New Roman" panose="02020603050405020304" pitchFamily="18" charset="0"/>
              </a:rPr>
              <a:t>".</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4869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2589540" y="188365"/>
            <a:ext cx="7486024" cy="646331"/>
          </a:xfrm>
          <a:prstGeom prst="rect">
            <a:avLst/>
          </a:prstGeom>
        </p:spPr>
        <p:txBody>
          <a:bodyPr wrap="none">
            <a:spAutoFit/>
          </a:bodyPr>
          <a:lstStyle/>
          <a:p>
            <a:pPr lvl="0">
              <a:defRPr/>
            </a:pPr>
            <a:r>
              <a:rPr lang="en-US" altLang="zh-CN" sz="3600" b="1" dirty="0">
                <a:solidFill>
                  <a:prstClr val="white"/>
                </a:solidFill>
                <a:latin typeface="Times New Roman" panose="02020603050405020304" pitchFamily="18" charset="0"/>
                <a:cs typeface="Times New Roman" panose="02020603050405020304" pitchFamily="18" charset="0"/>
              </a:rPr>
              <a:t>Event Bubbling or Event Capturing?</a:t>
            </a:r>
            <a:endParaRPr lang="zh-CN" altLang="en-US" sz="3600" dirty="0">
              <a:solidFill>
                <a:prstClr val="white"/>
              </a:solidFill>
              <a:latin typeface="Times New Roman" panose="02020603050405020304" pitchFamily="18" charset="0"/>
              <a:cs typeface="Times New Roman" panose="02020603050405020304" pitchFamily="18" charset="0"/>
            </a:endParaRPr>
          </a:p>
        </p:txBody>
      </p:sp>
      <p:sp>
        <p:nvSpPr>
          <p:cNvPr id="3" name="矩形 2"/>
          <p:cNvSpPr/>
          <p:nvPr/>
        </p:nvSpPr>
        <p:spPr>
          <a:xfrm>
            <a:off x="835895" y="1249072"/>
            <a:ext cx="10763207" cy="5262979"/>
          </a:xfrm>
          <a:prstGeom prst="rect">
            <a:avLst/>
          </a:prstGeom>
        </p:spPr>
        <p:txBody>
          <a:bodyPr wrap="square">
            <a:spAutoFit/>
          </a:bodyPr>
          <a:lstStyle/>
          <a:p>
            <a:pPr marL="285750" lvl="0" indent="-285750" algn="just">
              <a:buFont typeface="Wingdings" panose="05000000000000000000" pitchFamily="2" charset="2"/>
              <a:buChar char="l"/>
              <a:defRPr/>
            </a:pPr>
            <a:r>
              <a:rPr lang="en-US" altLang="zh-CN" sz="2400" dirty="0">
                <a:solidFill>
                  <a:schemeClr val="bg1"/>
                </a:solidFill>
                <a:latin typeface="Times New Roman" panose="02020603050405020304" pitchFamily="18" charset="0"/>
                <a:cs typeface="Times New Roman" panose="02020603050405020304" pitchFamily="18" charset="0"/>
              </a:rPr>
              <a:t>Event bubbling and capturing are two methods that are used to handle events in the Document Object Model (DOM) of a web page. When an event occurs, it triggers the event handlers that are registered on the element where the event occurred. These event handlers can propagate the event further up the DOM tree either through capturing or bubbling</a:t>
            </a:r>
            <a:r>
              <a:rPr lang="en-US" altLang="zh-CN" sz="2400" dirty="0" smtClean="0">
                <a:solidFill>
                  <a:schemeClr val="bg1"/>
                </a:solidFill>
                <a:latin typeface="Times New Roman" panose="02020603050405020304" pitchFamily="18" charset="0"/>
                <a:cs typeface="Times New Roman" panose="02020603050405020304" pitchFamily="18" charset="0"/>
              </a:rPr>
              <a:t>.</a:t>
            </a:r>
          </a:p>
          <a:p>
            <a:pPr marL="285750" lvl="0" indent="-285750" algn="just">
              <a:buFont typeface="Wingdings" panose="05000000000000000000" pitchFamily="2" charset="2"/>
              <a:buChar char="l"/>
              <a:defRPr/>
            </a:pPr>
            <a:r>
              <a:rPr lang="en-US" altLang="zh-CN" sz="2400" dirty="0">
                <a:solidFill>
                  <a:schemeClr val="bg1"/>
                </a:solidFill>
                <a:latin typeface="Times New Roman" panose="02020603050405020304" pitchFamily="18" charset="0"/>
                <a:cs typeface="Times New Roman" panose="02020603050405020304" pitchFamily="18" charset="0"/>
              </a:rPr>
              <a:t>With event bubbling, when an event is triggered, it first runs on the innermost child element and then moves up the DOM tree until it reaches the root element. On the other hand, with event capturing, the event is first executed on the root element, and then it moves down the DOM tree until it reaches the target element</a:t>
            </a:r>
            <a:r>
              <a:rPr lang="en-US" altLang="zh-CN" sz="2400" dirty="0" smtClean="0">
                <a:solidFill>
                  <a:schemeClr val="bg1"/>
                </a:solidFill>
                <a:latin typeface="Times New Roman" panose="02020603050405020304" pitchFamily="18" charset="0"/>
                <a:cs typeface="Times New Roman" panose="02020603050405020304" pitchFamily="18" charset="0"/>
              </a:rPr>
              <a:t>.</a:t>
            </a:r>
          </a:p>
          <a:p>
            <a:pPr marL="285750" lvl="0" indent="-285750" algn="just">
              <a:buFont typeface="Wingdings" panose="05000000000000000000" pitchFamily="2" charset="2"/>
              <a:buChar char="l"/>
              <a:defRPr/>
            </a:pPr>
            <a:r>
              <a:rPr lang="en-US" altLang="zh-CN" sz="2400" dirty="0">
                <a:solidFill>
                  <a:schemeClr val="bg1"/>
                </a:solidFill>
                <a:latin typeface="Times New Roman" panose="02020603050405020304" pitchFamily="18" charset="0"/>
                <a:cs typeface="Times New Roman" panose="02020603050405020304" pitchFamily="18" charset="0"/>
              </a:rPr>
              <a:t>Both of these methods have their advantages and disadvantages. Event bubbling is the default method used by most web browsers, and it can be used to handle events on multiple elements with a single event handler. On the other hand, event capturing is more efficient and can be used to cancel the event propagation before it reaches the target element.</a:t>
            </a:r>
            <a:endParaRPr kumimoji="0" lang="zh-CN" altLang="en-US" sz="2400" b="0" i="0" u="none" strike="noStrike" kern="1200" cap="none" spc="0" normalizeH="0" baseline="0" noProof="0" dirty="0">
              <a:ln>
                <a:noFill/>
              </a:ln>
              <a:solidFill>
                <a:schemeClr val="bg1"/>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02220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2589540" y="188365"/>
            <a:ext cx="7486024"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Event Bubbling or Event Capturing?</a:t>
            </a:r>
            <a:endParaRPr kumimoji="0" lang="zh-CN" altLang="en-US"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矩形 3"/>
          <p:cNvSpPr/>
          <p:nvPr/>
        </p:nvSpPr>
        <p:spPr>
          <a:xfrm>
            <a:off x="890479" y="1385769"/>
            <a:ext cx="5623056" cy="5324535"/>
          </a:xfrm>
          <a:prstGeom prst="rect">
            <a:avLst/>
          </a:prstGeom>
        </p:spPr>
        <p:txBody>
          <a:bodyPr wrap="square">
            <a:spAutoFit/>
          </a:bodyPr>
          <a:lstStyle/>
          <a:p>
            <a:r>
              <a:rPr lang="zh-CN" altLang="en-US" sz="2000" dirty="0">
                <a:solidFill>
                  <a:schemeClr val="bg1"/>
                </a:solidFill>
                <a:latin typeface="Times New Roman" panose="02020603050405020304" pitchFamily="18" charset="0"/>
                <a:cs typeface="Times New Roman" panose="02020603050405020304" pitchFamily="18" charset="0"/>
              </a:rPr>
              <a:t>&lt;div id="outer"&gt;</a:t>
            </a:r>
          </a:p>
          <a:p>
            <a:r>
              <a:rPr lang="zh-CN" altLang="en-US" sz="2000" dirty="0">
                <a:solidFill>
                  <a:schemeClr val="bg1"/>
                </a:solidFill>
                <a:latin typeface="Times New Roman" panose="02020603050405020304" pitchFamily="18" charset="0"/>
                <a:cs typeface="Times New Roman" panose="02020603050405020304" pitchFamily="18" charset="0"/>
              </a:rPr>
              <a:t>   &lt;div id="inner"&gt;</a:t>
            </a:r>
          </a:p>
          <a:p>
            <a:r>
              <a:rPr lang="zh-CN" altLang="en-US" sz="2000" dirty="0">
                <a:solidFill>
                  <a:schemeClr val="bg1"/>
                </a:solidFill>
                <a:latin typeface="Times New Roman" panose="02020603050405020304" pitchFamily="18" charset="0"/>
                <a:cs typeface="Times New Roman" panose="02020603050405020304" pitchFamily="18" charset="0"/>
              </a:rPr>
              <a:t>   &lt;/div&gt;</a:t>
            </a:r>
          </a:p>
          <a:p>
            <a:r>
              <a:rPr lang="zh-CN" altLang="en-US" sz="2000" dirty="0">
                <a:solidFill>
                  <a:schemeClr val="bg1"/>
                </a:solidFill>
                <a:latin typeface="Times New Roman" panose="02020603050405020304" pitchFamily="18" charset="0"/>
                <a:cs typeface="Times New Roman" panose="02020603050405020304" pitchFamily="18" charset="0"/>
              </a:rPr>
              <a:t>&lt;/div&gt;</a:t>
            </a:r>
          </a:p>
          <a:p>
            <a:endParaRPr lang="zh-CN" altLang="en-US" sz="2000" dirty="0">
              <a:solidFill>
                <a:schemeClr val="bg1"/>
              </a:solidFill>
              <a:latin typeface="Times New Roman" panose="02020603050405020304" pitchFamily="18" charset="0"/>
              <a:cs typeface="Times New Roman" panose="02020603050405020304" pitchFamily="18" charset="0"/>
            </a:endParaRPr>
          </a:p>
          <a:p>
            <a:r>
              <a:rPr lang="zh-CN" altLang="en-US" sz="2000" dirty="0">
                <a:solidFill>
                  <a:schemeClr val="bg1"/>
                </a:solidFill>
                <a:latin typeface="Times New Roman" panose="02020603050405020304" pitchFamily="18" charset="0"/>
                <a:cs typeface="Times New Roman" panose="02020603050405020304" pitchFamily="18" charset="0"/>
              </a:rPr>
              <a:t>&lt;script&gt;</a:t>
            </a:r>
          </a:p>
          <a:p>
            <a:r>
              <a:rPr lang="zh-CN" altLang="en-US" sz="2000" dirty="0">
                <a:solidFill>
                  <a:schemeClr val="bg1"/>
                </a:solidFill>
                <a:latin typeface="Times New Roman" panose="02020603050405020304" pitchFamily="18" charset="0"/>
                <a:cs typeface="Times New Roman" panose="02020603050405020304" pitchFamily="18" charset="0"/>
              </a:rPr>
              <a:t>  const outer = document.querySelector('#outer');</a:t>
            </a:r>
          </a:p>
          <a:p>
            <a:r>
              <a:rPr lang="zh-CN" altLang="en-US" sz="2000" dirty="0">
                <a:solidFill>
                  <a:schemeClr val="bg1"/>
                </a:solidFill>
                <a:latin typeface="Times New Roman" panose="02020603050405020304" pitchFamily="18" charset="0"/>
                <a:cs typeface="Times New Roman" panose="02020603050405020304" pitchFamily="18" charset="0"/>
              </a:rPr>
              <a:t>  const inner = document.querySelector('#inner');</a:t>
            </a:r>
          </a:p>
          <a:p>
            <a:endParaRPr lang="zh-CN" altLang="en-US" sz="2000" dirty="0">
              <a:solidFill>
                <a:schemeClr val="bg1"/>
              </a:solidFill>
              <a:latin typeface="Times New Roman" panose="02020603050405020304" pitchFamily="18" charset="0"/>
              <a:cs typeface="Times New Roman" panose="02020603050405020304" pitchFamily="18" charset="0"/>
            </a:endParaRPr>
          </a:p>
          <a:p>
            <a:r>
              <a:rPr lang="zh-CN" altLang="en-US" sz="2000" dirty="0">
                <a:solidFill>
                  <a:schemeClr val="bg1"/>
                </a:solidFill>
                <a:latin typeface="Times New Roman" panose="02020603050405020304" pitchFamily="18" charset="0"/>
                <a:cs typeface="Times New Roman" panose="02020603050405020304" pitchFamily="18" charset="0"/>
              </a:rPr>
              <a:t>  outer.addEventListener('click', () =&gt; {</a:t>
            </a:r>
          </a:p>
          <a:p>
            <a:r>
              <a:rPr lang="zh-CN" altLang="en-US" sz="2000" dirty="0">
                <a:solidFill>
                  <a:schemeClr val="bg1"/>
                </a:solidFill>
                <a:latin typeface="Times New Roman" panose="02020603050405020304" pitchFamily="18" charset="0"/>
                <a:cs typeface="Times New Roman" panose="02020603050405020304" pitchFamily="18" charset="0"/>
              </a:rPr>
              <a:t>      console.log('Outer clicked');</a:t>
            </a:r>
          </a:p>
          <a:p>
            <a:r>
              <a:rPr lang="zh-CN" altLang="en-US" sz="2000" dirty="0">
                <a:solidFill>
                  <a:schemeClr val="bg1"/>
                </a:solidFill>
                <a:latin typeface="Times New Roman" panose="02020603050405020304" pitchFamily="18" charset="0"/>
                <a:cs typeface="Times New Roman" panose="02020603050405020304" pitchFamily="18" charset="0"/>
              </a:rPr>
              <a:t>  });</a:t>
            </a:r>
          </a:p>
          <a:p>
            <a:endParaRPr lang="zh-CN" altLang="en-US" sz="2000" dirty="0">
              <a:solidFill>
                <a:schemeClr val="bg1"/>
              </a:solidFill>
              <a:latin typeface="Times New Roman" panose="02020603050405020304" pitchFamily="18" charset="0"/>
              <a:cs typeface="Times New Roman" panose="02020603050405020304" pitchFamily="18" charset="0"/>
            </a:endParaRPr>
          </a:p>
          <a:p>
            <a:r>
              <a:rPr lang="zh-CN" altLang="en-US" sz="2000" dirty="0">
                <a:solidFill>
                  <a:schemeClr val="bg1"/>
                </a:solidFill>
                <a:latin typeface="Times New Roman" panose="02020603050405020304" pitchFamily="18" charset="0"/>
                <a:cs typeface="Times New Roman" panose="02020603050405020304" pitchFamily="18" charset="0"/>
              </a:rPr>
              <a:t>  inner.addEventListener('click', () =&gt; {</a:t>
            </a:r>
          </a:p>
          <a:p>
            <a:r>
              <a:rPr lang="zh-CN" altLang="en-US" sz="2000" dirty="0">
                <a:solidFill>
                  <a:schemeClr val="bg1"/>
                </a:solidFill>
                <a:latin typeface="Times New Roman" panose="02020603050405020304" pitchFamily="18" charset="0"/>
                <a:cs typeface="Times New Roman" panose="02020603050405020304" pitchFamily="18" charset="0"/>
              </a:rPr>
              <a:t>      console.log('Inner clicked');</a:t>
            </a:r>
          </a:p>
          <a:p>
            <a:r>
              <a:rPr lang="zh-CN" altLang="en-US" sz="2000" dirty="0">
                <a:solidFill>
                  <a:schemeClr val="bg1"/>
                </a:solidFill>
                <a:latin typeface="Times New Roman" panose="02020603050405020304" pitchFamily="18" charset="0"/>
                <a:cs typeface="Times New Roman" panose="02020603050405020304" pitchFamily="18" charset="0"/>
              </a:rPr>
              <a:t>  });</a:t>
            </a:r>
          </a:p>
          <a:p>
            <a:r>
              <a:rPr lang="zh-CN" altLang="en-US" sz="2000" dirty="0">
                <a:solidFill>
                  <a:schemeClr val="bg1"/>
                </a:solidFill>
                <a:latin typeface="Times New Roman" panose="02020603050405020304" pitchFamily="18" charset="0"/>
                <a:cs typeface="Times New Roman" panose="02020603050405020304" pitchFamily="18" charset="0"/>
              </a:rPr>
              <a:t>&lt;/script&gt;</a:t>
            </a:r>
          </a:p>
        </p:txBody>
      </p:sp>
      <p:sp>
        <p:nvSpPr>
          <p:cNvPr id="5" name="矩形 4"/>
          <p:cNvSpPr/>
          <p:nvPr/>
        </p:nvSpPr>
        <p:spPr>
          <a:xfrm>
            <a:off x="7352778" y="2398507"/>
            <a:ext cx="4308953" cy="2677656"/>
          </a:xfrm>
          <a:prstGeom prst="rect">
            <a:avLst/>
          </a:prstGeom>
        </p:spPr>
        <p:txBody>
          <a:bodyPr wrap="square">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In this example, when you click on the inner div, the click event will first be captured by the inner div and then bubble up to the outer div. As a result, the console will log “Inner clicked” first, and then “Outer clicked”.</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
        <p:nvSpPr>
          <p:cNvPr id="7" name="矩形 6"/>
          <p:cNvSpPr/>
          <p:nvPr/>
        </p:nvSpPr>
        <p:spPr>
          <a:xfrm>
            <a:off x="7421511" y="1213055"/>
            <a:ext cx="2207656" cy="461665"/>
          </a:xfrm>
          <a:prstGeom prst="rect">
            <a:avLst/>
          </a:prstGeom>
        </p:spPr>
        <p:txBody>
          <a:bodyPr wrap="none">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Event Bubbling:</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6237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2589540" y="188365"/>
            <a:ext cx="7486024"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Event Bubbling or Event Capturing?</a:t>
            </a:r>
            <a:endParaRPr kumimoji="0" lang="zh-CN" altLang="en-US"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矩形 3"/>
          <p:cNvSpPr/>
          <p:nvPr/>
        </p:nvSpPr>
        <p:spPr>
          <a:xfrm>
            <a:off x="709496" y="1298087"/>
            <a:ext cx="5623056" cy="5324535"/>
          </a:xfrm>
          <a:prstGeom prst="rect">
            <a:avLst/>
          </a:prstGeom>
        </p:spPr>
        <p:txBody>
          <a:bodyPr wrap="square">
            <a:spAutoFit/>
          </a:bodyPr>
          <a:lstStyle/>
          <a:p>
            <a:pPr lvl="0"/>
            <a:r>
              <a:rPr lang="en-US" altLang="zh-CN" sz="2000" dirty="0">
                <a:solidFill>
                  <a:prstClr val="white"/>
                </a:solidFill>
                <a:latin typeface="Times New Roman" panose="02020603050405020304" pitchFamily="18" charset="0"/>
                <a:cs typeface="Times New Roman" panose="02020603050405020304" pitchFamily="18" charset="0"/>
              </a:rPr>
              <a:t>&lt;div id="outer"&gt;</a:t>
            </a:r>
          </a:p>
          <a:p>
            <a:pPr lvl="0"/>
            <a:r>
              <a:rPr lang="en-US" altLang="zh-CN" sz="2000" dirty="0">
                <a:solidFill>
                  <a:prstClr val="white"/>
                </a:solidFill>
                <a:latin typeface="Times New Roman" panose="02020603050405020304" pitchFamily="18" charset="0"/>
                <a:cs typeface="Times New Roman" panose="02020603050405020304" pitchFamily="18" charset="0"/>
              </a:rPr>
              <a:t>   &lt;div id="inner"&gt;</a:t>
            </a:r>
          </a:p>
          <a:p>
            <a:pPr lvl="0"/>
            <a:r>
              <a:rPr lang="en-US" altLang="zh-CN" sz="2000" dirty="0">
                <a:solidFill>
                  <a:prstClr val="white"/>
                </a:solidFill>
                <a:latin typeface="Times New Roman" panose="02020603050405020304" pitchFamily="18" charset="0"/>
                <a:cs typeface="Times New Roman" panose="02020603050405020304" pitchFamily="18" charset="0"/>
              </a:rPr>
              <a:t>   &lt;/div&gt;</a:t>
            </a:r>
          </a:p>
          <a:p>
            <a:pPr lvl="0"/>
            <a:r>
              <a:rPr lang="en-US" altLang="zh-CN" sz="2000" dirty="0">
                <a:solidFill>
                  <a:prstClr val="white"/>
                </a:solidFill>
                <a:latin typeface="Times New Roman" panose="02020603050405020304" pitchFamily="18" charset="0"/>
                <a:cs typeface="Times New Roman" panose="02020603050405020304" pitchFamily="18" charset="0"/>
              </a:rPr>
              <a:t>&lt;/div&gt;</a:t>
            </a:r>
          </a:p>
          <a:p>
            <a:pPr lvl="0"/>
            <a:endParaRPr lang="en-US" altLang="zh-CN" sz="2000" dirty="0">
              <a:solidFill>
                <a:prstClr val="white"/>
              </a:solidFill>
              <a:latin typeface="Times New Roman" panose="02020603050405020304" pitchFamily="18" charset="0"/>
              <a:cs typeface="Times New Roman" panose="02020603050405020304" pitchFamily="18" charset="0"/>
            </a:endParaRPr>
          </a:p>
          <a:p>
            <a:pPr lvl="0"/>
            <a:r>
              <a:rPr lang="en-US" altLang="zh-CN" sz="2000" dirty="0">
                <a:solidFill>
                  <a:prstClr val="white"/>
                </a:solidFill>
                <a:latin typeface="Times New Roman" panose="02020603050405020304" pitchFamily="18" charset="0"/>
                <a:cs typeface="Times New Roman" panose="02020603050405020304" pitchFamily="18" charset="0"/>
              </a:rPr>
              <a:t>&lt;script&gt;</a:t>
            </a:r>
          </a:p>
          <a:p>
            <a:pPr lvl="0"/>
            <a:r>
              <a:rPr lang="en-US" altLang="zh-CN" sz="2000" dirty="0">
                <a:solidFill>
                  <a:prstClr val="white"/>
                </a:solidFill>
                <a:latin typeface="Times New Roman" panose="02020603050405020304" pitchFamily="18" charset="0"/>
                <a:cs typeface="Times New Roman" panose="02020603050405020304" pitchFamily="18" charset="0"/>
              </a:rPr>
              <a:t>  </a:t>
            </a:r>
            <a:r>
              <a:rPr lang="en-US" altLang="zh-CN" sz="2000" dirty="0" err="1">
                <a:solidFill>
                  <a:prstClr val="white"/>
                </a:solidFill>
                <a:latin typeface="Times New Roman" panose="02020603050405020304" pitchFamily="18" charset="0"/>
                <a:cs typeface="Times New Roman" panose="02020603050405020304" pitchFamily="18" charset="0"/>
              </a:rPr>
              <a:t>const</a:t>
            </a:r>
            <a:r>
              <a:rPr lang="en-US" altLang="zh-CN" sz="2000" dirty="0">
                <a:solidFill>
                  <a:prstClr val="white"/>
                </a:solidFill>
                <a:latin typeface="Times New Roman" panose="02020603050405020304" pitchFamily="18" charset="0"/>
                <a:cs typeface="Times New Roman" panose="02020603050405020304" pitchFamily="18" charset="0"/>
              </a:rPr>
              <a:t> outer = </a:t>
            </a:r>
            <a:r>
              <a:rPr lang="en-US" altLang="zh-CN" sz="2000" dirty="0" err="1">
                <a:solidFill>
                  <a:prstClr val="white"/>
                </a:solidFill>
                <a:latin typeface="Times New Roman" panose="02020603050405020304" pitchFamily="18" charset="0"/>
                <a:cs typeface="Times New Roman" panose="02020603050405020304" pitchFamily="18" charset="0"/>
              </a:rPr>
              <a:t>document.querySelector</a:t>
            </a:r>
            <a:r>
              <a:rPr lang="en-US" altLang="zh-CN" sz="2000" dirty="0">
                <a:solidFill>
                  <a:prstClr val="white"/>
                </a:solidFill>
                <a:latin typeface="Times New Roman" panose="02020603050405020304" pitchFamily="18" charset="0"/>
                <a:cs typeface="Times New Roman" panose="02020603050405020304" pitchFamily="18" charset="0"/>
              </a:rPr>
              <a:t>('#outer');</a:t>
            </a:r>
          </a:p>
          <a:p>
            <a:pPr lvl="0"/>
            <a:r>
              <a:rPr lang="en-US" altLang="zh-CN" sz="2000" dirty="0">
                <a:solidFill>
                  <a:prstClr val="white"/>
                </a:solidFill>
                <a:latin typeface="Times New Roman" panose="02020603050405020304" pitchFamily="18" charset="0"/>
                <a:cs typeface="Times New Roman" panose="02020603050405020304" pitchFamily="18" charset="0"/>
              </a:rPr>
              <a:t>  </a:t>
            </a:r>
            <a:r>
              <a:rPr lang="en-US" altLang="zh-CN" sz="2000" dirty="0" err="1">
                <a:solidFill>
                  <a:prstClr val="white"/>
                </a:solidFill>
                <a:latin typeface="Times New Roman" panose="02020603050405020304" pitchFamily="18" charset="0"/>
                <a:cs typeface="Times New Roman" panose="02020603050405020304" pitchFamily="18" charset="0"/>
              </a:rPr>
              <a:t>const</a:t>
            </a:r>
            <a:r>
              <a:rPr lang="en-US" altLang="zh-CN" sz="2000" dirty="0">
                <a:solidFill>
                  <a:prstClr val="white"/>
                </a:solidFill>
                <a:latin typeface="Times New Roman" panose="02020603050405020304" pitchFamily="18" charset="0"/>
                <a:cs typeface="Times New Roman" panose="02020603050405020304" pitchFamily="18" charset="0"/>
              </a:rPr>
              <a:t> inner = </a:t>
            </a:r>
            <a:r>
              <a:rPr lang="en-US" altLang="zh-CN" sz="2000" dirty="0" err="1">
                <a:solidFill>
                  <a:prstClr val="white"/>
                </a:solidFill>
                <a:latin typeface="Times New Roman" panose="02020603050405020304" pitchFamily="18" charset="0"/>
                <a:cs typeface="Times New Roman" panose="02020603050405020304" pitchFamily="18" charset="0"/>
              </a:rPr>
              <a:t>document.querySelector</a:t>
            </a:r>
            <a:r>
              <a:rPr lang="en-US" altLang="zh-CN" sz="2000" dirty="0">
                <a:solidFill>
                  <a:prstClr val="white"/>
                </a:solidFill>
                <a:latin typeface="Times New Roman" panose="02020603050405020304" pitchFamily="18" charset="0"/>
                <a:cs typeface="Times New Roman" panose="02020603050405020304" pitchFamily="18" charset="0"/>
              </a:rPr>
              <a:t>('#inner');</a:t>
            </a:r>
          </a:p>
          <a:p>
            <a:pPr lvl="0"/>
            <a:endParaRPr lang="en-US" altLang="zh-CN" sz="2000" dirty="0">
              <a:solidFill>
                <a:prstClr val="white"/>
              </a:solidFill>
              <a:latin typeface="Times New Roman" panose="02020603050405020304" pitchFamily="18" charset="0"/>
              <a:cs typeface="Times New Roman" panose="02020603050405020304" pitchFamily="18" charset="0"/>
            </a:endParaRPr>
          </a:p>
          <a:p>
            <a:pPr lvl="0"/>
            <a:r>
              <a:rPr lang="en-US" altLang="zh-CN" sz="2000" dirty="0">
                <a:solidFill>
                  <a:prstClr val="white"/>
                </a:solidFill>
                <a:latin typeface="Times New Roman" panose="02020603050405020304" pitchFamily="18" charset="0"/>
                <a:cs typeface="Times New Roman" panose="02020603050405020304" pitchFamily="18" charset="0"/>
              </a:rPr>
              <a:t>  </a:t>
            </a:r>
            <a:r>
              <a:rPr lang="en-US" altLang="zh-CN" sz="2000" dirty="0" err="1">
                <a:solidFill>
                  <a:prstClr val="white"/>
                </a:solidFill>
                <a:latin typeface="Times New Roman" panose="02020603050405020304" pitchFamily="18" charset="0"/>
                <a:cs typeface="Times New Roman" panose="02020603050405020304" pitchFamily="18" charset="0"/>
              </a:rPr>
              <a:t>outer.addEventListener</a:t>
            </a:r>
            <a:r>
              <a:rPr lang="en-US" altLang="zh-CN" sz="2000" dirty="0">
                <a:solidFill>
                  <a:prstClr val="white"/>
                </a:solidFill>
                <a:latin typeface="Times New Roman" panose="02020603050405020304" pitchFamily="18" charset="0"/>
                <a:cs typeface="Times New Roman" panose="02020603050405020304" pitchFamily="18" charset="0"/>
              </a:rPr>
              <a:t>('click', () =&gt; {</a:t>
            </a:r>
          </a:p>
          <a:p>
            <a:pPr lvl="0"/>
            <a:r>
              <a:rPr lang="en-US" altLang="zh-CN" sz="2000" dirty="0">
                <a:solidFill>
                  <a:prstClr val="white"/>
                </a:solidFill>
                <a:latin typeface="Times New Roman" panose="02020603050405020304" pitchFamily="18" charset="0"/>
                <a:cs typeface="Times New Roman" panose="02020603050405020304" pitchFamily="18" charset="0"/>
              </a:rPr>
              <a:t>      console.log('Outer clicked');</a:t>
            </a:r>
          </a:p>
          <a:p>
            <a:pPr lvl="0"/>
            <a:r>
              <a:rPr lang="en-US" altLang="zh-CN" sz="2000" dirty="0">
                <a:solidFill>
                  <a:prstClr val="white"/>
                </a:solidFill>
                <a:latin typeface="Times New Roman" panose="02020603050405020304" pitchFamily="18" charset="0"/>
                <a:cs typeface="Times New Roman" panose="02020603050405020304" pitchFamily="18" charset="0"/>
              </a:rPr>
              <a:t>  }, true);</a:t>
            </a:r>
          </a:p>
          <a:p>
            <a:pPr lvl="0"/>
            <a:endParaRPr lang="en-US" altLang="zh-CN" sz="2000" dirty="0">
              <a:solidFill>
                <a:prstClr val="white"/>
              </a:solidFill>
              <a:latin typeface="Times New Roman" panose="02020603050405020304" pitchFamily="18" charset="0"/>
              <a:cs typeface="Times New Roman" panose="02020603050405020304" pitchFamily="18" charset="0"/>
            </a:endParaRPr>
          </a:p>
          <a:p>
            <a:pPr lvl="0"/>
            <a:r>
              <a:rPr lang="en-US" altLang="zh-CN" sz="2000" dirty="0">
                <a:solidFill>
                  <a:prstClr val="white"/>
                </a:solidFill>
                <a:latin typeface="Times New Roman" panose="02020603050405020304" pitchFamily="18" charset="0"/>
                <a:cs typeface="Times New Roman" panose="02020603050405020304" pitchFamily="18" charset="0"/>
              </a:rPr>
              <a:t>  </a:t>
            </a:r>
            <a:r>
              <a:rPr lang="en-US" altLang="zh-CN" sz="2000" dirty="0" err="1">
                <a:solidFill>
                  <a:prstClr val="white"/>
                </a:solidFill>
                <a:latin typeface="Times New Roman" panose="02020603050405020304" pitchFamily="18" charset="0"/>
                <a:cs typeface="Times New Roman" panose="02020603050405020304" pitchFamily="18" charset="0"/>
              </a:rPr>
              <a:t>inner.addEventListener</a:t>
            </a:r>
            <a:r>
              <a:rPr lang="en-US" altLang="zh-CN" sz="2000" dirty="0">
                <a:solidFill>
                  <a:prstClr val="white"/>
                </a:solidFill>
                <a:latin typeface="Times New Roman" panose="02020603050405020304" pitchFamily="18" charset="0"/>
                <a:cs typeface="Times New Roman" panose="02020603050405020304" pitchFamily="18" charset="0"/>
              </a:rPr>
              <a:t>('click', () =&gt; {</a:t>
            </a:r>
          </a:p>
          <a:p>
            <a:pPr lvl="0"/>
            <a:r>
              <a:rPr lang="en-US" altLang="zh-CN" sz="2000" dirty="0">
                <a:solidFill>
                  <a:prstClr val="white"/>
                </a:solidFill>
                <a:latin typeface="Times New Roman" panose="02020603050405020304" pitchFamily="18" charset="0"/>
                <a:cs typeface="Times New Roman" panose="02020603050405020304" pitchFamily="18" charset="0"/>
              </a:rPr>
              <a:t>      console.log('Inner clicked');</a:t>
            </a:r>
          </a:p>
          <a:p>
            <a:pPr lvl="0"/>
            <a:r>
              <a:rPr lang="en-US" altLang="zh-CN" sz="2000" dirty="0">
                <a:solidFill>
                  <a:prstClr val="white"/>
                </a:solidFill>
                <a:latin typeface="Times New Roman" panose="02020603050405020304" pitchFamily="18" charset="0"/>
                <a:cs typeface="Times New Roman" panose="02020603050405020304" pitchFamily="18" charset="0"/>
              </a:rPr>
              <a:t>  }, true);</a:t>
            </a:r>
          </a:p>
          <a:p>
            <a:pPr lvl="0"/>
            <a:r>
              <a:rPr lang="en-US" altLang="zh-CN" sz="2000" dirty="0">
                <a:solidFill>
                  <a:prstClr val="white"/>
                </a:solidFill>
                <a:latin typeface="Times New Roman" panose="02020603050405020304" pitchFamily="18" charset="0"/>
                <a:cs typeface="Times New Roman" panose="02020603050405020304" pitchFamily="18" charset="0"/>
              </a:rPr>
              <a:t>&lt;/script&gt;</a:t>
            </a:r>
          </a:p>
        </p:txBody>
      </p:sp>
      <p:sp>
        <p:nvSpPr>
          <p:cNvPr id="5" name="矩形 4"/>
          <p:cNvSpPr/>
          <p:nvPr/>
        </p:nvSpPr>
        <p:spPr>
          <a:xfrm>
            <a:off x="6081387" y="2517505"/>
            <a:ext cx="5868443" cy="3416320"/>
          </a:xfrm>
          <a:prstGeom prst="rect">
            <a:avLst/>
          </a:prstGeom>
        </p:spPr>
        <p:txBody>
          <a:bodyPr wrap="square">
            <a:spAutoFit/>
          </a:bodyPr>
          <a:lstStyle/>
          <a:p>
            <a:pPr lvl="0" algn="just"/>
            <a:r>
              <a:rPr lang="en-US" altLang="zh-CN" sz="2400" dirty="0">
                <a:solidFill>
                  <a:schemeClr val="bg1"/>
                </a:solidFill>
                <a:latin typeface="Times New Roman" panose="02020603050405020304" pitchFamily="18" charset="0"/>
                <a:cs typeface="Times New Roman" panose="02020603050405020304" pitchFamily="18" charset="0"/>
              </a:rPr>
              <a:t>In this example, we have added the third parameter “true” to the event listener. This means that the event listener uses event capturing instead of event bubbling. When you click on the inner div, the click event will first be captured by the outer div and then move down to the inner div. As a result, the console will log “Outer clicked” first, and then “Inner clicked”.</a:t>
            </a:r>
            <a:endParaRPr kumimoji="0" lang="zh-CN" altLang="en-US" sz="3200" b="0" i="0" u="none" strike="noStrike" kern="1200" cap="none" spc="0" normalizeH="0" baseline="0" noProof="0" dirty="0">
              <a:ln>
                <a:noFill/>
              </a:ln>
              <a:solidFill>
                <a:schemeClr val="bg1"/>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矩形 6"/>
          <p:cNvSpPr/>
          <p:nvPr/>
        </p:nvSpPr>
        <p:spPr>
          <a:xfrm>
            <a:off x="7421511" y="1213055"/>
            <a:ext cx="2207656"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Event </a:t>
            </a:r>
            <a:r>
              <a:rPr lang="en-US" altLang="zh-CN" sz="2400" dirty="0" smtClean="0">
                <a:solidFill>
                  <a:prstClr val="white"/>
                </a:solidFill>
                <a:latin typeface="Times New Roman" panose="02020603050405020304" pitchFamily="18" charset="0"/>
                <a:ea typeface="等线" panose="02010600030101010101" pitchFamily="2" charset="-122"/>
                <a:cs typeface="Times New Roman" panose="02020603050405020304" pitchFamily="18" charset="0"/>
              </a:rPr>
              <a:t>Capturing</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69875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2589540" y="188365"/>
            <a:ext cx="7486024"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Event Bubbling or Event Capturing?</a:t>
            </a:r>
            <a:endParaRPr kumimoji="0" lang="zh-CN" altLang="en-US"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矩形 4"/>
          <p:cNvSpPr/>
          <p:nvPr/>
        </p:nvSpPr>
        <p:spPr>
          <a:xfrm>
            <a:off x="482253" y="2035253"/>
            <a:ext cx="11260898" cy="3539430"/>
          </a:xfrm>
          <a:prstGeom prst="rect">
            <a:avLst/>
          </a:prstGeom>
        </p:spPr>
        <p:txBody>
          <a:bodyPr wrap="square">
            <a:spAutoFit/>
          </a:bodyPr>
          <a:lstStyle/>
          <a:p>
            <a:pPr marL="342900" lvl="0" indent="-342900" algn="just">
              <a:buFont typeface="Wingdings" panose="05000000000000000000" pitchFamily="2" charset="2"/>
              <a:buChar char="l"/>
            </a:pPr>
            <a:r>
              <a:rPr lang="en-US" altLang="zh-CN" sz="2800" dirty="0">
                <a:solidFill>
                  <a:prstClr val="white"/>
                </a:solidFill>
                <a:latin typeface="Times New Roman" panose="02020603050405020304" pitchFamily="18" charset="0"/>
                <a:cs typeface="Times New Roman" panose="02020603050405020304" pitchFamily="18" charset="0"/>
              </a:rPr>
              <a:t>Use event delegation to handle events on multiple elements with a single event handler.</a:t>
            </a:r>
          </a:p>
          <a:p>
            <a:pPr marL="342900" lvl="0" indent="-342900" algn="just">
              <a:buFont typeface="Wingdings" panose="05000000000000000000" pitchFamily="2" charset="2"/>
              <a:buChar char="l"/>
            </a:pPr>
            <a:r>
              <a:rPr lang="en-US" altLang="zh-CN" sz="2800" dirty="0">
                <a:solidFill>
                  <a:prstClr val="white"/>
                </a:solidFill>
                <a:latin typeface="Times New Roman" panose="02020603050405020304" pitchFamily="18" charset="0"/>
                <a:cs typeface="Times New Roman" panose="02020603050405020304" pitchFamily="18" charset="0"/>
              </a:rPr>
              <a:t>Use event capturing to cancel event propagation before it reaches the target element.</a:t>
            </a:r>
          </a:p>
          <a:p>
            <a:pPr marL="342900" lvl="0" indent="-342900" algn="just">
              <a:buFont typeface="Wingdings" panose="05000000000000000000" pitchFamily="2" charset="2"/>
              <a:buChar char="l"/>
            </a:pPr>
            <a:r>
              <a:rPr lang="en-US" altLang="zh-CN" sz="2800" dirty="0">
                <a:solidFill>
                  <a:prstClr val="white"/>
                </a:solidFill>
                <a:latin typeface="Times New Roman" panose="02020603050405020304" pitchFamily="18" charset="0"/>
                <a:cs typeface="Times New Roman" panose="02020603050405020304" pitchFamily="18" charset="0"/>
              </a:rPr>
              <a:t>Avoid attaching too many event listeners to individual nodes, as this can lead to performance issues.</a:t>
            </a:r>
          </a:p>
          <a:p>
            <a:pPr marL="342900" lvl="0" indent="-342900" algn="just">
              <a:buFont typeface="Wingdings" panose="05000000000000000000" pitchFamily="2" charset="2"/>
              <a:buChar char="l"/>
            </a:pPr>
            <a:r>
              <a:rPr lang="en-US" altLang="zh-CN" sz="2800" dirty="0">
                <a:solidFill>
                  <a:prstClr val="white"/>
                </a:solidFill>
                <a:latin typeface="Times New Roman" panose="02020603050405020304" pitchFamily="18" charset="0"/>
                <a:cs typeface="Times New Roman" panose="02020603050405020304" pitchFamily="18" charset="0"/>
              </a:rPr>
              <a:t>When working with event bubbling, use the </a:t>
            </a:r>
            <a:r>
              <a:rPr lang="en-US" altLang="zh-CN" sz="2800" dirty="0" err="1">
                <a:solidFill>
                  <a:prstClr val="white"/>
                </a:solidFill>
                <a:latin typeface="Times New Roman" panose="02020603050405020304" pitchFamily="18" charset="0"/>
                <a:cs typeface="Times New Roman" panose="02020603050405020304" pitchFamily="18" charset="0"/>
              </a:rPr>
              <a:t>event.stopPropagation</a:t>
            </a:r>
            <a:r>
              <a:rPr lang="en-US" altLang="zh-CN" sz="2800" dirty="0">
                <a:solidFill>
                  <a:prstClr val="white"/>
                </a:solidFill>
                <a:latin typeface="Times New Roman" panose="02020603050405020304" pitchFamily="18" charset="0"/>
                <a:cs typeface="Times New Roman" panose="02020603050405020304" pitchFamily="18" charset="0"/>
              </a:rPr>
              <a:t>() method to prevent child elements from triggering the same event.</a:t>
            </a:r>
            <a:endParaRPr kumimoji="0" lang="zh-CN" altLang="en-US"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86126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030033" y="146966"/>
            <a:ext cx="3967753"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a:t>
            </a:r>
            <a:r>
              <a:rPr lang="en-US" altLang="zh-CN" sz="3600" dirty="0" err="1">
                <a:solidFill>
                  <a:prstClr val="white"/>
                </a:solidFill>
                <a:latin typeface="Times New Roman" panose="02020603050405020304" pitchFamily="18" charset="0"/>
                <a:cs typeface="Times New Roman" panose="02020603050405020304" pitchFamily="18" charset="0"/>
              </a:rPr>
              <a:t>EventListener</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650893" y="969798"/>
            <a:ext cx="6519734" cy="461665"/>
          </a:xfrm>
          <a:prstGeom prst="rect">
            <a:avLst/>
          </a:prstGeom>
        </p:spPr>
        <p:txBody>
          <a:bodyPr wrap="none">
            <a:spAutoFit/>
          </a:bodyPr>
          <a:lstStyle/>
          <a:p>
            <a:pPr lvl="0">
              <a:defRPr/>
            </a:pPr>
            <a:r>
              <a:rPr lang="en-US" altLang="zh-CN" sz="2400" b="1" dirty="0">
                <a:solidFill>
                  <a:prstClr val="white"/>
                </a:solidFill>
                <a:latin typeface="Times New Roman" panose="02020603050405020304" pitchFamily="18" charset="0"/>
                <a:cs typeface="Times New Roman" panose="02020603050405020304" pitchFamily="18" charset="0"/>
              </a:rPr>
              <a:t>Add Many Event Handlers to the Same Element</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6" name="文本框 5"/>
          <p:cNvSpPr txBox="1"/>
          <p:nvPr/>
        </p:nvSpPr>
        <p:spPr>
          <a:xfrm>
            <a:off x="591028" y="1662932"/>
            <a:ext cx="10845761" cy="830997"/>
          </a:xfrm>
          <a:prstGeom prst="rect">
            <a:avLst/>
          </a:prstGeom>
          <a:noFill/>
        </p:spPr>
        <p:txBody>
          <a:bodyPr wrap="square" rtlCol="0">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The </a:t>
            </a:r>
            <a:r>
              <a:rPr lang="en-US" altLang="zh-CN" sz="2400" dirty="0" err="1">
                <a:solidFill>
                  <a:schemeClr val="bg1"/>
                </a:solidFill>
                <a:latin typeface="Times New Roman" panose="02020603050405020304" pitchFamily="18" charset="0"/>
                <a:cs typeface="Times New Roman" panose="02020603050405020304" pitchFamily="18" charset="0"/>
              </a:rPr>
              <a:t>addEventListener</a:t>
            </a:r>
            <a:r>
              <a:rPr lang="en-US" altLang="zh-CN" sz="2400" dirty="0">
                <a:solidFill>
                  <a:schemeClr val="bg1"/>
                </a:solidFill>
                <a:latin typeface="Times New Roman" panose="02020603050405020304" pitchFamily="18" charset="0"/>
                <a:cs typeface="Times New Roman" panose="02020603050405020304" pitchFamily="18" charset="0"/>
              </a:rPr>
              <a:t>() method allows you to add many events to the same element, without overwriting existing events:</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7" name="文本框 6"/>
          <p:cNvSpPr txBox="1"/>
          <p:nvPr/>
        </p:nvSpPr>
        <p:spPr>
          <a:xfrm>
            <a:off x="832434" y="4231927"/>
            <a:ext cx="10845761" cy="461665"/>
          </a:xfrm>
          <a:prstGeom prst="rect">
            <a:avLst/>
          </a:prstGeom>
          <a:noFill/>
        </p:spPr>
        <p:txBody>
          <a:bodyPr wrap="square" rtlCol="0">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You can add events of different types to the same element:</a:t>
            </a:r>
            <a:endParaRPr lang="zh-CN" altLang="en-US" dirty="0">
              <a:solidFill>
                <a:schemeClr val="bg1"/>
              </a:solidFill>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2"/>
          <a:stretch>
            <a:fillRect/>
          </a:stretch>
        </p:blipFill>
        <p:spPr>
          <a:xfrm>
            <a:off x="3068558" y="2773806"/>
            <a:ext cx="4628571" cy="695238"/>
          </a:xfrm>
          <a:prstGeom prst="rect">
            <a:avLst/>
          </a:prstGeom>
        </p:spPr>
      </p:pic>
      <p:pic>
        <p:nvPicPr>
          <p:cNvPr id="9" name="图片 8"/>
          <p:cNvPicPr>
            <a:picLocks noChangeAspect="1"/>
          </p:cNvPicPr>
          <p:nvPr/>
        </p:nvPicPr>
        <p:blipFill>
          <a:blip r:embed="rId3"/>
          <a:stretch>
            <a:fillRect/>
          </a:stretch>
        </p:blipFill>
        <p:spPr>
          <a:xfrm>
            <a:off x="3143714" y="5364142"/>
            <a:ext cx="4638095" cy="885714"/>
          </a:xfrm>
          <a:prstGeom prst="rect">
            <a:avLst/>
          </a:prstGeom>
        </p:spPr>
      </p:pic>
    </p:spTree>
    <p:extLst>
      <p:ext uri="{BB962C8B-B14F-4D97-AF65-F5344CB8AC3E}">
        <p14:creationId xmlns:p14="http://schemas.microsoft.com/office/powerpoint/2010/main" val="3457440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030033" y="146966"/>
            <a:ext cx="3967753"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a:t>
            </a:r>
            <a:r>
              <a:rPr lang="en-US" altLang="zh-CN" sz="3600" dirty="0" err="1">
                <a:solidFill>
                  <a:prstClr val="white"/>
                </a:solidFill>
                <a:latin typeface="Times New Roman" panose="02020603050405020304" pitchFamily="18" charset="0"/>
                <a:cs typeface="Times New Roman" panose="02020603050405020304" pitchFamily="18" charset="0"/>
              </a:rPr>
              <a:t>EventListener</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矩形 10"/>
          <p:cNvSpPr/>
          <p:nvPr/>
        </p:nvSpPr>
        <p:spPr>
          <a:xfrm>
            <a:off x="845556" y="1281316"/>
            <a:ext cx="5662063" cy="523220"/>
          </a:xfrm>
          <a:prstGeom prst="rect">
            <a:avLst/>
          </a:prstGeom>
        </p:spPr>
        <p:txBody>
          <a:bodyPr wrap="none">
            <a:spAutoFit/>
          </a:bodyPr>
          <a:lstStyle/>
          <a:p>
            <a:pPr lvl="0">
              <a:defRPr/>
            </a:pPr>
            <a:r>
              <a:rPr lang="en-US" altLang="zh-CN" sz="2800" b="1" dirty="0">
                <a:solidFill>
                  <a:prstClr val="white"/>
                </a:solidFill>
                <a:latin typeface="Times New Roman" panose="02020603050405020304" pitchFamily="18" charset="0"/>
                <a:cs typeface="Times New Roman" panose="02020603050405020304" pitchFamily="18" charset="0"/>
              </a:rPr>
              <a:t>The </a:t>
            </a:r>
            <a:r>
              <a:rPr lang="en-US" altLang="zh-CN" sz="2800" b="1" dirty="0" err="1">
                <a:solidFill>
                  <a:prstClr val="white"/>
                </a:solidFill>
                <a:latin typeface="Times New Roman" panose="02020603050405020304" pitchFamily="18" charset="0"/>
                <a:cs typeface="Times New Roman" panose="02020603050405020304" pitchFamily="18" charset="0"/>
              </a:rPr>
              <a:t>removeEventListener</a:t>
            </a:r>
            <a:r>
              <a:rPr lang="en-US" altLang="zh-CN" sz="2800" b="1" dirty="0">
                <a:solidFill>
                  <a:prstClr val="white"/>
                </a:solidFill>
                <a:latin typeface="Times New Roman" panose="02020603050405020304" pitchFamily="18" charset="0"/>
                <a:cs typeface="Times New Roman" panose="02020603050405020304" pitchFamily="18" charset="0"/>
              </a:rPr>
              <a:t>() method</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2" name="文本框 11"/>
          <p:cNvSpPr txBox="1"/>
          <p:nvPr/>
        </p:nvSpPr>
        <p:spPr>
          <a:xfrm>
            <a:off x="845556" y="1823833"/>
            <a:ext cx="10845761" cy="1569660"/>
          </a:xfrm>
          <a:prstGeom prst="rect">
            <a:avLst/>
          </a:prstGeom>
          <a:noFill/>
        </p:spPr>
        <p:txBody>
          <a:bodyPr wrap="square" rtlCol="0">
            <a:spAutoFit/>
          </a:bodyPr>
          <a:lstStyle/>
          <a:p>
            <a:endParaRPr lang="en-US" altLang="zh-CN" sz="2400" dirty="0">
              <a:solidFill>
                <a:schemeClr val="bg1"/>
              </a:solidFill>
              <a:latin typeface="Times New Roman" panose="02020603050405020304" pitchFamily="18" charset="0"/>
              <a:cs typeface="Times New Roman" panose="02020603050405020304" pitchFamily="18" charset="0"/>
            </a:endParaRPr>
          </a:p>
          <a:p>
            <a:r>
              <a:rPr lang="en-US" altLang="zh-CN" sz="2400" dirty="0">
                <a:solidFill>
                  <a:schemeClr val="bg1"/>
                </a:solidFill>
                <a:latin typeface="Times New Roman" panose="02020603050405020304" pitchFamily="18" charset="0"/>
                <a:cs typeface="Times New Roman" panose="02020603050405020304" pitchFamily="18" charset="0"/>
              </a:rPr>
              <a:t>The </a:t>
            </a:r>
            <a:r>
              <a:rPr lang="en-US" altLang="zh-CN" sz="2400" dirty="0" err="1">
                <a:solidFill>
                  <a:schemeClr val="bg1"/>
                </a:solidFill>
                <a:latin typeface="Times New Roman" panose="02020603050405020304" pitchFamily="18" charset="0"/>
                <a:cs typeface="Times New Roman" panose="02020603050405020304" pitchFamily="18" charset="0"/>
              </a:rPr>
              <a:t>removeEventListener</a:t>
            </a:r>
            <a:r>
              <a:rPr lang="en-US" altLang="zh-CN" sz="2400" dirty="0">
                <a:solidFill>
                  <a:schemeClr val="bg1"/>
                </a:solidFill>
                <a:latin typeface="Times New Roman" panose="02020603050405020304" pitchFamily="18" charset="0"/>
                <a:cs typeface="Times New Roman" panose="02020603050405020304" pitchFamily="18" charset="0"/>
              </a:rPr>
              <a:t>() method removes event handlers that have been attached with the </a:t>
            </a:r>
            <a:r>
              <a:rPr lang="en-US" altLang="zh-CN" sz="2400" dirty="0" err="1">
                <a:solidFill>
                  <a:schemeClr val="bg1"/>
                </a:solidFill>
                <a:latin typeface="Times New Roman" panose="02020603050405020304" pitchFamily="18" charset="0"/>
                <a:cs typeface="Times New Roman" panose="02020603050405020304" pitchFamily="18" charset="0"/>
              </a:rPr>
              <a:t>addEventListener</a:t>
            </a:r>
            <a:r>
              <a:rPr lang="en-US" altLang="zh-CN" sz="2400" dirty="0">
                <a:solidFill>
                  <a:schemeClr val="bg1"/>
                </a:solidFill>
                <a:latin typeface="Times New Roman" panose="02020603050405020304" pitchFamily="18" charset="0"/>
                <a:cs typeface="Times New Roman" panose="02020603050405020304" pitchFamily="18" charset="0"/>
              </a:rPr>
              <a:t>() method:</a:t>
            </a:r>
          </a:p>
          <a:p>
            <a:endParaRPr lang="en-US" altLang="zh-CN" sz="2400" dirty="0">
              <a:solidFill>
                <a:schemeClr val="bg1"/>
              </a:solidFill>
              <a:latin typeface="Times New Roman" panose="02020603050405020304" pitchFamily="18" charset="0"/>
              <a:cs typeface="Times New Roman" panose="02020603050405020304" pitchFamily="18" charset="0"/>
            </a:endParaRPr>
          </a:p>
        </p:txBody>
      </p:sp>
      <p:pic>
        <p:nvPicPr>
          <p:cNvPr id="13" name="图片 12"/>
          <p:cNvPicPr>
            <a:picLocks noChangeAspect="1"/>
          </p:cNvPicPr>
          <p:nvPr/>
        </p:nvPicPr>
        <p:blipFill>
          <a:blip r:embed="rId2"/>
          <a:stretch>
            <a:fillRect/>
          </a:stretch>
        </p:blipFill>
        <p:spPr>
          <a:xfrm>
            <a:off x="1938215" y="3643196"/>
            <a:ext cx="8114716" cy="2510565"/>
          </a:xfrm>
          <a:prstGeom prst="rect">
            <a:avLst/>
          </a:prstGeom>
        </p:spPr>
      </p:pic>
      <p:cxnSp>
        <p:nvCxnSpPr>
          <p:cNvPr id="15" name="直接连接符 14"/>
          <p:cNvCxnSpPr/>
          <p:nvPr/>
        </p:nvCxnSpPr>
        <p:spPr>
          <a:xfrm>
            <a:off x="5310771" y="4205010"/>
            <a:ext cx="134921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6" name="直接连接符 15"/>
          <p:cNvCxnSpPr/>
          <p:nvPr/>
        </p:nvCxnSpPr>
        <p:spPr>
          <a:xfrm>
            <a:off x="5605647" y="5737361"/>
            <a:ext cx="1704807"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746253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CBEA91-AEC8-4772-9B50-B3D92175AB68}"/>
              </a:ext>
            </a:extLst>
          </p:cNvPr>
          <p:cNvSpPr>
            <a:spLocks noGrp="1"/>
          </p:cNvSpPr>
          <p:nvPr>
            <p:ph type="ctrTitle"/>
          </p:nvPr>
        </p:nvSpPr>
        <p:spPr>
          <a:xfrm>
            <a:off x="1171575" y="1122363"/>
            <a:ext cx="9496425" cy="2387600"/>
          </a:xfrm>
        </p:spPr>
        <p:txBody>
          <a:bodyPr/>
          <a:lstStyle/>
          <a:p>
            <a:r>
              <a:rPr lang="en-US" altLang="zh-CN" b="0" i="0" dirty="0">
                <a:solidFill>
                  <a:schemeClr val="bg1"/>
                </a:solidFill>
                <a:effectLst/>
                <a:latin typeface="Segoe UI" panose="020B0502040204020203" pitchFamily="34" charset="0"/>
              </a:rPr>
              <a:t>JavaScript DOM Navigation</a:t>
            </a:r>
            <a:endParaRPr lang="zh-CN" altLang="en-US" dirty="0">
              <a:solidFill>
                <a:schemeClr val="bg1"/>
              </a:solidFill>
            </a:endParaRPr>
          </a:p>
        </p:txBody>
      </p:sp>
    </p:spTree>
    <p:extLst>
      <p:ext uri="{BB962C8B-B14F-4D97-AF65-F5344CB8AC3E}">
        <p14:creationId xmlns:p14="http://schemas.microsoft.com/office/powerpoint/2010/main" val="1414780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252525" y="140498"/>
            <a:ext cx="3429144"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Navigation</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961153" y="976768"/>
            <a:ext cx="7476534" cy="461665"/>
          </a:xfrm>
          <a:prstGeom prst="rect">
            <a:avLst/>
          </a:prstGeom>
        </p:spPr>
        <p:txBody>
          <a:bodyPr wrap="none">
            <a:spAutoFit/>
          </a:bodyPr>
          <a:lstStyle/>
          <a:p>
            <a:pPr>
              <a:defRPr/>
            </a:pPr>
            <a:r>
              <a:rPr lang="en-US" altLang="zh-CN" sz="2400" b="1" dirty="0">
                <a:solidFill>
                  <a:prstClr val="white"/>
                </a:solidFill>
                <a:latin typeface="Times New Roman" panose="02020603050405020304" pitchFamily="18" charset="0"/>
                <a:cs typeface="Times New Roman" panose="02020603050405020304" pitchFamily="18" charset="0"/>
              </a:rPr>
              <a:t>DOM </a:t>
            </a:r>
            <a:r>
              <a:rPr lang="en-US" altLang="zh-CN" sz="2400" b="1" dirty="0" smtClean="0">
                <a:solidFill>
                  <a:prstClr val="white"/>
                </a:solidFill>
                <a:latin typeface="Times New Roman" panose="02020603050405020304" pitchFamily="18" charset="0"/>
                <a:cs typeface="Times New Roman" panose="02020603050405020304" pitchFamily="18" charset="0"/>
              </a:rPr>
              <a:t>Nodes: </a:t>
            </a:r>
            <a:r>
              <a:rPr lang="en-US" altLang="zh-CN" sz="2400" dirty="0" smtClean="0">
                <a:solidFill>
                  <a:schemeClr val="bg1"/>
                </a:solidFill>
                <a:latin typeface="Times New Roman" panose="02020603050405020304" pitchFamily="18" charset="0"/>
                <a:cs typeface="Times New Roman" panose="02020603050405020304" pitchFamily="18" charset="0"/>
              </a:rPr>
              <a:t>everything </a:t>
            </a:r>
            <a:r>
              <a:rPr lang="en-US" altLang="zh-CN" sz="2400" dirty="0">
                <a:solidFill>
                  <a:schemeClr val="bg1"/>
                </a:solidFill>
                <a:latin typeface="Times New Roman" panose="02020603050405020304" pitchFamily="18" charset="0"/>
                <a:cs typeface="Times New Roman" panose="02020603050405020304" pitchFamily="18" charset="0"/>
              </a:rPr>
              <a:t>in an HTML document is a node</a:t>
            </a:r>
            <a:r>
              <a:rPr lang="en-US" altLang="zh-CN" sz="2400" dirty="0" smtClean="0">
                <a:solidFill>
                  <a:schemeClr val="bg1"/>
                </a:solidFill>
                <a:latin typeface="Times New Roman" panose="02020603050405020304" pitchFamily="18" charset="0"/>
                <a:cs typeface="Times New Roman" panose="02020603050405020304" pitchFamily="18" charset="0"/>
              </a:rPr>
              <a:t>:</a:t>
            </a:r>
            <a:endParaRPr lang="en-US" altLang="zh-CN" sz="2400" dirty="0">
              <a:solidFill>
                <a:schemeClr val="bg1"/>
              </a:solidFill>
              <a:latin typeface="Times New Roman" panose="02020603050405020304" pitchFamily="18" charset="0"/>
              <a:cs typeface="Times New Roman" panose="02020603050405020304" pitchFamily="18" charset="0"/>
            </a:endParaRPr>
          </a:p>
        </p:txBody>
      </p:sp>
      <p:sp>
        <p:nvSpPr>
          <p:cNvPr id="8" name="矩形 7"/>
          <p:cNvSpPr/>
          <p:nvPr/>
        </p:nvSpPr>
        <p:spPr>
          <a:xfrm>
            <a:off x="826761" y="1525011"/>
            <a:ext cx="9091749" cy="1938992"/>
          </a:xfrm>
          <a:prstGeom prst="rect">
            <a:avLst/>
          </a:prstGeom>
        </p:spPr>
        <p:txBody>
          <a:bodyPr wrap="square">
            <a:spAutoFit/>
          </a:bodyPr>
          <a:lstStyle/>
          <a:p>
            <a:pPr marL="800100" lvl="1" indent="-342900">
              <a:buFont typeface="Arial" panose="020B0604020202020204" pitchFamily="34" charset="0"/>
              <a:buChar char="•"/>
            </a:pPr>
            <a:r>
              <a:rPr lang="en-US" altLang="zh-CN" sz="2400" dirty="0" smtClean="0">
                <a:solidFill>
                  <a:schemeClr val="bg1"/>
                </a:solidFill>
                <a:latin typeface="Times New Roman" panose="02020603050405020304" pitchFamily="18" charset="0"/>
                <a:cs typeface="Times New Roman" panose="02020603050405020304" pitchFamily="18" charset="0"/>
              </a:rPr>
              <a:t>The </a:t>
            </a:r>
            <a:r>
              <a:rPr lang="en-US" altLang="zh-CN" sz="2400" dirty="0">
                <a:solidFill>
                  <a:schemeClr val="bg1"/>
                </a:solidFill>
                <a:latin typeface="Times New Roman" panose="02020603050405020304" pitchFamily="18" charset="0"/>
                <a:cs typeface="Times New Roman" panose="02020603050405020304" pitchFamily="18" charset="0"/>
              </a:rPr>
              <a:t>entire document is a document node</a:t>
            </a:r>
          </a:p>
          <a:p>
            <a:pPr marL="800100" lvl="1" indent="-342900">
              <a:buFont typeface="Arial" panose="020B0604020202020204" pitchFamily="34" charset="0"/>
              <a:buChar char="•"/>
            </a:pPr>
            <a:r>
              <a:rPr lang="en-US" altLang="zh-CN" sz="2400" dirty="0">
                <a:solidFill>
                  <a:schemeClr val="bg1"/>
                </a:solidFill>
                <a:latin typeface="Times New Roman" panose="02020603050405020304" pitchFamily="18" charset="0"/>
                <a:cs typeface="Times New Roman" panose="02020603050405020304" pitchFamily="18" charset="0"/>
              </a:rPr>
              <a:t>Every HTML element is an element node</a:t>
            </a:r>
          </a:p>
          <a:p>
            <a:pPr marL="800100" lvl="1" indent="-342900">
              <a:buFont typeface="Arial" panose="020B0604020202020204" pitchFamily="34" charset="0"/>
              <a:buChar char="•"/>
            </a:pPr>
            <a:r>
              <a:rPr lang="en-US" altLang="zh-CN" sz="2400" dirty="0">
                <a:solidFill>
                  <a:schemeClr val="bg1"/>
                </a:solidFill>
                <a:latin typeface="Times New Roman" panose="02020603050405020304" pitchFamily="18" charset="0"/>
                <a:cs typeface="Times New Roman" panose="02020603050405020304" pitchFamily="18" charset="0"/>
              </a:rPr>
              <a:t>The text inside HTML elements are text nodes</a:t>
            </a:r>
          </a:p>
          <a:p>
            <a:pPr marL="800100" lvl="1" indent="-342900">
              <a:buFont typeface="Arial" panose="020B0604020202020204" pitchFamily="34" charset="0"/>
              <a:buChar char="•"/>
            </a:pPr>
            <a:r>
              <a:rPr lang="en-US" altLang="zh-CN" sz="2400" dirty="0">
                <a:solidFill>
                  <a:schemeClr val="bg1"/>
                </a:solidFill>
                <a:latin typeface="Times New Roman" panose="02020603050405020304" pitchFamily="18" charset="0"/>
                <a:cs typeface="Times New Roman" panose="02020603050405020304" pitchFamily="18" charset="0"/>
              </a:rPr>
              <a:t>Every HTML attribute is an attribute node (deprecated)</a:t>
            </a:r>
          </a:p>
          <a:p>
            <a:pPr marL="800100" lvl="1" indent="-342900">
              <a:buFont typeface="Arial" panose="020B0604020202020204" pitchFamily="34" charset="0"/>
              <a:buChar char="•"/>
            </a:pPr>
            <a:r>
              <a:rPr lang="en-US" altLang="zh-CN" sz="2400" dirty="0">
                <a:solidFill>
                  <a:schemeClr val="bg1"/>
                </a:solidFill>
                <a:latin typeface="Times New Roman" panose="02020603050405020304" pitchFamily="18" charset="0"/>
                <a:cs typeface="Times New Roman" panose="02020603050405020304" pitchFamily="18" charset="0"/>
              </a:rPr>
              <a:t>All comments are comment nodes</a:t>
            </a:r>
            <a:endParaRPr lang="en-US" altLang="zh-CN" sz="2800" dirty="0">
              <a:solidFill>
                <a:schemeClr val="bg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a:blip r:embed="rId2"/>
          <a:stretch>
            <a:fillRect/>
          </a:stretch>
        </p:blipFill>
        <p:spPr>
          <a:xfrm>
            <a:off x="3188754" y="3728841"/>
            <a:ext cx="5679937" cy="2966189"/>
          </a:xfrm>
          <a:prstGeom prst="rect">
            <a:avLst/>
          </a:prstGeom>
        </p:spPr>
      </p:pic>
    </p:spTree>
    <p:extLst>
      <p:ext uri="{BB962C8B-B14F-4D97-AF65-F5344CB8AC3E}">
        <p14:creationId xmlns:p14="http://schemas.microsoft.com/office/powerpoint/2010/main" val="1389984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560302" y="153024"/>
            <a:ext cx="3429144"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Navigation</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1180358" y="1059177"/>
            <a:ext cx="2725426" cy="461665"/>
          </a:xfrm>
          <a:prstGeom prst="rect">
            <a:avLst/>
          </a:prstGeom>
        </p:spPr>
        <p:txBody>
          <a:bodyPr wrap="none">
            <a:spAutoFit/>
          </a:bodyPr>
          <a:lstStyle/>
          <a:p>
            <a:pPr lvl="0">
              <a:defRPr/>
            </a:pPr>
            <a:r>
              <a:rPr lang="en-US" altLang="zh-CN" sz="2400" b="1" dirty="0">
                <a:solidFill>
                  <a:prstClr val="white"/>
                </a:solidFill>
                <a:latin typeface="Times New Roman" panose="02020603050405020304" pitchFamily="18" charset="0"/>
                <a:cs typeface="Times New Roman" panose="02020603050405020304" pitchFamily="18" charset="0"/>
              </a:rPr>
              <a:t>Node Relationships</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1180358" y="1662763"/>
            <a:ext cx="2790476" cy="2571429"/>
          </a:xfrm>
          <a:prstGeom prst="rect">
            <a:avLst/>
          </a:prstGeom>
        </p:spPr>
      </p:pic>
      <p:pic>
        <p:nvPicPr>
          <p:cNvPr id="5" name="图片 4"/>
          <p:cNvPicPr>
            <a:picLocks noChangeAspect="1"/>
          </p:cNvPicPr>
          <p:nvPr/>
        </p:nvPicPr>
        <p:blipFill>
          <a:blip r:embed="rId3"/>
          <a:stretch>
            <a:fillRect/>
          </a:stretch>
        </p:blipFill>
        <p:spPr>
          <a:xfrm>
            <a:off x="5508843" y="1279790"/>
            <a:ext cx="4060740" cy="3059163"/>
          </a:xfrm>
          <a:prstGeom prst="rect">
            <a:avLst/>
          </a:prstGeom>
        </p:spPr>
      </p:pic>
      <p:sp>
        <p:nvSpPr>
          <p:cNvPr id="9" name="矩形 8"/>
          <p:cNvSpPr/>
          <p:nvPr/>
        </p:nvSpPr>
        <p:spPr>
          <a:xfrm>
            <a:off x="858141" y="4354933"/>
            <a:ext cx="4497212" cy="2031325"/>
          </a:xfrm>
          <a:prstGeom prst="rect">
            <a:avLst/>
          </a:prstGeom>
        </p:spPr>
        <p:txBody>
          <a:bodyPr wrap="square">
            <a:spAutoFit/>
          </a:bodyPr>
          <a:lstStyle/>
          <a:p>
            <a:r>
              <a:rPr lang="en-US" altLang="zh-CN" dirty="0">
                <a:solidFill>
                  <a:schemeClr val="bg1"/>
                </a:solidFill>
                <a:latin typeface="Times New Roman" panose="02020603050405020304" pitchFamily="18" charset="0"/>
                <a:cs typeface="Times New Roman" panose="02020603050405020304" pitchFamily="18" charset="0"/>
              </a:rPr>
              <a:t>From the HTML above you can read:</a:t>
            </a:r>
          </a:p>
          <a:p>
            <a:endParaRPr lang="en-US" altLang="zh-CN"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dirty="0">
                <a:solidFill>
                  <a:schemeClr val="bg1"/>
                </a:solidFill>
                <a:latin typeface="Times New Roman" panose="02020603050405020304" pitchFamily="18" charset="0"/>
                <a:cs typeface="Times New Roman" panose="02020603050405020304" pitchFamily="18" charset="0"/>
              </a:rPr>
              <a:t>&lt;html&gt; is the root node</a:t>
            </a:r>
          </a:p>
          <a:p>
            <a:pPr marL="285750" indent="-285750">
              <a:buFont typeface="Arial" panose="020B0604020202020204" pitchFamily="34" charset="0"/>
              <a:buChar char="•"/>
            </a:pPr>
            <a:r>
              <a:rPr lang="en-US" altLang="zh-CN" dirty="0">
                <a:solidFill>
                  <a:schemeClr val="bg1"/>
                </a:solidFill>
                <a:latin typeface="Times New Roman" panose="02020603050405020304" pitchFamily="18" charset="0"/>
                <a:cs typeface="Times New Roman" panose="02020603050405020304" pitchFamily="18" charset="0"/>
              </a:rPr>
              <a:t>&lt;html&gt; has no parents</a:t>
            </a:r>
          </a:p>
          <a:p>
            <a:pPr marL="285750" indent="-285750">
              <a:buFont typeface="Arial" panose="020B0604020202020204" pitchFamily="34" charset="0"/>
              <a:buChar char="•"/>
            </a:pPr>
            <a:r>
              <a:rPr lang="en-US" altLang="zh-CN" dirty="0">
                <a:solidFill>
                  <a:schemeClr val="bg1"/>
                </a:solidFill>
                <a:latin typeface="Times New Roman" panose="02020603050405020304" pitchFamily="18" charset="0"/>
                <a:cs typeface="Times New Roman" panose="02020603050405020304" pitchFamily="18" charset="0"/>
              </a:rPr>
              <a:t>&lt;html&gt; is the parent of &lt;head&gt; and &lt;body&gt;</a:t>
            </a:r>
          </a:p>
          <a:p>
            <a:pPr marL="285750" indent="-285750">
              <a:buFont typeface="Arial" panose="020B0604020202020204" pitchFamily="34" charset="0"/>
              <a:buChar char="•"/>
            </a:pPr>
            <a:r>
              <a:rPr lang="en-US" altLang="zh-CN" dirty="0">
                <a:solidFill>
                  <a:schemeClr val="bg1"/>
                </a:solidFill>
                <a:latin typeface="Times New Roman" panose="02020603050405020304" pitchFamily="18" charset="0"/>
                <a:cs typeface="Times New Roman" panose="02020603050405020304" pitchFamily="18" charset="0"/>
              </a:rPr>
              <a:t>&lt;head&gt; is the first child of &lt;html&gt;</a:t>
            </a:r>
          </a:p>
          <a:p>
            <a:pPr marL="285750" indent="-285750">
              <a:buFont typeface="Arial" panose="020B0604020202020204" pitchFamily="34" charset="0"/>
              <a:buChar char="•"/>
            </a:pPr>
            <a:r>
              <a:rPr lang="en-US" altLang="zh-CN" dirty="0">
                <a:solidFill>
                  <a:schemeClr val="bg1"/>
                </a:solidFill>
                <a:latin typeface="Times New Roman" panose="02020603050405020304" pitchFamily="18" charset="0"/>
                <a:cs typeface="Times New Roman" panose="02020603050405020304" pitchFamily="18" charset="0"/>
              </a:rPr>
              <a:t>&lt;body&gt; is the last child of &lt;html&gt;</a:t>
            </a:r>
            <a:endParaRPr lang="en-US" altLang="zh-CN" sz="2400" dirty="0">
              <a:solidFill>
                <a:schemeClr val="bg1"/>
              </a:solidFill>
              <a:latin typeface="Times New Roman" panose="02020603050405020304" pitchFamily="18" charset="0"/>
              <a:cs typeface="Times New Roman" panose="02020603050405020304" pitchFamily="18" charset="0"/>
            </a:endParaRPr>
          </a:p>
        </p:txBody>
      </p:sp>
      <p:sp>
        <p:nvSpPr>
          <p:cNvPr id="10" name="矩形 9"/>
          <p:cNvSpPr/>
          <p:nvPr/>
        </p:nvSpPr>
        <p:spPr>
          <a:xfrm>
            <a:off x="6274874" y="4351297"/>
            <a:ext cx="5333234" cy="2308324"/>
          </a:xfrm>
          <a:prstGeom prst="rect">
            <a:avLst/>
          </a:prstGeom>
        </p:spPr>
        <p:txBody>
          <a:bodyPr wrap="square">
            <a:spAutoFit/>
          </a:bodyPr>
          <a:lstStyle/>
          <a:p>
            <a:r>
              <a:rPr lang="en-US" altLang="zh-CN" dirty="0">
                <a:solidFill>
                  <a:schemeClr val="bg1"/>
                </a:solidFill>
                <a:latin typeface="Times New Roman" panose="02020603050405020304" pitchFamily="18" charset="0"/>
                <a:cs typeface="Times New Roman" panose="02020603050405020304" pitchFamily="18" charset="0"/>
              </a:rPr>
              <a:t>and:</a:t>
            </a:r>
          </a:p>
          <a:p>
            <a:endParaRPr lang="en-US" altLang="zh-CN"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dirty="0">
                <a:solidFill>
                  <a:schemeClr val="bg1"/>
                </a:solidFill>
                <a:latin typeface="Times New Roman" panose="02020603050405020304" pitchFamily="18" charset="0"/>
                <a:cs typeface="Times New Roman" panose="02020603050405020304" pitchFamily="18" charset="0"/>
              </a:rPr>
              <a:t>&lt;head&gt; has one child: &lt;title&gt;</a:t>
            </a:r>
          </a:p>
          <a:p>
            <a:pPr marL="285750" indent="-285750">
              <a:buFont typeface="Arial" panose="020B0604020202020204" pitchFamily="34" charset="0"/>
              <a:buChar char="•"/>
            </a:pPr>
            <a:r>
              <a:rPr lang="en-US" altLang="zh-CN" dirty="0">
                <a:solidFill>
                  <a:schemeClr val="bg1"/>
                </a:solidFill>
                <a:latin typeface="Times New Roman" panose="02020603050405020304" pitchFamily="18" charset="0"/>
                <a:cs typeface="Times New Roman" panose="02020603050405020304" pitchFamily="18" charset="0"/>
              </a:rPr>
              <a:t>&lt;title&gt; has one child (a text node): "DOM Tutorial"</a:t>
            </a:r>
          </a:p>
          <a:p>
            <a:pPr marL="285750" indent="-285750">
              <a:buFont typeface="Arial" panose="020B0604020202020204" pitchFamily="34" charset="0"/>
              <a:buChar char="•"/>
            </a:pPr>
            <a:r>
              <a:rPr lang="en-US" altLang="zh-CN" dirty="0">
                <a:solidFill>
                  <a:schemeClr val="bg1"/>
                </a:solidFill>
                <a:latin typeface="Times New Roman" panose="02020603050405020304" pitchFamily="18" charset="0"/>
                <a:cs typeface="Times New Roman" panose="02020603050405020304" pitchFamily="18" charset="0"/>
              </a:rPr>
              <a:t>&lt;body&gt; has two children: &lt;h1&gt; and &lt;p&gt;</a:t>
            </a:r>
          </a:p>
          <a:p>
            <a:pPr marL="285750" indent="-285750">
              <a:buFont typeface="Arial" panose="020B0604020202020204" pitchFamily="34" charset="0"/>
              <a:buChar char="•"/>
            </a:pPr>
            <a:r>
              <a:rPr lang="en-US" altLang="zh-CN" dirty="0">
                <a:solidFill>
                  <a:schemeClr val="bg1"/>
                </a:solidFill>
                <a:latin typeface="Times New Roman" panose="02020603050405020304" pitchFamily="18" charset="0"/>
                <a:cs typeface="Times New Roman" panose="02020603050405020304" pitchFamily="18" charset="0"/>
              </a:rPr>
              <a:t>&lt;h1&gt; has one child: "DOM Lesson one"</a:t>
            </a:r>
          </a:p>
          <a:p>
            <a:pPr marL="285750" indent="-285750">
              <a:buFont typeface="Arial" panose="020B0604020202020204" pitchFamily="34" charset="0"/>
              <a:buChar char="•"/>
            </a:pPr>
            <a:r>
              <a:rPr lang="en-US" altLang="zh-CN" dirty="0">
                <a:solidFill>
                  <a:schemeClr val="bg1"/>
                </a:solidFill>
                <a:latin typeface="Times New Roman" panose="02020603050405020304" pitchFamily="18" charset="0"/>
                <a:cs typeface="Times New Roman" panose="02020603050405020304" pitchFamily="18" charset="0"/>
              </a:rPr>
              <a:t>&lt;p&gt; has one child: "Hello world!"</a:t>
            </a:r>
          </a:p>
          <a:p>
            <a:pPr marL="285750" indent="-285750">
              <a:buFont typeface="Arial" panose="020B0604020202020204" pitchFamily="34" charset="0"/>
              <a:buChar char="•"/>
            </a:pPr>
            <a:r>
              <a:rPr lang="en-US" altLang="zh-CN" dirty="0">
                <a:solidFill>
                  <a:schemeClr val="bg1"/>
                </a:solidFill>
                <a:latin typeface="Times New Roman" panose="02020603050405020304" pitchFamily="18" charset="0"/>
                <a:cs typeface="Times New Roman" panose="02020603050405020304" pitchFamily="18" charset="0"/>
              </a:rPr>
              <a:t>&lt;h1&gt; and &lt;p&gt; are siblings</a:t>
            </a:r>
            <a:endParaRPr lang="en-US" altLang="zh-C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35629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377785" y="165550"/>
            <a:ext cx="3429144"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Navigation</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1214563" y="1424995"/>
            <a:ext cx="4273927" cy="523220"/>
          </a:xfrm>
          <a:prstGeom prst="rect">
            <a:avLst/>
          </a:prstGeom>
        </p:spPr>
        <p:txBody>
          <a:bodyPr wrap="none">
            <a:spAutoFit/>
          </a:bodyPr>
          <a:lstStyle/>
          <a:p>
            <a:pPr lvl="0">
              <a:defRPr/>
            </a:pPr>
            <a:r>
              <a:rPr lang="en-US" altLang="zh-CN" sz="2800" b="1" dirty="0">
                <a:solidFill>
                  <a:prstClr val="white"/>
                </a:solidFill>
                <a:latin typeface="Times New Roman" panose="02020603050405020304" pitchFamily="18" charset="0"/>
                <a:cs typeface="Times New Roman" panose="02020603050405020304" pitchFamily="18" charset="0"/>
              </a:rPr>
              <a:t>Navigating Between Nodes</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矩形 7"/>
          <p:cNvSpPr/>
          <p:nvPr/>
        </p:nvSpPr>
        <p:spPr>
          <a:xfrm>
            <a:off x="1126862" y="2359096"/>
            <a:ext cx="10528606" cy="3785652"/>
          </a:xfrm>
          <a:prstGeom prst="rect">
            <a:avLst/>
          </a:prstGeom>
        </p:spPr>
        <p:txBody>
          <a:bodyPr wrap="square">
            <a:spAutoFit/>
          </a:bodyPr>
          <a:lstStyle/>
          <a:p>
            <a:pPr algn="just"/>
            <a:r>
              <a:rPr lang="en-US" altLang="zh-CN" sz="2400" dirty="0">
                <a:solidFill>
                  <a:schemeClr val="bg1"/>
                </a:solidFill>
                <a:latin typeface="Times New Roman" panose="02020603050405020304" pitchFamily="18" charset="0"/>
                <a:cs typeface="Times New Roman" panose="02020603050405020304" pitchFamily="18" charset="0"/>
              </a:rPr>
              <a:t>You can use the following node properties to navigate between nodes with JavaScript:</a:t>
            </a:r>
          </a:p>
          <a:p>
            <a:endParaRPr lang="en-US" altLang="zh-CN" sz="2400" dirty="0">
              <a:solidFill>
                <a:schemeClr val="bg1"/>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zh-CN" sz="2800" dirty="0" err="1">
                <a:solidFill>
                  <a:schemeClr val="bg1"/>
                </a:solidFill>
                <a:latin typeface="Times New Roman" panose="02020603050405020304" pitchFamily="18" charset="0"/>
                <a:cs typeface="Times New Roman" panose="02020603050405020304" pitchFamily="18" charset="0"/>
              </a:rPr>
              <a:t>parentNode</a:t>
            </a:r>
            <a:endParaRPr lang="en-US" altLang="zh-CN" sz="2800" dirty="0">
              <a:solidFill>
                <a:schemeClr val="bg1"/>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zh-CN" sz="2800" dirty="0" err="1">
                <a:solidFill>
                  <a:schemeClr val="bg1"/>
                </a:solidFill>
                <a:latin typeface="Times New Roman" panose="02020603050405020304" pitchFamily="18" charset="0"/>
                <a:cs typeface="Times New Roman" panose="02020603050405020304" pitchFamily="18" charset="0"/>
              </a:rPr>
              <a:t>childNodes</a:t>
            </a:r>
            <a:r>
              <a:rPr lang="en-US" altLang="zh-CN" sz="2800" dirty="0">
                <a:solidFill>
                  <a:schemeClr val="bg1"/>
                </a:solidFill>
                <a:latin typeface="Times New Roman" panose="02020603050405020304" pitchFamily="18" charset="0"/>
                <a:cs typeface="Times New Roman" panose="02020603050405020304" pitchFamily="18" charset="0"/>
              </a:rPr>
              <a:t>[</a:t>
            </a:r>
            <a:r>
              <a:rPr lang="en-US" altLang="zh-CN" sz="2800" dirty="0" err="1">
                <a:solidFill>
                  <a:schemeClr val="bg1"/>
                </a:solidFill>
                <a:latin typeface="Times New Roman" panose="02020603050405020304" pitchFamily="18" charset="0"/>
                <a:cs typeface="Times New Roman" panose="02020603050405020304" pitchFamily="18" charset="0"/>
              </a:rPr>
              <a:t>nodenumber</a:t>
            </a:r>
            <a:r>
              <a:rPr lang="en-US" altLang="zh-CN" sz="2800" dirty="0">
                <a:solidFill>
                  <a:schemeClr val="bg1"/>
                </a:solidFill>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altLang="zh-CN" sz="2800" dirty="0" err="1">
                <a:solidFill>
                  <a:schemeClr val="bg1"/>
                </a:solidFill>
                <a:latin typeface="Times New Roman" panose="02020603050405020304" pitchFamily="18" charset="0"/>
                <a:cs typeface="Times New Roman" panose="02020603050405020304" pitchFamily="18" charset="0"/>
              </a:rPr>
              <a:t>firstChild</a:t>
            </a:r>
            <a:endParaRPr lang="en-US" altLang="zh-CN" sz="2800" dirty="0">
              <a:solidFill>
                <a:schemeClr val="bg1"/>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zh-CN" sz="2800" dirty="0" err="1">
                <a:solidFill>
                  <a:schemeClr val="bg1"/>
                </a:solidFill>
                <a:latin typeface="Times New Roman" panose="02020603050405020304" pitchFamily="18" charset="0"/>
                <a:cs typeface="Times New Roman" panose="02020603050405020304" pitchFamily="18" charset="0"/>
              </a:rPr>
              <a:t>lastChild</a:t>
            </a:r>
            <a:endParaRPr lang="en-US" altLang="zh-CN" sz="2800" dirty="0">
              <a:solidFill>
                <a:schemeClr val="bg1"/>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zh-CN" sz="2800" dirty="0" err="1">
                <a:solidFill>
                  <a:schemeClr val="bg1"/>
                </a:solidFill>
                <a:latin typeface="Times New Roman" panose="02020603050405020304" pitchFamily="18" charset="0"/>
                <a:cs typeface="Times New Roman" panose="02020603050405020304" pitchFamily="18" charset="0"/>
              </a:rPr>
              <a:t>nextSibling</a:t>
            </a:r>
            <a:endParaRPr lang="en-US" altLang="zh-CN" sz="2800" dirty="0">
              <a:solidFill>
                <a:schemeClr val="bg1"/>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zh-CN" sz="2800" dirty="0" err="1">
                <a:solidFill>
                  <a:schemeClr val="bg1"/>
                </a:solidFill>
                <a:latin typeface="Times New Roman" panose="02020603050405020304" pitchFamily="18" charset="0"/>
                <a:cs typeface="Times New Roman" panose="02020603050405020304" pitchFamily="18" charset="0"/>
              </a:rPr>
              <a:t>previousSibling</a:t>
            </a:r>
            <a:endParaRPr lang="en-US" altLang="zh-CN" sz="3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34242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578202" y="171813"/>
            <a:ext cx="3429144"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Navigation</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801185" y="897456"/>
            <a:ext cx="2528256" cy="461665"/>
          </a:xfrm>
          <a:prstGeom prst="rect">
            <a:avLst/>
          </a:prstGeom>
        </p:spPr>
        <p:txBody>
          <a:bodyPr wrap="none">
            <a:spAutoFit/>
          </a:bodyPr>
          <a:lstStyle/>
          <a:p>
            <a:pPr lvl="0">
              <a:defRPr/>
            </a:pPr>
            <a:r>
              <a:rPr lang="en-US" altLang="zh-CN" sz="2400" b="1" dirty="0">
                <a:solidFill>
                  <a:prstClr val="white"/>
                </a:solidFill>
                <a:latin typeface="Times New Roman" panose="02020603050405020304" pitchFamily="18" charset="0"/>
                <a:cs typeface="Times New Roman" panose="02020603050405020304" pitchFamily="18" charset="0"/>
              </a:rPr>
              <a:t>DOM Root Nodes</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矩形 7"/>
          <p:cNvSpPr/>
          <p:nvPr/>
        </p:nvSpPr>
        <p:spPr>
          <a:xfrm>
            <a:off x="801185" y="1438433"/>
            <a:ext cx="10578711" cy="1938992"/>
          </a:xfrm>
          <a:prstGeom prst="rect">
            <a:avLst/>
          </a:prstGeom>
        </p:spPr>
        <p:txBody>
          <a:bodyPr wrap="square">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There are two special properties that allow access to the full document:</a:t>
            </a:r>
          </a:p>
          <a:p>
            <a:pPr marL="800100" lvl="1" indent="-342900">
              <a:buFont typeface="Arial" panose="020B0604020202020204" pitchFamily="34" charset="0"/>
              <a:buChar char="•"/>
            </a:pPr>
            <a:r>
              <a:rPr lang="en-US" altLang="zh-CN" sz="2400" dirty="0" err="1">
                <a:solidFill>
                  <a:schemeClr val="bg1"/>
                </a:solidFill>
                <a:latin typeface="Times New Roman" panose="02020603050405020304" pitchFamily="18" charset="0"/>
                <a:cs typeface="Times New Roman" panose="02020603050405020304" pitchFamily="18" charset="0"/>
              </a:rPr>
              <a:t>document.body</a:t>
            </a:r>
            <a:r>
              <a:rPr lang="en-US" altLang="zh-CN" sz="2400" dirty="0">
                <a:solidFill>
                  <a:schemeClr val="bg1"/>
                </a:solidFill>
                <a:latin typeface="Times New Roman" panose="02020603050405020304" pitchFamily="18" charset="0"/>
                <a:cs typeface="Times New Roman" panose="02020603050405020304" pitchFamily="18" charset="0"/>
              </a:rPr>
              <a:t> - The body of the document</a:t>
            </a:r>
          </a:p>
          <a:p>
            <a:pPr marL="800100" lvl="1" indent="-342900">
              <a:buFont typeface="Arial" panose="020B0604020202020204" pitchFamily="34" charset="0"/>
              <a:buChar char="•"/>
            </a:pPr>
            <a:r>
              <a:rPr lang="en-US" altLang="zh-CN" sz="2400" dirty="0" err="1">
                <a:solidFill>
                  <a:schemeClr val="bg1"/>
                </a:solidFill>
                <a:latin typeface="Times New Roman" panose="02020603050405020304" pitchFamily="18" charset="0"/>
                <a:cs typeface="Times New Roman" panose="02020603050405020304" pitchFamily="18" charset="0"/>
              </a:rPr>
              <a:t>document.documentElement</a:t>
            </a:r>
            <a:r>
              <a:rPr lang="en-US" altLang="zh-CN" sz="2400" dirty="0">
                <a:solidFill>
                  <a:schemeClr val="bg1"/>
                </a:solidFill>
                <a:latin typeface="Times New Roman" panose="02020603050405020304" pitchFamily="18" charset="0"/>
                <a:cs typeface="Times New Roman" panose="02020603050405020304" pitchFamily="18" charset="0"/>
              </a:rPr>
              <a:t> - The full document, returns the Element that is the root element of the document (for example, the &lt;html&gt; element for HTML documents).</a:t>
            </a:r>
          </a:p>
        </p:txBody>
      </p:sp>
      <p:pic>
        <p:nvPicPr>
          <p:cNvPr id="6" name="图片 5"/>
          <p:cNvPicPr>
            <a:picLocks noChangeAspect="1"/>
          </p:cNvPicPr>
          <p:nvPr/>
        </p:nvPicPr>
        <p:blipFill>
          <a:blip r:embed="rId2"/>
          <a:stretch>
            <a:fillRect/>
          </a:stretch>
        </p:blipFill>
        <p:spPr>
          <a:xfrm>
            <a:off x="662092" y="3571756"/>
            <a:ext cx="5790476" cy="3219048"/>
          </a:xfrm>
          <a:prstGeom prst="rect">
            <a:avLst/>
          </a:prstGeom>
        </p:spPr>
      </p:pic>
      <p:pic>
        <p:nvPicPr>
          <p:cNvPr id="7" name="图片 6"/>
          <p:cNvPicPr>
            <a:picLocks noChangeAspect="1"/>
          </p:cNvPicPr>
          <p:nvPr/>
        </p:nvPicPr>
        <p:blipFill>
          <a:blip r:embed="rId3"/>
          <a:stretch>
            <a:fillRect/>
          </a:stretch>
        </p:blipFill>
        <p:spPr>
          <a:xfrm>
            <a:off x="8424709" y="3680665"/>
            <a:ext cx="3038095" cy="1933333"/>
          </a:xfrm>
          <a:prstGeom prst="rect">
            <a:avLst/>
          </a:prstGeom>
        </p:spPr>
      </p:pic>
    </p:spTree>
    <p:extLst>
      <p:ext uri="{BB962C8B-B14F-4D97-AF65-F5344CB8AC3E}">
        <p14:creationId xmlns:p14="http://schemas.microsoft.com/office/powerpoint/2010/main" val="31516268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434152" y="71675"/>
            <a:ext cx="3429144"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Navigation</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510216" y="921391"/>
            <a:ext cx="10154575" cy="461665"/>
          </a:xfrm>
          <a:prstGeom prst="rect">
            <a:avLst/>
          </a:prstGeom>
        </p:spPr>
        <p:txBody>
          <a:bodyPr wrap="none">
            <a:spAutoFit/>
          </a:bodyPr>
          <a:lstStyle/>
          <a:p>
            <a:pPr>
              <a:defRPr/>
            </a:pPr>
            <a:r>
              <a:rPr lang="en-US" altLang="zh-CN" sz="2400" b="1" dirty="0">
                <a:solidFill>
                  <a:prstClr val="white"/>
                </a:solidFill>
                <a:latin typeface="Times New Roman" panose="02020603050405020304" pitchFamily="18" charset="0"/>
                <a:cs typeface="Times New Roman" panose="02020603050405020304" pitchFamily="18" charset="0"/>
              </a:rPr>
              <a:t>The </a:t>
            </a:r>
            <a:r>
              <a:rPr lang="en-US" altLang="zh-CN" sz="2400" b="1" dirty="0" err="1">
                <a:solidFill>
                  <a:prstClr val="white"/>
                </a:solidFill>
                <a:latin typeface="Times New Roman" panose="02020603050405020304" pitchFamily="18" charset="0"/>
                <a:cs typeface="Times New Roman" panose="02020603050405020304" pitchFamily="18" charset="0"/>
              </a:rPr>
              <a:t>nodeName</a:t>
            </a:r>
            <a:r>
              <a:rPr lang="en-US" altLang="zh-CN" sz="2400" b="1" dirty="0">
                <a:solidFill>
                  <a:prstClr val="white"/>
                </a:solidFill>
                <a:latin typeface="Times New Roman" panose="02020603050405020304" pitchFamily="18" charset="0"/>
                <a:cs typeface="Times New Roman" panose="02020603050405020304" pitchFamily="18" charset="0"/>
              </a:rPr>
              <a:t> </a:t>
            </a:r>
            <a:r>
              <a:rPr lang="en-US" altLang="zh-CN" sz="2400" b="1" dirty="0" smtClean="0">
                <a:solidFill>
                  <a:prstClr val="white"/>
                </a:solidFill>
                <a:latin typeface="Times New Roman" panose="02020603050405020304" pitchFamily="18" charset="0"/>
                <a:cs typeface="Times New Roman" panose="02020603050405020304" pitchFamily="18" charset="0"/>
              </a:rPr>
              <a:t>Property: </a:t>
            </a:r>
            <a:r>
              <a:rPr lang="en-US" altLang="zh-CN" sz="2400" dirty="0" smtClean="0">
                <a:solidFill>
                  <a:schemeClr val="bg1"/>
                </a:solidFill>
                <a:latin typeface="Times New Roman" panose="02020603050405020304" pitchFamily="18" charset="0"/>
                <a:cs typeface="Times New Roman" panose="02020603050405020304" pitchFamily="18" charset="0"/>
              </a:rPr>
              <a:t>the </a:t>
            </a:r>
            <a:r>
              <a:rPr lang="en-US" altLang="zh-CN" sz="2400" dirty="0" err="1" smtClean="0">
                <a:solidFill>
                  <a:schemeClr val="bg1"/>
                </a:solidFill>
                <a:latin typeface="Times New Roman" panose="02020603050405020304" pitchFamily="18" charset="0"/>
                <a:cs typeface="Times New Roman" panose="02020603050405020304" pitchFamily="18" charset="0"/>
              </a:rPr>
              <a:t>nodeName</a:t>
            </a:r>
            <a:r>
              <a:rPr lang="en-US" altLang="zh-CN" sz="2400" dirty="0" smtClean="0">
                <a:solidFill>
                  <a:schemeClr val="bg1"/>
                </a:solidFill>
                <a:latin typeface="Times New Roman" panose="02020603050405020304" pitchFamily="18" charset="0"/>
                <a:cs typeface="Times New Roman" panose="02020603050405020304" pitchFamily="18" charset="0"/>
              </a:rPr>
              <a:t> property specifies </a:t>
            </a:r>
            <a:r>
              <a:rPr lang="en-US" altLang="zh-CN" sz="2400" dirty="0">
                <a:solidFill>
                  <a:schemeClr val="bg1"/>
                </a:solidFill>
                <a:latin typeface="Times New Roman" panose="02020603050405020304" pitchFamily="18" charset="0"/>
                <a:cs typeface="Times New Roman" panose="02020603050405020304" pitchFamily="18" charset="0"/>
              </a:rPr>
              <a:t>the name of a node</a:t>
            </a:r>
            <a:r>
              <a:rPr lang="en-US" altLang="zh-CN" sz="2400" dirty="0" smtClean="0">
                <a:solidFill>
                  <a:schemeClr val="bg1"/>
                </a:solidFill>
                <a:latin typeface="Times New Roman" panose="02020603050405020304" pitchFamily="18" charset="0"/>
                <a:cs typeface="Times New Roman" panose="02020603050405020304" pitchFamily="18" charset="0"/>
              </a:rPr>
              <a:t>.</a:t>
            </a:r>
            <a:endParaRPr lang="en-US" altLang="zh-CN" sz="2400" dirty="0">
              <a:solidFill>
                <a:schemeClr val="bg1"/>
              </a:solidFill>
              <a:latin typeface="Times New Roman" panose="02020603050405020304" pitchFamily="18" charset="0"/>
              <a:cs typeface="Times New Roman" panose="02020603050405020304" pitchFamily="18" charset="0"/>
            </a:endParaRPr>
          </a:p>
        </p:txBody>
      </p:sp>
      <p:sp>
        <p:nvSpPr>
          <p:cNvPr id="8" name="矩形 7"/>
          <p:cNvSpPr/>
          <p:nvPr/>
        </p:nvSpPr>
        <p:spPr>
          <a:xfrm>
            <a:off x="174883" y="1501063"/>
            <a:ext cx="9091749" cy="1938992"/>
          </a:xfrm>
          <a:prstGeom prst="rect">
            <a:avLst/>
          </a:prstGeom>
        </p:spPr>
        <p:txBody>
          <a:bodyPr wrap="square">
            <a:spAutoFit/>
          </a:bodyPr>
          <a:lstStyle/>
          <a:p>
            <a:pPr marL="800100" lvl="1" indent="-342900">
              <a:buFont typeface="Wingdings" panose="05000000000000000000" pitchFamily="2" charset="2"/>
              <a:buChar char="l"/>
            </a:pPr>
            <a:r>
              <a:rPr lang="en-US" altLang="zh-CN" sz="2400" dirty="0" err="1" smtClean="0">
                <a:solidFill>
                  <a:schemeClr val="bg1"/>
                </a:solidFill>
                <a:latin typeface="Times New Roman" panose="02020603050405020304" pitchFamily="18" charset="0"/>
                <a:cs typeface="Times New Roman" panose="02020603050405020304" pitchFamily="18" charset="0"/>
              </a:rPr>
              <a:t>nodeName</a:t>
            </a:r>
            <a:r>
              <a:rPr lang="en-US" altLang="zh-CN" sz="2400" dirty="0" smtClean="0">
                <a:solidFill>
                  <a:schemeClr val="bg1"/>
                </a:solidFill>
                <a:latin typeface="Times New Roman" panose="02020603050405020304" pitchFamily="18" charset="0"/>
                <a:cs typeface="Times New Roman" panose="02020603050405020304" pitchFamily="18" charset="0"/>
              </a:rPr>
              <a:t> </a:t>
            </a:r>
            <a:r>
              <a:rPr lang="en-US" altLang="zh-CN" sz="2400" dirty="0">
                <a:solidFill>
                  <a:schemeClr val="bg1"/>
                </a:solidFill>
                <a:latin typeface="Times New Roman" panose="02020603050405020304" pitchFamily="18" charset="0"/>
                <a:cs typeface="Times New Roman" panose="02020603050405020304" pitchFamily="18" charset="0"/>
              </a:rPr>
              <a:t>is read-only</a:t>
            </a:r>
          </a:p>
          <a:p>
            <a:pPr marL="800100" lvl="1" indent="-342900">
              <a:buFont typeface="Wingdings" panose="05000000000000000000" pitchFamily="2" charset="2"/>
              <a:buChar char="l"/>
            </a:pPr>
            <a:r>
              <a:rPr lang="en-US" altLang="zh-CN" sz="2400" dirty="0" err="1">
                <a:solidFill>
                  <a:schemeClr val="bg1"/>
                </a:solidFill>
                <a:latin typeface="Times New Roman" panose="02020603050405020304" pitchFamily="18" charset="0"/>
                <a:cs typeface="Times New Roman" panose="02020603050405020304" pitchFamily="18" charset="0"/>
              </a:rPr>
              <a:t>nodeName</a:t>
            </a:r>
            <a:r>
              <a:rPr lang="en-US" altLang="zh-CN" sz="2400" dirty="0">
                <a:solidFill>
                  <a:schemeClr val="bg1"/>
                </a:solidFill>
                <a:latin typeface="Times New Roman" panose="02020603050405020304" pitchFamily="18" charset="0"/>
                <a:cs typeface="Times New Roman" panose="02020603050405020304" pitchFamily="18" charset="0"/>
              </a:rPr>
              <a:t> of an element node is the same as the tag name</a:t>
            </a:r>
          </a:p>
          <a:p>
            <a:pPr marL="800100" lvl="1" indent="-342900">
              <a:buFont typeface="Wingdings" panose="05000000000000000000" pitchFamily="2" charset="2"/>
              <a:buChar char="l"/>
            </a:pPr>
            <a:r>
              <a:rPr lang="en-US" altLang="zh-CN" sz="2400" dirty="0" err="1">
                <a:solidFill>
                  <a:schemeClr val="bg1"/>
                </a:solidFill>
                <a:latin typeface="Times New Roman" panose="02020603050405020304" pitchFamily="18" charset="0"/>
                <a:cs typeface="Times New Roman" panose="02020603050405020304" pitchFamily="18" charset="0"/>
              </a:rPr>
              <a:t>nodeName</a:t>
            </a:r>
            <a:r>
              <a:rPr lang="en-US" altLang="zh-CN" sz="2400" dirty="0">
                <a:solidFill>
                  <a:schemeClr val="bg1"/>
                </a:solidFill>
                <a:latin typeface="Times New Roman" panose="02020603050405020304" pitchFamily="18" charset="0"/>
                <a:cs typeface="Times New Roman" panose="02020603050405020304" pitchFamily="18" charset="0"/>
              </a:rPr>
              <a:t> of an attribute node is the attribute name</a:t>
            </a:r>
          </a:p>
          <a:p>
            <a:pPr marL="800100" lvl="1" indent="-342900">
              <a:buFont typeface="Wingdings" panose="05000000000000000000" pitchFamily="2" charset="2"/>
              <a:buChar char="l"/>
            </a:pPr>
            <a:r>
              <a:rPr lang="en-US" altLang="zh-CN" sz="2400" dirty="0" err="1">
                <a:solidFill>
                  <a:schemeClr val="bg1"/>
                </a:solidFill>
                <a:latin typeface="Times New Roman" panose="02020603050405020304" pitchFamily="18" charset="0"/>
                <a:cs typeface="Times New Roman" panose="02020603050405020304" pitchFamily="18" charset="0"/>
              </a:rPr>
              <a:t>nodeName</a:t>
            </a:r>
            <a:r>
              <a:rPr lang="en-US" altLang="zh-CN" sz="2400" dirty="0">
                <a:solidFill>
                  <a:schemeClr val="bg1"/>
                </a:solidFill>
                <a:latin typeface="Times New Roman" panose="02020603050405020304" pitchFamily="18" charset="0"/>
                <a:cs typeface="Times New Roman" panose="02020603050405020304" pitchFamily="18" charset="0"/>
              </a:rPr>
              <a:t> of a text node is always #text</a:t>
            </a:r>
          </a:p>
          <a:p>
            <a:pPr marL="800100" lvl="1" indent="-342900">
              <a:buFont typeface="Wingdings" panose="05000000000000000000" pitchFamily="2" charset="2"/>
              <a:buChar char="l"/>
            </a:pPr>
            <a:r>
              <a:rPr lang="en-US" altLang="zh-CN" sz="2400" dirty="0" err="1">
                <a:solidFill>
                  <a:schemeClr val="bg1"/>
                </a:solidFill>
                <a:latin typeface="Times New Roman" panose="02020603050405020304" pitchFamily="18" charset="0"/>
                <a:cs typeface="Times New Roman" panose="02020603050405020304" pitchFamily="18" charset="0"/>
              </a:rPr>
              <a:t>nodeName</a:t>
            </a:r>
            <a:r>
              <a:rPr lang="en-US" altLang="zh-CN" sz="2400" dirty="0">
                <a:solidFill>
                  <a:schemeClr val="bg1"/>
                </a:solidFill>
                <a:latin typeface="Times New Roman" panose="02020603050405020304" pitchFamily="18" charset="0"/>
                <a:cs typeface="Times New Roman" panose="02020603050405020304" pitchFamily="18" charset="0"/>
              </a:rPr>
              <a:t> of the document node is always #document</a:t>
            </a:r>
          </a:p>
        </p:txBody>
      </p:sp>
      <p:pic>
        <p:nvPicPr>
          <p:cNvPr id="4" name="图片 3"/>
          <p:cNvPicPr>
            <a:picLocks noChangeAspect="1"/>
          </p:cNvPicPr>
          <p:nvPr/>
        </p:nvPicPr>
        <p:blipFill>
          <a:blip r:embed="rId2"/>
          <a:stretch>
            <a:fillRect/>
          </a:stretch>
        </p:blipFill>
        <p:spPr>
          <a:xfrm>
            <a:off x="864347" y="3863690"/>
            <a:ext cx="6923809" cy="1561905"/>
          </a:xfrm>
          <a:prstGeom prst="rect">
            <a:avLst/>
          </a:prstGeom>
        </p:spPr>
      </p:pic>
      <p:pic>
        <p:nvPicPr>
          <p:cNvPr id="5" name="图片 4"/>
          <p:cNvPicPr>
            <a:picLocks noChangeAspect="1"/>
          </p:cNvPicPr>
          <p:nvPr/>
        </p:nvPicPr>
        <p:blipFill>
          <a:blip r:embed="rId3"/>
          <a:stretch>
            <a:fillRect/>
          </a:stretch>
        </p:blipFill>
        <p:spPr>
          <a:xfrm>
            <a:off x="8985032" y="3863690"/>
            <a:ext cx="2400000" cy="1114286"/>
          </a:xfrm>
          <a:prstGeom prst="rect">
            <a:avLst/>
          </a:prstGeom>
        </p:spPr>
      </p:pic>
      <p:sp>
        <p:nvSpPr>
          <p:cNvPr id="9" name="Rectangle 1"/>
          <p:cNvSpPr>
            <a:spLocks noChangeArrowheads="1"/>
          </p:cNvSpPr>
          <p:nvPr/>
        </p:nvSpPr>
        <p:spPr bwMode="auto">
          <a:xfrm>
            <a:off x="1807383" y="6031078"/>
            <a:ext cx="8377649" cy="338554"/>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Verdana" panose="020B0604030504040204" pitchFamily="34" charset="0"/>
              </a:rPr>
              <a:t>Note:</a:t>
            </a:r>
            <a:r>
              <a:rPr kumimoji="0" lang="zh-CN" altLang="zh-CN" sz="1600" b="0" i="0" u="none" strike="noStrike" cap="none" normalizeH="0" baseline="0" dirty="0">
                <a:ln>
                  <a:noFill/>
                </a:ln>
                <a:solidFill>
                  <a:srgbClr val="000000"/>
                </a:solidFill>
                <a:effectLst/>
                <a:latin typeface="Verdana" panose="020B0604030504040204" pitchFamily="34" charset="0"/>
              </a:rPr>
              <a:t> </a:t>
            </a:r>
            <a:r>
              <a:rPr kumimoji="0" lang="zh-CN" altLang="zh-CN" sz="1600" b="0" i="0" u="none" strike="noStrike" cap="none" normalizeH="0" baseline="0" dirty="0">
                <a:ln>
                  <a:noFill/>
                </a:ln>
                <a:solidFill>
                  <a:srgbClr val="DC143C"/>
                </a:solidFill>
                <a:effectLst/>
                <a:latin typeface="Consolas" panose="020B0609020204030204" pitchFamily="49" charset="0"/>
              </a:rPr>
              <a:t>nodeName</a:t>
            </a:r>
            <a:r>
              <a:rPr kumimoji="0" lang="zh-CN" altLang="zh-CN" sz="1600" b="0" i="0" u="none" strike="noStrike" cap="none" normalizeH="0" baseline="0" dirty="0">
                <a:ln>
                  <a:noFill/>
                </a:ln>
                <a:solidFill>
                  <a:srgbClr val="000000"/>
                </a:solidFill>
                <a:effectLst/>
                <a:latin typeface="Verdana" panose="020B0604030504040204" pitchFamily="34" charset="0"/>
              </a:rPr>
              <a:t> always contains the uppercase tag name of an HTML element.</a:t>
            </a:r>
            <a:r>
              <a:rPr kumimoji="0" lang="zh-CN" altLang="zh-CN" sz="1050" b="0" i="0" u="none" strike="noStrike" cap="none" normalizeH="0" baseline="0" dirty="0">
                <a:ln>
                  <a:noFill/>
                </a:ln>
                <a:solidFill>
                  <a:schemeClr val="tx1"/>
                </a:solidFill>
                <a:effectLst/>
              </a:rPr>
              <a:t> </a:t>
            </a:r>
            <a:endParaRPr kumimoji="0" lang="zh-CN" altLang="zh-CN"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76273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565676" y="109183"/>
            <a:ext cx="3429144" cy="646331"/>
          </a:xfrm>
          <a:prstGeom prst="rect">
            <a:avLst/>
          </a:prstGeom>
        </p:spPr>
        <p:txBody>
          <a:bodyPr wrap="none">
            <a:spAutoFit/>
          </a:bodyPr>
          <a:lstStyle/>
          <a:p>
            <a:pPr lvl="0">
              <a:defRPr/>
            </a:pPr>
            <a:r>
              <a:rPr lang="en-US" altLang="zh-CN" sz="3600" dirty="0">
                <a:solidFill>
                  <a:prstClr val="white"/>
                </a:solidFill>
                <a:latin typeface="Times New Roman" panose="02020603050405020304" pitchFamily="18" charset="0"/>
                <a:cs typeface="Times New Roman" panose="02020603050405020304" pitchFamily="18" charset="0"/>
              </a:rPr>
              <a:t>DOM Navigation</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510216" y="921391"/>
            <a:ext cx="3426772" cy="461665"/>
          </a:xfrm>
          <a:prstGeom prst="rect">
            <a:avLst/>
          </a:prstGeom>
        </p:spPr>
        <p:txBody>
          <a:bodyPr wrap="none">
            <a:spAutoFit/>
          </a:bodyPr>
          <a:lstStyle/>
          <a:p>
            <a:pPr lvl="0">
              <a:defRPr/>
            </a:pPr>
            <a:r>
              <a:rPr lang="en-US" altLang="zh-CN" sz="2400" b="1" dirty="0">
                <a:solidFill>
                  <a:prstClr val="white"/>
                </a:solidFill>
                <a:latin typeface="Times New Roman" panose="02020603050405020304" pitchFamily="18" charset="0"/>
                <a:cs typeface="Times New Roman" panose="02020603050405020304" pitchFamily="18" charset="0"/>
              </a:rPr>
              <a:t>The </a:t>
            </a:r>
            <a:r>
              <a:rPr lang="en-US" altLang="zh-CN" sz="2400" b="1" dirty="0" err="1">
                <a:solidFill>
                  <a:prstClr val="white"/>
                </a:solidFill>
                <a:latin typeface="Times New Roman" panose="02020603050405020304" pitchFamily="18" charset="0"/>
                <a:cs typeface="Times New Roman" panose="02020603050405020304" pitchFamily="18" charset="0"/>
              </a:rPr>
              <a:t>nodeType</a:t>
            </a:r>
            <a:r>
              <a:rPr lang="en-US" altLang="zh-CN" sz="2400" b="1" dirty="0">
                <a:solidFill>
                  <a:prstClr val="white"/>
                </a:solidFill>
                <a:latin typeface="Times New Roman" panose="02020603050405020304" pitchFamily="18" charset="0"/>
                <a:cs typeface="Times New Roman" panose="02020603050405020304" pitchFamily="18" charset="0"/>
              </a:rPr>
              <a:t> Property</a:t>
            </a:r>
          </a:p>
        </p:txBody>
      </p:sp>
      <p:sp>
        <p:nvSpPr>
          <p:cNvPr id="8" name="矩形 7"/>
          <p:cNvSpPr/>
          <p:nvPr/>
        </p:nvSpPr>
        <p:spPr>
          <a:xfrm>
            <a:off x="801185" y="1438433"/>
            <a:ext cx="9091749" cy="400110"/>
          </a:xfrm>
          <a:prstGeom prst="rect">
            <a:avLst/>
          </a:prstGeom>
        </p:spPr>
        <p:txBody>
          <a:bodyPr wrap="square">
            <a:spAutoFit/>
          </a:bodyPr>
          <a:lstStyle/>
          <a:p>
            <a:r>
              <a:rPr lang="en-US" altLang="zh-CN" sz="2000" dirty="0">
                <a:solidFill>
                  <a:schemeClr val="bg1"/>
                </a:solidFill>
                <a:latin typeface="Times New Roman" panose="02020603050405020304" pitchFamily="18" charset="0"/>
                <a:cs typeface="Times New Roman" panose="02020603050405020304" pitchFamily="18" charset="0"/>
              </a:rPr>
              <a:t>The </a:t>
            </a:r>
            <a:r>
              <a:rPr lang="en-US" altLang="zh-CN" sz="2000" dirty="0" err="1">
                <a:solidFill>
                  <a:schemeClr val="bg1"/>
                </a:solidFill>
                <a:latin typeface="Times New Roman" panose="02020603050405020304" pitchFamily="18" charset="0"/>
                <a:cs typeface="Times New Roman" panose="02020603050405020304" pitchFamily="18" charset="0"/>
              </a:rPr>
              <a:t>nodeType</a:t>
            </a:r>
            <a:r>
              <a:rPr lang="en-US" altLang="zh-CN" sz="2000" dirty="0">
                <a:solidFill>
                  <a:schemeClr val="bg1"/>
                </a:solidFill>
                <a:latin typeface="Times New Roman" panose="02020603050405020304" pitchFamily="18" charset="0"/>
                <a:cs typeface="Times New Roman" panose="02020603050405020304" pitchFamily="18" charset="0"/>
              </a:rPr>
              <a:t> property is read only. It returns the type of a node.</a:t>
            </a:r>
          </a:p>
        </p:txBody>
      </p:sp>
      <p:pic>
        <p:nvPicPr>
          <p:cNvPr id="6" name="图片 5"/>
          <p:cNvPicPr>
            <a:picLocks noChangeAspect="1"/>
          </p:cNvPicPr>
          <p:nvPr/>
        </p:nvPicPr>
        <p:blipFill>
          <a:blip r:embed="rId2"/>
          <a:stretch>
            <a:fillRect/>
          </a:stretch>
        </p:blipFill>
        <p:spPr>
          <a:xfrm>
            <a:off x="898523" y="1971329"/>
            <a:ext cx="6971428" cy="1485714"/>
          </a:xfrm>
          <a:prstGeom prst="rect">
            <a:avLst/>
          </a:prstGeom>
        </p:spPr>
      </p:pic>
      <p:pic>
        <p:nvPicPr>
          <p:cNvPr id="7" name="图片 6"/>
          <p:cNvPicPr>
            <a:picLocks noChangeAspect="1"/>
          </p:cNvPicPr>
          <p:nvPr/>
        </p:nvPicPr>
        <p:blipFill>
          <a:blip r:embed="rId3"/>
          <a:stretch>
            <a:fillRect/>
          </a:stretch>
        </p:blipFill>
        <p:spPr>
          <a:xfrm>
            <a:off x="9002001" y="1929348"/>
            <a:ext cx="2371429" cy="1266667"/>
          </a:xfrm>
          <a:prstGeom prst="rect">
            <a:avLst/>
          </a:prstGeom>
        </p:spPr>
      </p:pic>
      <p:sp>
        <p:nvSpPr>
          <p:cNvPr id="10" name="矩形 9"/>
          <p:cNvSpPr/>
          <p:nvPr/>
        </p:nvSpPr>
        <p:spPr>
          <a:xfrm>
            <a:off x="801184" y="3633281"/>
            <a:ext cx="9091749" cy="369332"/>
          </a:xfrm>
          <a:prstGeom prst="rect">
            <a:avLst/>
          </a:prstGeom>
        </p:spPr>
        <p:txBody>
          <a:bodyPr wrap="square">
            <a:spAutoFit/>
          </a:bodyPr>
          <a:lstStyle/>
          <a:p>
            <a:r>
              <a:rPr lang="en-US" altLang="zh-CN" dirty="0">
                <a:solidFill>
                  <a:schemeClr val="bg1"/>
                </a:solidFill>
                <a:latin typeface="Times New Roman" panose="02020603050405020304" pitchFamily="18" charset="0"/>
                <a:cs typeface="Times New Roman" panose="02020603050405020304" pitchFamily="18" charset="0"/>
              </a:rPr>
              <a:t>The most important </a:t>
            </a:r>
            <a:r>
              <a:rPr lang="en-US" altLang="zh-CN" dirty="0" err="1">
                <a:solidFill>
                  <a:schemeClr val="bg1"/>
                </a:solidFill>
                <a:latin typeface="Times New Roman" panose="02020603050405020304" pitchFamily="18" charset="0"/>
                <a:cs typeface="Times New Roman" panose="02020603050405020304" pitchFamily="18" charset="0"/>
              </a:rPr>
              <a:t>nodeType</a:t>
            </a:r>
            <a:r>
              <a:rPr lang="en-US" altLang="zh-CN" dirty="0">
                <a:solidFill>
                  <a:schemeClr val="bg1"/>
                </a:solidFill>
                <a:latin typeface="Times New Roman" panose="02020603050405020304" pitchFamily="18" charset="0"/>
                <a:cs typeface="Times New Roman" panose="02020603050405020304" pitchFamily="18" charset="0"/>
              </a:rPr>
              <a:t> properties are:</a:t>
            </a:r>
          </a:p>
        </p:txBody>
      </p:sp>
      <p:pic>
        <p:nvPicPr>
          <p:cNvPr id="11" name="图片 10"/>
          <p:cNvPicPr>
            <a:picLocks noChangeAspect="1"/>
          </p:cNvPicPr>
          <p:nvPr/>
        </p:nvPicPr>
        <p:blipFill>
          <a:blip r:embed="rId4"/>
          <a:stretch>
            <a:fillRect/>
          </a:stretch>
        </p:blipFill>
        <p:spPr>
          <a:xfrm>
            <a:off x="510216" y="4036994"/>
            <a:ext cx="8714286" cy="2580952"/>
          </a:xfrm>
          <a:prstGeom prst="rect">
            <a:avLst/>
          </a:prstGeom>
        </p:spPr>
      </p:pic>
    </p:spTree>
    <p:extLst>
      <p:ext uri="{BB962C8B-B14F-4D97-AF65-F5344CB8AC3E}">
        <p14:creationId xmlns:p14="http://schemas.microsoft.com/office/powerpoint/2010/main" val="4901306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3688930" y="270724"/>
            <a:ext cx="4814138"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DOM  Nodes (Elements)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955536" y="1204827"/>
            <a:ext cx="10131766" cy="523220"/>
          </a:xfrm>
          <a:prstGeom prst="rect">
            <a:avLst/>
          </a:prstGeom>
        </p:spPr>
        <p:txBody>
          <a:bodyPr wrap="square">
            <a:spAutoFit/>
          </a:bodyPr>
          <a:lstStyle/>
          <a:p>
            <a:pPr lvl="0" algn="just">
              <a:defRPr/>
            </a:pPr>
            <a:r>
              <a:rPr lang="en-US" altLang="zh-CN" sz="2800" dirty="0">
                <a:solidFill>
                  <a:prstClr val="white"/>
                </a:solidFill>
                <a:latin typeface="Times New Roman" panose="02020603050405020304" pitchFamily="18" charset="0"/>
                <a:cs typeface="Times New Roman" panose="02020603050405020304" pitchFamily="18" charset="0"/>
              </a:rPr>
              <a:t>Creating New HTML Elements (Nodes)</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矩形 3"/>
          <p:cNvSpPr/>
          <p:nvPr/>
        </p:nvSpPr>
        <p:spPr>
          <a:xfrm>
            <a:off x="955536" y="1954462"/>
            <a:ext cx="10936454" cy="1015663"/>
          </a:xfrm>
          <a:prstGeom prst="rect">
            <a:avLst/>
          </a:prstGeom>
        </p:spPr>
        <p:txBody>
          <a:bodyPr wrap="square">
            <a:spAutoFit/>
          </a:bodyPr>
          <a:lstStyle/>
          <a:p>
            <a:pPr lvl="0" algn="just">
              <a:lnSpc>
                <a:spcPct val="150000"/>
              </a:lnSpc>
              <a:defRPr/>
            </a:pPr>
            <a:r>
              <a:rPr lang="en-US" altLang="zh-CN" sz="2000" dirty="0">
                <a:solidFill>
                  <a:prstClr val="white"/>
                </a:solidFill>
                <a:latin typeface="Times New Roman" panose="02020603050405020304" pitchFamily="18" charset="0"/>
                <a:cs typeface="Times New Roman" panose="02020603050405020304" pitchFamily="18" charset="0"/>
              </a:rPr>
              <a:t>To add a new element to the HTML DOM, you must create the element (element node) first, and then append it to an existing element.</a:t>
            </a:r>
            <a:endParaRPr kumimoji="0" lang="en-US" altLang="zh-CN" sz="20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955536" y="3107814"/>
            <a:ext cx="5281185" cy="3287268"/>
          </a:xfrm>
          <a:prstGeom prst="rect">
            <a:avLst/>
          </a:prstGeom>
        </p:spPr>
      </p:pic>
      <p:pic>
        <p:nvPicPr>
          <p:cNvPr id="7" name="图片 6"/>
          <p:cNvPicPr>
            <a:picLocks noChangeAspect="1"/>
          </p:cNvPicPr>
          <p:nvPr/>
        </p:nvPicPr>
        <p:blipFill>
          <a:blip r:embed="rId3"/>
          <a:stretch>
            <a:fillRect/>
          </a:stretch>
        </p:blipFill>
        <p:spPr>
          <a:xfrm>
            <a:off x="8442436" y="3458150"/>
            <a:ext cx="2876190" cy="2104762"/>
          </a:xfrm>
          <a:prstGeom prst="rect">
            <a:avLst/>
          </a:prstGeom>
        </p:spPr>
      </p:pic>
      <p:cxnSp>
        <p:nvCxnSpPr>
          <p:cNvPr id="9" name="直接连接符 8"/>
          <p:cNvCxnSpPr>
            <a:cxnSpLocks/>
          </p:cNvCxnSpPr>
          <p:nvPr/>
        </p:nvCxnSpPr>
        <p:spPr>
          <a:xfrm>
            <a:off x="2380011" y="4897787"/>
            <a:ext cx="197602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6835770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3688930" y="270724"/>
            <a:ext cx="4814138"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DOM  Nodes (Elements)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613009" y="1161805"/>
            <a:ext cx="10131766" cy="523220"/>
          </a:xfrm>
          <a:prstGeom prst="rect">
            <a:avLst/>
          </a:prstGeom>
        </p:spPr>
        <p:txBody>
          <a:bodyPr wrap="square">
            <a:spAutoFit/>
          </a:bodyPr>
          <a:lstStyle/>
          <a:p>
            <a:pPr lvl="0" algn="just">
              <a:defRPr/>
            </a:pPr>
            <a:r>
              <a:rPr lang="en-US" altLang="zh-CN" sz="2800" dirty="0">
                <a:solidFill>
                  <a:prstClr val="white"/>
                </a:solidFill>
                <a:latin typeface="Times New Roman" panose="02020603050405020304" pitchFamily="18" charset="0"/>
                <a:cs typeface="Times New Roman" panose="02020603050405020304" pitchFamily="18" charset="0"/>
              </a:rPr>
              <a:t>Creating new HTML Elements - </a:t>
            </a:r>
            <a:r>
              <a:rPr lang="en-US" altLang="zh-CN" sz="2800" dirty="0" err="1">
                <a:solidFill>
                  <a:prstClr val="white"/>
                </a:solidFill>
                <a:latin typeface="Times New Roman" panose="02020603050405020304" pitchFamily="18" charset="0"/>
                <a:cs typeface="Times New Roman" panose="02020603050405020304" pitchFamily="18" charset="0"/>
              </a:rPr>
              <a:t>insertBefore</a:t>
            </a:r>
            <a:r>
              <a:rPr lang="en-US" altLang="zh-CN" sz="2800" dirty="0">
                <a:solidFill>
                  <a:prstClr val="white"/>
                </a:solidFill>
                <a:latin typeface="Times New Roman" panose="02020603050405020304" pitchFamily="18" charset="0"/>
                <a:cs typeface="Times New Roman" panose="02020603050405020304" pitchFamily="18" charset="0"/>
              </a:rPr>
              <a:t>()</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矩形 3"/>
          <p:cNvSpPr/>
          <p:nvPr/>
        </p:nvSpPr>
        <p:spPr>
          <a:xfrm>
            <a:off x="613008" y="1734566"/>
            <a:ext cx="10794611" cy="1015663"/>
          </a:xfrm>
          <a:prstGeom prst="rect">
            <a:avLst/>
          </a:prstGeom>
        </p:spPr>
        <p:txBody>
          <a:bodyPr wrap="square">
            <a:spAutoFit/>
          </a:bodyPr>
          <a:lstStyle/>
          <a:p>
            <a:pPr lvl="0" algn="just">
              <a:lnSpc>
                <a:spcPct val="150000"/>
              </a:lnSpc>
              <a:defRPr/>
            </a:pPr>
            <a:r>
              <a:rPr lang="en-US" altLang="zh-CN" sz="2000" dirty="0">
                <a:solidFill>
                  <a:prstClr val="white"/>
                </a:solidFill>
                <a:latin typeface="Times New Roman" panose="02020603050405020304" pitchFamily="18" charset="0"/>
                <a:cs typeface="Times New Roman" panose="02020603050405020304" pitchFamily="18" charset="0"/>
              </a:rPr>
              <a:t>The </a:t>
            </a:r>
            <a:r>
              <a:rPr lang="en-US" altLang="zh-CN" sz="2000" dirty="0" err="1">
                <a:solidFill>
                  <a:prstClr val="white"/>
                </a:solidFill>
                <a:latin typeface="Times New Roman" panose="02020603050405020304" pitchFamily="18" charset="0"/>
                <a:cs typeface="Times New Roman" panose="02020603050405020304" pitchFamily="18" charset="0"/>
              </a:rPr>
              <a:t>appendChild</a:t>
            </a:r>
            <a:r>
              <a:rPr lang="en-US" altLang="zh-CN" sz="2000" dirty="0">
                <a:solidFill>
                  <a:prstClr val="white"/>
                </a:solidFill>
                <a:latin typeface="Times New Roman" panose="02020603050405020304" pitchFamily="18" charset="0"/>
                <a:cs typeface="Times New Roman" panose="02020603050405020304" pitchFamily="18" charset="0"/>
              </a:rPr>
              <a:t>() method in the previous example, appended the new element as the last child of the parent</a:t>
            </a:r>
            <a:r>
              <a:rPr lang="en-US" altLang="zh-CN" sz="2000" dirty="0" smtClean="0">
                <a:solidFill>
                  <a:prstClr val="white"/>
                </a:solidFill>
                <a:latin typeface="Times New Roman" panose="02020603050405020304" pitchFamily="18" charset="0"/>
                <a:cs typeface="Times New Roman" panose="02020603050405020304" pitchFamily="18" charset="0"/>
              </a:rPr>
              <a:t>. If </a:t>
            </a:r>
            <a:r>
              <a:rPr lang="en-US" altLang="zh-CN" sz="2000" dirty="0">
                <a:solidFill>
                  <a:prstClr val="white"/>
                </a:solidFill>
                <a:latin typeface="Times New Roman" panose="02020603050405020304" pitchFamily="18" charset="0"/>
                <a:cs typeface="Times New Roman" panose="02020603050405020304" pitchFamily="18" charset="0"/>
              </a:rPr>
              <a:t>you don't want that you can use the </a:t>
            </a:r>
            <a:r>
              <a:rPr lang="en-US" altLang="zh-CN" sz="2000" dirty="0" err="1">
                <a:solidFill>
                  <a:prstClr val="white"/>
                </a:solidFill>
                <a:latin typeface="Times New Roman" panose="02020603050405020304" pitchFamily="18" charset="0"/>
                <a:cs typeface="Times New Roman" panose="02020603050405020304" pitchFamily="18" charset="0"/>
              </a:rPr>
              <a:t>insertBefore</a:t>
            </a:r>
            <a:r>
              <a:rPr lang="en-US" altLang="zh-CN" sz="2000" dirty="0">
                <a:solidFill>
                  <a:prstClr val="white"/>
                </a:solidFill>
                <a:latin typeface="Times New Roman" panose="02020603050405020304" pitchFamily="18" charset="0"/>
                <a:cs typeface="Times New Roman" panose="02020603050405020304" pitchFamily="18" charset="0"/>
              </a:rPr>
              <a:t>() method:</a:t>
            </a:r>
            <a:endParaRPr kumimoji="0" lang="en-US" altLang="zh-CN" sz="20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5" name="图片 4"/>
          <p:cNvPicPr>
            <a:picLocks noChangeAspect="1"/>
          </p:cNvPicPr>
          <p:nvPr/>
        </p:nvPicPr>
        <p:blipFill>
          <a:blip r:embed="rId2"/>
          <a:stretch>
            <a:fillRect/>
          </a:stretch>
        </p:blipFill>
        <p:spPr>
          <a:xfrm>
            <a:off x="613009" y="2813826"/>
            <a:ext cx="5530215" cy="3705468"/>
          </a:xfrm>
          <a:prstGeom prst="rect">
            <a:avLst/>
          </a:prstGeom>
        </p:spPr>
      </p:pic>
      <p:pic>
        <p:nvPicPr>
          <p:cNvPr id="8" name="图片 7"/>
          <p:cNvPicPr>
            <a:picLocks noChangeAspect="1"/>
          </p:cNvPicPr>
          <p:nvPr/>
        </p:nvPicPr>
        <p:blipFill>
          <a:blip r:embed="rId3"/>
          <a:stretch>
            <a:fillRect/>
          </a:stretch>
        </p:blipFill>
        <p:spPr>
          <a:xfrm>
            <a:off x="7615788" y="3294108"/>
            <a:ext cx="3494814" cy="2416296"/>
          </a:xfrm>
          <a:prstGeom prst="rect">
            <a:avLst/>
          </a:prstGeom>
        </p:spPr>
      </p:pic>
    </p:spTree>
    <p:extLst>
      <p:ext uri="{BB962C8B-B14F-4D97-AF65-F5344CB8AC3E}">
        <p14:creationId xmlns:p14="http://schemas.microsoft.com/office/powerpoint/2010/main" val="22780216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3688930" y="270724"/>
            <a:ext cx="4814138"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DOM  Nodes (Elements)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1112304" y="1318912"/>
            <a:ext cx="10131766" cy="523220"/>
          </a:xfrm>
          <a:prstGeom prst="rect">
            <a:avLst/>
          </a:prstGeom>
        </p:spPr>
        <p:txBody>
          <a:bodyPr wrap="square">
            <a:spAutoFit/>
          </a:bodyPr>
          <a:lstStyle/>
          <a:p>
            <a:pPr lvl="0" algn="just">
              <a:defRPr/>
            </a:pPr>
            <a:r>
              <a:rPr lang="en-US" altLang="zh-CN" sz="2800" dirty="0">
                <a:solidFill>
                  <a:prstClr val="white"/>
                </a:solidFill>
                <a:latin typeface="Times New Roman" panose="02020603050405020304" pitchFamily="18" charset="0"/>
                <a:cs typeface="Times New Roman" panose="02020603050405020304" pitchFamily="18" charset="0"/>
              </a:rPr>
              <a:t>Removing Existing HTML Elements</a:t>
            </a:r>
          </a:p>
        </p:txBody>
      </p:sp>
      <p:sp>
        <p:nvSpPr>
          <p:cNvPr id="4" name="矩形 3"/>
          <p:cNvSpPr/>
          <p:nvPr/>
        </p:nvSpPr>
        <p:spPr>
          <a:xfrm>
            <a:off x="1112304" y="2072609"/>
            <a:ext cx="10302240" cy="579967"/>
          </a:xfrm>
          <a:prstGeom prst="rect">
            <a:avLst/>
          </a:prstGeom>
        </p:spPr>
        <p:txBody>
          <a:bodyPr wrap="square">
            <a:spAutoFit/>
          </a:bodyPr>
          <a:lstStyle/>
          <a:p>
            <a:pPr lvl="0" algn="just">
              <a:lnSpc>
                <a:spcPct val="150000"/>
              </a:lnSpc>
              <a:defRPr/>
            </a:pPr>
            <a:r>
              <a:rPr lang="en-US" altLang="zh-CN" sz="2400" dirty="0">
                <a:solidFill>
                  <a:prstClr val="white"/>
                </a:solidFill>
                <a:latin typeface="Times New Roman" panose="02020603050405020304" pitchFamily="18" charset="0"/>
                <a:cs typeface="Times New Roman" panose="02020603050405020304" pitchFamily="18" charset="0"/>
              </a:rPr>
              <a:t>To remove an HTML element, use the </a:t>
            </a:r>
            <a:r>
              <a:rPr lang="en-US" altLang="zh-CN" sz="2400" u="sng" dirty="0">
                <a:solidFill>
                  <a:prstClr val="white"/>
                </a:solidFill>
                <a:latin typeface="Times New Roman" panose="02020603050405020304" pitchFamily="18" charset="0"/>
                <a:cs typeface="Times New Roman" panose="02020603050405020304" pitchFamily="18" charset="0"/>
              </a:rPr>
              <a:t>remove()</a:t>
            </a:r>
            <a:r>
              <a:rPr lang="en-US" altLang="zh-CN" sz="2400" dirty="0">
                <a:solidFill>
                  <a:prstClr val="white"/>
                </a:solidFill>
                <a:latin typeface="Times New Roman" panose="02020603050405020304" pitchFamily="18" charset="0"/>
                <a:cs typeface="Times New Roman" panose="02020603050405020304" pitchFamily="18" charset="0"/>
              </a:rPr>
              <a:t> method:</a:t>
            </a:r>
            <a:endPar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1862044" y="3180934"/>
            <a:ext cx="8164748" cy="3136739"/>
          </a:xfrm>
          <a:prstGeom prst="rect">
            <a:avLst/>
          </a:prstGeom>
        </p:spPr>
      </p:pic>
    </p:spTree>
    <p:extLst>
      <p:ext uri="{BB962C8B-B14F-4D97-AF65-F5344CB8AC3E}">
        <p14:creationId xmlns:p14="http://schemas.microsoft.com/office/powerpoint/2010/main" val="29792233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3688930" y="270724"/>
            <a:ext cx="4814138"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DOM  Nodes (Elements)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736531" y="1063377"/>
            <a:ext cx="10131766" cy="523220"/>
          </a:xfrm>
          <a:prstGeom prst="rect">
            <a:avLst/>
          </a:prstGeom>
        </p:spPr>
        <p:txBody>
          <a:bodyPr wrap="square">
            <a:spAutoFit/>
          </a:bodyPr>
          <a:lstStyle/>
          <a:p>
            <a:pPr lvl="0" algn="just">
              <a:defRPr/>
            </a:pPr>
            <a:r>
              <a:rPr lang="en-US" altLang="zh-CN" sz="2800" dirty="0">
                <a:solidFill>
                  <a:prstClr val="white"/>
                </a:solidFill>
                <a:latin typeface="Times New Roman" panose="02020603050405020304" pitchFamily="18" charset="0"/>
                <a:cs typeface="Times New Roman" panose="02020603050405020304" pitchFamily="18" charset="0"/>
              </a:rPr>
              <a:t>Removing a Child Node</a:t>
            </a:r>
          </a:p>
        </p:txBody>
      </p:sp>
      <p:sp>
        <p:nvSpPr>
          <p:cNvPr id="7" name="矩形 6"/>
          <p:cNvSpPr/>
          <p:nvPr/>
        </p:nvSpPr>
        <p:spPr>
          <a:xfrm>
            <a:off x="661579" y="1740416"/>
            <a:ext cx="10688097" cy="1200329"/>
          </a:xfrm>
          <a:prstGeom prst="rect">
            <a:avLst/>
          </a:prstGeom>
        </p:spPr>
        <p:txBody>
          <a:bodyPr wrap="square">
            <a:spAutoFit/>
          </a:bodyPr>
          <a:lstStyle/>
          <a:p>
            <a:pPr marL="342900" indent="-342900" algn="just">
              <a:buFont typeface="Wingdings" panose="05000000000000000000" pitchFamily="2" charset="2"/>
              <a:buChar char="l"/>
            </a:pPr>
            <a:r>
              <a:rPr lang="en-US" altLang="zh-CN" sz="2400" dirty="0">
                <a:solidFill>
                  <a:schemeClr val="bg1"/>
                </a:solidFill>
                <a:latin typeface="Times New Roman" panose="02020603050405020304" pitchFamily="18" charset="0"/>
                <a:cs typeface="Times New Roman" panose="02020603050405020304" pitchFamily="18" charset="0"/>
              </a:rPr>
              <a:t>The remove() method does not work in older </a:t>
            </a:r>
            <a:r>
              <a:rPr lang="en-US" altLang="zh-CN" sz="2400" dirty="0" smtClean="0">
                <a:solidFill>
                  <a:schemeClr val="bg1"/>
                </a:solidFill>
                <a:latin typeface="Times New Roman" panose="02020603050405020304" pitchFamily="18" charset="0"/>
                <a:cs typeface="Times New Roman" panose="02020603050405020304" pitchFamily="18" charset="0"/>
              </a:rPr>
              <a:t>browsers. </a:t>
            </a:r>
            <a:r>
              <a:rPr lang="en-US" altLang="zh-CN" sz="2400" dirty="0" smtClean="0">
                <a:solidFill>
                  <a:prstClr val="white"/>
                </a:solidFill>
                <a:latin typeface="Times New Roman" panose="02020603050405020304" pitchFamily="18" charset="0"/>
                <a:cs typeface="Times New Roman" panose="02020603050405020304" pitchFamily="18" charset="0"/>
              </a:rPr>
              <a:t>For </a:t>
            </a:r>
            <a:r>
              <a:rPr lang="en-US" altLang="zh-CN" sz="2400" dirty="0">
                <a:solidFill>
                  <a:prstClr val="white"/>
                </a:solidFill>
                <a:latin typeface="Times New Roman" panose="02020603050405020304" pitchFamily="18" charset="0"/>
                <a:cs typeface="Times New Roman" panose="02020603050405020304" pitchFamily="18" charset="0"/>
              </a:rPr>
              <a:t>browsers that does not support the remove() method, you have to find the parent node to remove an element</a:t>
            </a:r>
            <a:r>
              <a:rPr lang="en-US" altLang="zh-CN" sz="2400" dirty="0" smtClean="0">
                <a:solidFill>
                  <a:prstClr val="white"/>
                </a:solidFill>
                <a:latin typeface="Times New Roman" panose="02020603050405020304" pitchFamily="18" charset="0"/>
                <a:cs typeface="Times New Roman" panose="02020603050405020304" pitchFamily="18" charset="0"/>
              </a:rPr>
              <a:t>:</a:t>
            </a:r>
            <a:endParaRPr lang="en-US" altLang="zh-CN" sz="2400" dirty="0">
              <a:solidFill>
                <a:prstClr val="white"/>
              </a:solidFill>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3"/>
          <a:stretch>
            <a:fillRect/>
          </a:stretch>
        </p:blipFill>
        <p:spPr>
          <a:xfrm>
            <a:off x="661579" y="3681235"/>
            <a:ext cx="5025118" cy="2815898"/>
          </a:xfrm>
          <a:prstGeom prst="rect">
            <a:avLst/>
          </a:prstGeom>
        </p:spPr>
      </p:pic>
      <p:pic>
        <p:nvPicPr>
          <p:cNvPr id="9" name="图片 8"/>
          <p:cNvPicPr>
            <a:picLocks noChangeAspect="1"/>
          </p:cNvPicPr>
          <p:nvPr/>
        </p:nvPicPr>
        <p:blipFill>
          <a:blip r:embed="rId4"/>
          <a:stretch>
            <a:fillRect/>
          </a:stretch>
        </p:blipFill>
        <p:spPr>
          <a:xfrm>
            <a:off x="7137003" y="4192964"/>
            <a:ext cx="3433543" cy="1563400"/>
          </a:xfrm>
          <a:prstGeom prst="rect">
            <a:avLst/>
          </a:prstGeom>
        </p:spPr>
      </p:pic>
    </p:spTree>
    <p:extLst>
      <p:ext uri="{BB962C8B-B14F-4D97-AF65-F5344CB8AC3E}">
        <p14:creationId xmlns:p14="http://schemas.microsoft.com/office/powerpoint/2010/main" val="42767279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3688930" y="270724"/>
            <a:ext cx="4814138"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DOM  Nodes (Elements)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521297" y="1213064"/>
            <a:ext cx="10131766" cy="523220"/>
          </a:xfrm>
          <a:prstGeom prst="rect">
            <a:avLst/>
          </a:prstGeom>
        </p:spPr>
        <p:txBody>
          <a:bodyPr wrap="square">
            <a:spAutoFit/>
          </a:bodyPr>
          <a:lstStyle/>
          <a:p>
            <a:pPr lvl="0" algn="just">
              <a:defRPr/>
            </a:pPr>
            <a:r>
              <a:rPr lang="en-US" altLang="zh-CN" sz="2800" dirty="0">
                <a:solidFill>
                  <a:prstClr val="white"/>
                </a:solidFill>
                <a:latin typeface="Times New Roman" panose="02020603050405020304" pitchFamily="18" charset="0"/>
                <a:cs typeface="Times New Roman" panose="02020603050405020304" pitchFamily="18" charset="0"/>
              </a:rPr>
              <a:t>Replacing HTML Elements </a:t>
            </a:r>
          </a:p>
        </p:txBody>
      </p:sp>
      <p:sp>
        <p:nvSpPr>
          <p:cNvPr id="7" name="矩形 6"/>
          <p:cNvSpPr/>
          <p:nvPr/>
        </p:nvSpPr>
        <p:spPr>
          <a:xfrm>
            <a:off x="521297" y="2046731"/>
            <a:ext cx="10241280" cy="461665"/>
          </a:xfrm>
          <a:prstGeom prst="rect">
            <a:avLst/>
          </a:prstGeom>
        </p:spPr>
        <p:txBody>
          <a:bodyPr wrap="square">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To replace an element to the HTML DOM, use the </a:t>
            </a:r>
            <a:r>
              <a:rPr lang="en-US" altLang="zh-CN" sz="2400" dirty="0" err="1">
                <a:solidFill>
                  <a:schemeClr val="bg1"/>
                </a:solidFill>
                <a:latin typeface="Times New Roman" panose="02020603050405020304" pitchFamily="18" charset="0"/>
                <a:cs typeface="Times New Roman" panose="02020603050405020304" pitchFamily="18" charset="0"/>
              </a:rPr>
              <a:t>replaceChild</a:t>
            </a:r>
            <a:r>
              <a:rPr lang="en-US" altLang="zh-CN" sz="2400" dirty="0">
                <a:solidFill>
                  <a:schemeClr val="bg1"/>
                </a:solidFill>
                <a:latin typeface="Times New Roman" panose="02020603050405020304" pitchFamily="18" charset="0"/>
                <a:cs typeface="Times New Roman" panose="02020603050405020304" pitchFamily="18" charset="0"/>
              </a:rPr>
              <a:t>() method:</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920513" y="2596318"/>
            <a:ext cx="4666667" cy="4095238"/>
          </a:xfrm>
          <a:prstGeom prst="rect">
            <a:avLst/>
          </a:prstGeom>
        </p:spPr>
      </p:pic>
      <p:pic>
        <p:nvPicPr>
          <p:cNvPr id="8" name="图片 7"/>
          <p:cNvPicPr>
            <a:picLocks noChangeAspect="1"/>
          </p:cNvPicPr>
          <p:nvPr/>
        </p:nvPicPr>
        <p:blipFill>
          <a:blip r:embed="rId3"/>
          <a:stretch>
            <a:fillRect/>
          </a:stretch>
        </p:blipFill>
        <p:spPr>
          <a:xfrm>
            <a:off x="6940431" y="3417551"/>
            <a:ext cx="3247619" cy="1723810"/>
          </a:xfrm>
          <a:prstGeom prst="rect">
            <a:avLst/>
          </a:prstGeom>
        </p:spPr>
      </p:pic>
    </p:spTree>
    <p:extLst>
      <p:ext uri="{BB962C8B-B14F-4D97-AF65-F5344CB8AC3E}">
        <p14:creationId xmlns:p14="http://schemas.microsoft.com/office/powerpoint/2010/main" val="29451549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355780" y="184727"/>
            <a:ext cx="3480440"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DOM Collections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609773" y="1094475"/>
            <a:ext cx="10972454" cy="1900328"/>
          </a:xfrm>
          <a:prstGeom prst="rect">
            <a:avLst/>
          </a:prstGeom>
        </p:spPr>
        <p:txBody>
          <a:bodyPr wrap="square">
            <a:spAutoFit/>
          </a:bodyPr>
          <a:lstStyle/>
          <a:p>
            <a:pPr lvl="0" algn="just">
              <a:lnSpc>
                <a:spcPct val="120000"/>
              </a:lnSpc>
              <a:defRPr/>
            </a:pPr>
            <a:r>
              <a:rPr lang="en-US" altLang="zh-CN" sz="2800" dirty="0">
                <a:solidFill>
                  <a:prstClr val="white"/>
                </a:solidFill>
                <a:latin typeface="Times New Roman" panose="02020603050405020304" pitchFamily="18" charset="0"/>
                <a:cs typeface="Times New Roman" panose="02020603050405020304" pitchFamily="18" charset="0"/>
              </a:rPr>
              <a:t>The </a:t>
            </a:r>
            <a:r>
              <a:rPr lang="en-US" altLang="zh-CN" sz="2800" dirty="0" err="1">
                <a:solidFill>
                  <a:prstClr val="white"/>
                </a:solidFill>
                <a:latin typeface="Times New Roman" panose="02020603050405020304" pitchFamily="18" charset="0"/>
                <a:cs typeface="Times New Roman" panose="02020603050405020304" pitchFamily="18" charset="0"/>
              </a:rPr>
              <a:t>HTMLCollection</a:t>
            </a:r>
            <a:r>
              <a:rPr lang="en-US" altLang="zh-CN" sz="2800" dirty="0">
                <a:solidFill>
                  <a:prstClr val="white"/>
                </a:solidFill>
                <a:latin typeface="Times New Roman" panose="02020603050405020304" pitchFamily="18" charset="0"/>
                <a:cs typeface="Times New Roman" panose="02020603050405020304" pitchFamily="18" charset="0"/>
              </a:rPr>
              <a:t> Object</a:t>
            </a:r>
          </a:p>
          <a:p>
            <a:pPr marL="742950" lvl="1" indent="-285750" algn="just">
              <a:lnSpc>
                <a:spcPct val="120000"/>
              </a:lnSpc>
              <a:buFont typeface="Arial" panose="020B0604020202020204" pitchFamily="34" charset="0"/>
              <a:buChar char="•"/>
              <a:defRPr/>
            </a:pPr>
            <a:r>
              <a:rPr lang="en-US" altLang="zh-CN" sz="2400" dirty="0">
                <a:solidFill>
                  <a:prstClr val="white"/>
                </a:solidFill>
                <a:latin typeface="Times New Roman" panose="02020603050405020304" pitchFamily="18" charset="0"/>
                <a:cs typeface="Times New Roman" panose="02020603050405020304" pitchFamily="18" charset="0"/>
              </a:rPr>
              <a:t>The </a:t>
            </a:r>
            <a:r>
              <a:rPr lang="en-US" altLang="zh-CN" sz="2400" dirty="0" err="1">
                <a:solidFill>
                  <a:prstClr val="white"/>
                </a:solidFill>
                <a:latin typeface="Times New Roman" panose="02020603050405020304" pitchFamily="18" charset="0"/>
                <a:cs typeface="Times New Roman" panose="02020603050405020304" pitchFamily="18" charset="0"/>
              </a:rPr>
              <a:t>getElementsByTagName</a:t>
            </a:r>
            <a:r>
              <a:rPr lang="en-US" altLang="zh-CN" sz="2400" dirty="0">
                <a:solidFill>
                  <a:prstClr val="white"/>
                </a:solidFill>
                <a:latin typeface="Times New Roman" panose="02020603050405020304" pitchFamily="18" charset="0"/>
                <a:cs typeface="Times New Roman" panose="02020603050405020304" pitchFamily="18" charset="0"/>
              </a:rPr>
              <a:t>() method returns an </a:t>
            </a:r>
            <a:r>
              <a:rPr lang="en-US" altLang="zh-CN" sz="2400" dirty="0" err="1">
                <a:solidFill>
                  <a:prstClr val="white"/>
                </a:solidFill>
                <a:latin typeface="Times New Roman" panose="02020603050405020304" pitchFamily="18" charset="0"/>
                <a:cs typeface="Times New Roman" panose="02020603050405020304" pitchFamily="18" charset="0"/>
              </a:rPr>
              <a:t>HTMLCollection</a:t>
            </a:r>
            <a:r>
              <a:rPr lang="en-US" altLang="zh-CN" sz="2400" dirty="0">
                <a:solidFill>
                  <a:prstClr val="white"/>
                </a:solidFill>
                <a:latin typeface="Times New Roman" panose="02020603050405020304" pitchFamily="18" charset="0"/>
                <a:cs typeface="Times New Roman" panose="02020603050405020304" pitchFamily="18" charset="0"/>
              </a:rPr>
              <a:t> object</a:t>
            </a:r>
          </a:p>
          <a:p>
            <a:pPr marL="742950" lvl="1" indent="-285750" algn="just">
              <a:lnSpc>
                <a:spcPct val="120000"/>
              </a:lnSpc>
              <a:buFont typeface="Arial" panose="020B0604020202020204" pitchFamily="34" charset="0"/>
              <a:buChar char="•"/>
              <a:defRPr/>
            </a:pPr>
            <a:r>
              <a:rPr lang="en-US" altLang="zh-CN" sz="2400" dirty="0">
                <a:solidFill>
                  <a:prstClr val="white"/>
                </a:solidFill>
                <a:latin typeface="Times New Roman" panose="02020603050405020304" pitchFamily="18" charset="0"/>
                <a:cs typeface="Times New Roman" panose="02020603050405020304" pitchFamily="18" charset="0"/>
              </a:rPr>
              <a:t>An </a:t>
            </a:r>
            <a:r>
              <a:rPr lang="en-US" altLang="zh-CN" sz="2400" dirty="0" err="1">
                <a:solidFill>
                  <a:prstClr val="white"/>
                </a:solidFill>
                <a:latin typeface="Times New Roman" panose="02020603050405020304" pitchFamily="18" charset="0"/>
                <a:cs typeface="Times New Roman" panose="02020603050405020304" pitchFamily="18" charset="0"/>
              </a:rPr>
              <a:t>HTMLCollection</a:t>
            </a:r>
            <a:r>
              <a:rPr lang="en-US" altLang="zh-CN" sz="2400" dirty="0">
                <a:solidFill>
                  <a:prstClr val="white"/>
                </a:solidFill>
                <a:latin typeface="Times New Roman" panose="02020603050405020304" pitchFamily="18" charset="0"/>
                <a:cs typeface="Times New Roman" panose="02020603050405020304" pitchFamily="18" charset="0"/>
              </a:rPr>
              <a:t> object is an array-like list (collection) of HTML elements.</a:t>
            </a:r>
          </a:p>
          <a:p>
            <a:pPr marL="742950" lvl="1" indent="-285750" algn="just">
              <a:lnSpc>
                <a:spcPct val="120000"/>
              </a:lnSpc>
              <a:buFont typeface="Arial" panose="020B0604020202020204" pitchFamily="34" charset="0"/>
              <a:buChar char="•"/>
              <a:defRPr/>
            </a:pPr>
            <a:r>
              <a:rPr lang="en-US" altLang="zh-CN" sz="2400" dirty="0">
                <a:solidFill>
                  <a:prstClr val="white"/>
                </a:solidFill>
                <a:latin typeface="Times New Roman" panose="02020603050405020304" pitchFamily="18" charset="0"/>
                <a:cs typeface="Times New Roman" panose="02020603050405020304" pitchFamily="18" charset="0"/>
              </a:rPr>
              <a:t>The following code selects all &lt;p&gt; elements in a document:</a:t>
            </a:r>
            <a:endParaRPr kumimoji="0" lang="zh-CN" altLang="en-US" sz="40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1715562" y="3170880"/>
            <a:ext cx="5685714" cy="523810"/>
          </a:xfrm>
          <a:prstGeom prst="rect">
            <a:avLst/>
          </a:prstGeom>
        </p:spPr>
      </p:pic>
      <p:sp>
        <p:nvSpPr>
          <p:cNvPr id="7" name="矩形 6"/>
          <p:cNvSpPr/>
          <p:nvPr/>
        </p:nvSpPr>
        <p:spPr>
          <a:xfrm>
            <a:off x="538366" y="4338419"/>
            <a:ext cx="6211316" cy="461665"/>
          </a:xfrm>
          <a:prstGeom prst="rect">
            <a:avLst/>
          </a:prstGeom>
        </p:spPr>
        <p:txBody>
          <a:bodyPr wrap="none">
            <a:spAutoFit/>
          </a:bodyPr>
          <a:lstStyle/>
          <a:p>
            <a:r>
              <a:rPr lang="en-US" altLang="zh-CN" sz="2400" dirty="0">
                <a:solidFill>
                  <a:schemeClr val="bg1"/>
                </a:solidFill>
                <a:latin typeface="Times New Roman" panose="02020603050405020304" pitchFamily="18" charset="0"/>
                <a:cs typeface="Times New Roman" panose="02020603050405020304" pitchFamily="18" charset="0"/>
              </a:rPr>
              <a:t>To access the </a:t>
            </a:r>
            <a:r>
              <a:rPr lang="en-US" altLang="zh-CN" sz="2400" u="sng" dirty="0">
                <a:solidFill>
                  <a:schemeClr val="bg1"/>
                </a:solidFill>
                <a:latin typeface="Times New Roman" panose="02020603050405020304" pitchFamily="18" charset="0"/>
                <a:cs typeface="Times New Roman" panose="02020603050405020304" pitchFamily="18" charset="0"/>
              </a:rPr>
              <a:t>second</a:t>
            </a:r>
            <a:r>
              <a:rPr lang="en-US" altLang="zh-CN" sz="2400" dirty="0">
                <a:solidFill>
                  <a:schemeClr val="bg1"/>
                </a:solidFill>
                <a:latin typeface="Times New Roman" panose="02020603050405020304" pitchFamily="18" charset="0"/>
                <a:cs typeface="Times New Roman" panose="02020603050405020304" pitchFamily="18" charset="0"/>
              </a:rPr>
              <a:t> &lt;p&gt; element you can write:</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3"/>
          <a:stretch>
            <a:fillRect/>
          </a:stretch>
        </p:blipFill>
        <p:spPr>
          <a:xfrm>
            <a:off x="129750" y="5238066"/>
            <a:ext cx="7209524" cy="1276190"/>
          </a:xfrm>
          <a:prstGeom prst="rect">
            <a:avLst/>
          </a:prstGeom>
        </p:spPr>
      </p:pic>
      <p:cxnSp>
        <p:nvCxnSpPr>
          <p:cNvPr id="10" name="直接连接符 9"/>
          <p:cNvCxnSpPr/>
          <p:nvPr/>
        </p:nvCxnSpPr>
        <p:spPr>
          <a:xfrm>
            <a:off x="220698" y="6181885"/>
            <a:ext cx="1193074" cy="0"/>
          </a:xfrm>
          <a:prstGeom prst="line">
            <a:avLst/>
          </a:prstGeom>
        </p:spPr>
        <p:style>
          <a:lnRef idx="3">
            <a:schemeClr val="accent2"/>
          </a:lnRef>
          <a:fillRef idx="0">
            <a:schemeClr val="accent2"/>
          </a:fillRef>
          <a:effectRef idx="2">
            <a:schemeClr val="accent2"/>
          </a:effectRef>
          <a:fontRef idx="minor">
            <a:schemeClr val="tx1"/>
          </a:fontRef>
        </p:style>
      </p:cxnSp>
      <p:pic>
        <p:nvPicPr>
          <p:cNvPr id="11" name="图片 10"/>
          <p:cNvPicPr>
            <a:picLocks noChangeAspect="1"/>
          </p:cNvPicPr>
          <p:nvPr/>
        </p:nvPicPr>
        <p:blipFill>
          <a:blip r:embed="rId4"/>
          <a:stretch>
            <a:fillRect/>
          </a:stretch>
        </p:blipFill>
        <p:spPr>
          <a:xfrm>
            <a:off x="7580320" y="4831189"/>
            <a:ext cx="4457143" cy="1876190"/>
          </a:xfrm>
          <a:prstGeom prst="rect">
            <a:avLst/>
          </a:prstGeom>
        </p:spPr>
      </p:pic>
    </p:spTree>
    <p:extLst>
      <p:ext uri="{BB962C8B-B14F-4D97-AF65-F5344CB8AC3E}">
        <p14:creationId xmlns:p14="http://schemas.microsoft.com/office/powerpoint/2010/main" val="3108039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355780" y="184727"/>
            <a:ext cx="3480440"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DOM Collections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469086" y="817385"/>
            <a:ext cx="10983293" cy="1692771"/>
          </a:xfrm>
          <a:prstGeom prst="rect">
            <a:avLst/>
          </a:prstGeom>
        </p:spPr>
        <p:txBody>
          <a:bodyPr wrap="square">
            <a:spAutoFit/>
          </a:bodyPr>
          <a:lstStyle/>
          <a:p>
            <a:pPr marL="457200" lvl="0" indent="-457200" algn="just">
              <a:buFont typeface="Wingdings" panose="05000000000000000000" pitchFamily="2" charset="2"/>
              <a:buChar char="l"/>
              <a:defRPr/>
            </a:pPr>
            <a:r>
              <a:rPr lang="en-US" altLang="zh-CN" sz="2800" dirty="0" smtClean="0">
                <a:solidFill>
                  <a:prstClr val="white"/>
                </a:solidFill>
                <a:latin typeface="Times New Roman" panose="02020603050405020304" pitchFamily="18" charset="0"/>
                <a:cs typeface="Times New Roman" panose="02020603050405020304" pitchFamily="18" charset="0"/>
              </a:rPr>
              <a:t>HTML Collection Length</a:t>
            </a:r>
          </a:p>
          <a:p>
            <a:pPr marL="800100" lvl="1" indent="-342900" algn="just">
              <a:buFont typeface="Wingdings" panose="05000000000000000000" pitchFamily="2" charset="2"/>
              <a:buChar char="ü"/>
              <a:defRPr/>
            </a:pPr>
            <a:r>
              <a:rPr lang="en-US" altLang="zh-CN" sz="2400" dirty="0" smtClean="0">
                <a:solidFill>
                  <a:prstClr val="white"/>
                </a:solidFill>
                <a:latin typeface="Times New Roman" panose="02020603050405020304" pitchFamily="18" charset="0"/>
                <a:cs typeface="Times New Roman" panose="02020603050405020304" pitchFamily="18" charset="0"/>
              </a:rPr>
              <a:t>The length property defines the number of elements in an </a:t>
            </a:r>
            <a:r>
              <a:rPr lang="en-US" altLang="zh-CN" sz="2400" dirty="0" err="1" smtClean="0">
                <a:solidFill>
                  <a:prstClr val="white"/>
                </a:solidFill>
                <a:latin typeface="Times New Roman" panose="02020603050405020304" pitchFamily="18" charset="0"/>
                <a:cs typeface="Times New Roman" panose="02020603050405020304" pitchFamily="18" charset="0"/>
              </a:rPr>
              <a:t>HTMLCollection</a:t>
            </a:r>
            <a:endParaRPr lang="en-US" altLang="zh-CN" sz="2400" dirty="0" smtClean="0">
              <a:solidFill>
                <a:prstClr val="white"/>
              </a:solidFill>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defRPr/>
            </a:pPr>
            <a:r>
              <a:rPr lang="en-US" altLang="zh-CN" sz="2400" dirty="0" smtClean="0">
                <a:solidFill>
                  <a:prstClr val="white"/>
                </a:solidFill>
                <a:latin typeface="Times New Roman" panose="02020603050405020304" pitchFamily="18" charset="0"/>
                <a:cs typeface="Times New Roman" panose="02020603050405020304" pitchFamily="18" charset="0"/>
              </a:rPr>
              <a:t>The length property is useful when you want to loop through the elements in a collection</a:t>
            </a:r>
            <a:endParaRPr lang="en-US" altLang="zh-CN" sz="2400" dirty="0">
              <a:solidFill>
                <a:prstClr val="white"/>
              </a:solidFill>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2"/>
          <a:stretch>
            <a:fillRect/>
          </a:stretch>
        </p:blipFill>
        <p:spPr>
          <a:xfrm>
            <a:off x="1637313" y="2696675"/>
            <a:ext cx="6703460" cy="1619450"/>
          </a:xfrm>
          <a:prstGeom prst="rect">
            <a:avLst/>
          </a:prstGeom>
        </p:spPr>
      </p:pic>
      <p:sp>
        <p:nvSpPr>
          <p:cNvPr id="9" name="矩形 8"/>
          <p:cNvSpPr/>
          <p:nvPr/>
        </p:nvSpPr>
        <p:spPr>
          <a:xfrm>
            <a:off x="513217" y="4572489"/>
            <a:ext cx="11165565" cy="187743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altLang="zh-CN" b="1" dirty="0">
                <a:solidFill>
                  <a:srgbClr val="000000"/>
                </a:solidFill>
                <a:latin typeface="Verdana" panose="020B0604030504040204" pitchFamily="34" charset="0"/>
              </a:rPr>
              <a:t>An </a:t>
            </a:r>
            <a:r>
              <a:rPr lang="en-US" altLang="zh-CN" b="1" dirty="0" err="1">
                <a:solidFill>
                  <a:srgbClr val="000000"/>
                </a:solidFill>
                <a:latin typeface="Verdana" panose="020B0604030504040204" pitchFamily="34" charset="0"/>
              </a:rPr>
              <a:t>HTMLCollection</a:t>
            </a:r>
            <a:r>
              <a:rPr lang="en-US" altLang="zh-CN" b="1" dirty="0">
                <a:solidFill>
                  <a:srgbClr val="000000"/>
                </a:solidFill>
                <a:latin typeface="Verdana" panose="020B0604030504040204" pitchFamily="34" charset="0"/>
              </a:rPr>
              <a:t> is NOT an array!</a:t>
            </a:r>
            <a:r>
              <a:rPr lang="en-US" altLang="zh-CN" dirty="0">
                <a:solidFill>
                  <a:srgbClr val="000000"/>
                </a:solidFill>
                <a:latin typeface="Verdana" panose="020B0604030504040204" pitchFamily="34" charset="0"/>
              </a:rPr>
              <a:t/>
            </a:r>
            <a:br>
              <a:rPr lang="en-US" altLang="zh-CN" dirty="0">
                <a:solidFill>
                  <a:srgbClr val="000000"/>
                </a:solidFill>
                <a:latin typeface="Verdana" panose="020B0604030504040204" pitchFamily="34" charset="0"/>
              </a:rPr>
            </a:br>
            <a:endParaRPr lang="en-US" altLang="zh-CN" dirty="0">
              <a:solidFill>
                <a:srgbClr val="000000"/>
              </a:solidFill>
              <a:latin typeface="Verdana" panose="020B0604030504040204" pitchFamily="34" charset="0"/>
            </a:endParaRPr>
          </a:p>
          <a:p>
            <a:pPr lvl="1"/>
            <a:r>
              <a:rPr lang="en-US" altLang="zh-CN" sz="1600" dirty="0">
                <a:solidFill>
                  <a:srgbClr val="000000"/>
                </a:solidFill>
                <a:latin typeface="Verdana" panose="020B0604030504040204" pitchFamily="34" charset="0"/>
              </a:rPr>
              <a:t>An </a:t>
            </a:r>
            <a:r>
              <a:rPr lang="en-US" altLang="zh-CN" sz="1600" dirty="0" err="1">
                <a:solidFill>
                  <a:srgbClr val="000000"/>
                </a:solidFill>
                <a:latin typeface="Verdana" panose="020B0604030504040204" pitchFamily="34" charset="0"/>
              </a:rPr>
              <a:t>HTMLCollection</a:t>
            </a:r>
            <a:r>
              <a:rPr lang="en-US" altLang="zh-CN" sz="1600" dirty="0">
                <a:solidFill>
                  <a:srgbClr val="000000"/>
                </a:solidFill>
                <a:latin typeface="Verdana" panose="020B0604030504040204" pitchFamily="34" charset="0"/>
              </a:rPr>
              <a:t> may look like an array, but it is not.</a:t>
            </a:r>
          </a:p>
          <a:p>
            <a:pPr lvl="1"/>
            <a:endParaRPr lang="en-US" altLang="zh-CN" sz="1600" dirty="0">
              <a:solidFill>
                <a:srgbClr val="000000"/>
              </a:solidFill>
              <a:latin typeface="Verdana" panose="020B0604030504040204" pitchFamily="34" charset="0"/>
            </a:endParaRPr>
          </a:p>
          <a:p>
            <a:pPr lvl="1"/>
            <a:r>
              <a:rPr lang="en-US" altLang="zh-CN" sz="1600" dirty="0">
                <a:solidFill>
                  <a:srgbClr val="000000"/>
                </a:solidFill>
                <a:latin typeface="Verdana" panose="020B0604030504040204" pitchFamily="34" charset="0"/>
              </a:rPr>
              <a:t>You can loop through the list and refer to the elements with a number (just like an array).</a:t>
            </a:r>
          </a:p>
          <a:p>
            <a:pPr lvl="1"/>
            <a:endParaRPr lang="en-US" altLang="zh-CN" sz="1600" dirty="0">
              <a:solidFill>
                <a:srgbClr val="000000"/>
              </a:solidFill>
              <a:latin typeface="Verdana" panose="020B0604030504040204" pitchFamily="34" charset="0"/>
            </a:endParaRPr>
          </a:p>
          <a:p>
            <a:pPr lvl="1"/>
            <a:r>
              <a:rPr lang="en-US" altLang="zh-CN" sz="1600" dirty="0">
                <a:solidFill>
                  <a:srgbClr val="000000"/>
                </a:solidFill>
                <a:latin typeface="Verdana" panose="020B0604030504040204" pitchFamily="34" charset="0"/>
              </a:rPr>
              <a:t>However, you cannot use array methods like </a:t>
            </a:r>
            <a:r>
              <a:rPr lang="en-US" altLang="zh-CN" sz="1600" dirty="0" err="1">
                <a:solidFill>
                  <a:srgbClr val="000000"/>
                </a:solidFill>
                <a:latin typeface="Verdana" panose="020B0604030504040204" pitchFamily="34" charset="0"/>
              </a:rPr>
              <a:t>valueOf</a:t>
            </a:r>
            <a:r>
              <a:rPr lang="en-US" altLang="zh-CN" sz="1600" dirty="0">
                <a:solidFill>
                  <a:srgbClr val="000000"/>
                </a:solidFill>
                <a:latin typeface="Verdana" panose="020B0604030504040204" pitchFamily="34" charset="0"/>
              </a:rPr>
              <a:t>(), pop(), push(), or join() on an </a:t>
            </a:r>
            <a:r>
              <a:rPr lang="en-US" altLang="zh-CN" sz="1600" dirty="0" err="1">
                <a:solidFill>
                  <a:srgbClr val="000000"/>
                </a:solidFill>
                <a:latin typeface="Verdana" panose="020B0604030504040204" pitchFamily="34" charset="0"/>
              </a:rPr>
              <a:t>HTMLCollection</a:t>
            </a:r>
            <a:r>
              <a:rPr lang="en-US" altLang="zh-CN" sz="1600" dirty="0">
                <a:solidFill>
                  <a:srgbClr val="000000"/>
                </a:solidFill>
                <a:latin typeface="Verdana" panose="020B0604030504040204" pitchFamily="34" charset="0"/>
              </a:rPr>
              <a:t>.</a:t>
            </a:r>
            <a:endParaRPr lang="en-US" altLang="zh-CN" sz="1600"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41484993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355780" y="184727"/>
            <a:ext cx="3480440"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DOM Node Lists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511552" y="1597502"/>
            <a:ext cx="11266943" cy="4062651"/>
          </a:xfrm>
          <a:prstGeom prst="rect">
            <a:avLst/>
          </a:prstGeom>
        </p:spPr>
        <p:txBody>
          <a:bodyPr wrap="square">
            <a:spAutoFit/>
          </a:bodyPr>
          <a:lstStyle/>
          <a:p>
            <a:pPr marL="457200" lvl="0" indent="-457200" algn="just">
              <a:lnSpc>
                <a:spcPct val="150000"/>
              </a:lnSpc>
              <a:buFont typeface="Wingdings" panose="05000000000000000000" pitchFamily="2" charset="2"/>
              <a:buChar char="l"/>
              <a:defRPr/>
            </a:pPr>
            <a:r>
              <a:rPr lang="en-US" altLang="zh-CN" sz="2800" dirty="0">
                <a:solidFill>
                  <a:prstClr val="white"/>
                </a:solidFill>
                <a:latin typeface="Times New Roman" panose="02020603050405020304" pitchFamily="18" charset="0"/>
                <a:cs typeface="Times New Roman" panose="02020603050405020304" pitchFamily="18" charset="0"/>
              </a:rPr>
              <a:t>The HTML DOM </a:t>
            </a:r>
            <a:r>
              <a:rPr lang="en-US" altLang="zh-CN" sz="2800" dirty="0" err="1">
                <a:solidFill>
                  <a:prstClr val="white"/>
                </a:solidFill>
                <a:latin typeface="Times New Roman" panose="02020603050405020304" pitchFamily="18" charset="0"/>
                <a:cs typeface="Times New Roman" panose="02020603050405020304" pitchFamily="18" charset="0"/>
              </a:rPr>
              <a:t>NodeList</a:t>
            </a:r>
            <a:r>
              <a:rPr lang="en-US" altLang="zh-CN" sz="2800" dirty="0">
                <a:solidFill>
                  <a:prstClr val="white"/>
                </a:solidFill>
                <a:latin typeface="Times New Roman" panose="02020603050405020304" pitchFamily="18" charset="0"/>
                <a:cs typeface="Times New Roman" panose="02020603050405020304" pitchFamily="18" charset="0"/>
              </a:rPr>
              <a:t> </a:t>
            </a:r>
            <a:r>
              <a:rPr lang="en-US" altLang="zh-CN" sz="2800" dirty="0" smtClean="0">
                <a:solidFill>
                  <a:prstClr val="white"/>
                </a:solidFill>
                <a:latin typeface="Times New Roman" panose="02020603050405020304" pitchFamily="18" charset="0"/>
                <a:cs typeface="Times New Roman" panose="02020603050405020304" pitchFamily="18" charset="0"/>
              </a:rPr>
              <a:t>Object</a:t>
            </a:r>
            <a:endParaRPr lang="en-US" altLang="zh-CN" sz="2800" dirty="0">
              <a:solidFill>
                <a:prstClr val="white"/>
              </a:solidFill>
              <a:latin typeface="Times New Roman" panose="02020603050405020304" pitchFamily="18" charset="0"/>
              <a:cs typeface="Times New Roman" panose="02020603050405020304" pitchFamily="18" charset="0"/>
            </a:endParaRPr>
          </a:p>
          <a:p>
            <a:pPr marL="800100" lvl="1" indent="-342900" algn="just">
              <a:lnSpc>
                <a:spcPct val="150000"/>
              </a:lnSpc>
              <a:buFont typeface="Wingdings" panose="05000000000000000000" pitchFamily="2" charset="2"/>
              <a:buChar char="ü"/>
              <a:defRPr/>
            </a:pPr>
            <a:r>
              <a:rPr lang="en-US" altLang="zh-CN" sz="2400" dirty="0">
                <a:solidFill>
                  <a:prstClr val="white"/>
                </a:solidFill>
                <a:latin typeface="Times New Roman" panose="02020603050405020304" pitchFamily="18" charset="0"/>
                <a:cs typeface="Times New Roman" panose="02020603050405020304" pitchFamily="18" charset="0"/>
              </a:rPr>
              <a:t>A </a:t>
            </a:r>
            <a:r>
              <a:rPr lang="en-US" altLang="zh-CN" sz="2400" dirty="0" err="1">
                <a:solidFill>
                  <a:prstClr val="white"/>
                </a:solidFill>
                <a:latin typeface="Times New Roman" panose="02020603050405020304" pitchFamily="18" charset="0"/>
                <a:cs typeface="Times New Roman" panose="02020603050405020304" pitchFamily="18" charset="0"/>
              </a:rPr>
              <a:t>NodeList</a:t>
            </a:r>
            <a:r>
              <a:rPr lang="en-US" altLang="zh-CN" sz="2400" dirty="0">
                <a:solidFill>
                  <a:prstClr val="white"/>
                </a:solidFill>
                <a:latin typeface="Times New Roman" panose="02020603050405020304" pitchFamily="18" charset="0"/>
                <a:cs typeface="Times New Roman" panose="02020603050405020304" pitchFamily="18" charset="0"/>
              </a:rPr>
              <a:t> object is a list (collection) of nodes extracted from a document.</a:t>
            </a:r>
          </a:p>
          <a:p>
            <a:pPr marL="800100" lvl="1" indent="-342900" algn="just">
              <a:lnSpc>
                <a:spcPct val="150000"/>
              </a:lnSpc>
              <a:buFont typeface="Wingdings" panose="05000000000000000000" pitchFamily="2" charset="2"/>
              <a:buChar char="ü"/>
              <a:defRPr/>
            </a:pPr>
            <a:r>
              <a:rPr lang="en-US" altLang="zh-CN" sz="2400" dirty="0" smtClean="0">
                <a:solidFill>
                  <a:prstClr val="white"/>
                </a:solidFill>
                <a:latin typeface="Times New Roman" panose="02020603050405020304" pitchFamily="18" charset="0"/>
                <a:cs typeface="Times New Roman" panose="02020603050405020304" pitchFamily="18" charset="0"/>
              </a:rPr>
              <a:t>A </a:t>
            </a:r>
            <a:r>
              <a:rPr lang="en-US" altLang="zh-CN" sz="2400" dirty="0" err="1">
                <a:solidFill>
                  <a:prstClr val="white"/>
                </a:solidFill>
                <a:latin typeface="Times New Roman" panose="02020603050405020304" pitchFamily="18" charset="0"/>
                <a:cs typeface="Times New Roman" panose="02020603050405020304" pitchFamily="18" charset="0"/>
              </a:rPr>
              <a:t>NodeList</a:t>
            </a:r>
            <a:r>
              <a:rPr lang="en-US" altLang="zh-CN" sz="2400" dirty="0">
                <a:solidFill>
                  <a:prstClr val="white"/>
                </a:solidFill>
                <a:latin typeface="Times New Roman" panose="02020603050405020304" pitchFamily="18" charset="0"/>
                <a:cs typeface="Times New Roman" panose="02020603050405020304" pitchFamily="18" charset="0"/>
              </a:rPr>
              <a:t> object is almost the same as an </a:t>
            </a:r>
            <a:r>
              <a:rPr lang="en-US" altLang="zh-CN" sz="2400" dirty="0" err="1">
                <a:solidFill>
                  <a:prstClr val="white"/>
                </a:solidFill>
                <a:latin typeface="Times New Roman" panose="02020603050405020304" pitchFamily="18" charset="0"/>
                <a:cs typeface="Times New Roman" panose="02020603050405020304" pitchFamily="18" charset="0"/>
              </a:rPr>
              <a:t>HTMLCollection</a:t>
            </a:r>
            <a:r>
              <a:rPr lang="en-US" altLang="zh-CN" sz="2400" dirty="0">
                <a:solidFill>
                  <a:prstClr val="white"/>
                </a:solidFill>
                <a:latin typeface="Times New Roman" panose="02020603050405020304" pitchFamily="18" charset="0"/>
                <a:cs typeface="Times New Roman" panose="02020603050405020304" pitchFamily="18" charset="0"/>
              </a:rPr>
              <a:t> object.</a:t>
            </a:r>
          </a:p>
          <a:p>
            <a:pPr marL="800100" lvl="1" indent="-342900" algn="just">
              <a:lnSpc>
                <a:spcPct val="150000"/>
              </a:lnSpc>
              <a:buFont typeface="Wingdings" panose="05000000000000000000" pitchFamily="2" charset="2"/>
              <a:buChar char="ü"/>
              <a:defRPr/>
            </a:pPr>
            <a:r>
              <a:rPr lang="en-US" altLang="zh-CN" sz="2400" dirty="0" smtClean="0">
                <a:solidFill>
                  <a:prstClr val="white"/>
                </a:solidFill>
                <a:latin typeface="Times New Roman" panose="02020603050405020304" pitchFamily="18" charset="0"/>
                <a:cs typeface="Times New Roman" panose="02020603050405020304" pitchFamily="18" charset="0"/>
              </a:rPr>
              <a:t>Some </a:t>
            </a:r>
            <a:r>
              <a:rPr lang="en-US" altLang="zh-CN" sz="2400" dirty="0">
                <a:solidFill>
                  <a:prstClr val="white"/>
                </a:solidFill>
                <a:latin typeface="Times New Roman" panose="02020603050405020304" pitchFamily="18" charset="0"/>
                <a:cs typeface="Times New Roman" panose="02020603050405020304" pitchFamily="18" charset="0"/>
              </a:rPr>
              <a:t>(older) browsers return a </a:t>
            </a:r>
            <a:r>
              <a:rPr lang="en-US" altLang="zh-CN" sz="2400" dirty="0" err="1">
                <a:solidFill>
                  <a:prstClr val="white"/>
                </a:solidFill>
                <a:latin typeface="Times New Roman" panose="02020603050405020304" pitchFamily="18" charset="0"/>
                <a:cs typeface="Times New Roman" panose="02020603050405020304" pitchFamily="18" charset="0"/>
              </a:rPr>
              <a:t>NodeList</a:t>
            </a:r>
            <a:r>
              <a:rPr lang="en-US" altLang="zh-CN" sz="2400" dirty="0">
                <a:solidFill>
                  <a:prstClr val="white"/>
                </a:solidFill>
                <a:latin typeface="Times New Roman" panose="02020603050405020304" pitchFamily="18" charset="0"/>
                <a:cs typeface="Times New Roman" panose="02020603050405020304" pitchFamily="18" charset="0"/>
              </a:rPr>
              <a:t> object instead of an </a:t>
            </a:r>
            <a:r>
              <a:rPr lang="en-US" altLang="zh-CN" sz="2400" dirty="0" err="1">
                <a:solidFill>
                  <a:prstClr val="white"/>
                </a:solidFill>
                <a:latin typeface="Times New Roman" panose="02020603050405020304" pitchFamily="18" charset="0"/>
                <a:cs typeface="Times New Roman" panose="02020603050405020304" pitchFamily="18" charset="0"/>
              </a:rPr>
              <a:t>HTMLCollection</a:t>
            </a:r>
            <a:r>
              <a:rPr lang="en-US" altLang="zh-CN" sz="2400" dirty="0">
                <a:solidFill>
                  <a:prstClr val="white"/>
                </a:solidFill>
                <a:latin typeface="Times New Roman" panose="02020603050405020304" pitchFamily="18" charset="0"/>
                <a:cs typeface="Times New Roman" panose="02020603050405020304" pitchFamily="18" charset="0"/>
              </a:rPr>
              <a:t> for methods like </a:t>
            </a:r>
            <a:r>
              <a:rPr lang="en-US" altLang="zh-CN" sz="2400" dirty="0" err="1">
                <a:solidFill>
                  <a:prstClr val="white"/>
                </a:solidFill>
                <a:latin typeface="Times New Roman" panose="02020603050405020304" pitchFamily="18" charset="0"/>
                <a:cs typeface="Times New Roman" panose="02020603050405020304" pitchFamily="18" charset="0"/>
              </a:rPr>
              <a:t>getElementsByClassName</a:t>
            </a:r>
            <a:r>
              <a:rPr lang="en-US" altLang="zh-CN" sz="2400" dirty="0">
                <a:solidFill>
                  <a:prstClr val="white"/>
                </a:solidFill>
                <a:latin typeface="Times New Roman" panose="02020603050405020304" pitchFamily="18" charset="0"/>
                <a:cs typeface="Times New Roman" panose="02020603050405020304" pitchFamily="18" charset="0"/>
              </a:rPr>
              <a:t>().</a:t>
            </a:r>
          </a:p>
          <a:p>
            <a:pPr marL="800100" lvl="1" indent="-342900" algn="just">
              <a:lnSpc>
                <a:spcPct val="150000"/>
              </a:lnSpc>
              <a:buFont typeface="Wingdings" panose="05000000000000000000" pitchFamily="2" charset="2"/>
              <a:buChar char="ü"/>
              <a:defRPr/>
            </a:pPr>
            <a:r>
              <a:rPr lang="en-US" altLang="zh-CN" sz="2400" dirty="0" smtClean="0">
                <a:solidFill>
                  <a:prstClr val="white"/>
                </a:solidFill>
                <a:latin typeface="Times New Roman" panose="02020603050405020304" pitchFamily="18" charset="0"/>
                <a:cs typeface="Times New Roman" panose="02020603050405020304" pitchFamily="18" charset="0"/>
              </a:rPr>
              <a:t>All </a:t>
            </a:r>
            <a:r>
              <a:rPr lang="en-US" altLang="zh-CN" sz="2400" dirty="0">
                <a:solidFill>
                  <a:prstClr val="white"/>
                </a:solidFill>
                <a:latin typeface="Times New Roman" panose="02020603050405020304" pitchFamily="18" charset="0"/>
                <a:cs typeface="Times New Roman" panose="02020603050405020304" pitchFamily="18" charset="0"/>
              </a:rPr>
              <a:t>browsers return a </a:t>
            </a:r>
            <a:r>
              <a:rPr lang="en-US" altLang="zh-CN" sz="2400" dirty="0" err="1">
                <a:solidFill>
                  <a:prstClr val="white"/>
                </a:solidFill>
                <a:latin typeface="Times New Roman" panose="02020603050405020304" pitchFamily="18" charset="0"/>
                <a:cs typeface="Times New Roman" panose="02020603050405020304" pitchFamily="18" charset="0"/>
              </a:rPr>
              <a:t>NodeList</a:t>
            </a:r>
            <a:r>
              <a:rPr lang="en-US" altLang="zh-CN" sz="2400" dirty="0">
                <a:solidFill>
                  <a:prstClr val="white"/>
                </a:solidFill>
                <a:latin typeface="Times New Roman" panose="02020603050405020304" pitchFamily="18" charset="0"/>
                <a:cs typeface="Times New Roman" panose="02020603050405020304" pitchFamily="18" charset="0"/>
              </a:rPr>
              <a:t> object for the property </a:t>
            </a:r>
            <a:r>
              <a:rPr lang="en-US" altLang="zh-CN" sz="2400" dirty="0" err="1">
                <a:solidFill>
                  <a:prstClr val="white"/>
                </a:solidFill>
                <a:latin typeface="Times New Roman" panose="02020603050405020304" pitchFamily="18" charset="0"/>
                <a:cs typeface="Times New Roman" panose="02020603050405020304" pitchFamily="18" charset="0"/>
              </a:rPr>
              <a:t>childNodes</a:t>
            </a:r>
            <a:r>
              <a:rPr lang="en-US" altLang="zh-CN" sz="2400" dirty="0">
                <a:solidFill>
                  <a:prstClr val="white"/>
                </a:solidFill>
                <a:latin typeface="Times New Roman" panose="02020603050405020304" pitchFamily="18" charset="0"/>
                <a:cs typeface="Times New Roman" panose="02020603050405020304" pitchFamily="18" charset="0"/>
              </a:rPr>
              <a:t>. </a:t>
            </a:r>
          </a:p>
          <a:p>
            <a:pPr marL="800100" lvl="1" indent="-342900" algn="just">
              <a:lnSpc>
                <a:spcPct val="150000"/>
              </a:lnSpc>
              <a:buFont typeface="Wingdings" panose="05000000000000000000" pitchFamily="2" charset="2"/>
              <a:buChar char="ü"/>
              <a:defRPr/>
            </a:pPr>
            <a:r>
              <a:rPr lang="en-US" altLang="zh-CN" sz="2400" dirty="0" smtClean="0">
                <a:solidFill>
                  <a:prstClr val="white"/>
                </a:solidFill>
                <a:latin typeface="Times New Roman" panose="02020603050405020304" pitchFamily="18" charset="0"/>
                <a:cs typeface="Times New Roman" panose="02020603050405020304" pitchFamily="18" charset="0"/>
              </a:rPr>
              <a:t>Most </a:t>
            </a:r>
            <a:r>
              <a:rPr lang="en-US" altLang="zh-CN" sz="2400" dirty="0">
                <a:solidFill>
                  <a:prstClr val="white"/>
                </a:solidFill>
                <a:latin typeface="Times New Roman" panose="02020603050405020304" pitchFamily="18" charset="0"/>
                <a:cs typeface="Times New Roman" panose="02020603050405020304" pitchFamily="18" charset="0"/>
              </a:rPr>
              <a:t>browsers return a </a:t>
            </a:r>
            <a:r>
              <a:rPr lang="en-US" altLang="zh-CN" sz="2400" dirty="0" err="1">
                <a:solidFill>
                  <a:prstClr val="white"/>
                </a:solidFill>
                <a:latin typeface="Times New Roman" panose="02020603050405020304" pitchFamily="18" charset="0"/>
                <a:cs typeface="Times New Roman" panose="02020603050405020304" pitchFamily="18" charset="0"/>
              </a:rPr>
              <a:t>NodeList</a:t>
            </a:r>
            <a:r>
              <a:rPr lang="en-US" altLang="zh-CN" sz="2400" dirty="0">
                <a:solidFill>
                  <a:prstClr val="white"/>
                </a:solidFill>
                <a:latin typeface="Times New Roman" panose="02020603050405020304" pitchFamily="18" charset="0"/>
                <a:cs typeface="Times New Roman" panose="02020603050405020304" pitchFamily="18" charset="0"/>
              </a:rPr>
              <a:t> object for the method </a:t>
            </a:r>
            <a:r>
              <a:rPr lang="en-US" altLang="zh-CN" sz="2400" dirty="0" err="1">
                <a:solidFill>
                  <a:prstClr val="white"/>
                </a:solidFill>
                <a:latin typeface="Times New Roman" panose="02020603050405020304" pitchFamily="18" charset="0"/>
                <a:cs typeface="Times New Roman" panose="02020603050405020304" pitchFamily="18" charset="0"/>
              </a:rPr>
              <a:t>querySelectorAll</a:t>
            </a:r>
            <a:r>
              <a:rPr lang="en-US" altLang="zh-CN" sz="2400" dirty="0">
                <a:solidFill>
                  <a:prstClr val="white"/>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63149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355780" y="184727"/>
            <a:ext cx="3480440"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DOM Node Lists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469087" y="817385"/>
            <a:ext cx="9866870" cy="830997"/>
          </a:xfrm>
          <a:prstGeom prst="rect">
            <a:avLst/>
          </a:prstGeom>
        </p:spPr>
        <p:txBody>
          <a:bodyPr wrap="square">
            <a:spAutoFit/>
          </a:bodyPr>
          <a:lstStyle/>
          <a:p>
            <a:pPr lvl="0" algn="just">
              <a:defRPr/>
            </a:pPr>
            <a:r>
              <a:rPr lang="en-US" altLang="zh-CN" sz="2800" dirty="0">
                <a:solidFill>
                  <a:prstClr val="white"/>
                </a:solidFill>
                <a:latin typeface="Times New Roman" panose="02020603050405020304" pitchFamily="18" charset="0"/>
                <a:cs typeface="Times New Roman" panose="02020603050405020304" pitchFamily="18" charset="0"/>
              </a:rPr>
              <a:t>The HTML DOM </a:t>
            </a:r>
            <a:r>
              <a:rPr lang="en-US" altLang="zh-CN" sz="2800" dirty="0" err="1">
                <a:solidFill>
                  <a:prstClr val="white"/>
                </a:solidFill>
                <a:latin typeface="Times New Roman" panose="02020603050405020304" pitchFamily="18" charset="0"/>
                <a:cs typeface="Times New Roman" panose="02020603050405020304" pitchFamily="18" charset="0"/>
              </a:rPr>
              <a:t>NodeList</a:t>
            </a:r>
            <a:r>
              <a:rPr lang="en-US" altLang="zh-CN" sz="2800" dirty="0">
                <a:solidFill>
                  <a:prstClr val="white"/>
                </a:solidFill>
                <a:latin typeface="Times New Roman" panose="02020603050405020304" pitchFamily="18" charset="0"/>
                <a:cs typeface="Times New Roman" panose="02020603050405020304" pitchFamily="18" charset="0"/>
              </a:rPr>
              <a:t> </a:t>
            </a:r>
            <a:r>
              <a:rPr lang="en-US" altLang="zh-CN" sz="2800" dirty="0" smtClean="0">
                <a:solidFill>
                  <a:prstClr val="white"/>
                </a:solidFill>
                <a:latin typeface="Times New Roman" panose="02020603050405020304" pitchFamily="18" charset="0"/>
                <a:cs typeface="Times New Roman" panose="02020603050405020304" pitchFamily="18" charset="0"/>
              </a:rPr>
              <a:t>Object</a:t>
            </a:r>
            <a:endParaRPr lang="en-US" altLang="zh-CN" sz="2000" dirty="0">
              <a:solidFill>
                <a:prstClr val="white"/>
              </a:solidFill>
              <a:latin typeface="Times New Roman" panose="02020603050405020304" pitchFamily="18" charset="0"/>
              <a:cs typeface="Times New Roman" panose="02020603050405020304" pitchFamily="18" charset="0"/>
            </a:endParaRPr>
          </a:p>
          <a:p>
            <a:pPr lvl="1" algn="just">
              <a:defRPr/>
            </a:pPr>
            <a:r>
              <a:rPr lang="en-US" altLang="zh-CN" sz="2000" dirty="0">
                <a:solidFill>
                  <a:prstClr val="white"/>
                </a:solidFill>
                <a:latin typeface="Times New Roman" panose="02020603050405020304" pitchFamily="18" charset="0"/>
                <a:cs typeface="Times New Roman" panose="02020603050405020304" pitchFamily="18" charset="0"/>
              </a:rPr>
              <a:t>The following code selects all &lt;p&gt; nodes in a document:</a:t>
            </a:r>
          </a:p>
        </p:txBody>
      </p:sp>
      <p:pic>
        <p:nvPicPr>
          <p:cNvPr id="5" name="图片 4"/>
          <p:cNvPicPr>
            <a:picLocks noChangeAspect="1"/>
          </p:cNvPicPr>
          <p:nvPr/>
        </p:nvPicPr>
        <p:blipFill>
          <a:blip r:embed="rId2"/>
          <a:stretch>
            <a:fillRect/>
          </a:stretch>
        </p:blipFill>
        <p:spPr>
          <a:xfrm>
            <a:off x="1021615" y="1648382"/>
            <a:ext cx="4209524" cy="457143"/>
          </a:xfrm>
          <a:prstGeom prst="rect">
            <a:avLst/>
          </a:prstGeom>
        </p:spPr>
      </p:pic>
      <p:sp>
        <p:nvSpPr>
          <p:cNvPr id="7" name="矩形 6"/>
          <p:cNvSpPr/>
          <p:nvPr/>
        </p:nvSpPr>
        <p:spPr>
          <a:xfrm>
            <a:off x="926819" y="2281040"/>
            <a:ext cx="4799712" cy="369332"/>
          </a:xfrm>
          <a:prstGeom prst="rect">
            <a:avLst/>
          </a:prstGeom>
        </p:spPr>
        <p:txBody>
          <a:bodyPr wrap="none">
            <a:spAutoFit/>
          </a:bodyPr>
          <a:lstStyle/>
          <a:p>
            <a:r>
              <a:rPr lang="en-US" altLang="zh-CN" dirty="0">
                <a:solidFill>
                  <a:schemeClr val="bg1"/>
                </a:solidFill>
              </a:rPr>
              <a:t>To access the second &lt;p&gt; node you can write:</a:t>
            </a:r>
            <a:endParaRPr lang="zh-CN" altLang="en-US" dirty="0">
              <a:solidFill>
                <a:schemeClr val="bg1"/>
              </a:solidFill>
            </a:endParaRPr>
          </a:p>
        </p:txBody>
      </p:sp>
      <p:pic>
        <p:nvPicPr>
          <p:cNvPr id="8" name="图片 7"/>
          <p:cNvPicPr>
            <a:picLocks noChangeAspect="1"/>
          </p:cNvPicPr>
          <p:nvPr/>
        </p:nvPicPr>
        <p:blipFill>
          <a:blip r:embed="rId3"/>
          <a:stretch>
            <a:fillRect/>
          </a:stretch>
        </p:blipFill>
        <p:spPr>
          <a:xfrm>
            <a:off x="1021615" y="2825887"/>
            <a:ext cx="7171428" cy="1228571"/>
          </a:xfrm>
          <a:prstGeom prst="rect">
            <a:avLst/>
          </a:prstGeom>
        </p:spPr>
      </p:pic>
      <p:pic>
        <p:nvPicPr>
          <p:cNvPr id="9" name="图片 8"/>
          <p:cNvPicPr>
            <a:picLocks noChangeAspect="1"/>
          </p:cNvPicPr>
          <p:nvPr/>
        </p:nvPicPr>
        <p:blipFill>
          <a:blip r:embed="rId4"/>
          <a:stretch>
            <a:fillRect/>
          </a:stretch>
        </p:blipFill>
        <p:spPr>
          <a:xfrm>
            <a:off x="1021615" y="4431963"/>
            <a:ext cx="4419048" cy="1600000"/>
          </a:xfrm>
          <a:prstGeom prst="rect">
            <a:avLst/>
          </a:prstGeom>
        </p:spPr>
      </p:pic>
      <p:cxnSp>
        <p:nvCxnSpPr>
          <p:cNvPr id="11" name="直接连接符 10"/>
          <p:cNvCxnSpPr/>
          <p:nvPr/>
        </p:nvCxnSpPr>
        <p:spPr>
          <a:xfrm>
            <a:off x="1021615" y="3735977"/>
            <a:ext cx="1051025"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4111482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矩形 1"/>
          <p:cNvSpPr/>
          <p:nvPr/>
        </p:nvSpPr>
        <p:spPr>
          <a:xfrm>
            <a:off x="4355780" y="184727"/>
            <a:ext cx="3480440" cy="646331"/>
          </a:xfrm>
          <a:prstGeom prst="rect">
            <a:avLst/>
          </a:prstGeom>
        </p:spPr>
        <p:txBody>
          <a:bodyPr wrap="none">
            <a:spAutoFit/>
          </a:bodyPr>
          <a:lstStyle/>
          <a:p>
            <a:pPr lvl="0" algn="ctr">
              <a:defRPr/>
            </a:pPr>
            <a:r>
              <a:rPr lang="en-US" altLang="zh-CN" sz="3600" dirty="0">
                <a:solidFill>
                  <a:prstClr val="white"/>
                </a:solidFill>
                <a:latin typeface="Times New Roman" panose="02020603050405020304" pitchFamily="18" charset="0"/>
                <a:cs typeface="Times New Roman" panose="02020603050405020304" pitchFamily="18" charset="0"/>
              </a:rPr>
              <a:t>DOM Node Lists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903907" y="996147"/>
            <a:ext cx="9866870" cy="523220"/>
          </a:xfrm>
          <a:prstGeom prst="rect">
            <a:avLst/>
          </a:prstGeom>
        </p:spPr>
        <p:txBody>
          <a:bodyPr wrap="square">
            <a:spAutoFit/>
          </a:bodyPr>
          <a:lstStyle/>
          <a:p>
            <a:pPr lvl="0" algn="just">
              <a:defRPr/>
            </a:pPr>
            <a:r>
              <a:rPr lang="en-US" altLang="zh-CN" sz="2800" dirty="0">
                <a:solidFill>
                  <a:prstClr val="white"/>
                </a:solidFill>
                <a:latin typeface="Times New Roman" panose="02020603050405020304" pitchFamily="18" charset="0"/>
                <a:cs typeface="Times New Roman" panose="02020603050405020304" pitchFamily="18" charset="0"/>
              </a:rPr>
              <a:t>The Difference Between an </a:t>
            </a:r>
            <a:r>
              <a:rPr lang="en-US" altLang="zh-CN" sz="2800" dirty="0" err="1">
                <a:solidFill>
                  <a:prstClr val="white"/>
                </a:solidFill>
                <a:latin typeface="Times New Roman" panose="02020603050405020304" pitchFamily="18" charset="0"/>
                <a:cs typeface="Times New Roman" panose="02020603050405020304" pitchFamily="18" charset="0"/>
              </a:rPr>
              <a:t>HTMLCollection</a:t>
            </a:r>
            <a:r>
              <a:rPr lang="en-US" altLang="zh-CN" sz="2800" dirty="0">
                <a:solidFill>
                  <a:prstClr val="white"/>
                </a:solidFill>
                <a:latin typeface="Times New Roman" panose="02020603050405020304" pitchFamily="18" charset="0"/>
                <a:cs typeface="Times New Roman" panose="02020603050405020304" pitchFamily="18" charset="0"/>
              </a:rPr>
              <a:t> and a </a:t>
            </a:r>
            <a:r>
              <a:rPr lang="en-US" altLang="zh-CN" sz="2800" dirty="0" err="1">
                <a:solidFill>
                  <a:prstClr val="white"/>
                </a:solidFill>
                <a:latin typeface="Times New Roman" panose="02020603050405020304" pitchFamily="18" charset="0"/>
                <a:cs typeface="Times New Roman" panose="02020603050405020304" pitchFamily="18" charset="0"/>
              </a:rPr>
              <a:t>NodeList</a:t>
            </a:r>
            <a:r>
              <a:rPr lang="en-US" altLang="zh-CN" sz="2000" dirty="0" err="1">
                <a:solidFill>
                  <a:prstClr val="white"/>
                </a:solidFill>
                <a:latin typeface="Times New Roman" panose="02020603050405020304" pitchFamily="18" charset="0"/>
                <a:cs typeface="Times New Roman" panose="02020603050405020304" pitchFamily="18" charset="0"/>
              </a:rPr>
              <a:t>The</a:t>
            </a:r>
            <a:endParaRPr lang="en-US" altLang="zh-CN" sz="2000" dirty="0">
              <a:solidFill>
                <a:prstClr val="white"/>
              </a:solidFill>
              <a:latin typeface="Times New Roman" panose="02020603050405020304" pitchFamily="18" charset="0"/>
              <a:cs typeface="Times New Roman" panose="02020603050405020304" pitchFamily="18" charset="0"/>
            </a:endParaRPr>
          </a:p>
        </p:txBody>
      </p:sp>
      <p:sp>
        <p:nvSpPr>
          <p:cNvPr id="4" name="矩形 3"/>
          <p:cNvSpPr/>
          <p:nvPr/>
        </p:nvSpPr>
        <p:spPr>
          <a:xfrm>
            <a:off x="963667" y="1789831"/>
            <a:ext cx="10554789" cy="3156057"/>
          </a:xfrm>
          <a:prstGeom prst="rect">
            <a:avLst/>
          </a:prstGeom>
        </p:spPr>
        <p:txBody>
          <a:bodyPr wrap="square">
            <a:spAutoFit/>
          </a:bodyPr>
          <a:lstStyle/>
          <a:p>
            <a:pPr marL="342900" indent="-342900">
              <a:lnSpc>
                <a:spcPct val="120000"/>
              </a:lnSpc>
              <a:buFont typeface="Wingdings" panose="05000000000000000000" pitchFamily="2" charset="2"/>
              <a:buChar char="ü"/>
            </a:pPr>
            <a:r>
              <a:rPr lang="en-US" altLang="zh-CN" sz="2400" dirty="0">
                <a:solidFill>
                  <a:schemeClr val="bg1"/>
                </a:solidFill>
                <a:latin typeface="Times New Roman" panose="02020603050405020304" pitchFamily="18" charset="0"/>
                <a:cs typeface="Times New Roman" panose="02020603050405020304" pitchFamily="18" charset="0"/>
              </a:rPr>
              <a:t>An </a:t>
            </a:r>
            <a:r>
              <a:rPr lang="en-US" altLang="zh-CN" sz="2400" dirty="0" err="1">
                <a:solidFill>
                  <a:schemeClr val="bg1"/>
                </a:solidFill>
                <a:latin typeface="Times New Roman" panose="02020603050405020304" pitchFamily="18" charset="0"/>
                <a:cs typeface="Times New Roman" panose="02020603050405020304" pitchFamily="18" charset="0"/>
              </a:rPr>
              <a:t>HTMLCollection</a:t>
            </a:r>
            <a:r>
              <a:rPr lang="en-US" altLang="zh-CN" sz="2400" dirty="0">
                <a:solidFill>
                  <a:schemeClr val="bg1"/>
                </a:solidFill>
                <a:latin typeface="Times New Roman" panose="02020603050405020304" pitchFamily="18" charset="0"/>
                <a:cs typeface="Times New Roman" panose="02020603050405020304" pitchFamily="18" charset="0"/>
              </a:rPr>
              <a:t> is a collection of document elements</a:t>
            </a:r>
            <a:r>
              <a:rPr lang="en-US" altLang="zh-CN" sz="2400" dirty="0" smtClean="0">
                <a:solidFill>
                  <a:schemeClr val="bg1"/>
                </a:solidFill>
                <a:latin typeface="Times New Roman" panose="02020603050405020304" pitchFamily="18" charset="0"/>
                <a:cs typeface="Times New Roman" panose="02020603050405020304" pitchFamily="18" charset="0"/>
              </a:rPr>
              <a:t>.</a:t>
            </a:r>
          </a:p>
          <a:p>
            <a:pPr marL="342900" indent="-342900">
              <a:lnSpc>
                <a:spcPct val="120000"/>
              </a:lnSpc>
              <a:buFont typeface="Wingdings" panose="05000000000000000000" pitchFamily="2" charset="2"/>
              <a:buChar char="ü"/>
            </a:pPr>
            <a:r>
              <a:rPr lang="en-US" altLang="zh-CN" sz="2400" dirty="0" smtClean="0">
                <a:solidFill>
                  <a:schemeClr val="bg1"/>
                </a:solidFill>
                <a:latin typeface="Times New Roman" panose="02020603050405020304" pitchFamily="18" charset="0"/>
                <a:cs typeface="Times New Roman" panose="02020603050405020304" pitchFamily="18" charset="0"/>
              </a:rPr>
              <a:t>A </a:t>
            </a:r>
            <a:r>
              <a:rPr lang="en-US" altLang="zh-CN" sz="2400" dirty="0" err="1">
                <a:solidFill>
                  <a:schemeClr val="bg1"/>
                </a:solidFill>
                <a:latin typeface="Times New Roman" panose="02020603050405020304" pitchFamily="18" charset="0"/>
                <a:cs typeface="Times New Roman" panose="02020603050405020304" pitchFamily="18" charset="0"/>
              </a:rPr>
              <a:t>NodeList</a:t>
            </a:r>
            <a:r>
              <a:rPr lang="en-US" altLang="zh-CN" sz="2400" dirty="0">
                <a:solidFill>
                  <a:schemeClr val="bg1"/>
                </a:solidFill>
                <a:latin typeface="Times New Roman" panose="02020603050405020304" pitchFamily="18" charset="0"/>
                <a:cs typeface="Times New Roman" panose="02020603050405020304" pitchFamily="18" charset="0"/>
              </a:rPr>
              <a:t> is a collection of document nodes (element nodes, attribute nodes, and text nodes).</a:t>
            </a:r>
          </a:p>
          <a:p>
            <a:pPr marL="342900" indent="-342900">
              <a:lnSpc>
                <a:spcPct val="120000"/>
              </a:lnSpc>
              <a:buFont typeface="Wingdings" panose="05000000000000000000" pitchFamily="2" charset="2"/>
              <a:buChar char="ü"/>
            </a:pPr>
            <a:r>
              <a:rPr lang="en-US" altLang="zh-CN" sz="2400" dirty="0" smtClean="0">
                <a:solidFill>
                  <a:schemeClr val="bg1"/>
                </a:solidFill>
                <a:latin typeface="Times New Roman" panose="02020603050405020304" pitchFamily="18" charset="0"/>
                <a:cs typeface="Times New Roman" panose="02020603050405020304" pitchFamily="18" charset="0"/>
              </a:rPr>
              <a:t>The </a:t>
            </a:r>
            <a:r>
              <a:rPr lang="en-US" altLang="zh-CN" sz="2400" dirty="0" err="1">
                <a:solidFill>
                  <a:schemeClr val="bg1"/>
                </a:solidFill>
                <a:latin typeface="Times New Roman" panose="02020603050405020304" pitchFamily="18" charset="0"/>
                <a:cs typeface="Times New Roman" panose="02020603050405020304" pitchFamily="18" charset="0"/>
              </a:rPr>
              <a:t>getElementsByClassName</a:t>
            </a:r>
            <a:r>
              <a:rPr lang="en-US" altLang="zh-CN" sz="2400" dirty="0">
                <a:solidFill>
                  <a:schemeClr val="bg1"/>
                </a:solidFill>
                <a:latin typeface="Times New Roman" panose="02020603050405020304" pitchFamily="18" charset="0"/>
                <a:cs typeface="Times New Roman" panose="02020603050405020304" pitchFamily="18" charset="0"/>
              </a:rPr>
              <a:t>() and </a:t>
            </a:r>
            <a:r>
              <a:rPr lang="en-US" altLang="zh-CN" sz="2400" dirty="0" err="1">
                <a:solidFill>
                  <a:schemeClr val="bg1"/>
                </a:solidFill>
                <a:latin typeface="Times New Roman" panose="02020603050405020304" pitchFamily="18" charset="0"/>
                <a:cs typeface="Times New Roman" panose="02020603050405020304" pitchFamily="18" charset="0"/>
              </a:rPr>
              <a:t>getElementsByTagName</a:t>
            </a:r>
            <a:r>
              <a:rPr lang="en-US" altLang="zh-CN" sz="2400" dirty="0">
                <a:solidFill>
                  <a:schemeClr val="bg1"/>
                </a:solidFill>
                <a:latin typeface="Times New Roman" panose="02020603050405020304" pitchFamily="18" charset="0"/>
                <a:cs typeface="Times New Roman" panose="02020603050405020304" pitchFamily="18" charset="0"/>
              </a:rPr>
              <a:t>() methods return a live </a:t>
            </a:r>
            <a:r>
              <a:rPr lang="en-US" altLang="zh-CN" sz="2400" dirty="0" err="1">
                <a:solidFill>
                  <a:schemeClr val="bg1"/>
                </a:solidFill>
                <a:latin typeface="Times New Roman" panose="02020603050405020304" pitchFamily="18" charset="0"/>
                <a:cs typeface="Times New Roman" panose="02020603050405020304" pitchFamily="18" charset="0"/>
              </a:rPr>
              <a:t>HTMLCollection</a:t>
            </a:r>
            <a:r>
              <a:rPr lang="en-US" altLang="zh-CN" sz="2400" dirty="0">
                <a:solidFill>
                  <a:schemeClr val="bg1"/>
                </a:solidFill>
                <a:latin typeface="Times New Roman" panose="02020603050405020304" pitchFamily="18" charset="0"/>
                <a:cs typeface="Times New Roman" panose="02020603050405020304" pitchFamily="18" charset="0"/>
              </a:rPr>
              <a:t>.</a:t>
            </a:r>
          </a:p>
          <a:p>
            <a:pPr marL="342900" indent="-342900">
              <a:lnSpc>
                <a:spcPct val="120000"/>
              </a:lnSpc>
              <a:buFont typeface="Wingdings" panose="05000000000000000000" pitchFamily="2" charset="2"/>
              <a:buChar char="ü"/>
            </a:pPr>
            <a:r>
              <a:rPr lang="en-US" altLang="zh-CN" sz="2400" dirty="0" smtClean="0">
                <a:solidFill>
                  <a:schemeClr val="bg1"/>
                </a:solidFill>
                <a:latin typeface="Times New Roman" panose="02020603050405020304" pitchFamily="18" charset="0"/>
                <a:cs typeface="Times New Roman" panose="02020603050405020304" pitchFamily="18" charset="0"/>
              </a:rPr>
              <a:t>The </a:t>
            </a:r>
            <a:r>
              <a:rPr lang="en-US" altLang="zh-CN" sz="2400" dirty="0" err="1">
                <a:solidFill>
                  <a:schemeClr val="bg1"/>
                </a:solidFill>
                <a:latin typeface="Times New Roman" panose="02020603050405020304" pitchFamily="18" charset="0"/>
                <a:cs typeface="Times New Roman" panose="02020603050405020304" pitchFamily="18" charset="0"/>
              </a:rPr>
              <a:t>querySelectorAll</a:t>
            </a:r>
            <a:r>
              <a:rPr lang="en-US" altLang="zh-CN" sz="2400" dirty="0">
                <a:solidFill>
                  <a:schemeClr val="bg1"/>
                </a:solidFill>
                <a:latin typeface="Times New Roman" panose="02020603050405020304" pitchFamily="18" charset="0"/>
                <a:cs typeface="Times New Roman" panose="02020603050405020304" pitchFamily="18" charset="0"/>
              </a:rPr>
              <a:t>() method returns a static </a:t>
            </a:r>
            <a:r>
              <a:rPr lang="en-US" altLang="zh-CN" sz="2400" dirty="0" err="1">
                <a:solidFill>
                  <a:schemeClr val="bg1"/>
                </a:solidFill>
                <a:latin typeface="Times New Roman" panose="02020603050405020304" pitchFamily="18" charset="0"/>
                <a:cs typeface="Times New Roman" panose="02020603050405020304" pitchFamily="18" charset="0"/>
              </a:rPr>
              <a:t>NodeList</a:t>
            </a:r>
            <a:r>
              <a:rPr lang="en-US" altLang="zh-CN" sz="2400" dirty="0">
                <a:solidFill>
                  <a:schemeClr val="bg1"/>
                </a:solidFill>
                <a:latin typeface="Times New Roman" panose="02020603050405020304" pitchFamily="18" charset="0"/>
                <a:cs typeface="Times New Roman" panose="02020603050405020304" pitchFamily="18" charset="0"/>
              </a:rPr>
              <a:t>.</a:t>
            </a:r>
          </a:p>
          <a:p>
            <a:pPr marL="342900" indent="-342900">
              <a:lnSpc>
                <a:spcPct val="120000"/>
              </a:lnSpc>
              <a:buFont typeface="Wingdings" panose="05000000000000000000" pitchFamily="2" charset="2"/>
              <a:buChar char="ü"/>
            </a:pPr>
            <a:r>
              <a:rPr lang="en-US" altLang="zh-CN" sz="2400" dirty="0" smtClean="0">
                <a:solidFill>
                  <a:schemeClr val="bg1"/>
                </a:solidFill>
                <a:latin typeface="Times New Roman" panose="02020603050405020304" pitchFamily="18" charset="0"/>
                <a:cs typeface="Times New Roman" panose="02020603050405020304" pitchFamily="18" charset="0"/>
              </a:rPr>
              <a:t>The </a:t>
            </a:r>
            <a:r>
              <a:rPr lang="en-US" altLang="zh-CN" sz="2400" dirty="0" err="1">
                <a:solidFill>
                  <a:schemeClr val="bg1"/>
                </a:solidFill>
                <a:latin typeface="Times New Roman" panose="02020603050405020304" pitchFamily="18" charset="0"/>
                <a:cs typeface="Times New Roman" panose="02020603050405020304" pitchFamily="18" charset="0"/>
              </a:rPr>
              <a:t>childNodes</a:t>
            </a:r>
            <a:r>
              <a:rPr lang="en-US" altLang="zh-CN" sz="2400" dirty="0">
                <a:solidFill>
                  <a:schemeClr val="bg1"/>
                </a:solidFill>
                <a:latin typeface="Times New Roman" panose="02020603050405020304" pitchFamily="18" charset="0"/>
                <a:cs typeface="Times New Roman" panose="02020603050405020304" pitchFamily="18" charset="0"/>
              </a:rPr>
              <a:t> property returns a live </a:t>
            </a:r>
            <a:r>
              <a:rPr lang="en-US" altLang="zh-CN" sz="2400" dirty="0" err="1">
                <a:solidFill>
                  <a:schemeClr val="bg1"/>
                </a:solidFill>
                <a:latin typeface="Times New Roman" panose="02020603050405020304" pitchFamily="18" charset="0"/>
                <a:cs typeface="Times New Roman" panose="02020603050405020304" pitchFamily="18" charset="0"/>
              </a:rPr>
              <a:t>NodeList</a:t>
            </a:r>
            <a:r>
              <a:rPr lang="en-US" altLang="zh-CN" sz="2400" dirty="0">
                <a:solidFill>
                  <a:schemeClr val="bg1"/>
                </a:solidFill>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10" name="矩形 9"/>
          <p:cNvSpPr/>
          <p:nvPr/>
        </p:nvSpPr>
        <p:spPr>
          <a:xfrm>
            <a:off x="1756573" y="5281549"/>
            <a:ext cx="8482149" cy="1354217"/>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altLang="zh-CN" sz="2800" b="1" dirty="0">
                <a:solidFill>
                  <a:schemeClr val="tx1"/>
                </a:solidFill>
              </a:rPr>
              <a:t>Not an Array!</a:t>
            </a:r>
          </a:p>
          <a:p>
            <a:pPr marL="742950" lvl="1" indent="-285750">
              <a:buFont typeface="Arial" panose="020B0604020202020204" pitchFamily="34" charset="0"/>
              <a:buChar char="•"/>
            </a:pPr>
            <a:r>
              <a:rPr lang="en-US" altLang="zh-CN" dirty="0">
                <a:solidFill>
                  <a:schemeClr val="tx1"/>
                </a:solidFill>
              </a:rPr>
              <a:t>A </a:t>
            </a:r>
            <a:r>
              <a:rPr lang="en-US" altLang="zh-CN" dirty="0" err="1">
                <a:solidFill>
                  <a:schemeClr val="tx1"/>
                </a:solidFill>
              </a:rPr>
              <a:t>NodeList</a:t>
            </a:r>
            <a:r>
              <a:rPr lang="en-US" altLang="zh-CN" dirty="0">
                <a:solidFill>
                  <a:schemeClr val="tx1"/>
                </a:solidFill>
              </a:rPr>
              <a:t> may look like an array, but it is not.</a:t>
            </a:r>
          </a:p>
          <a:p>
            <a:pPr marL="742950" lvl="1" indent="-285750">
              <a:buFont typeface="Arial" panose="020B0604020202020204" pitchFamily="34" charset="0"/>
              <a:buChar char="•"/>
            </a:pPr>
            <a:r>
              <a:rPr lang="en-US" altLang="zh-CN" dirty="0">
                <a:solidFill>
                  <a:schemeClr val="tx1"/>
                </a:solidFill>
              </a:rPr>
              <a:t>You can loop through a </a:t>
            </a:r>
            <a:r>
              <a:rPr lang="en-US" altLang="zh-CN" dirty="0" err="1">
                <a:solidFill>
                  <a:schemeClr val="tx1"/>
                </a:solidFill>
              </a:rPr>
              <a:t>NodeList</a:t>
            </a:r>
            <a:r>
              <a:rPr lang="en-US" altLang="zh-CN" dirty="0">
                <a:solidFill>
                  <a:schemeClr val="tx1"/>
                </a:solidFill>
              </a:rPr>
              <a:t> and refer to its nodes by index.</a:t>
            </a:r>
          </a:p>
          <a:p>
            <a:pPr marL="742950" lvl="1" indent="-285750">
              <a:buFont typeface="Arial" panose="020B0604020202020204" pitchFamily="34" charset="0"/>
              <a:buChar char="•"/>
            </a:pPr>
            <a:r>
              <a:rPr lang="en-US" altLang="zh-CN" dirty="0">
                <a:solidFill>
                  <a:schemeClr val="tx1"/>
                </a:solidFill>
              </a:rPr>
              <a:t>But, you cannot use Array methods like push(), pop(), or join() on a </a:t>
            </a:r>
            <a:r>
              <a:rPr lang="en-US" altLang="zh-CN" dirty="0" err="1">
                <a:solidFill>
                  <a:schemeClr val="tx1"/>
                </a:solidFill>
              </a:rPr>
              <a:t>NodeList</a:t>
            </a:r>
            <a:r>
              <a:rPr lang="en-US" altLang="zh-CN" dirty="0">
                <a:solidFill>
                  <a:schemeClr val="tx1"/>
                </a:solidFill>
              </a:rPr>
              <a:t>.</a:t>
            </a:r>
            <a:endParaRPr lang="zh-CN" altLang="en-US" dirty="0">
              <a:solidFill>
                <a:schemeClr val="tx1"/>
              </a:solidFill>
            </a:endParaRPr>
          </a:p>
        </p:txBody>
      </p:sp>
    </p:spTree>
    <p:extLst>
      <p:ext uri="{BB962C8B-B14F-4D97-AF65-F5344CB8AC3E}">
        <p14:creationId xmlns:p14="http://schemas.microsoft.com/office/powerpoint/2010/main" val="235024049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778</TotalTime>
  <Words>2358</Words>
  <Application>Microsoft Office PowerPoint</Application>
  <PresentationFormat>宽屏</PresentationFormat>
  <Paragraphs>277</Paragraphs>
  <Slides>44</Slides>
  <Notes>1</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44</vt:i4>
      </vt:variant>
    </vt:vector>
  </HeadingPairs>
  <TitlesOfParts>
    <vt:vector size="57" baseType="lpstr">
      <vt:lpstr>等线</vt:lpstr>
      <vt:lpstr>等线 Light</vt:lpstr>
      <vt:lpstr>Arial</vt:lpstr>
      <vt:lpstr>Calibri</vt:lpstr>
      <vt:lpstr>Calibri Light</vt:lpstr>
      <vt:lpstr>Cambria</vt:lpstr>
      <vt:lpstr>Consolas</vt:lpstr>
      <vt:lpstr>Segoe UI</vt:lpstr>
      <vt:lpstr>Times New Roman</vt:lpstr>
      <vt:lpstr>Verdana</vt:lpstr>
      <vt:lpstr>Wingdings</vt:lpstr>
      <vt:lpstr>Office 主题​​</vt:lpstr>
      <vt:lpstr>Office Theme</vt:lpstr>
      <vt:lpstr>JavaScript DOM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JavaScript DOM Events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JavaScript DOM Navigation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 Scope</dc:title>
  <dc:creator>Administrator</dc:creator>
  <cp:lastModifiedBy>Windows 用户</cp:lastModifiedBy>
  <cp:revision>225</cp:revision>
  <dcterms:created xsi:type="dcterms:W3CDTF">2021-03-22T08:16:06Z</dcterms:created>
  <dcterms:modified xsi:type="dcterms:W3CDTF">2023-06-19T01:58:52Z</dcterms:modified>
</cp:coreProperties>
</file>