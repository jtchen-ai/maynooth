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"/>
  </p:notesMasterIdLst>
  <p:sldIdLst>
    <p:sldId id="313" r:id="rId4"/>
    <p:sldId id="314" r:id="rId5"/>
    <p:sldId id="315" r:id="rId6"/>
    <p:sldId id="316" r:id="rId7"/>
    <p:sldId id="317" r:id="rId8"/>
    <p:sldId id="318" r:id="rId9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7" r:id="rId18"/>
    <p:sldId id="328" r:id="rId19"/>
    <p:sldId id="391" r:id="rId20"/>
    <p:sldId id="329" r:id="rId21"/>
    <p:sldId id="392" r:id="rId22"/>
    <p:sldId id="330" r:id="rId23"/>
    <p:sldId id="393" r:id="rId24"/>
    <p:sldId id="331" r:id="rId25"/>
    <p:sldId id="332" r:id="rId26"/>
    <p:sldId id="333" r:id="rId27"/>
    <p:sldId id="334" r:id="rId28"/>
    <p:sldId id="335" r:id="rId29"/>
    <p:sldId id="394" r:id="rId30"/>
    <p:sldId id="395" r:id="rId31"/>
    <p:sldId id="336" r:id="rId32"/>
    <p:sldId id="459" r:id="rId33"/>
    <p:sldId id="337" r:id="rId34"/>
    <p:sldId id="338" r:id="rId35"/>
    <p:sldId id="342" r:id="rId36"/>
    <p:sldId id="349" r:id="rId37"/>
    <p:sldId id="350" r:id="rId38"/>
    <p:sldId id="351" r:id="rId39"/>
    <p:sldId id="352" r:id="rId40"/>
    <p:sldId id="353" r:id="rId41"/>
    <p:sldId id="356" r:id="rId42"/>
    <p:sldId id="357" r:id="rId43"/>
    <p:sldId id="399" r:id="rId44"/>
    <p:sldId id="360" r:id="rId45"/>
    <p:sldId id="361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400" r:id="rId59"/>
    <p:sldId id="375" r:id="rId60"/>
    <p:sldId id="423" r:id="rId61"/>
    <p:sldId id="402" r:id="rId62"/>
    <p:sldId id="404" r:id="rId63"/>
    <p:sldId id="405" r:id="rId64"/>
    <p:sldId id="406" r:id="rId65"/>
    <p:sldId id="407" r:id="rId66"/>
    <p:sldId id="408" r:id="rId67"/>
    <p:sldId id="409" r:id="rId68"/>
    <p:sldId id="410" r:id="rId69"/>
    <p:sldId id="411" r:id="rId70"/>
    <p:sldId id="412" r:id="rId71"/>
    <p:sldId id="413" r:id="rId72"/>
    <p:sldId id="414" r:id="rId73"/>
    <p:sldId id="415" r:id="rId74"/>
    <p:sldId id="418" r:id="rId75"/>
    <p:sldId id="419" r:id="rId76"/>
    <p:sldId id="420" r:id="rId77"/>
    <p:sldId id="421" r:id="rId78"/>
  </p:sldIdLst>
  <p:sldSz cx="12192000" cy="6858000"/>
  <p:notesSz cx="6858000" cy="9144000"/>
  <p:custDataLst>
    <p:tags r:id="rId8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うちは サスケ" initials="うサ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05" autoAdjust="0"/>
  </p:normalViewPr>
  <p:slideViewPr>
    <p:cSldViewPr snapToGrid="0">
      <p:cViewPr varScale="1">
        <p:scale>
          <a:sx n="147" d="100"/>
          <a:sy n="147" d="100"/>
        </p:scale>
        <p:origin x="30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3" Type="http://schemas.openxmlformats.org/officeDocument/2006/relationships/tags" Target="tags/tag3.xml"/><Relationship Id="rId82" Type="http://schemas.openxmlformats.org/officeDocument/2006/relationships/commentAuthors" Target="commentAuthors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5.xml"/><Relationship Id="rId79" Type="http://schemas.openxmlformats.org/officeDocument/2006/relationships/presProps" Target="presProps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F2432-0DD5-48DC-8680-A807AD6131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52F29-A651-43EB-AB88-523A1BC118D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number sign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D5CC2E-C414-4C43-8BD6-107E3E6E7C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D5CC2E-C414-4C43-8BD6-107E3E6E7C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60347-E9C2-4F61-8921-54B9E7B51D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F340E-7412-41B4-B26F-3D5A7F5F92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jpe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tags" Target="../tags/tag2.xml"/><Relationship Id="rId1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HTML Colors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446645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Color Names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550"/>
            <a:ext cx="10515600" cy="489394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With CSS, colors can be set by using color names: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CSS supports 140 standard color names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77" y="2209242"/>
            <a:ext cx="7876046" cy="3050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RGB (Red, Green, Blue)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3841"/>
            <a:ext cx="10515600" cy="44438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dirty="0"/>
              <a:t>With HTML, RGB color values can be specified using this formula: </a:t>
            </a:r>
            <a:r>
              <a:rPr lang="en-US" altLang="zh-CN" dirty="0" err="1"/>
              <a:t>rgb</a:t>
            </a:r>
            <a:r>
              <a:rPr lang="en-US" altLang="zh-CN" dirty="0"/>
              <a:t>(red, green, blue)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Each parameter (red, green, and blue) defines the intensity of the color between 0 and 255.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For example, </a:t>
            </a:r>
            <a:r>
              <a:rPr lang="en-US" altLang="zh-CN" dirty="0" err="1"/>
              <a:t>rgb</a:t>
            </a:r>
            <a:r>
              <a:rPr lang="en-US" altLang="zh-CN" dirty="0"/>
              <a:t>(255,0,0) is displayed as red, because red is set to its highest value (255) and the others are set to 0</a:t>
            </a:r>
            <a:r>
              <a:rPr lang="en-US" altLang="zh-CN"/>
              <a:t>. 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RGB (Red, Green, Blue)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3841"/>
            <a:ext cx="10515600" cy="444389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039" y="1663558"/>
            <a:ext cx="7705922" cy="20694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039" y="4103954"/>
            <a:ext cx="7705922" cy="2572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RGB (Red, Green, Blue)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3841"/>
            <a:ext cx="10515600" cy="44438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Shades of gray are often defined using equal values for all the 3 light sources: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536" y="2871898"/>
            <a:ext cx="8766928" cy="2062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Hexadecimal Colors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3635"/>
            <a:ext cx="10709910" cy="20859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dirty="0"/>
              <a:t>With HTML, RGB values can also be specified using hexadecimal color values in the form: #RRGGBB, where RR (red), GG (green) and BB (blue) are hexadecimal values between 00 and FF (same as decimal 0-255).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For example, #FF0000 is displayed as red, because red is set to its highest value (FF) and the others are set to the lowest value (00).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736" y="3565967"/>
            <a:ext cx="8086528" cy="2668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Hexadecimal Colors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8606"/>
            <a:ext cx="10515600" cy="30057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dirty="0"/>
              <a:t>Shades of gray are often defined using equal values for all the 3 light sources: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058" y="2494091"/>
            <a:ext cx="9253884" cy="2251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 smtClean="0"/>
              <a:t>HTML </a:t>
            </a:r>
            <a:r>
              <a:rPr lang="en-US" altLang="zh-CN" dirty="0"/>
              <a:t>CSS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What is CSS</a:t>
            </a:r>
            <a:r>
              <a:rPr lang="en-US" altLang="zh-CN" dirty="0" smtClean="0"/>
              <a:t>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dirty="0"/>
              <a:t>CSS stands for </a:t>
            </a:r>
            <a:r>
              <a:rPr lang="en-US" altLang="zh-CN" sz="3200" b="1" dirty="0">
                <a:solidFill>
                  <a:srgbClr val="FFFF00"/>
                </a:solidFill>
              </a:rPr>
              <a:t>C</a:t>
            </a:r>
            <a:r>
              <a:rPr lang="en-US" altLang="zh-CN" sz="3200" dirty="0"/>
              <a:t>ascading </a:t>
            </a:r>
            <a:r>
              <a:rPr lang="en-US" altLang="zh-CN" sz="3200" b="1" dirty="0">
                <a:solidFill>
                  <a:srgbClr val="FFFF00"/>
                </a:solidFill>
              </a:rPr>
              <a:t>S</a:t>
            </a:r>
            <a:r>
              <a:rPr lang="en-US" altLang="zh-CN" sz="3200" dirty="0"/>
              <a:t>tyle </a:t>
            </a:r>
            <a:r>
              <a:rPr lang="en-US" altLang="zh-CN" sz="3200" b="1" dirty="0">
                <a:solidFill>
                  <a:srgbClr val="FFFF00"/>
                </a:solidFill>
              </a:rPr>
              <a:t>S</a:t>
            </a:r>
            <a:r>
              <a:rPr lang="en-US" altLang="zh-CN" sz="3200" dirty="0"/>
              <a:t>heets</a:t>
            </a:r>
            <a:r>
              <a:rPr lang="en-US" altLang="zh-CN" sz="3200" dirty="0" smtClean="0"/>
              <a:t>.</a:t>
            </a:r>
            <a:endParaRPr lang="en-US" altLang="zh-CN" sz="3200" dirty="0"/>
          </a:p>
          <a:p>
            <a:r>
              <a:rPr lang="en-US" altLang="zh-CN" sz="3200" dirty="0"/>
              <a:t>CSS describes how HTML elements are to be displayed on screen, paper, or in other media</a:t>
            </a:r>
            <a:endParaRPr lang="en-US" altLang="zh-CN" sz="3200" dirty="0"/>
          </a:p>
          <a:p>
            <a:r>
              <a:rPr lang="en-US" altLang="zh-CN" sz="3200" dirty="0"/>
              <a:t>CSS saves a lot of work. It can control the layout of multiple web pages all at once</a:t>
            </a:r>
            <a:endParaRPr lang="en-US" altLang="zh-CN" sz="3200" dirty="0"/>
          </a:p>
          <a:p>
            <a:r>
              <a:rPr lang="en-US" altLang="zh-CN" sz="3200" dirty="0"/>
              <a:t>External stylesheets are stored in CSS files</a:t>
            </a:r>
            <a:endParaRPr lang="en-US" altLang="zh-CN" sz="3200" dirty="0"/>
          </a:p>
          <a:p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smtClean="0"/>
              <a:t>How to use CSS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5691"/>
            <a:ext cx="10645588" cy="41841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/>
              <a:t>Styling can be added to HTML elements in 3 ways</a:t>
            </a:r>
            <a:r>
              <a:rPr lang="en-US" altLang="zh-CN" sz="3200" dirty="0" smtClean="0"/>
              <a:t>:</a:t>
            </a:r>
            <a:endParaRPr lang="en-US" altLang="zh-CN" sz="3200" dirty="0" smtClean="0"/>
          </a:p>
          <a:p>
            <a:pPr marL="0" indent="0">
              <a:buNone/>
            </a:pPr>
            <a:endParaRPr lang="en-US" altLang="zh-CN" sz="3200" dirty="0" smtClean="0"/>
          </a:p>
          <a:p>
            <a:r>
              <a:rPr lang="en-US" altLang="zh-CN" sz="3200" dirty="0"/>
              <a:t>Inline - using a </a:t>
            </a:r>
            <a:r>
              <a:rPr lang="en-US" altLang="zh-CN" sz="3200" b="1" dirty="0">
                <a:solidFill>
                  <a:srgbClr val="FFFF00"/>
                </a:solidFill>
              </a:rPr>
              <a:t>style attribute</a:t>
            </a:r>
            <a:r>
              <a:rPr lang="en-US" altLang="zh-CN" sz="3200" dirty="0"/>
              <a:t> in HTML elements</a:t>
            </a:r>
            <a:endParaRPr lang="en-US" altLang="zh-CN" sz="3200" dirty="0"/>
          </a:p>
          <a:p>
            <a:r>
              <a:rPr lang="en-US" altLang="zh-CN" sz="3200" dirty="0"/>
              <a:t>Internal - using a </a:t>
            </a:r>
            <a:r>
              <a:rPr lang="en-US" altLang="zh-CN" sz="3200" b="1" dirty="0"/>
              <a:t>&lt;</a:t>
            </a:r>
            <a:r>
              <a:rPr lang="en-US" altLang="zh-CN" sz="3200" b="1" dirty="0">
                <a:solidFill>
                  <a:srgbClr val="FF0000"/>
                </a:solidFill>
              </a:rPr>
              <a:t>style</a:t>
            </a:r>
            <a:r>
              <a:rPr lang="en-US" altLang="zh-CN" sz="3200" b="1" dirty="0"/>
              <a:t>&gt; element</a:t>
            </a:r>
            <a:r>
              <a:rPr lang="en-US" altLang="zh-CN" sz="3200" dirty="0"/>
              <a:t> in the HTML &lt;</a:t>
            </a:r>
            <a:r>
              <a:rPr lang="en-US" altLang="zh-CN" sz="3200" dirty="0">
                <a:solidFill>
                  <a:srgbClr val="FF0000"/>
                </a:solidFill>
              </a:rPr>
              <a:t>head</a:t>
            </a:r>
            <a:r>
              <a:rPr lang="en-US" altLang="zh-CN" sz="3200" dirty="0"/>
              <a:t>&gt; section</a:t>
            </a:r>
            <a:endParaRPr lang="en-US" altLang="zh-CN" sz="3200" dirty="0"/>
          </a:p>
          <a:p>
            <a:r>
              <a:rPr lang="en-US" altLang="zh-CN" sz="3200" dirty="0"/>
              <a:t>External - using one or more </a:t>
            </a:r>
            <a:r>
              <a:rPr lang="en-US" altLang="zh-CN" sz="3200" b="1" dirty="0">
                <a:solidFill>
                  <a:srgbClr val="FFFF00"/>
                </a:solidFill>
              </a:rPr>
              <a:t>external </a:t>
            </a:r>
            <a:r>
              <a:rPr lang="en-US" altLang="zh-CN" sz="3200" b="1">
                <a:solidFill>
                  <a:srgbClr val="FFFF00"/>
                </a:solidFill>
              </a:rPr>
              <a:t>CSS </a:t>
            </a:r>
            <a:r>
              <a:rPr lang="en-US" altLang="zh-CN" sz="3200" b="1" smtClean="0">
                <a:solidFill>
                  <a:srgbClr val="FFFF00"/>
                </a:solidFill>
              </a:rPr>
              <a:t>files</a:t>
            </a:r>
            <a:endParaRPr lang="en-US" altLang="zh-CN" sz="3200" b="1" smtClean="0">
              <a:solidFill>
                <a:srgbClr val="FFFF00"/>
              </a:solidFill>
            </a:endParaRPr>
          </a:p>
          <a:p>
            <a:r>
              <a:rPr lang="en-US" altLang="zh-CN" sz="3200" b="1" smtClean="0">
                <a:solidFill>
                  <a:srgbClr val="FFFF00"/>
                </a:solidFill>
              </a:rPr>
              <a:t>The most common way to add styling, is to keep the styles in separate CSS files</a:t>
            </a:r>
            <a:endParaRPr lang="en-US" altLang="zh-CN" sz="32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 smtClean="0"/>
              <a:t>Inline Styling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b="1" dirty="0" smtClean="0">
                <a:solidFill>
                  <a:srgbClr val="FFFF00"/>
                </a:solidFill>
              </a:rPr>
              <a:t>Inline styling </a:t>
            </a:r>
            <a:r>
              <a:rPr lang="en-US" altLang="zh-CN" dirty="0" smtClean="0"/>
              <a:t>is used to apply a </a:t>
            </a:r>
            <a:r>
              <a:rPr lang="en-US" altLang="zh-CN" b="1" u="sng" dirty="0" smtClean="0"/>
              <a:t>unique</a:t>
            </a:r>
            <a:r>
              <a:rPr lang="en-US" altLang="zh-CN" u="sng" dirty="0" smtClean="0"/>
              <a:t> style to single HTML element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marL="0" indent="0" algn="just">
              <a:buNone/>
            </a:pPr>
            <a:endParaRPr lang="en-US" altLang="zh-CN" dirty="0" smtClean="0"/>
          </a:p>
          <a:p>
            <a:pPr marL="0" indent="0" algn="just">
              <a:buNone/>
            </a:pPr>
            <a:r>
              <a:rPr lang="en-US" altLang="zh-CN" dirty="0"/>
              <a:t>Inline styling uses the </a:t>
            </a:r>
            <a:r>
              <a:rPr lang="en-US" altLang="zh-CN" b="1" dirty="0">
                <a:solidFill>
                  <a:srgbClr val="FFFF00"/>
                </a:solidFill>
              </a:rPr>
              <a:t>style</a:t>
            </a:r>
            <a:r>
              <a:rPr lang="en-US" altLang="zh-CN" dirty="0"/>
              <a:t> attribute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This example changes the text color of the &lt;</a:t>
            </a:r>
            <a:r>
              <a:rPr lang="en-US" altLang="zh-CN" dirty="0">
                <a:solidFill>
                  <a:srgbClr val="FF0000"/>
                </a:solidFill>
              </a:rPr>
              <a:t>h1</a:t>
            </a:r>
            <a:r>
              <a:rPr lang="en-US" altLang="zh-CN" dirty="0"/>
              <a:t>&gt; element to blue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marL="0" indent="0" algn="just">
              <a:buNone/>
            </a:pPr>
            <a:endParaRPr lang="en-US" altLang="zh-CN" dirty="0" smtClean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479" y="4072578"/>
            <a:ext cx="9222391" cy="5908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78" y="5442319"/>
            <a:ext cx="3300731" cy="6449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 smtClean="0"/>
              <a:t>Internal Styling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4570" y="1120775"/>
            <a:ext cx="10591800" cy="15373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dirty="0"/>
              <a:t>Internal styling is used to </a:t>
            </a:r>
            <a:r>
              <a:rPr lang="en-US" altLang="zh-CN" u="sng" dirty="0"/>
              <a:t>define a style for one HTML page</a:t>
            </a:r>
            <a:r>
              <a:rPr lang="en-US" altLang="zh-CN" dirty="0" smtClean="0"/>
              <a:t>. It’s </a:t>
            </a:r>
            <a:r>
              <a:rPr lang="en-US" altLang="zh-CN" dirty="0"/>
              <a:t>defined </a:t>
            </a:r>
            <a:r>
              <a:rPr lang="en-US" altLang="zh-CN" dirty="0">
                <a:solidFill>
                  <a:srgbClr val="FFFF00"/>
                </a:solidFill>
              </a:rPr>
              <a:t>in the </a:t>
            </a:r>
            <a:r>
              <a:rPr lang="en-US" altLang="zh-CN" b="1" dirty="0">
                <a:solidFill>
                  <a:srgbClr val="FFFF00"/>
                </a:solidFill>
              </a:rPr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head</a:t>
            </a:r>
            <a:r>
              <a:rPr lang="en-US" altLang="zh-CN" b="1" dirty="0">
                <a:solidFill>
                  <a:srgbClr val="FFFF00"/>
                </a:solidFill>
              </a:rPr>
              <a:t>&gt;</a:t>
            </a:r>
            <a:r>
              <a:rPr lang="en-US" altLang="zh-CN" dirty="0">
                <a:solidFill>
                  <a:srgbClr val="FFFF00"/>
                </a:solidFill>
              </a:rPr>
              <a:t> section</a:t>
            </a:r>
            <a:r>
              <a:rPr lang="en-US" altLang="zh-CN" dirty="0"/>
              <a:t> of an HTML page, within a</a:t>
            </a:r>
            <a:r>
              <a:rPr lang="en-US" altLang="zh-CN" dirty="0">
                <a:solidFill>
                  <a:srgbClr val="FFFF00"/>
                </a:solidFill>
              </a:rPr>
              <a:t>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style</a:t>
            </a:r>
            <a:r>
              <a:rPr lang="en-US" altLang="zh-CN" b="1" dirty="0"/>
              <a:t>&gt;</a:t>
            </a:r>
            <a:r>
              <a:rPr lang="en-US" altLang="zh-CN" dirty="0"/>
              <a:t> element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b="1" dirty="0" smtClean="0"/>
              <a:t>Example:</a:t>
            </a:r>
            <a:endParaRPr lang="en-US" altLang="zh-CN" b="1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315" y="2999886"/>
            <a:ext cx="3692932" cy="35207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71" y="2999887"/>
            <a:ext cx="3766208" cy="3520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 smtClean="0"/>
              <a:t>External Styling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094740"/>
            <a:ext cx="11383645" cy="2044065"/>
          </a:xfrm>
        </p:spPr>
        <p:txBody>
          <a:bodyPr>
            <a:no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en-US" altLang="zh-CN" sz="2400" dirty="0"/>
              <a:t>An external style sheet is used to define the style </a:t>
            </a:r>
            <a:r>
              <a:rPr lang="en-US" altLang="zh-CN" sz="2400" u="sng" dirty="0"/>
              <a:t>for many pages</a:t>
            </a:r>
            <a:r>
              <a:rPr lang="en-US" altLang="zh-CN" sz="2400" dirty="0" smtClean="0"/>
              <a:t>. </a:t>
            </a:r>
            <a:r>
              <a:rPr lang="en-US" altLang="zh-CN" sz="2400" dirty="0"/>
              <a:t>With an external style sheet, you can change the look of an </a:t>
            </a:r>
            <a:r>
              <a:rPr lang="en-US" altLang="zh-CN" sz="2400" b="1" dirty="0"/>
              <a:t>entire</a:t>
            </a:r>
            <a:r>
              <a:rPr lang="en-US" altLang="zh-CN" sz="2400" dirty="0"/>
              <a:t> web site by changing </a:t>
            </a:r>
            <a:r>
              <a:rPr lang="en-US" altLang="zh-CN" sz="2400" b="1" dirty="0"/>
              <a:t>one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file! To </a:t>
            </a:r>
            <a:r>
              <a:rPr lang="en-US" altLang="zh-CN" sz="2400" dirty="0"/>
              <a:t>use an external style sheet, </a:t>
            </a:r>
            <a:r>
              <a:rPr lang="en-US" altLang="zh-CN" sz="2400" b="1" dirty="0"/>
              <a:t>add a </a:t>
            </a:r>
            <a:r>
              <a:rPr lang="en-US" altLang="zh-CN" sz="2400" b="1" dirty="0">
                <a:solidFill>
                  <a:srgbClr val="FF0000"/>
                </a:solidFill>
              </a:rPr>
              <a:t>link</a:t>
            </a:r>
            <a:r>
              <a:rPr lang="en-US" altLang="zh-CN" sz="2400" b="1" dirty="0"/>
              <a:t> to it in the &lt;</a:t>
            </a:r>
            <a:r>
              <a:rPr lang="en-US" altLang="zh-CN" sz="2400" b="1" dirty="0">
                <a:solidFill>
                  <a:srgbClr val="FF0000"/>
                </a:solidFill>
              </a:rPr>
              <a:t>head</a:t>
            </a:r>
            <a:r>
              <a:rPr lang="en-US" altLang="zh-CN" sz="2400" b="1" dirty="0"/>
              <a:t>&gt; section of the HTML page. </a:t>
            </a:r>
            <a:endParaRPr lang="en-US" altLang="zh-CN" sz="2400" b="1" dirty="0"/>
          </a:p>
          <a:p>
            <a:pPr algn="just">
              <a:buFont typeface="Wingdings" panose="05000000000000000000" charset="0"/>
              <a:buChar char="n"/>
            </a:pPr>
            <a:r>
              <a:rPr lang="en-US" altLang="zh-CN" sz="2400" dirty="0"/>
              <a:t>T</a:t>
            </a:r>
            <a:r>
              <a:rPr lang="zh-CN" altLang="en-US" sz="2400" dirty="0"/>
              <a:t>he required rel attribute specifies the relationship between the current document and the linked document/resource</a:t>
            </a:r>
            <a:r>
              <a:rPr lang="en-US" altLang="zh-CN" sz="2400" dirty="0"/>
              <a:t>; the href attribute specifies the location of the style sheet.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108" y="3428925"/>
            <a:ext cx="3734124" cy="29282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52" y="3484804"/>
            <a:ext cx="3162574" cy="29282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314" y="3428923"/>
            <a:ext cx="3276656" cy="29282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80962" y="635713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Styles.css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52858" y="6357134"/>
            <a:ext cx="1149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page.html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9262865" y="6357134"/>
            <a:ext cx="77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Result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 smtClean="0"/>
              <a:t>CSS Fonts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5112"/>
            <a:ext cx="10515600" cy="1856687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The CSS </a:t>
            </a:r>
            <a:r>
              <a:rPr lang="en-US" altLang="zh-CN" b="1" dirty="0">
                <a:solidFill>
                  <a:srgbClr val="FFFF00"/>
                </a:solidFill>
              </a:rPr>
              <a:t>color</a:t>
            </a:r>
            <a:r>
              <a:rPr lang="en-US" altLang="zh-CN" dirty="0"/>
              <a:t> property defines the </a:t>
            </a:r>
            <a:r>
              <a:rPr lang="en-US" altLang="zh-CN" dirty="0">
                <a:solidFill>
                  <a:srgbClr val="FFFF00"/>
                </a:solidFill>
              </a:rPr>
              <a:t>text color </a:t>
            </a:r>
            <a:r>
              <a:rPr lang="en-US" altLang="zh-CN" dirty="0"/>
              <a:t>to be used for the HTML element.</a:t>
            </a:r>
            <a:endParaRPr lang="en-US" altLang="zh-CN" dirty="0"/>
          </a:p>
          <a:p>
            <a:r>
              <a:rPr lang="en-US" altLang="zh-CN" dirty="0"/>
              <a:t>The CSS </a:t>
            </a:r>
            <a:r>
              <a:rPr lang="en-US" altLang="zh-CN" b="1" dirty="0">
                <a:solidFill>
                  <a:srgbClr val="FFFF00"/>
                </a:solidFill>
              </a:rPr>
              <a:t>font-family</a:t>
            </a:r>
            <a:r>
              <a:rPr lang="en-US" altLang="zh-CN" dirty="0"/>
              <a:t> property defines the </a:t>
            </a:r>
            <a:r>
              <a:rPr lang="en-US" altLang="zh-CN" dirty="0">
                <a:solidFill>
                  <a:srgbClr val="FFFF00"/>
                </a:solidFill>
              </a:rPr>
              <a:t>font</a:t>
            </a:r>
            <a:r>
              <a:rPr lang="en-US" altLang="zh-CN" dirty="0"/>
              <a:t> to be used for the HTML element.</a:t>
            </a:r>
            <a:endParaRPr lang="en-US" altLang="zh-CN" dirty="0"/>
          </a:p>
          <a:p>
            <a:r>
              <a:rPr lang="en-US" altLang="zh-CN" dirty="0"/>
              <a:t>The CSS </a:t>
            </a:r>
            <a:r>
              <a:rPr lang="en-US" altLang="zh-CN" b="1" dirty="0">
                <a:solidFill>
                  <a:srgbClr val="FFFF00"/>
                </a:solidFill>
              </a:rPr>
              <a:t>font-size</a:t>
            </a:r>
            <a:r>
              <a:rPr lang="en-US" altLang="zh-CN" b="1" dirty="0"/>
              <a:t> </a:t>
            </a:r>
            <a:r>
              <a:rPr lang="en-US" altLang="zh-CN" dirty="0"/>
              <a:t>property defines the </a:t>
            </a:r>
            <a:r>
              <a:rPr lang="en-US" altLang="zh-CN" dirty="0">
                <a:solidFill>
                  <a:srgbClr val="FFFF00"/>
                </a:solidFill>
              </a:rPr>
              <a:t>text size </a:t>
            </a:r>
            <a:r>
              <a:rPr lang="en-US" altLang="zh-CN" dirty="0"/>
              <a:t>to be used for the HTML element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Example: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454" y="3340099"/>
            <a:ext cx="3578394" cy="25453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55" y="5885400"/>
            <a:ext cx="3578392" cy="58679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77" y="3342913"/>
            <a:ext cx="3744352" cy="3129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606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The CSS Box Model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685" y="1312545"/>
            <a:ext cx="10744835" cy="101346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Every HTML element has a box around it, even if you cannot see it.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 smtClean="0"/>
              <a:t>Example: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47" y="3065333"/>
            <a:ext cx="4625900" cy="32676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41695" y="2929890"/>
            <a:ext cx="591312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The CSS </a:t>
            </a:r>
            <a:r>
              <a:rPr lang="en-US" altLang="zh-CN" sz="2800" b="1" dirty="0">
                <a:solidFill>
                  <a:srgbClr val="FFFF00"/>
                </a:solidFill>
              </a:rPr>
              <a:t>border</a:t>
            </a:r>
            <a:r>
              <a:rPr lang="en-US" altLang="zh-CN" sz="2800" dirty="0"/>
              <a:t> property defines a visible border around an HTML </a:t>
            </a:r>
            <a:r>
              <a:rPr lang="en-US" altLang="zh-CN" sz="2800" dirty="0" smtClean="0"/>
              <a:t>element.</a:t>
            </a:r>
            <a:endParaRPr lang="en-US" altLang="zh-CN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The CSS </a:t>
            </a:r>
            <a:r>
              <a:rPr lang="en-US" altLang="zh-CN" sz="2800" b="1" dirty="0">
                <a:solidFill>
                  <a:srgbClr val="FFFF00"/>
                </a:solidFill>
              </a:rPr>
              <a:t>padding</a:t>
            </a:r>
            <a:r>
              <a:rPr lang="en-US" altLang="zh-CN" sz="2800" dirty="0"/>
              <a:t> property defines a padding (space) inside the </a:t>
            </a:r>
            <a:r>
              <a:rPr lang="en-US" altLang="zh-CN" sz="2800" dirty="0" smtClean="0"/>
              <a:t>border.</a:t>
            </a:r>
            <a:endParaRPr lang="en-US" altLang="zh-CN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The CSS </a:t>
            </a:r>
            <a:r>
              <a:rPr lang="en-US" altLang="zh-CN" sz="2800" b="1" dirty="0">
                <a:solidFill>
                  <a:srgbClr val="FFFF00"/>
                </a:solidFill>
              </a:rPr>
              <a:t>margin</a:t>
            </a:r>
            <a:r>
              <a:rPr lang="en-US" altLang="zh-CN" sz="2800" dirty="0"/>
              <a:t> property defines a margin (space) outside the border: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606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The CSS Box Model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5267" y="3020100"/>
            <a:ext cx="7018063" cy="22150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7" y="2393637"/>
            <a:ext cx="4152381" cy="3752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410"/>
          </a:xfrm>
        </p:spPr>
        <p:txBody>
          <a:bodyPr/>
          <a:lstStyle/>
          <a:p>
            <a:pPr algn="ctr"/>
            <a:r>
              <a:rPr lang="en-US" altLang="zh-CN" dirty="0" smtClean="0"/>
              <a:t>The id Attribute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7265" y="1421026"/>
            <a:ext cx="10857470" cy="139813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All the examples above use CSS to style HTML elements in a general way.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To define a special style for one special element, first add an id attribute to the element: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63" y="3078647"/>
            <a:ext cx="10396538" cy="569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265" y="3907639"/>
            <a:ext cx="8149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then define a style for the element with the specific id: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4790860"/>
            <a:ext cx="10396537" cy="1009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410"/>
          </a:xfrm>
        </p:spPr>
        <p:txBody>
          <a:bodyPr/>
          <a:lstStyle/>
          <a:p>
            <a:pPr algn="ctr"/>
            <a:r>
              <a:rPr lang="en-US" altLang="zh-CN" dirty="0" smtClean="0"/>
              <a:t>The id Attribute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53" y="2044737"/>
            <a:ext cx="4768678" cy="4202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573" y="2613860"/>
            <a:ext cx="4234227" cy="2273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765"/>
          </a:xfrm>
        </p:spPr>
        <p:txBody>
          <a:bodyPr/>
          <a:lstStyle/>
          <a:p>
            <a:pPr algn="ctr"/>
            <a:r>
              <a:rPr lang="en-US" altLang="zh-CN" dirty="0" smtClean="0"/>
              <a:t>The class Attribute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6220"/>
            <a:ext cx="10515600" cy="787829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To define a style for a special type (class) of elements, add a class attribute to the element:</a:t>
            </a:r>
            <a:endParaRPr lang="en-US" altLang="zh-CN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955" y="2748280"/>
            <a:ext cx="10696575" cy="654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3714750"/>
            <a:ext cx="10976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Now you can define a different style for elements with the specific class: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95" y="4744085"/>
            <a:ext cx="9766935" cy="123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The class Attribute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34" y="2085061"/>
            <a:ext cx="4630604" cy="416859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557" y="2618014"/>
            <a:ext cx="4541370" cy="2311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372"/>
          </a:xfrm>
        </p:spPr>
        <p:txBody>
          <a:bodyPr/>
          <a:lstStyle/>
          <a:p>
            <a:pPr algn="ctr"/>
            <a:r>
              <a:rPr lang="en-US" altLang="zh-CN" dirty="0" smtClean="0"/>
              <a:t>HTML CSS Summary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637" y="1690688"/>
            <a:ext cx="1126524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Use the HTML</a:t>
            </a:r>
            <a:r>
              <a:rPr lang="en-US" altLang="zh-CN" dirty="0">
                <a:solidFill>
                  <a:srgbClr val="FFFF00"/>
                </a:solidFill>
              </a:rPr>
              <a:t> </a:t>
            </a:r>
            <a:r>
              <a:rPr lang="en-US" altLang="zh-CN" b="1" dirty="0">
                <a:solidFill>
                  <a:srgbClr val="FFFF00"/>
                </a:solidFill>
              </a:rPr>
              <a:t>style</a:t>
            </a:r>
            <a:r>
              <a:rPr lang="en-US" altLang="zh-CN" dirty="0"/>
              <a:t> attribute for inline styling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style</a:t>
            </a:r>
            <a:r>
              <a:rPr lang="en-US" altLang="zh-CN" b="1" dirty="0"/>
              <a:t>&gt;</a:t>
            </a:r>
            <a:r>
              <a:rPr lang="en-US" altLang="zh-CN" dirty="0"/>
              <a:t> element to define internal CSS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link</a:t>
            </a:r>
            <a:r>
              <a:rPr lang="en-US" altLang="zh-CN" b="1" dirty="0"/>
              <a:t>&gt;</a:t>
            </a:r>
            <a:r>
              <a:rPr lang="en-US" altLang="zh-CN" dirty="0"/>
              <a:t> element to refer to an external CSS file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head</a:t>
            </a:r>
            <a:r>
              <a:rPr lang="en-US" altLang="zh-CN" b="1" dirty="0"/>
              <a:t>&gt;</a:t>
            </a:r>
            <a:r>
              <a:rPr lang="en-US" altLang="zh-CN" dirty="0"/>
              <a:t> element to store &lt;style&gt; and &lt;link&gt; elements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color</a:t>
            </a:r>
            <a:r>
              <a:rPr lang="en-US" altLang="zh-CN" dirty="0"/>
              <a:t> property for text colors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font-family</a:t>
            </a:r>
            <a:r>
              <a:rPr lang="en-US" altLang="zh-CN" dirty="0"/>
              <a:t> property for text fonts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font-size</a:t>
            </a:r>
            <a:r>
              <a:rPr lang="en-US" altLang="zh-CN" dirty="0"/>
              <a:t> property for text sizes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border</a:t>
            </a:r>
            <a:r>
              <a:rPr lang="en-US" altLang="zh-CN" dirty="0"/>
              <a:t> property for visible element borders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padding</a:t>
            </a:r>
            <a:r>
              <a:rPr lang="en-US" altLang="zh-CN" dirty="0"/>
              <a:t> property for space inside the border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margin</a:t>
            </a:r>
            <a:r>
              <a:rPr lang="en-US" altLang="zh-CN" dirty="0"/>
              <a:t> property for space outside the </a:t>
            </a:r>
            <a:r>
              <a:rPr lang="en-US" altLang="zh-CN" dirty="0" smtClean="0"/>
              <a:t>border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 smtClean="0"/>
              <a:t>HTML LINKS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HTML Links - Hyperlinks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Links are found in nearly all web pages. Links allow users to click their way from page to page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HTML links are hyperlinks.</a:t>
            </a:r>
            <a:endParaRPr lang="en-US" altLang="zh-CN" dirty="0"/>
          </a:p>
          <a:p>
            <a:r>
              <a:rPr lang="en-US" altLang="zh-CN" dirty="0"/>
              <a:t>You can click on a link and jump to another document.</a:t>
            </a:r>
            <a:endParaRPr lang="en-US" altLang="zh-CN" dirty="0"/>
          </a:p>
          <a:p>
            <a:r>
              <a:rPr lang="en-US" altLang="zh-CN" dirty="0"/>
              <a:t>When you move the mouse over a link, the mouse arrow will turn into a little hand.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7299"/>
            <a:ext cx="10515600" cy="997752"/>
          </a:xfrm>
        </p:spPr>
        <p:txBody>
          <a:bodyPr/>
          <a:lstStyle/>
          <a:p>
            <a:pPr algn="ctr"/>
            <a:r>
              <a:rPr lang="en-US" altLang="zh-CN" dirty="0"/>
              <a:t>HTML </a:t>
            </a:r>
            <a:r>
              <a:rPr lang="en-US" altLang="zh-CN" dirty="0" smtClean="0"/>
              <a:t>Links - 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4949"/>
            <a:ext cx="10515600" cy="55305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The HTML &lt;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&gt; tag defines a hyperlink. It has the following syntax: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652270"/>
            <a:ext cx="10072370" cy="600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2301875"/>
            <a:ext cx="112649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The most important attribute of the &lt;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&gt; element is 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href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attribute, which indicates the link's destination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link text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is the part that will be 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visible to the reader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Clicking on the link text, will send the reader to the specified URL address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Example: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200" y="6457434"/>
            <a:ext cx="6107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Tip: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Links can of course be styled with CSS, to get another look!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63440"/>
            <a:ext cx="6659880" cy="17265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941" y="5175639"/>
            <a:ext cx="2940980" cy="575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HTML </a:t>
            </a:r>
            <a:r>
              <a:rPr lang="en-US" altLang="zh-CN" dirty="0" smtClean="0"/>
              <a:t>Links – The target Attribute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541" y="1479635"/>
            <a:ext cx="11134165" cy="420847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altLang="zh-CN" dirty="0"/>
              <a:t>By default, the linked page will be displayed in the current browser window. To change this, you must specify another target for the link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target</a:t>
            </a:r>
            <a:r>
              <a:rPr lang="en-US" altLang="zh-CN" dirty="0"/>
              <a:t> attribute specifies where to open the linked document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target</a:t>
            </a:r>
            <a:r>
              <a:rPr lang="en-US" altLang="zh-CN" dirty="0"/>
              <a:t> attribute can have one of the following values</a:t>
            </a:r>
            <a:r>
              <a:rPr lang="en-US" altLang="zh-CN" dirty="0" smtClean="0"/>
              <a:t>:</a:t>
            </a:r>
            <a:endParaRPr lang="en-US" altLang="zh-CN" dirty="0"/>
          </a:p>
          <a:p>
            <a:pPr algn="just"/>
            <a:r>
              <a:rPr lang="en-US" altLang="zh-CN" b="1" dirty="0" smtClean="0">
                <a:solidFill>
                  <a:srgbClr val="FF0000"/>
                </a:solidFill>
              </a:rPr>
              <a:t>_</a:t>
            </a:r>
            <a:r>
              <a:rPr lang="en-US" altLang="zh-CN" b="1" dirty="0">
                <a:solidFill>
                  <a:srgbClr val="FF0000"/>
                </a:solidFill>
              </a:rPr>
              <a:t>self </a:t>
            </a:r>
            <a:r>
              <a:rPr lang="en-US" altLang="zh-CN" b="1" dirty="0" smtClean="0">
                <a:solidFill>
                  <a:srgbClr val="FF0000"/>
                </a:solidFill>
              </a:rPr>
              <a:t>    </a:t>
            </a:r>
            <a:r>
              <a:rPr lang="en-US" altLang="zh-CN" dirty="0" smtClean="0"/>
              <a:t>- </a:t>
            </a:r>
            <a:r>
              <a:rPr lang="en-US" altLang="zh-CN" dirty="0"/>
              <a:t>Default. Opens the document in the same window/tab as it was clicked</a:t>
            </a:r>
            <a:endParaRPr lang="en-US" altLang="zh-CN" dirty="0"/>
          </a:p>
          <a:p>
            <a:pPr algn="just"/>
            <a:r>
              <a:rPr lang="en-US" altLang="zh-CN" b="1" dirty="0" smtClean="0">
                <a:solidFill>
                  <a:srgbClr val="FF0000"/>
                </a:solidFill>
              </a:rPr>
              <a:t>_</a:t>
            </a:r>
            <a:r>
              <a:rPr lang="en-US" altLang="zh-CN" b="1" dirty="0">
                <a:solidFill>
                  <a:srgbClr val="FF0000"/>
                </a:solidFill>
              </a:rPr>
              <a:t>blank </a:t>
            </a:r>
            <a:r>
              <a:rPr lang="en-US" altLang="zh-CN" b="1" dirty="0" smtClean="0">
                <a:solidFill>
                  <a:srgbClr val="FF0000"/>
                </a:solidFill>
              </a:rPr>
              <a:t>  </a:t>
            </a:r>
            <a:r>
              <a:rPr lang="en-US" altLang="zh-CN" dirty="0" smtClean="0"/>
              <a:t>- </a:t>
            </a:r>
            <a:r>
              <a:rPr lang="en-US" altLang="zh-CN" dirty="0"/>
              <a:t>Opens the document in a new window or tab</a:t>
            </a:r>
            <a:endParaRPr lang="en-US" altLang="zh-CN" dirty="0"/>
          </a:p>
          <a:p>
            <a:pPr algn="just"/>
            <a:r>
              <a:rPr lang="en-US" altLang="zh-CN" b="1" dirty="0" smtClean="0">
                <a:solidFill>
                  <a:srgbClr val="FF0000"/>
                </a:solidFill>
              </a:rPr>
              <a:t>_</a:t>
            </a:r>
            <a:r>
              <a:rPr lang="en-US" altLang="zh-CN" b="1" dirty="0">
                <a:solidFill>
                  <a:srgbClr val="FF0000"/>
                </a:solidFill>
              </a:rPr>
              <a:t>parent </a:t>
            </a:r>
            <a:r>
              <a:rPr lang="en-US" altLang="zh-CN" dirty="0"/>
              <a:t>- Opens the document in the parent frame</a:t>
            </a:r>
            <a:endParaRPr lang="en-US" altLang="zh-CN" dirty="0"/>
          </a:p>
          <a:p>
            <a:pPr algn="just"/>
            <a:r>
              <a:rPr lang="en-US" altLang="zh-CN" b="1" dirty="0" smtClean="0">
                <a:solidFill>
                  <a:srgbClr val="FF0000"/>
                </a:solidFill>
              </a:rPr>
              <a:t>_top       </a:t>
            </a:r>
            <a:r>
              <a:rPr lang="en-US" altLang="zh-CN" dirty="0"/>
              <a:t>- Opens the document in the full body of the </a:t>
            </a:r>
            <a:r>
              <a:rPr lang="en-US" altLang="zh-CN" dirty="0" smtClean="0"/>
              <a:t>window</a:t>
            </a:r>
            <a:endParaRPr lang="en-US" altLang="zh-CN" dirty="0" smtClean="0"/>
          </a:p>
          <a:p>
            <a:pPr marL="0" indent="0" algn="just">
              <a:buNone/>
            </a:pPr>
            <a:r>
              <a:rPr lang="en-US" altLang="zh-CN" dirty="0" smtClean="0"/>
              <a:t>Example: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9065" y="5811520"/>
            <a:ext cx="9293225" cy="661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5813"/>
          </a:xfrm>
        </p:spPr>
        <p:txBody>
          <a:bodyPr/>
          <a:lstStyle/>
          <a:p>
            <a:pPr algn="ctr"/>
            <a:r>
              <a:rPr lang="en-US" altLang="zh-CN" smtClean="0"/>
              <a:t>HTML Links -Colors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6735" y="1461135"/>
            <a:ext cx="11264265" cy="50761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zh-CN" sz="3200"/>
              <a:t>When you move the mouse over a link, two things will normally happen:</a:t>
            </a:r>
            <a:endParaRPr lang="en-US" altLang="zh-CN" sz="3200"/>
          </a:p>
          <a:p>
            <a:pPr algn="just"/>
            <a:r>
              <a:rPr lang="en-US" altLang="zh-CN" sz="3200"/>
              <a:t>The mouse arrow will turn into a little hand</a:t>
            </a:r>
            <a:endParaRPr lang="en-US" altLang="zh-CN" sz="3200"/>
          </a:p>
          <a:p>
            <a:pPr algn="just"/>
            <a:r>
              <a:rPr lang="en-US" altLang="zh-CN" sz="3200"/>
              <a:t>The color of the link element will change</a:t>
            </a:r>
            <a:endParaRPr lang="en-US" altLang="zh-CN" sz="3200"/>
          </a:p>
          <a:p>
            <a:pPr marL="0" indent="0" algn="just">
              <a:buNone/>
            </a:pPr>
            <a:r>
              <a:rPr lang="en-US" altLang="zh-CN" sz="3200"/>
              <a:t>By default, a link will appear like this (in all browsers):</a:t>
            </a:r>
            <a:endParaRPr lang="en-US" altLang="zh-CN" sz="3200"/>
          </a:p>
          <a:p>
            <a:pPr algn="just"/>
            <a:r>
              <a:rPr lang="en-US" altLang="zh-CN" sz="3200"/>
              <a:t>An unvisited link is underlined and blue</a:t>
            </a:r>
            <a:endParaRPr lang="en-US" altLang="zh-CN" sz="3200"/>
          </a:p>
          <a:p>
            <a:pPr algn="just"/>
            <a:r>
              <a:rPr lang="en-US" altLang="zh-CN" sz="3200"/>
              <a:t>A visited link is underlined and purple </a:t>
            </a:r>
            <a:endParaRPr lang="en-US" altLang="zh-CN" sz="3200"/>
          </a:p>
          <a:p>
            <a:pPr algn="just"/>
            <a:r>
              <a:rPr lang="en-US" altLang="zh-CN" sz="3200"/>
              <a:t>An active link is underlined and red </a:t>
            </a:r>
            <a:r>
              <a:rPr lang="en-US" altLang="zh-CN" sz="3200">
                <a:solidFill>
                  <a:srgbClr val="FFFF00"/>
                </a:solidFill>
              </a:rPr>
              <a:t>(A link becomes activated when the user clicks on it)</a:t>
            </a:r>
            <a:endParaRPr lang="en-US" altLang="zh-CN" sz="3200">
              <a:solidFill>
                <a:srgbClr val="FFFF00"/>
              </a:solidFill>
            </a:endParaRPr>
          </a:p>
          <a:p>
            <a:pPr marL="0" indent="0" algn="just">
              <a:buNone/>
            </a:pPr>
            <a:r>
              <a:rPr lang="en-US" altLang="zh-CN" sz="3200" smtClean="0">
                <a:solidFill>
                  <a:srgbClr val="FFFF00"/>
                </a:solidFill>
              </a:rPr>
              <a:t>Hint </a:t>
            </a:r>
            <a:r>
              <a:rPr lang="zh-CN" altLang="en-US" sz="3200" smtClean="0">
                <a:solidFill>
                  <a:srgbClr val="FFFF00"/>
                </a:solidFill>
              </a:rPr>
              <a:t>： </a:t>
            </a:r>
            <a:r>
              <a:rPr lang="en-US" altLang="zh-CN" sz="3200" smtClean="0">
                <a:solidFill>
                  <a:srgbClr val="FFFF00"/>
                </a:solidFill>
              </a:rPr>
              <a:t>You </a:t>
            </a:r>
            <a:r>
              <a:rPr lang="en-US" altLang="zh-CN" sz="3200">
                <a:solidFill>
                  <a:srgbClr val="FFFF00"/>
                </a:solidFill>
              </a:rPr>
              <a:t>can change the default colors, by using </a:t>
            </a:r>
            <a:r>
              <a:rPr lang="en-US" altLang="zh-CN" sz="3200" smtClean="0">
                <a:solidFill>
                  <a:srgbClr val="FFFF00"/>
                </a:solidFill>
              </a:rPr>
              <a:t>styles</a:t>
            </a:r>
            <a:endParaRPr lang="en-US" altLang="zh-CN" sz="320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04545"/>
          </a:xfrm>
        </p:spPr>
        <p:txBody>
          <a:bodyPr/>
          <a:lstStyle/>
          <a:p>
            <a:pPr algn="ctr"/>
            <a:r>
              <a:rPr lang="en-US" altLang="zh-CN" smtClean="0"/>
              <a:t>HTML Links -Colors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35" y="1102995"/>
            <a:ext cx="10518140" cy="1998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95" y="3228975"/>
            <a:ext cx="4894580" cy="875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730" y="5608955"/>
            <a:ext cx="4893945" cy="11036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30" y="4248150"/>
            <a:ext cx="4893945" cy="1217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 smtClean="0"/>
              <a:t>Absolute URLs vs. Relative URLs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8645" y="1308100"/>
            <a:ext cx="11320780" cy="1431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Both examples above are using an absolute URL (a full web address) in the </a:t>
            </a:r>
            <a:r>
              <a:rPr lang="en-US" altLang="zh-CN" sz="2400" dirty="0">
                <a:solidFill>
                  <a:srgbClr val="FFFF00"/>
                </a:solidFill>
              </a:rPr>
              <a:t>href</a:t>
            </a:r>
            <a:r>
              <a:rPr lang="en-US" altLang="zh-CN" sz="2400" dirty="0"/>
              <a:t> attribute</a:t>
            </a:r>
            <a:r>
              <a:rPr lang="en-US" altLang="zh-CN" sz="2400" dirty="0" smtClean="0"/>
              <a:t>.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A local link (a link to a page within the same website) is specified with a relative URL (without the "https://www" part):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022" y="2686129"/>
            <a:ext cx="9794249" cy="248105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87425" y="5649595"/>
            <a:ext cx="107016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rgbClr val="FFFF00"/>
                </a:solidFill>
              </a:rPr>
              <a:t>a relative URL is relative to the current directory.</a:t>
            </a:r>
            <a:endParaRPr lang="en-US" altLang="zh-CN" sz="240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rgbClr val="FFFF00"/>
                </a:solidFill>
              </a:rPr>
              <a:t>If the relative URL has a leading slash, it means that is relative to the root domain</a:t>
            </a:r>
            <a:endParaRPr lang="en-US" altLang="zh-CN" sz="240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82993"/>
          </a:xfrm>
        </p:spPr>
        <p:txBody>
          <a:bodyPr/>
          <a:lstStyle/>
          <a:p>
            <a:pPr algn="ctr"/>
            <a:r>
              <a:rPr lang="en-US" altLang="zh-CN" dirty="0" smtClean="0"/>
              <a:t>More on Absolute URLs and Relative URLs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67560"/>
            <a:ext cx="10515600" cy="3592830"/>
          </a:xfrm>
        </p:spPr>
        <p:txBody>
          <a:bodyPr>
            <a:normAutofit/>
          </a:bodyPr>
          <a:lstStyle/>
          <a:p>
            <a:r>
              <a:rPr lang="en-US" altLang="zh-CN" dirty="0"/>
              <a:t>Use a full URL to link to a web page: 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Link to a page located in the html folder on the current web site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en-US" altLang="zh-CN" dirty="0" smtClean="0"/>
          </a:p>
          <a:p>
            <a:r>
              <a:rPr lang="en-US" altLang="zh-CN" dirty="0"/>
              <a:t>Link to a page located in the same folder as the current page: 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429" y="2673263"/>
            <a:ext cx="8858947" cy="3254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29" y="3604284"/>
            <a:ext cx="8864669" cy="4029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429" y="4612812"/>
            <a:ext cx="8909664" cy="389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 </a:t>
            </a:r>
            <a:r>
              <a:rPr lang="en-US" altLang="zh-CN" dirty="0" smtClean="0"/>
              <a:t>Links – Use an Image as a link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9690"/>
            <a:ext cx="10515600" cy="5126355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dirty="0"/>
              <a:t>To use an image as a link, just put the &lt;</a:t>
            </a:r>
            <a:r>
              <a:rPr lang="en-US" altLang="zh-CN" dirty="0">
                <a:solidFill>
                  <a:srgbClr val="FF0000"/>
                </a:solidFill>
              </a:rPr>
              <a:t>img</a:t>
            </a:r>
            <a:r>
              <a:rPr lang="en-US" altLang="zh-CN" dirty="0"/>
              <a:t>&gt; tag inside the &lt;a&gt; tag: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623" y="4766604"/>
            <a:ext cx="7702754" cy="1486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4022830"/>
            <a:ext cx="106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Result: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533" y="2013862"/>
            <a:ext cx="7702754" cy="1785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 smtClean="0"/>
              <a:t>Link to an Email Address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1960" y="1115060"/>
            <a:ext cx="11460480" cy="94107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dirty="0"/>
              <a:t>Use </a:t>
            </a:r>
            <a:r>
              <a:rPr lang="en-US" altLang="zh-CN" dirty="0">
                <a:solidFill>
                  <a:srgbClr val="FF0000"/>
                </a:solidFill>
              </a:rPr>
              <a:t>mailto:</a:t>
            </a:r>
            <a:r>
              <a:rPr lang="en-US" altLang="zh-CN" dirty="0"/>
              <a:t> inside the </a:t>
            </a:r>
            <a:r>
              <a:rPr lang="en-US" altLang="zh-CN" dirty="0">
                <a:solidFill>
                  <a:srgbClr val="FFFF00"/>
                </a:solidFill>
              </a:rPr>
              <a:t>href</a:t>
            </a:r>
            <a:r>
              <a:rPr lang="en-US" altLang="zh-CN" dirty="0"/>
              <a:t> attribute to create a link that opens the user's email program (to let them send a new email):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" y="2056130"/>
            <a:ext cx="11460480" cy="18853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8200" y="3958552"/>
            <a:ext cx="6127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Clicking on the link will show a window: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899" y="4599248"/>
            <a:ext cx="2065673" cy="19432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36712"/>
            <a:ext cx="6683319" cy="194326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081297" y="6272005"/>
            <a:ext cx="91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After click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372"/>
          </a:xfrm>
        </p:spPr>
        <p:txBody>
          <a:bodyPr/>
          <a:lstStyle/>
          <a:p>
            <a:pPr algn="ctr"/>
            <a:r>
              <a:rPr lang="en-US" altLang="zh-CN" dirty="0" smtClean="0"/>
              <a:t>Summary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3550" y="2053590"/>
            <a:ext cx="11265535" cy="397002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Use the &lt;</a:t>
            </a:r>
            <a:r>
              <a:rPr lang="en-US" altLang="zh-CN" sz="3200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&gt; element to define a link</a:t>
            </a:r>
            <a:endParaRPr lang="en-US" altLang="zh-CN" sz="3200" dirty="0"/>
          </a:p>
          <a:p>
            <a:r>
              <a:rPr lang="en-US" altLang="zh-CN" sz="3200" dirty="0"/>
              <a:t>Use the </a:t>
            </a:r>
            <a:r>
              <a:rPr lang="en-US" altLang="zh-CN" sz="3200" dirty="0">
                <a:solidFill>
                  <a:srgbClr val="FFFF00"/>
                </a:solidFill>
              </a:rPr>
              <a:t>href</a:t>
            </a:r>
            <a:r>
              <a:rPr lang="en-US" altLang="zh-CN" sz="3200" dirty="0"/>
              <a:t> attribute to define the link address</a:t>
            </a:r>
            <a:endParaRPr lang="en-US" altLang="zh-CN" sz="3200" dirty="0"/>
          </a:p>
          <a:p>
            <a:r>
              <a:rPr lang="en-US" altLang="zh-CN" sz="3200" dirty="0"/>
              <a:t>Use the </a:t>
            </a:r>
            <a:r>
              <a:rPr lang="en-US" altLang="zh-CN" sz="3200" dirty="0">
                <a:solidFill>
                  <a:srgbClr val="FFFF00"/>
                </a:solidFill>
              </a:rPr>
              <a:t>target</a:t>
            </a:r>
            <a:r>
              <a:rPr lang="en-US" altLang="zh-CN" sz="3200" dirty="0"/>
              <a:t> attribute to define where to open the linked document</a:t>
            </a:r>
            <a:endParaRPr lang="en-US" altLang="zh-CN" sz="3200" dirty="0"/>
          </a:p>
          <a:p>
            <a:r>
              <a:rPr lang="en-US" altLang="zh-CN" sz="3200" dirty="0"/>
              <a:t>Use the &lt;</a:t>
            </a:r>
            <a:r>
              <a:rPr lang="en-US" altLang="zh-CN" sz="3200" dirty="0">
                <a:solidFill>
                  <a:srgbClr val="FF0000"/>
                </a:solidFill>
              </a:rPr>
              <a:t>img</a:t>
            </a:r>
            <a:r>
              <a:rPr lang="en-US" altLang="zh-CN" sz="3200" dirty="0"/>
              <a:t>&gt; element (inside &lt;a&gt;) to use an image as a link</a:t>
            </a:r>
            <a:endParaRPr lang="en-US" altLang="zh-CN" sz="3200" dirty="0"/>
          </a:p>
          <a:p>
            <a:r>
              <a:rPr lang="en-US" altLang="zh-CN" sz="3200" dirty="0"/>
              <a:t>Use the </a:t>
            </a:r>
            <a:r>
              <a:rPr lang="en-US" altLang="zh-CN" sz="3200" dirty="0">
                <a:solidFill>
                  <a:srgbClr val="FF0000"/>
                </a:solidFill>
              </a:rPr>
              <a:t>mailto:</a:t>
            </a:r>
            <a:r>
              <a:rPr lang="en-US" altLang="zh-CN" sz="3200" dirty="0"/>
              <a:t> scheme inside the href attribute to create a link that opens the user's email program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 smtClean="0"/>
              <a:t>HTML Images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985520"/>
          </a:xfrm>
        </p:spPr>
        <p:txBody>
          <a:bodyPr/>
          <a:lstStyle/>
          <a:p>
            <a:pPr algn="ctr"/>
            <a:r>
              <a:rPr lang="en-US" altLang="zh-CN" dirty="0" smtClean="0"/>
              <a:t>HTML Images 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82065"/>
            <a:ext cx="10702925" cy="5269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In HTML, images are defined with the &lt;img&gt; tag</a:t>
            </a:r>
            <a:r>
              <a:rPr lang="en-US" altLang="zh-CN" sz="2400" dirty="0" smtClean="0"/>
              <a:t>.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The &lt;</a:t>
            </a:r>
            <a:r>
              <a:rPr lang="en-US" altLang="zh-CN" sz="2400" dirty="0">
                <a:solidFill>
                  <a:srgbClr val="FF0000"/>
                </a:solidFill>
              </a:rPr>
              <a:t>img</a:t>
            </a:r>
            <a:r>
              <a:rPr lang="en-US" altLang="zh-CN" sz="2400" dirty="0"/>
              <a:t>&gt; tag is empty, it contains attributes only, and </a:t>
            </a:r>
            <a:r>
              <a:rPr lang="en-US" altLang="zh-CN" sz="2400" u="sng" dirty="0"/>
              <a:t>does not have a closing tag</a:t>
            </a:r>
            <a:r>
              <a:rPr lang="en-US" altLang="zh-CN" sz="2400" dirty="0" smtClean="0"/>
              <a:t>.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rgbClr val="FFFF00"/>
                </a:solidFill>
              </a:rPr>
              <a:t>src</a:t>
            </a:r>
            <a:r>
              <a:rPr lang="en-US" altLang="zh-CN" sz="2400" dirty="0"/>
              <a:t> attribute specifies the URL (web address) of the image</a:t>
            </a:r>
            <a:r>
              <a:rPr lang="en-US" altLang="zh-CN" sz="2400" dirty="0" smtClean="0"/>
              <a:t>: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3600" dirty="0" smtClean="0">
                <a:solidFill>
                  <a:srgbClr val="FFFF00"/>
                </a:solidFill>
              </a:rPr>
              <a:t>The alt Attribute:</a:t>
            </a:r>
            <a:endParaRPr lang="en-US" altLang="zh-CN" sz="3600" dirty="0" smtClean="0">
              <a:solidFill>
                <a:srgbClr val="FFFF00"/>
              </a:solidFill>
            </a:endParaRPr>
          </a:p>
          <a:p>
            <a:pPr lvl="1"/>
            <a:r>
              <a:rPr lang="en-US" altLang="zh-CN" dirty="0"/>
              <a:t>The alt attribute specifies an alternate text for an image, if the image cannot be displayed.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Example: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123" y="2912985"/>
            <a:ext cx="10011352" cy="4234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941" y="6126215"/>
            <a:ext cx="9595534" cy="356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627"/>
          </a:xfrm>
        </p:spPr>
        <p:txBody>
          <a:bodyPr/>
          <a:lstStyle/>
          <a:p>
            <a:pPr algn="ctr"/>
            <a:r>
              <a:rPr lang="en-US" altLang="zh-CN" dirty="0" smtClean="0"/>
              <a:t>HTML Images 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72895"/>
            <a:ext cx="10775950" cy="5069205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Image Size – Width and Height: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lvl="1"/>
            <a:r>
              <a:rPr lang="en-US" altLang="zh-CN" sz="2800" dirty="0"/>
              <a:t>You can use the </a:t>
            </a:r>
            <a:r>
              <a:rPr lang="en-US" altLang="zh-CN" sz="2800" b="1" dirty="0"/>
              <a:t>style</a:t>
            </a:r>
            <a:r>
              <a:rPr lang="en-US" altLang="zh-CN" sz="2800" dirty="0"/>
              <a:t> attribute to specify the width and height of an image.</a:t>
            </a:r>
            <a:endParaRPr lang="en-US" altLang="zh-CN" sz="2800" dirty="0"/>
          </a:p>
          <a:p>
            <a:pPr lvl="1"/>
            <a:r>
              <a:rPr lang="en-US" altLang="zh-CN" sz="2800" dirty="0"/>
              <a:t>The values are specified in pixels (use px after the value</a:t>
            </a:r>
            <a:r>
              <a:rPr lang="en-US" altLang="zh-CN" sz="2800" dirty="0" smtClean="0"/>
              <a:t>):</a:t>
            </a:r>
            <a:endParaRPr lang="en-US" altLang="zh-CN" sz="2800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sz="2800" dirty="0"/>
              <a:t>Alternatively, you can use </a:t>
            </a:r>
            <a:r>
              <a:rPr lang="en-US" altLang="zh-CN" sz="2800" b="1" dirty="0"/>
              <a:t>width</a:t>
            </a:r>
            <a:r>
              <a:rPr lang="en-US" altLang="zh-CN" sz="2800" dirty="0"/>
              <a:t> and </a:t>
            </a:r>
            <a:r>
              <a:rPr lang="en-US" altLang="zh-CN" sz="2800" b="1" dirty="0"/>
              <a:t>height</a:t>
            </a:r>
            <a:r>
              <a:rPr lang="en-US" altLang="zh-CN" sz="2800" dirty="0"/>
              <a:t> attributes. Here, the values are specified in pixels by </a:t>
            </a:r>
            <a:r>
              <a:rPr lang="en-US" altLang="zh-CN" sz="2800"/>
              <a:t>default</a:t>
            </a:r>
            <a:r>
              <a:rPr lang="en-US" altLang="zh-CN" sz="2800" smtClean="0"/>
              <a:t>:</a:t>
            </a:r>
            <a:endParaRPr lang="en-US" altLang="zh-CN" sz="2800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endParaRPr lang="en-US" altLang="zh-CN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zh-CN" sz="2600" b="1" smtClean="0"/>
              <a:t>Hint</a:t>
            </a:r>
            <a:r>
              <a:rPr lang="en-US" altLang="zh-CN" sz="2600" dirty="0" smtClean="0"/>
              <a:t>: </a:t>
            </a:r>
            <a:r>
              <a:rPr lang="en-US" altLang="zh-CN" sz="2600" dirty="0">
                <a:solidFill>
                  <a:srgbClr val="FFFF00"/>
                </a:solidFill>
              </a:rPr>
              <a:t>Always specify the width and height of an image. If width and height are not specified, the page will flicker while the image loads</a:t>
            </a:r>
            <a:r>
              <a:rPr lang="en-US" altLang="zh-CN" sz="2600" dirty="0"/>
              <a:t>.</a:t>
            </a:r>
            <a:endParaRPr lang="zh-CN" altLang="en-US" sz="2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772" y="3117137"/>
            <a:ext cx="9208678" cy="31974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72" y="4816236"/>
            <a:ext cx="7730231" cy="3020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smtClean="0"/>
              <a:t>Width and Height or Style?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84668"/>
            <a:ext cx="10515600" cy="11047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Both the width, height, and style attributes are valid </a:t>
            </a:r>
            <a:r>
              <a:rPr lang="en-US" altLang="zh-CN" u="sng" dirty="0"/>
              <a:t>in the latest HTML5 standard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We </a:t>
            </a:r>
            <a:r>
              <a:rPr lang="en-US" altLang="zh-CN" b="1" dirty="0"/>
              <a:t>suggest you use the </a:t>
            </a:r>
            <a:r>
              <a:rPr lang="en-US" altLang="zh-CN" b="1" dirty="0">
                <a:solidFill>
                  <a:srgbClr val="FFFF00"/>
                </a:solidFill>
              </a:rPr>
              <a:t>style</a:t>
            </a:r>
            <a:r>
              <a:rPr lang="en-US" altLang="zh-CN" b="1" dirty="0"/>
              <a:t> attribute</a:t>
            </a:r>
            <a:r>
              <a:rPr lang="en-US" altLang="zh-CN" dirty="0"/>
              <a:t>. It prevents styles sheets from changing the original size of images: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284" y="2801769"/>
            <a:ext cx="5079892" cy="28594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306" y="2801769"/>
            <a:ext cx="4940343" cy="2859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 smtClean="0"/>
              <a:t>Images in Another Place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4005" y="3801110"/>
            <a:ext cx="11144250" cy="242570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Image in Another Server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lvl="1"/>
            <a:r>
              <a:rPr lang="en-US" altLang="zh-CN" sz="2000" dirty="0"/>
              <a:t>Some web sites store their images on image servers</a:t>
            </a:r>
            <a:r>
              <a:rPr lang="en-US" altLang="zh-CN" sz="2000" dirty="0" smtClean="0"/>
              <a:t>.</a:t>
            </a:r>
            <a:endParaRPr lang="en-US" altLang="zh-CN" sz="2000" dirty="0"/>
          </a:p>
          <a:p>
            <a:pPr lvl="1"/>
            <a:r>
              <a:rPr lang="en-US" altLang="zh-CN" sz="2000" dirty="0"/>
              <a:t>Actually, you can access images from any web address in the world: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224" y="3090489"/>
            <a:ext cx="9579870" cy="340736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922638" y="1703753"/>
            <a:ext cx="10515600" cy="196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Image in Another Folder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If </a:t>
            </a:r>
            <a:r>
              <a:rPr kumimoji="0" lang="en-US" altLang="zh-CN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not specified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, the browser expects to find the image </a:t>
            </a:r>
            <a:r>
              <a:rPr kumimoji="0" lang="en-US" altLang="zh-CN" sz="2000" b="0" i="0" u="sng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in the same folder as the web page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However, it is common to store images in a sub-folder. You must then include the folder name in the src attribute: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72260" y="5299075"/>
            <a:ext cx="9579610" cy="796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 smtClean="0"/>
              <a:t>Image Maps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385" y="1456055"/>
            <a:ext cx="11498580" cy="18199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Use the &lt;</a:t>
            </a:r>
            <a:r>
              <a:rPr lang="en-US" altLang="zh-CN" dirty="0">
                <a:solidFill>
                  <a:srgbClr val="FF0000"/>
                </a:solidFill>
              </a:rPr>
              <a:t>map</a:t>
            </a:r>
            <a:r>
              <a:rPr lang="en-US" altLang="zh-CN" dirty="0"/>
              <a:t>&gt; tag to define an image-map. An image-map is an image with clickable areas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The name attribute of the &lt;</a:t>
            </a:r>
            <a:r>
              <a:rPr lang="en-US" altLang="zh-CN" dirty="0">
                <a:solidFill>
                  <a:srgbClr val="FF0000"/>
                </a:solidFill>
              </a:rPr>
              <a:t>map</a:t>
            </a:r>
            <a:r>
              <a:rPr lang="en-US" altLang="zh-CN" dirty="0"/>
              <a:t>&gt; tag is associated with the &lt;</a:t>
            </a:r>
            <a:r>
              <a:rPr lang="en-US" altLang="zh-CN" dirty="0">
                <a:solidFill>
                  <a:srgbClr val="FF0000"/>
                </a:solidFill>
              </a:rPr>
              <a:t>img</a:t>
            </a:r>
            <a:r>
              <a:rPr lang="en-US" altLang="zh-CN" dirty="0"/>
              <a:t>&gt;'s </a:t>
            </a:r>
            <a:r>
              <a:rPr lang="en-US" altLang="zh-CN" dirty="0">
                <a:solidFill>
                  <a:srgbClr val="FF0000"/>
                </a:solidFill>
              </a:rPr>
              <a:t>usemap</a:t>
            </a:r>
            <a:r>
              <a:rPr lang="en-US" altLang="zh-CN" dirty="0"/>
              <a:t> attribute and creates a relationship between the image and the map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The &lt;</a:t>
            </a:r>
            <a:r>
              <a:rPr lang="en-US" altLang="zh-CN" dirty="0">
                <a:solidFill>
                  <a:srgbClr val="FF0000"/>
                </a:solidFill>
              </a:rPr>
              <a:t>map</a:t>
            </a:r>
            <a:r>
              <a:rPr lang="en-US" altLang="zh-CN" dirty="0"/>
              <a:t>&gt; tag contains a number of &lt;</a:t>
            </a:r>
            <a:r>
              <a:rPr lang="en-US" altLang="zh-CN" dirty="0">
                <a:solidFill>
                  <a:srgbClr val="FF0000"/>
                </a:solidFill>
              </a:rPr>
              <a:t>area</a:t>
            </a:r>
            <a:r>
              <a:rPr lang="en-US" altLang="zh-CN" dirty="0"/>
              <a:t>&gt; tags, that defines the clickable areas in the image-map: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482" y="3433045"/>
            <a:ext cx="6647846" cy="2757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382" y="3621548"/>
            <a:ext cx="4643718" cy="222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50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HTML Image 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6545" y="1250315"/>
            <a:ext cx="11647170" cy="5088890"/>
          </a:xfrm>
        </p:spPr>
        <p:txBody>
          <a:bodyPr>
            <a:noAutofit/>
          </a:bodyPr>
          <a:lstStyle/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img</a:t>
            </a:r>
            <a:r>
              <a:rPr lang="en-US" altLang="zh-CN" b="1" dirty="0"/>
              <a:t>&gt;</a:t>
            </a:r>
            <a:r>
              <a:rPr lang="en-US" altLang="zh-CN" dirty="0"/>
              <a:t> element to define an image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>
                <a:solidFill>
                  <a:srgbClr val="FFFF00"/>
                </a:solidFill>
              </a:rPr>
              <a:t>src</a:t>
            </a:r>
            <a:r>
              <a:rPr lang="en-US" altLang="zh-CN" dirty="0"/>
              <a:t> attribute to define the URL of the image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>
                <a:solidFill>
                  <a:srgbClr val="FFFF00"/>
                </a:solidFill>
              </a:rPr>
              <a:t>alt</a:t>
            </a:r>
            <a:r>
              <a:rPr lang="en-US" altLang="zh-CN" dirty="0"/>
              <a:t> attribute to define an alternate text for an image, if it cannot be displayed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>
                <a:solidFill>
                  <a:srgbClr val="FFFF00"/>
                </a:solidFill>
              </a:rPr>
              <a:t>width</a:t>
            </a:r>
            <a:r>
              <a:rPr lang="en-US" altLang="zh-CN" dirty="0"/>
              <a:t> and </a:t>
            </a:r>
            <a:r>
              <a:rPr lang="en-US" altLang="zh-CN" b="1" dirty="0">
                <a:solidFill>
                  <a:srgbClr val="FFFF00"/>
                </a:solidFill>
              </a:rPr>
              <a:t>height</a:t>
            </a:r>
            <a:r>
              <a:rPr lang="en-US" altLang="zh-CN" dirty="0"/>
              <a:t> attributes to define the size of the image</a:t>
            </a:r>
            <a:endParaRPr lang="en-US" altLang="zh-CN" dirty="0"/>
          </a:p>
          <a:p>
            <a:r>
              <a:rPr lang="en-US" altLang="zh-CN" dirty="0"/>
              <a:t>Use the CSS </a:t>
            </a:r>
            <a:r>
              <a:rPr lang="en-US" altLang="zh-CN" b="1" dirty="0">
                <a:solidFill>
                  <a:srgbClr val="FFFF00"/>
                </a:solidFill>
              </a:rPr>
              <a:t>width</a:t>
            </a:r>
            <a:r>
              <a:rPr lang="en-US" altLang="zh-CN" dirty="0"/>
              <a:t> and </a:t>
            </a:r>
            <a:r>
              <a:rPr lang="en-US" altLang="zh-CN" b="1" dirty="0">
                <a:solidFill>
                  <a:srgbClr val="FFFF00"/>
                </a:solidFill>
              </a:rPr>
              <a:t>height</a:t>
            </a:r>
            <a:r>
              <a:rPr lang="en-US" altLang="zh-CN" dirty="0"/>
              <a:t> properties to define the size of the image (alternatively)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map</a:t>
            </a:r>
            <a:r>
              <a:rPr lang="en-US" altLang="zh-CN" b="1" dirty="0"/>
              <a:t>&gt;</a:t>
            </a:r>
            <a:r>
              <a:rPr lang="en-US" altLang="zh-CN" dirty="0"/>
              <a:t> element to define an image-map</a:t>
            </a:r>
            <a:endParaRPr lang="en-US" altLang="zh-CN" dirty="0"/>
          </a:p>
          <a:p>
            <a:r>
              <a:rPr lang="en-US" altLang="zh-CN" dirty="0"/>
              <a:t>Use the HTML </a:t>
            </a:r>
            <a:r>
              <a:rPr lang="en-US" altLang="zh-CN" b="1" dirty="0"/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area</a:t>
            </a:r>
            <a:r>
              <a:rPr lang="en-US" altLang="zh-CN" b="1" dirty="0"/>
              <a:t>&gt;</a:t>
            </a:r>
            <a:r>
              <a:rPr lang="en-US" altLang="zh-CN" dirty="0"/>
              <a:t> element to define the clickable areas in the image-map</a:t>
            </a:r>
            <a:endParaRPr lang="en-US" altLang="zh-CN" dirty="0"/>
          </a:p>
          <a:p>
            <a:r>
              <a:rPr lang="en-US" altLang="zh-CN" dirty="0"/>
              <a:t>Use the HTML &lt;</a:t>
            </a:r>
            <a:r>
              <a:rPr lang="en-US" altLang="zh-CN" dirty="0">
                <a:solidFill>
                  <a:srgbClr val="FF0000"/>
                </a:solidFill>
              </a:rPr>
              <a:t>img</a:t>
            </a:r>
            <a:r>
              <a:rPr lang="en-US" altLang="zh-CN" dirty="0"/>
              <a:t>&gt;'s element </a:t>
            </a:r>
            <a:r>
              <a:rPr lang="en-US" altLang="zh-CN" b="1" dirty="0">
                <a:solidFill>
                  <a:srgbClr val="FFFF00"/>
                </a:solidFill>
              </a:rPr>
              <a:t>usemap</a:t>
            </a:r>
            <a:r>
              <a:rPr lang="en-US" altLang="zh-CN" dirty="0"/>
              <a:t> attribute to point to an image-map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 smtClean="0"/>
              <a:t>HTML </a:t>
            </a:r>
            <a:r>
              <a:rPr lang="en-US" altLang="zh-CN" dirty="0"/>
              <a:t>TABLES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196"/>
            <a:ext cx="10515600" cy="1325563"/>
          </a:xfrm>
        </p:spPr>
        <p:txBody>
          <a:bodyPr/>
          <a:lstStyle/>
          <a:p>
            <a:pPr algn="ctr"/>
            <a:r>
              <a:rPr lang="en-US" altLang="zh-CN"/>
              <a:t>HTML Table Example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80233"/>
            <a:ext cx="10515600" cy="553051"/>
          </a:xfrm>
        </p:spPr>
        <p:txBody>
          <a:bodyPr>
            <a:normAutofit/>
          </a:bodyPr>
          <a:lstStyle/>
          <a:p>
            <a:r>
              <a:rPr lang="en-US" altLang="zh-CN" dirty="0"/>
              <a:t>Example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449" y="1711253"/>
            <a:ext cx="7461397" cy="39420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42" y="5877065"/>
            <a:ext cx="10142483" cy="765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196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Defining HTML Tables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56995"/>
            <a:ext cx="10515600" cy="47224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Example explained:</a:t>
            </a:r>
            <a:endParaRPr lang="en-US" altLang="zh-CN" dirty="0"/>
          </a:p>
          <a:p>
            <a:r>
              <a:rPr lang="en-US" altLang="zh-CN" dirty="0"/>
              <a:t>Tables are defined with the </a:t>
            </a:r>
            <a:r>
              <a:rPr lang="en-US" altLang="zh-CN" b="1" dirty="0"/>
              <a:t>&lt;table&gt;</a:t>
            </a:r>
            <a:r>
              <a:rPr lang="en-US" altLang="zh-CN" dirty="0"/>
              <a:t> tag.</a:t>
            </a:r>
            <a:endParaRPr lang="en-US" altLang="zh-CN" dirty="0"/>
          </a:p>
          <a:p>
            <a:r>
              <a:rPr lang="en-US" altLang="zh-CN" dirty="0"/>
              <a:t>Tables are divided into </a:t>
            </a:r>
            <a:r>
              <a:rPr lang="en-US" altLang="zh-CN" b="1" dirty="0"/>
              <a:t>table rows</a:t>
            </a:r>
            <a:r>
              <a:rPr lang="en-US" altLang="zh-CN" dirty="0"/>
              <a:t> with the </a:t>
            </a:r>
            <a:r>
              <a:rPr lang="en-US" altLang="zh-CN" b="1" dirty="0"/>
              <a:t>&lt;</a:t>
            </a:r>
            <a:r>
              <a:rPr lang="en-US" altLang="zh-CN" b="1" dirty="0" err="1"/>
              <a:t>tr</a:t>
            </a:r>
            <a:r>
              <a:rPr lang="en-US" altLang="zh-CN" b="1" dirty="0"/>
              <a:t>&gt;</a:t>
            </a:r>
            <a:r>
              <a:rPr lang="en-US" altLang="zh-CN" dirty="0"/>
              <a:t> tag.</a:t>
            </a:r>
            <a:endParaRPr lang="en-US" altLang="zh-CN" dirty="0"/>
          </a:p>
          <a:p>
            <a:r>
              <a:rPr lang="en-US" altLang="zh-CN" dirty="0"/>
              <a:t>Table rows are divided into </a:t>
            </a:r>
            <a:r>
              <a:rPr lang="en-US" altLang="zh-CN" b="1" dirty="0"/>
              <a:t>table data</a:t>
            </a:r>
            <a:r>
              <a:rPr lang="en-US" altLang="zh-CN" dirty="0"/>
              <a:t> with the </a:t>
            </a:r>
            <a:r>
              <a:rPr lang="en-US" altLang="zh-CN" b="1" dirty="0"/>
              <a:t>&lt;td&gt;</a:t>
            </a:r>
            <a:r>
              <a:rPr lang="en-US" altLang="zh-CN" dirty="0"/>
              <a:t> tag.</a:t>
            </a:r>
            <a:endParaRPr lang="en-US" altLang="zh-CN" dirty="0"/>
          </a:p>
          <a:p>
            <a:r>
              <a:rPr lang="en-US" altLang="zh-CN" dirty="0"/>
              <a:t>A table row can also be divided into </a:t>
            </a:r>
            <a:r>
              <a:rPr lang="en-US" altLang="zh-CN" b="1" dirty="0"/>
              <a:t>table headings</a:t>
            </a:r>
            <a:r>
              <a:rPr lang="en-US" altLang="zh-CN" dirty="0"/>
              <a:t> with the </a:t>
            </a:r>
            <a:r>
              <a:rPr lang="en-US" altLang="zh-CN" b="1" dirty="0"/>
              <a:t>&lt;</a:t>
            </a:r>
            <a:r>
              <a:rPr lang="en-US" altLang="zh-CN" b="1" dirty="0" err="1"/>
              <a:t>th</a:t>
            </a:r>
            <a:r>
              <a:rPr lang="en-US" altLang="zh-CN" b="1" dirty="0"/>
              <a:t>&gt;</a:t>
            </a:r>
            <a:r>
              <a:rPr lang="en-US" altLang="zh-CN" dirty="0"/>
              <a:t> tag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Table data &lt;td&gt; are the data containers of the table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/>
              <a:t>They can contain all sorts of HTML elements like text, images, lists, other tables, etc.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93" y="3946566"/>
            <a:ext cx="441998" cy="373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115"/>
            <a:ext cx="10515600" cy="999490"/>
          </a:xfrm>
        </p:spPr>
        <p:txBody>
          <a:bodyPr/>
          <a:lstStyle/>
          <a:p>
            <a:pPr algn="ctr"/>
            <a:r>
              <a:rPr lang="en-US" altLang="zh-CN" dirty="0">
                <a:sym typeface="+mn-ea"/>
              </a:rPr>
              <a:t>An HTML Table with a Border Attribute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920115" y="6073140"/>
            <a:ext cx="108851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The border attribute is on its way out of the HTML standard! It is better to use CSS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36" y="1600687"/>
            <a:ext cx="3771695" cy="41225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772" y="3173200"/>
            <a:ext cx="7733722" cy="97811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99585" y="1451610"/>
            <a:ext cx="7546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2400" dirty="0">
                <a:sym typeface="+mn-ea"/>
              </a:rPr>
              <a:t>If you do not specify a border for the table, it will be displayed without borders. A border can be added using the border attribute: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714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An HTML Table with a Border Attribute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87547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add borders, use the </a:t>
            </a:r>
            <a:r>
              <a:rPr lang="en-US" altLang="zh-CN" b="1" dirty="0"/>
              <a:t>CSS border</a:t>
            </a:r>
            <a:r>
              <a:rPr lang="en-US" altLang="zh-CN" dirty="0"/>
              <a:t> property:</a:t>
            </a:r>
            <a:endParaRPr lang="en-US" altLang="zh-CN" dirty="0" smtClean="0"/>
          </a:p>
          <a:p>
            <a:r>
              <a:rPr lang="en-US" altLang="zh-CN" dirty="0" smtClean="0"/>
              <a:t>Example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838200" y="5065277"/>
            <a:ext cx="10071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Remember to define borders for both the table and the table cells.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915" y="3089156"/>
            <a:ext cx="4733246" cy="1383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06464"/>
            <a:ext cx="10515600" cy="865592"/>
          </a:xfrm>
        </p:spPr>
        <p:txBody>
          <a:bodyPr/>
          <a:lstStyle/>
          <a:p>
            <a:pPr algn="ctr"/>
            <a:r>
              <a:rPr lang="en-US" altLang="zh-CN" dirty="0"/>
              <a:t>An HTML Table with Collapsed Borders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1035" y="1236345"/>
            <a:ext cx="10991850" cy="793750"/>
          </a:xfrm>
        </p:spPr>
        <p:txBody>
          <a:bodyPr>
            <a:noAutofit/>
          </a:bodyPr>
          <a:lstStyle/>
          <a:p>
            <a:pPr algn="just"/>
            <a:r>
              <a:rPr lang="en-US" altLang="zh-CN" dirty="0"/>
              <a:t>If you want the borders to collapse into one border, add </a:t>
            </a:r>
            <a:r>
              <a:rPr lang="en-US" altLang="zh-CN" b="1" dirty="0"/>
              <a:t>CSS </a:t>
            </a:r>
            <a:r>
              <a:rPr lang="en-US" altLang="zh-CN" b="1" dirty="0" smtClean="0"/>
              <a:t>border-collapse</a:t>
            </a:r>
            <a:endParaRPr lang="en-US" altLang="zh-CN" dirty="0"/>
          </a:p>
          <a:p>
            <a:r>
              <a:rPr lang="en-US" altLang="zh-CN" dirty="0" smtClean="0"/>
              <a:t>Example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884" y="5328745"/>
            <a:ext cx="9013924" cy="822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07" y="2827026"/>
            <a:ext cx="5589786" cy="2060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4565" y="109220"/>
            <a:ext cx="10515600" cy="1000125"/>
          </a:xfrm>
        </p:spPr>
        <p:txBody>
          <a:bodyPr/>
          <a:lstStyle/>
          <a:p>
            <a:pPr algn="ctr"/>
            <a:r>
              <a:rPr lang="en-US" altLang="zh-CN" dirty="0"/>
              <a:t>An HTML Table with Cell Padding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490" y="1109345"/>
            <a:ext cx="11207750" cy="173482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Cell padding specifies the space between the cell content and its borders.</a:t>
            </a:r>
            <a:endParaRPr lang="en-US" altLang="zh-CN" sz="2400" dirty="0"/>
          </a:p>
          <a:p>
            <a:r>
              <a:rPr lang="en-US" altLang="zh-CN" sz="2400" dirty="0"/>
              <a:t>If you do not specify a padding, the table cells will be displayed without padding.</a:t>
            </a:r>
            <a:endParaRPr lang="en-US" altLang="zh-CN" sz="2400" dirty="0"/>
          </a:p>
          <a:p>
            <a:r>
              <a:rPr lang="en-US" altLang="zh-CN" sz="2400" dirty="0"/>
              <a:t>To set the padding, use the </a:t>
            </a:r>
            <a:r>
              <a:rPr lang="en-US" altLang="zh-CN" sz="2400" b="1" dirty="0"/>
              <a:t>CSS padding</a:t>
            </a:r>
            <a:r>
              <a:rPr lang="en-US" altLang="zh-CN" sz="2400" dirty="0"/>
              <a:t> property:</a:t>
            </a:r>
            <a:endParaRPr lang="en-US" altLang="zh-CN" sz="2400" dirty="0"/>
          </a:p>
          <a:p>
            <a:r>
              <a:rPr lang="en-US" altLang="zh-CN" sz="2400" dirty="0" smtClean="0"/>
              <a:t>Example</a:t>
            </a:r>
            <a:r>
              <a:rPr lang="zh-CN" altLang="en-US" sz="2400" dirty="0" smtClean="0"/>
              <a:t>：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255" y="3099633"/>
            <a:ext cx="5810328" cy="21788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363" y="5532985"/>
            <a:ext cx="8933333" cy="1142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8695"/>
          </a:xfrm>
        </p:spPr>
        <p:txBody>
          <a:bodyPr/>
          <a:lstStyle/>
          <a:p>
            <a:pPr algn="ctr"/>
            <a:r>
              <a:rPr lang="en-US" altLang="zh-CN" dirty="0"/>
              <a:t>HTML Table Headings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92175"/>
            <a:ext cx="10678795" cy="106553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Table headings are defined with the </a:t>
            </a:r>
            <a:r>
              <a:rPr lang="en-US" altLang="zh-CN" sz="2400" b="1" dirty="0"/>
              <a:t>&lt;</a:t>
            </a:r>
            <a:r>
              <a:rPr lang="en-US" altLang="zh-CN" sz="2400" b="1" dirty="0" err="1"/>
              <a:t>th</a:t>
            </a:r>
            <a:r>
              <a:rPr lang="en-US" altLang="zh-CN" sz="2400" b="1" dirty="0"/>
              <a:t>&gt;</a:t>
            </a:r>
            <a:r>
              <a:rPr lang="en-US" altLang="zh-CN" sz="2400" dirty="0"/>
              <a:t> tag.</a:t>
            </a:r>
            <a:endParaRPr lang="en-US" altLang="zh-CN" sz="2400" dirty="0"/>
          </a:p>
          <a:p>
            <a:r>
              <a:rPr lang="en-US" altLang="zh-CN" sz="2400" dirty="0"/>
              <a:t>By default, all major browsers display table headings as bold and centered: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669" y="1999392"/>
            <a:ext cx="5927269" cy="31262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660" y="5470786"/>
            <a:ext cx="8961905" cy="12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4380" y="243840"/>
            <a:ext cx="10515600" cy="873125"/>
          </a:xfrm>
        </p:spPr>
        <p:txBody>
          <a:bodyPr/>
          <a:lstStyle/>
          <a:p>
            <a:pPr algn="ctr"/>
            <a:r>
              <a:rPr lang="en-US" altLang="zh-CN" dirty="0"/>
              <a:t>HTML Table Headings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2810" y="1155669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left-align the table headings, use the </a:t>
            </a:r>
            <a:r>
              <a:rPr lang="en-US" altLang="zh-CN" b="1" dirty="0"/>
              <a:t>CSS text-align</a:t>
            </a:r>
            <a:r>
              <a:rPr lang="en-US" altLang="zh-CN" dirty="0"/>
              <a:t> property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Example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455" y="2491105"/>
            <a:ext cx="7246620" cy="1599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540" y="5011774"/>
            <a:ext cx="8933333" cy="112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6876" y="10510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An HTML Table with Border Spacing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420" y="1226820"/>
            <a:ext cx="11198860" cy="1608455"/>
          </a:xfrm>
        </p:spPr>
        <p:txBody>
          <a:bodyPr>
            <a:noAutofit/>
          </a:bodyPr>
          <a:lstStyle/>
          <a:p>
            <a:r>
              <a:rPr lang="en-US" altLang="zh-CN" dirty="0"/>
              <a:t>Border spacing specifies the space between the cells.</a:t>
            </a:r>
            <a:endParaRPr lang="en-US" altLang="zh-CN" dirty="0"/>
          </a:p>
          <a:p>
            <a:r>
              <a:rPr lang="en-US" altLang="zh-CN" dirty="0"/>
              <a:t>To set the border spacing for a table, use the </a:t>
            </a:r>
            <a:r>
              <a:rPr lang="en-US" altLang="zh-CN" b="1" dirty="0"/>
              <a:t>CSS border-spacing</a:t>
            </a:r>
            <a:r>
              <a:rPr lang="en-US" altLang="zh-CN" dirty="0"/>
              <a:t> property:</a:t>
            </a:r>
            <a:endParaRPr lang="en-US" altLang="zh-CN" dirty="0"/>
          </a:p>
          <a:p>
            <a:r>
              <a:rPr lang="en-US" altLang="zh-CN" dirty="0" smtClean="0"/>
              <a:t>Example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299" y="2955346"/>
            <a:ext cx="5284301" cy="11153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54393" y="6176958"/>
            <a:ext cx="1007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If the table has collapsed borders, border-spacing has no effect.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76" y="6234024"/>
            <a:ext cx="573787" cy="403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12" y="4637937"/>
            <a:ext cx="8876190" cy="132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smtClean="0"/>
              <a:t>Table Cells that Span Many Columns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6311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make a cell span more than one column, use the </a:t>
            </a:r>
            <a:r>
              <a:rPr lang="en-US" altLang="zh-CN" b="1" dirty="0" err="1"/>
              <a:t>colspan</a:t>
            </a:r>
            <a:r>
              <a:rPr lang="en-US" altLang="zh-CN" dirty="0"/>
              <a:t> attribute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119" y="1893501"/>
            <a:ext cx="5503143" cy="31489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12" y="5613729"/>
            <a:ext cx="8876190" cy="885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Table Cells that Span Many Rows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0751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make a cell span more than one row, use the </a:t>
            </a:r>
            <a:r>
              <a:rPr lang="en-US" altLang="zh-CN" b="1" dirty="0" err="1"/>
              <a:t>rowspan</a:t>
            </a:r>
            <a:r>
              <a:rPr lang="en-US" altLang="zh-CN" dirty="0"/>
              <a:t> attribute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5638" y="1802232"/>
            <a:ext cx="5688665" cy="34890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95" y="5508968"/>
            <a:ext cx="8904762" cy="1095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An HTML Table With a Caption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49037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add a caption to a table, use the </a:t>
            </a:r>
            <a:r>
              <a:rPr lang="en-US" altLang="zh-CN" b="1" dirty="0"/>
              <a:t>&lt;caption&gt;</a:t>
            </a:r>
            <a:r>
              <a:rPr lang="en-US" altLang="zh-CN" dirty="0"/>
              <a:t> tag</a:t>
            </a:r>
            <a:r>
              <a:rPr lang="en-US" altLang="zh-CN" dirty="0" smtClean="0"/>
              <a:t>: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794180" y="6284871"/>
            <a:ext cx="9094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&lt;caption&gt; tag must be inserted immediately after the &lt;table&gt; tag.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342486"/>
            <a:ext cx="518205" cy="403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68" y="1604606"/>
            <a:ext cx="5150747" cy="31092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5" y="4839146"/>
            <a:ext cx="8933333" cy="13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 Special Style for One Table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4627" y="1174473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dirty="0"/>
              <a:t>To define a special style for a special table, add an </a:t>
            </a:r>
            <a:r>
              <a:rPr lang="en-US" altLang="zh-CN" b="1" dirty="0"/>
              <a:t>id attribute</a:t>
            </a:r>
            <a:r>
              <a:rPr lang="en-US" altLang="zh-CN" dirty="0"/>
              <a:t> to the table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Example</a:t>
            </a:r>
            <a:r>
              <a:rPr lang="zh-CN" altLang="en-US" dirty="0" smtClean="0"/>
              <a:t>：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885" y="2799715"/>
            <a:ext cx="6323965" cy="3825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 Special Style for One Table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5215"/>
            <a:ext cx="10515600" cy="553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Now you can define a special style for this </a:t>
            </a:r>
            <a:r>
              <a:rPr lang="en-US" altLang="zh-CN" dirty="0" smtClean="0"/>
              <a:t>table: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750" y="1908810"/>
            <a:ext cx="5832475" cy="1520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7351" y="3550508"/>
            <a:ext cx="72575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And add more styles: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4147820"/>
            <a:ext cx="5885815" cy="2551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 Special Style for One Table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41" y="2592472"/>
            <a:ext cx="10243559" cy="1254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89471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smtClean="0"/>
              <a:t>HTML Table </a:t>
            </a:r>
            <a:r>
              <a:rPr lang="en-US" altLang="zh-CN" dirty="0"/>
              <a:t>Summary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10284"/>
            <a:ext cx="10515600" cy="553051"/>
          </a:xfrm>
        </p:spPr>
        <p:txBody>
          <a:bodyPr>
            <a:noAutofit/>
          </a:bodyPr>
          <a:lstStyle/>
          <a:p>
            <a:r>
              <a:rPr lang="en-US" altLang="zh-CN" sz="2200" dirty="0"/>
              <a:t>Use the HTML </a:t>
            </a:r>
            <a:r>
              <a:rPr lang="en-US" altLang="zh-CN" sz="2200" b="1" dirty="0"/>
              <a:t>&lt;table&gt;</a:t>
            </a:r>
            <a:r>
              <a:rPr lang="en-US" altLang="zh-CN" sz="2200" dirty="0"/>
              <a:t> element to define a table</a:t>
            </a:r>
            <a:endParaRPr lang="en-US" altLang="zh-CN" sz="2200" dirty="0"/>
          </a:p>
          <a:p>
            <a:r>
              <a:rPr lang="en-US" altLang="zh-CN" sz="2200" dirty="0"/>
              <a:t>Use the HTML </a:t>
            </a:r>
            <a:r>
              <a:rPr lang="en-US" altLang="zh-CN" sz="2200" b="1" dirty="0"/>
              <a:t>&lt;</a:t>
            </a:r>
            <a:r>
              <a:rPr lang="en-US" altLang="zh-CN" sz="2200" b="1" dirty="0" err="1"/>
              <a:t>tr</a:t>
            </a:r>
            <a:r>
              <a:rPr lang="en-US" altLang="zh-CN" sz="2200" b="1" dirty="0"/>
              <a:t>&gt;</a:t>
            </a:r>
            <a:r>
              <a:rPr lang="en-US" altLang="zh-CN" sz="2200" dirty="0"/>
              <a:t> element to define a table row</a:t>
            </a:r>
            <a:endParaRPr lang="en-US" altLang="zh-CN" sz="2200" dirty="0"/>
          </a:p>
          <a:p>
            <a:r>
              <a:rPr lang="en-US" altLang="zh-CN" sz="2200" dirty="0"/>
              <a:t>Use the HTML </a:t>
            </a:r>
            <a:r>
              <a:rPr lang="en-US" altLang="zh-CN" sz="2200" b="1" dirty="0"/>
              <a:t>&lt;td&gt;</a:t>
            </a:r>
            <a:r>
              <a:rPr lang="en-US" altLang="zh-CN" sz="2200" dirty="0"/>
              <a:t> element to define a table data</a:t>
            </a:r>
            <a:endParaRPr lang="en-US" altLang="zh-CN" sz="2200" dirty="0"/>
          </a:p>
          <a:p>
            <a:r>
              <a:rPr lang="en-US" altLang="zh-CN" sz="2200" dirty="0"/>
              <a:t>Use the HTML </a:t>
            </a:r>
            <a:r>
              <a:rPr lang="en-US" altLang="zh-CN" sz="2200" b="1" dirty="0"/>
              <a:t>&lt;</a:t>
            </a:r>
            <a:r>
              <a:rPr lang="en-US" altLang="zh-CN" sz="2200" b="1" dirty="0" err="1"/>
              <a:t>th</a:t>
            </a:r>
            <a:r>
              <a:rPr lang="en-US" altLang="zh-CN" sz="2200" b="1" dirty="0"/>
              <a:t>&gt;</a:t>
            </a:r>
            <a:r>
              <a:rPr lang="en-US" altLang="zh-CN" sz="2200" dirty="0"/>
              <a:t> element to define a table heading</a:t>
            </a:r>
            <a:endParaRPr lang="en-US" altLang="zh-CN" sz="2200" dirty="0"/>
          </a:p>
          <a:p>
            <a:r>
              <a:rPr lang="en-US" altLang="zh-CN" sz="2200" dirty="0"/>
              <a:t>Use the HTML </a:t>
            </a:r>
            <a:r>
              <a:rPr lang="en-US" altLang="zh-CN" sz="2200" b="1" dirty="0"/>
              <a:t>&lt;caption&gt;</a:t>
            </a:r>
            <a:r>
              <a:rPr lang="en-US" altLang="zh-CN" sz="2200" dirty="0"/>
              <a:t> element to define a table caption</a:t>
            </a:r>
            <a:endParaRPr lang="en-US" altLang="zh-CN" sz="2200" dirty="0"/>
          </a:p>
          <a:p>
            <a:r>
              <a:rPr lang="en-US" altLang="zh-CN" sz="2200" dirty="0"/>
              <a:t>Use the CSS </a:t>
            </a:r>
            <a:r>
              <a:rPr lang="en-US" altLang="zh-CN" sz="2200" b="1" dirty="0"/>
              <a:t>border</a:t>
            </a:r>
            <a:r>
              <a:rPr lang="en-US" altLang="zh-CN" sz="2200" dirty="0"/>
              <a:t> property to define a border</a:t>
            </a:r>
            <a:endParaRPr lang="en-US" altLang="zh-CN" sz="2200" dirty="0"/>
          </a:p>
          <a:p>
            <a:r>
              <a:rPr lang="en-US" altLang="zh-CN" sz="2200" dirty="0"/>
              <a:t>Use the CSS </a:t>
            </a:r>
            <a:r>
              <a:rPr lang="en-US" altLang="zh-CN" sz="2200" b="1" dirty="0"/>
              <a:t>border-collapse</a:t>
            </a:r>
            <a:r>
              <a:rPr lang="en-US" altLang="zh-CN" sz="2200" dirty="0"/>
              <a:t> property to collapse cell borders</a:t>
            </a:r>
            <a:endParaRPr lang="en-US" altLang="zh-CN" sz="2200" dirty="0"/>
          </a:p>
          <a:p>
            <a:r>
              <a:rPr lang="en-US" altLang="zh-CN" sz="2200" dirty="0"/>
              <a:t>Use the CSS </a:t>
            </a:r>
            <a:r>
              <a:rPr lang="en-US" altLang="zh-CN" sz="2200" b="1" dirty="0"/>
              <a:t>padding</a:t>
            </a:r>
            <a:r>
              <a:rPr lang="en-US" altLang="zh-CN" sz="2200" dirty="0"/>
              <a:t> property to add padding to cells</a:t>
            </a:r>
            <a:endParaRPr lang="en-US" altLang="zh-CN" sz="2200" dirty="0"/>
          </a:p>
          <a:p>
            <a:r>
              <a:rPr lang="en-US" altLang="zh-CN" sz="2200" dirty="0"/>
              <a:t>Use the CSS </a:t>
            </a:r>
            <a:r>
              <a:rPr lang="en-US" altLang="zh-CN" sz="2200" b="1" dirty="0"/>
              <a:t>text-align</a:t>
            </a:r>
            <a:r>
              <a:rPr lang="en-US" altLang="zh-CN" sz="2200" dirty="0"/>
              <a:t> property to align cell text</a:t>
            </a:r>
            <a:endParaRPr lang="en-US" altLang="zh-CN" sz="2200" dirty="0"/>
          </a:p>
          <a:p>
            <a:r>
              <a:rPr lang="en-US" altLang="zh-CN" sz="2200" dirty="0"/>
              <a:t>Use the CSS </a:t>
            </a:r>
            <a:r>
              <a:rPr lang="en-US" altLang="zh-CN" sz="2200" b="1" dirty="0"/>
              <a:t>border-spacing</a:t>
            </a:r>
            <a:r>
              <a:rPr lang="en-US" altLang="zh-CN" sz="2200" dirty="0"/>
              <a:t> property to set the spacing between cells</a:t>
            </a:r>
            <a:endParaRPr lang="en-US" altLang="zh-CN" sz="2200" dirty="0"/>
          </a:p>
          <a:p>
            <a:r>
              <a:rPr lang="en-US" altLang="zh-CN" sz="2200" dirty="0"/>
              <a:t>Use the </a:t>
            </a:r>
            <a:r>
              <a:rPr lang="en-US" altLang="zh-CN" sz="2200" b="1" dirty="0" err="1"/>
              <a:t>colspan</a:t>
            </a:r>
            <a:r>
              <a:rPr lang="en-US" altLang="zh-CN" sz="2200" dirty="0"/>
              <a:t> attribute to make a cell span many columns</a:t>
            </a:r>
            <a:endParaRPr lang="en-US" altLang="zh-CN" sz="2200" dirty="0"/>
          </a:p>
          <a:p>
            <a:r>
              <a:rPr lang="en-US" altLang="zh-CN" sz="2200" dirty="0"/>
              <a:t>Use the </a:t>
            </a:r>
            <a:r>
              <a:rPr lang="en-US" altLang="zh-CN" sz="2200" b="1" dirty="0" err="1"/>
              <a:t>rowspan</a:t>
            </a:r>
            <a:r>
              <a:rPr lang="en-US" altLang="zh-CN" sz="2200" dirty="0"/>
              <a:t> attribute to make a cell span many rows</a:t>
            </a:r>
            <a:endParaRPr lang="en-US" altLang="zh-CN" sz="2200" dirty="0"/>
          </a:p>
          <a:p>
            <a:r>
              <a:rPr lang="en-US" altLang="zh-CN" sz="2200" dirty="0"/>
              <a:t>Use the </a:t>
            </a:r>
            <a:r>
              <a:rPr lang="en-US" altLang="zh-CN" sz="2200" b="1" dirty="0"/>
              <a:t>id</a:t>
            </a:r>
            <a:r>
              <a:rPr lang="en-US" altLang="zh-CN" sz="2200" dirty="0"/>
              <a:t> attribute to uniquely define one table</a:t>
            </a:r>
            <a:endParaRPr lang="en-US" altLang="zh-CN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HTML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LISTS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8800" y="876690"/>
            <a:ext cx="1107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HTML defines a number of elements that you can use to create lists of content items. can create ordered, unordered, and descriptive lists.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72567"/>
            <a:ext cx="1195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Example of an unordered list and an ordered list in HTML: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42920" y="225383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HTML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LISTS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00" y="3072481"/>
            <a:ext cx="2645460" cy="2502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88" y="3072482"/>
            <a:ext cx="2883592" cy="2502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05444" y="229350"/>
            <a:ext cx="83811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HTML Lists - The Style Attribute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7702" y="1181342"/>
            <a:ext cx="11036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style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attribute can be added to an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to define the style of the marker: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47014" y="2377440"/>
          <a:ext cx="7697972" cy="3168940"/>
        </p:xfrm>
        <a:graphic>
          <a:graphicData uri="http://schemas.openxmlformats.org/drawingml/2006/table">
            <a:tbl>
              <a:tblPr/>
              <a:tblGrid>
                <a:gridCol w="3848986"/>
                <a:gridCol w="3848986"/>
              </a:tblGrid>
              <a:tr h="49924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Style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04257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list-style-type:disc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list items will be marked with bullets (default)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</a:tr>
              <a:tr h="47334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list-style-type:circle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list items will be marked with circles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8756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list-style-type:square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list items will be marked with squares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</a:tr>
              <a:tr h="47334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list-style-type:none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list items will not be marked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075" y="3014330"/>
            <a:ext cx="2413591" cy="125464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48000" y="2923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269" y="2222205"/>
            <a:ext cx="4880344" cy="2838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5925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1" y="2265680"/>
            <a:ext cx="5222240" cy="28041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160" y="2987040"/>
            <a:ext cx="2641599" cy="1554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58241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657" y="2092960"/>
            <a:ext cx="5065503" cy="3149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07" y="2580640"/>
            <a:ext cx="2610533" cy="154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6433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919" y="2164080"/>
            <a:ext cx="4898481" cy="2875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564" y="2854960"/>
            <a:ext cx="2693716" cy="139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114" y="216938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HTML Lists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3772" y="901216"/>
            <a:ext cx="10664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 ordered list starts with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tag. Each list item starts with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&lt;li&gt;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tag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list items will be marked with numbers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charset="-122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7570" y="1831716"/>
            <a:ext cx="6103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Example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075" y="2723306"/>
            <a:ext cx="4606252" cy="27443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460" y="2647507"/>
            <a:ext cx="3394493" cy="3094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04720" y="239240"/>
            <a:ext cx="778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HTML Lists - The Type Attribute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5960" y="1055707"/>
            <a:ext cx="1080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attribute can be added to an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to define the type of the marker: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68" y="2041451"/>
            <a:ext cx="9622464" cy="3530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979" y="3051544"/>
            <a:ext cx="3404779" cy="114759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048000" y="56391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4" y="2275367"/>
            <a:ext cx="5401340" cy="3104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114" y="522399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55" y="1959048"/>
            <a:ext cx="5236479" cy="31445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675" y="2753833"/>
            <a:ext cx="2471152" cy="17118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920" y="2036134"/>
            <a:ext cx="5029200" cy="3115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7114" y="777581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313" y="2695353"/>
            <a:ext cx="2731777" cy="14672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114" y="671254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134" y="2032001"/>
            <a:ext cx="5668666" cy="3159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678" y="2785730"/>
            <a:ext cx="2915592" cy="1286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114" y="639359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Ordered Lists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331" y="2200940"/>
            <a:ext cx="5521259" cy="3194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226" y="3232297"/>
            <a:ext cx="3031064" cy="1339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963" y="3149600"/>
            <a:ext cx="2987749" cy="19776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48000" y="31513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Nested HTML Lists</a:t>
            </a:r>
            <a:endParaRPr kumimoji="0" lang="it-IT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11261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List can be nested (lists inside lists):</a:t>
            </a:r>
            <a:endParaRPr kumimoji="0" lang="it-IT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20" y="1813977"/>
            <a:ext cx="4826000" cy="43937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60120" y="212950"/>
            <a:ext cx="102717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Horizontal Lists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HTML lists can be styled in many different ways with CSS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One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popular way, is to style a list to be displayed horizontally: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585" y="3643575"/>
            <a:ext cx="3418282" cy="9893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57" y="1763266"/>
            <a:ext cx="3418283" cy="4997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2880" y="639427"/>
            <a:ext cx="928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With a little extra style, you can make it look like a menu: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720" y="5177464"/>
            <a:ext cx="4521200" cy="91663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48000" y="10221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Horizontal Lists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35" y="1455468"/>
            <a:ext cx="4303490" cy="45675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96" y="1548801"/>
            <a:ext cx="4609524" cy="105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369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Summary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0000" y="1287145"/>
            <a:ext cx="965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&lt;ul&gt;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an unordered list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style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attribute to define the bullet style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an ordered list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attribute to define the numbering type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&lt;li&gt;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a list item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&lt;dl&gt;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a description list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&lt;dt&gt;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the description term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HTML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&lt;dd&gt;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element to define the description data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Lists can be nested inside lists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List items can contain other HTML elements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the CSS property 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display:inline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to display a list horizontally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</a:b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WQyMzkyOWRjOGE1NzM3ODdhMDA3YmE1MDAyZWE4MjMifQ==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14095</Words>
  <Application>WPS 演示</Application>
  <PresentationFormat>宽屏</PresentationFormat>
  <Paragraphs>487</Paragraphs>
  <Slides>74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9" baseType="lpstr">
      <vt:lpstr>Arial</vt:lpstr>
      <vt:lpstr>宋体</vt:lpstr>
      <vt:lpstr>Wingdings</vt:lpstr>
      <vt:lpstr>Verdana</vt:lpstr>
      <vt:lpstr>Calibri Light</vt:lpstr>
      <vt:lpstr>微软雅黑</vt:lpstr>
      <vt:lpstr>Arial Unicode MS</vt:lpstr>
      <vt:lpstr>等线 Light</vt:lpstr>
      <vt:lpstr>等线</vt:lpstr>
      <vt:lpstr>Calibri</vt:lpstr>
      <vt:lpstr>Wingdings</vt:lpstr>
      <vt:lpstr>Calibri</vt:lpstr>
      <vt:lpstr>Times New Roman</vt:lpstr>
      <vt:lpstr>Office Theme</vt:lpstr>
      <vt:lpstr>1_Office Theme</vt:lpstr>
      <vt:lpstr>HTML Colors</vt:lpstr>
      <vt:lpstr>Color Names</vt:lpstr>
      <vt:lpstr>RGB (Red, Green, Blue)</vt:lpstr>
      <vt:lpstr>RGB (Red, Green, Blue)</vt:lpstr>
      <vt:lpstr>RGB (Red, Green, Blue)</vt:lpstr>
      <vt:lpstr>Hexadecimal Colors</vt:lpstr>
      <vt:lpstr>Hexadecimal Colors</vt:lpstr>
      <vt:lpstr>HTML CSS</vt:lpstr>
      <vt:lpstr>What is CSS?</vt:lpstr>
      <vt:lpstr>How to use CSS</vt:lpstr>
      <vt:lpstr>Inline Styling</vt:lpstr>
      <vt:lpstr>Internal Styling</vt:lpstr>
      <vt:lpstr>External Styling</vt:lpstr>
      <vt:lpstr>CSS Fonts</vt:lpstr>
      <vt:lpstr>The CSS Box Model </vt:lpstr>
      <vt:lpstr>The CSS Box Model </vt:lpstr>
      <vt:lpstr>The id Attribute</vt:lpstr>
      <vt:lpstr>The id Attribute</vt:lpstr>
      <vt:lpstr>The class Attribute</vt:lpstr>
      <vt:lpstr>The class Attribute</vt:lpstr>
      <vt:lpstr>HTML CSS Summary</vt:lpstr>
      <vt:lpstr>HTML LINKS</vt:lpstr>
      <vt:lpstr>HTML Links - Hyperlinks</vt:lpstr>
      <vt:lpstr>HTML Links - Syntax</vt:lpstr>
      <vt:lpstr>HTML Links – The target Attribute</vt:lpstr>
      <vt:lpstr>HTML Links -Colors</vt:lpstr>
      <vt:lpstr>HTML Links -Colors</vt:lpstr>
      <vt:lpstr>Absolute URLs vs. Relative URLs</vt:lpstr>
      <vt:lpstr>More on Absolute URLs and Relative URLs</vt:lpstr>
      <vt:lpstr>HTML Links – Use an Image as a link</vt:lpstr>
      <vt:lpstr>Link to an Email Address</vt:lpstr>
      <vt:lpstr>Summary</vt:lpstr>
      <vt:lpstr>HTML Images</vt:lpstr>
      <vt:lpstr>HTML Images Syntax</vt:lpstr>
      <vt:lpstr>HTML Images Syntax</vt:lpstr>
      <vt:lpstr>Width and Height or Style?</vt:lpstr>
      <vt:lpstr>Images in Another Place</vt:lpstr>
      <vt:lpstr>Image Maps</vt:lpstr>
      <vt:lpstr>HTML Image Summary</vt:lpstr>
      <vt:lpstr>HTML TABLES</vt:lpstr>
      <vt:lpstr>HTML Table Example</vt:lpstr>
      <vt:lpstr>Defining HTML Tables</vt:lpstr>
      <vt:lpstr>An HTML Table with a Border Attribute</vt:lpstr>
      <vt:lpstr>An HTML Table with a Border Attribute</vt:lpstr>
      <vt:lpstr>An HTML Table with Collapsed Borders</vt:lpstr>
      <vt:lpstr>An HTML Table with Cell Padding</vt:lpstr>
      <vt:lpstr>HTML Table Headings</vt:lpstr>
      <vt:lpstr>HTML Table Headings</vt:lpstr>
      <vt:lpstr>An HTML Table with Border Spacing</vt:lpstr>
      <vt:lpstr>Table Cells that Span Many Columns</vt:lpstr>
      <vt:lpstr>Table Cells that Span Many Rows</vt:lpstr>
      <vt:lpstr>An HTML Table With a Caption</vt:lpstr>
      <vt:lpstr>A Special Style for One Table</vt:lpstr>
      <vt:lpstr>A Special Style for One Table</vt:lpstr>
      <vt:lpstr>A Special Style for One Table</vt:lpstr>
      <vt:lpstr>HTML Table Summary</vt:lpstr>
      <vt:lpstr>HTML LISTS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yzchen</dc:creator>
  <cp:lastModifiedBy>小鞠鞠的小猪猪</cp:lastModifiedBy>
  <cp:revision>178</cp:revision>
  <dcterms:created xsi:type="dcterms:W3CDTF">2021-02-18T03:39:00Z</dcterms:created>
  <dcterms:modified xsi:type="dcterms:W3CDTF">2025-07-01T05:36:59Z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B34175CA92CA4CB38F28985E04D025B1_12</vt:lpwstr>
  </property>
</Properties>
</file>