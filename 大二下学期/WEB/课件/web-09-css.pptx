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35"/>
  </p:notesMasterIdLst>
  <p:sldIdLst>
    <p:sldId id="457" r:id="rId7"/>
    <p:sldId id="458" r:id="rId8"/>
    <p:sldId id="459" r:id="rId9"/>
    <p:sldId id="460" r:id="rId10"/>
    <p:sldId id="461" r:id="rId11"/>
    <p:sldId id="462" r:id="rId12"/>
    <p:sldId id="463" r:id="rId13"/>
    <p:sldId id="464" r:id="rId14"/>
    <p:sldId id="392" r:id="rId15"/>
    <p:sldId id="394" r:id="rId16"/>
    <p:sldId id="395" r:id="rId17"/>
    <p:sldId id="397" r:id="rId18"/>
    <p:sldId id="399" r:id="rId19"/>
    <p:sldId id="400" r:id="rId20"/>
    <p:sldId id="401" r:id="rId21"/>
    <p:sldId id="404" r:id="rId22"/>
    <p:sldId id="405" r:id="rId23"/>
    <p:sldId id="407" r:id="rId24"/>
    <p:sldId id="409" r:id="rId25"/>
    <p:sldId id="411" r:id="rId26"/>
    <p:sldId id="413" r:id="rId27"/>
    <p:sldId id="414" r:id="rId28"/>
    <p:sldId id="416" r:id="rId29"/>
    <p:sldId id="417" r:id="rId30"/>
    <p:sldId id="419" r:id="rId31"/>
    <p:sldId id="420" r:id="rId32"/>
    <p:sldId id="510" r:id="rId33"/>
    <p:sldId id="511" r:id="rId34"/>
    <p:sldId id="512" r:id="rId36"/>
    <p:sldId id="513" r:id="rId37"/>
    <p:sldId id="514" r:id="rId38"/>
    <p:sldId id="515" r:id="rId39"/>
    <p:sldId id="516" r:id="rId40"/>
    <p:sldId id="517" r:id="rId41"/>
    <p:sldId id="518" r:id="rId42"/>
    <p:sldId id="519" r:id="rId43"/>
    <p:sldId id="520" r:id="rId44"/>
    <p:sldId id="521" r:id="rId45"/>
    <p:sldId id="522" r:id="rId46"/>
    <p:sldId id="523" r:id="rId47"/>
    <p:sldId id="524" r:id="rId48"/>
    <p:sldId id="525" r:id="rId49"/>
    <p:sldId id="526" r:id="rId50"/>
    <p:sldId id="527" r:id="rId51"/>
    <p:sldId id="528" r:id="rId52"/>
    <p:sldId id="529" r:id="rId53"/>
    <p:sldId id="530" r:id="rId54"/>
    <p:sldId id="531" r:id="rId55"/>
    <p:sldId id="532" r:id="rId56"/>
    <p:sldId id="533" r:id="rId57"/>
    <p:sldId id="534" r:id="rId58"/>
    <p:sldId id="535" r:id="rId59"/>
    <p:sldId id="536" r:id="rId60"/>
    <p:sldId id="537" r:id="rId61"/>
    <p:sldId id="538" r:id="rId62"/>
    <p:sldId id="539" r:id="rId63"/>
    <p:sldId id="540" r:id="rId64"/>
    <p:sldId id="541" r:id="rId65"/>
    <p:sldId id="542" r:id="rId66"/>
    <p:sldId id="543" r:id="rId67"/>
    <p:sldId id="544" r:id="rId68"/>
    <p:sldId id="545" r:id="rId69"/>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うちは サスケ" initials="うサ"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8" autoAdjust="0"/>
    <p:restoredTop sz="96563" autoAdjust="0"/>
  </p:normalViewPr>
  <p:slideViewPr>
    <p:cSldViewPr snapToGrid="0">
      <p:cViewPr varScale="1">
        <p:scale>
          <a:sx n="156" d="100"/>
          <a:sy n="156" d="100"/>
        </p:scale>
        <p:origin x="265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4" Type="http://schemas.openxmlformats.org/officeDocument/2006/relationships/tags" Target="tags/tag102.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notesMaster" Target="notesMasters/notesMaster1.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E83CC-D9B1-4A68-9BBC-37B00C56F2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F2285-2B97-4FEC-9F05-52783E55CB8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E9CCBD6-FDF2-493A-98FA-1C5BAEC41DB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en-US" altLang="zh-CN" dirty="0" err="1"/>
              <a:t>webkit-transition:width</a:t>
            </a:r>
            <a:r>
              <a:rPr lang="en-US" altLang="zh-CN" dirty="0"/>
              <a:t> 2s; /* Safari and Chrome */</a:t>
            </a:r>
            <a:endParaRPr lang="zh-CN" altLang="en-US" dirty="0"/>
          </a:p>
        </p:txBody>
      </p:sp>
      <p:sp>
        <p:nvSpPr>
          <p:cNvPr id="4" name="灯片编号占位符 3"/>
          <p:cNvSpPr>
            <a:spLocks noGrp="1"/>
          </p:cNvSpPr>
          <p:nvPr>
            <p:ph type="sldNum" sz="quarter" idx="10"/>
          </p:nvPr>
        </p:nvSpPr>
        <p:spPr/>
        <p:txBody>
          <a:bodyPr/>
          <a:lstStyle/>
          <a:p>
            <a:fld id="{8E9CCBD6-FDF2-493A-98FA-1C5BAEC41DB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17" name="页脚占位符 16"/>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18" name="灯片编号占位符 17"/>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页脚占位符 5"/>
          <p:cNvSpPr>
            <a:spLocks noGrp="1"/>
          </p:cNvSpPr>
          <p:nvPr>
            <p:ph type="ftr" sz="quarter" idx="11"/>
            <p:custDataLst>
              <p:tags r:id="rId6"/>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7" name="灯片编号占位符 6"/>
          <p:cNvSpPr>
            <a:spLocks noGrp="1"/>
          </p:cNvSpPr>
          <p:nvPr>
            <p:ph type="sldNum" sz="quarter" idx="12"/>
            <p:custDataLst>
              <p:tags r:id="rId7"/>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8" name="页脚占位符 7"/>
          <p:cNvSpPr>
            <a:spLocks noGrp="1"/>
          </p:cNvSpPr>
          <p:nvPr>
            <p:ph type="ftr" sz="quarter" idx="11"/>
            <p:custDataLst>
              <p:tags r:id="rId8"/>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9" name="灯片编号占位符 8"/>
          <p:cNvSpPr>
            <a:spLocks noGrp="1"/>
          </p:cNvSpPr>
          <p:nvPr>
            <p:ph type="sldNum" sz="quarter" idx="12"/>
            <p:custDataLst>
              <p:tags r:id="rId9"/>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4" name="页脚占位符 3"/>
          <p:cNvSpPr>
            <a:spLocks noGrp="1"/>
          </p:cNvSpPr>
          <p:nvPr>
            <p:ph type="ftr" sz="quarter" idx="11"/>
            <p:custDataLst>
              <p:tags r:id="rId4"/>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灯片编号占位符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3" name="页脚占位符 2"/>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4" name="灯片编号占位符 3"/>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页脚占位符 5"/>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7" name="灯片编号占位符 6"/>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indent="-228600">
              <a:spcAft>
                <a:spcPts val="1000"/>
              </a:spcAft>
              <a:defRPr spc="300"/>
            </a:lvl1pPr>
            <a:lvl2pPr indent="-228600">
              <a:defRPr spc="300"/>
            </a:lvl2pPr>
            <a:lvl3pPr indent="-228600">
              <a:defRPr spc="300"/>
            </a:lvl3pPr>
            <a:lvl4pPr indent="-228600">
              <a:defRPr spc="300"/>
            </a:lvl4pPr>
            <a:lvl5pPr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8" Type="http://schemas.openxmlformats.org/officeDocument/2006/relationships/theme" Target="../theme/theme4.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charset="-122"/>
              <a:cs typeface="+mn-cs"/>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97C848F-4C7E-4EE8-A791-FFEDBD3433B3}"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A3F4EC1-423F-487E-B47F-419AA34B080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50C3E91-140D-4898-8945-EEF399BBE654}"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9E6DD98-C0F0-4311-A05B-09A4520CE44B}"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F14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bg1"/>
                </a:solidFill>
                <a:latin typeface="Arial" panose="020B0604020202020204" pitchFamily="34" charset="0"/>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bg1"/>
                </a:solidFill>
                <a:latin typeface="Arial" panose="020B0604020202020204" pitchFamily="34" charset="0"/>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bg1"/>
                </a:solidFill>
                <a:latin typeface="Arial" panose="020B0604020202020204" pitchFamily="34" charset="0"/>
                <a:ea typeface="微软雅黑" panose="020B050302020402020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charset="-122"/>
              <a:cs typeface="+mn-cs"/>
            </a:endParaRPr>
          </a:p>
        </p:txBody>
      </p:sp>
    </p:spTree>
    <p:custDataLst>
      <p:tags r:id="rId17"/>
    </p:custData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bg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B3DC9-4C5B-4D9F-84D5-E67E87066088}"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3.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4.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66.xml"/><Relationship Id="rId1" Type="http://schemas.openxmlformats.org/officeDocument/2006/relationships/tags" Target="../tags/tag65.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5.xml"/><Relationship Id="rId5" Type="http://schemas.openxmlformats.org/officeDocument/2006/relationships/tags" Target="../tags/tag68.xml"/><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tags" Target="../tags/tag67.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71.xml"/><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tags" Target="../tags/tag70.xml"/><Relationship Id="rId1" Type="http://schemas.openxmlformats.org/officeDocument/2006/relationships/tags" Target="../tags/tag69.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77.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tags" Target="../tags/tag76.xml"/><Relationship Id="rId1" Type="http://schemas.openxmlformats.org/officeDocument/2006/relationships/tags" Target="../tags/tag75.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80.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tags" Target="../tags/tag79.xml"/><Relationship Id="rId1" Type="http://schemas.openxmlformats.org/officeDocument/2006/relationships/tags" Target="../tags/tag78.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83.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tags" Target="../tags/tag82.xml"/><Relationship Id="rId1" Type="http://schemas.openxmlformats.org/officeDocument/2006/relationships/tags" Target="../tags/tag81.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86.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tags" Target="../tags/tag85.xml"/><Relationship Id="rId1" Type="http://schemas.openxmlformats.org/officeDocument/2006/relationships/tags" Target="../tags/tag84.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89.xml"/><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tags" Target="../tags/tag88.xml"/><Relationship Id="rId1" Type="http://schemas.openxmlformats.org/officeDocument/2006/relationships/tags" Target="../tags/tag87.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5.xml"/><Relationship Id="rId4" Type="http://schemas.openxmlformats.org/officeDocument/2006/relationships/tags" Target="../tags/tag91.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tags" Target="../tags/tag90.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94.xml"/><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tags" Target="../tags/tag93.xml"/><Relationship Id="rId1" Type="http://schemas.openxmlformats.org/officeDocument/2006/relationships/tags" Target="../tags/tag92.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97.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tags" Target="../tags/tag96.xml"/><Relationship Id="rId1" Type="http://schemas.openxmlformats.org/officeDocument/2006/relationships/tags" Target="../tags/tag95.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99.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tags" Target="../tags/tag98.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100.xml"/><Relationship Id="rId2" Type="http://schemas.openxmlformats.org/officeDocument/2006/relationships/image" Target="../media/image79.png"/><Relationship Id="rId1" Type="http://schemas.openxmlformats.org/officeDocument/2006/relationships/image" Target="../media/image78.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101.xml"/><Relationship Id="rId2" Type="http://schemas.openxmlformats.org/officeDocument/2006/relationships/image" Target="../media/image81.png"/><Relationship Id="rId1" Type="http://schemas.openxmlformats.org/officeDocument/2006/relationships/image" Target="../media/image8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83.png"/><Relationship Id="rId1" Type="http://schemas.openxmlformats.org/officeDocument/2006/relationships/image" Target="../media/image8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85.png"/><Relationship Id="rId1"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87.png"/><Relationship Id="rId1" Type="http://schemas.openxmlformats.org/officeDocument/2006/relationships/image" Target="../media/image8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92.png"/><Relationship Id="rId1" Type="http://schemas.openxmlformats.org/officeDocument/2006/relationships/image" Target="../media/image91.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96.png"/><Relationship Id="rId1" Type="http://schemas.openxmlformats.org/officeDocument/2006/relationships/image" Target="../media/image91.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46.xml"/><Relationship Id="rId5" Type="http://schemas.openxmlformats.org/officeDocument/2006/relationships/image" Target="../media/image99.png"/><Relationship Id="rId4" Type="http://schemas.microsoft.com/office/2007/relationships/media" Target="../media/media1.mp4"/><Relationship Id="rId3" Type="http://schemas.openxmlformats.org/officeDocument/2006/relationships/video" Target="../media/media1.mp4"/><Relationship Id="rId2" Type="http://schemas.openxmlformats.org/officeDocument/2006/relationships/image" Target="../media/image98.png"/><Relationship Id="rId1" Type="http://schemas.openxmlformats.org/officeDocument/2006/relationships/image" Target="../media/image9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101.png"/><Relationship Id="rId1" Type="http://schemas.openxmlformats.org/officeDocument/2006/relationships/image" Target="../media/image100.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0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05.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09.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114.png"/><Relationship Id="rId1" Type="http://schemas.openxmlformats.org/officeDocument/2006/relationships/image" Target="../media/image113.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image" Target="../media/image115.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119.png"/><Relationship Id="rId1" Type="http://schemas.openxmlformats.org/officeDocument/2006/relationships/image" Target="../media/image118.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124.png"/><Relationship Id="rId1" Type="http://schemas.openxmlformats.org/officeDocument/2006/relationships/image" Target="../media/image123.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126.png"/><Relationship Id="rId1"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a:solidFill>
                  <a:schemeClr val="bg1"/>
                </a:solidFill>
                <a:latin typeface="Times New Roman" panose="02020603050405020304" pitchFamily="18" charset="0"/>
                <a:cs typeface="Times New Roman" panose="02020603050405020304" pitchFamily="18" charset="0"/>
                <a:sym typeface="+mn-ea"/>
              </a:rPr>
              <a:t>CSS </a:t>
            </a:r>
            <a:r>
              <a:rPr lang="en-US" altLang="zh-CN">
                <a:solidFill>
                  <a:schemeClr val="bg1"/>
                </a:solidFill>
                <a:latin typeface="Times New Roman" panose="02020603050405020304" pitchFamily="18" charset="0"/>
                <a:cs typeface="Times New Roman" panose="02020603050405020304" pitchFamily="18" charset="0"/>
                <a:sym typeface="+mn-ea"/>
              </a:rPr>
              <a:t>FLOAT</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69054"/>
            <a:ext cx="609600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CSS Float And Clear</a:t>
            </a:r>
            <a:endParaRPr kumimoji="0" lang="en-US" altLang="zh-CN" sz="40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p:txBody>
      </p:sp>
      <p:sp>
        <p:nvSpPr>
          <p:cNvPr id="6" name="文本框 5"/>
          <p:cNvSpPr txBox="1"/>
          <p:nvPr/>
        </p:nvSpPr>
        <p:spPr>
          <a:xfrm>
            <a:off x="603250" y="1547614"/>
            <a:ext cx="11182350" cy="2062103"/>
          </a:xfrm>
          <a:prstGeom prst="rect">
            <a:avLst/>
          </a:prstGeom>
          <a:noFill/>
        </p:spPr>
        <p:txBody>
          <a:bodyPr wrap="square">
            <a:spAutoFit/>
          </a:bodyPr>
          <a:lstStyle/>
          <a:p>
            <a:pPr marL="457200" marR="0" lvl="0" indent="-457200" algn="just"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en-US" altLang="zh-CN" sz="32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The </a:t>
            </a:r>
            <a:r>
              <a:rPr kumimoji="0" lang="en-US" altLang="zh-CN" sz="3200" b="0" i="0" u="none" strike="noStrike" kern="1200" cap="none" spc="0" normalizeH="0" baseline="0" noProof="0" dirty="0">
                <a:ln>
                  <a:noFill/>
                </a:ln>
                <a:solidFill>
                  <a:srgbClr val="FF0000"/>
                </a:solidFill>
                <a:effectLst/>
                <a:uLnTx/>
                <a:uFillTx/>
                <a:latin typeface="Calibri" panose="020F0502020204030204" pitchFamily="34" charset="0"/>
                <a:ea typeface="等线" panose="02010600030101010101" charset="-122"/>
                <a:cs typeface="Calibri" panose="020F0502020204030204" pitchFamily="34" charset="0"/>
              </a:rPr>
              <a:t>float</a:t>
            </a:r>
            <a:r>
              <a:rPr kumimoji="0" lang="en-US" altLang="zh-CN" sz="32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 property specifies whether or not an element should float.</a:t>
            </a:r>
            <a:endParaRPr kumimoji="0" lang="en-US" altLang="zh-CN" sz="32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a:p>
            <a:pPr marL="457200" indent="-457200" algn="just">
              <a:buFont typeface="Wingdings" panose="05000000000000000000" pitchFamily="2" charset="2"/>
              <a:buChar char="l"/>
              <a:defRPr/>
            </a:pPr>
            <a:r>
              <a:rPr lang="en-US" altLang="zh-CN" sz="3200" dirty="0">
                <a:solidFill>
                  <a:prstClr val="white"/>
                </a:solidFill>
                <a:latin typeface="Calibri" panose="020F0502020204030204" pitchFamily="34" charset="0"/>
                <a:cs typeface="Calibri" panose="020F0502020204030204" pitchFamily="34" charset="0"/>
              </a:rPr>
              <a:t>The </a:t>
            </a:r>
            <a:r>
              <a:rPr lang="en-US" altLang="zh-CN" sz="3200" dirty="0">
                <a:solidFill>
                  <a:srgbClr val="FF0000"/>
                </a:solidFill>
                <a:latin typeface="Calibri" panose="020F0502020204030204" pitchFamily="34" charset="0"/>
                <a:cs typeface="Calibri" panose="020F0502020204030204" pitchFamily="34" charset="0"/>
              </a:rPr>
              <a:t>clear</a:t>
            </a:r>
            <a:r>
              <a:rPr lang="en-US" altLang="zh-CN" sz="3200" dirty="0">
                <a:solidFill>
                  <a:prstClr val="white"/>
                </a:solidFill>
                <a:latin typeface="Calibri" panose="020F0502020204030204" pitchFamily="34" charset="0"/>
                <a:cs typeface="Calibri" panose="020F0502020204030204" pitchFamily="34" charset="0"/>
              </a:rPr>
              <a:t> property is used to control the behavior of floating elements.</a:t>
            </a:r>
            <a:endParaRPr lang="zh-CN" altLang="en-US" sz="3200" dirty="0">
              <a:solidFill>
                <a:prstClr val="white"/>
              </a:solidFill>
              <a:latin typeface="Calibri" panose="020F0502020204030204" pitchFamily="34" charset="0"/>
              <a:cs typeface="Calibri" panose="020F0502020204030204" pitchFamily="34" charset="0"/>
            </a:endParaRPr>
          </a:p>
        </p:txBody>
      </p:sp>
      <p:pic>
        <p:nvPicPr>
          <p:cNvPr id="10" name="图片 9"/>
          <p:cNvPicPr>
            <a:picLocks noChangeAspect="1"/>
          </p:cNvPicPr>
          <p:nvPr/>
        </p:nvPicPr>
        <p:blipFill>
          <a:blip r:embed="rId1"/>
          <a:stretch>
            <a:fillRect/>
          </a:stretch>
        </p:blipFill>
        <p:spPr>
          <a:xfrm>
            <a:off x="1658621" y="4598670"/>
            <a:ext cx="8590280" cy="13276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69054"/>
            <a:ext cx="609600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CSS Float</a:t>
            </a:r>
            <a:endParaRPr kumimoji="0" lang="en-US" altLang="zh-CN" sz="40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1003897" y="1527454"/>
            <a:ext cx="10668025" cy="49939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8777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The Float Property</a:t>
            </a:r>
            <a:endParaRPr kumimoji="0" lang="en-US" altLang="zh-CN"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p:txBody>
      </p:sp>
      <p:sp>
        <p:nvSpPr>
          <p:cNvPr id="5" name="文本框 4"/>
          <p:cNvSpPr txBox="1"/>
          <p:nvPr/>
        </p:nvSpPr>
        <p:spPr>
          <a:xfrm>
            <a:off x="475990" y="1098989"/>
            <a:ext cx="11236098"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2800" dirty="0">
                <a:solidFill>
                  <a:prstClr val="white"/>
                </a:solidFill>
                <a:latin typeface="Calibri" panose="020F0502020204030204" pitchFamily="34" charset="0"/>
                <a:ea typeface="等线" panose="02010600030101010101" charset="-122"/>
                <a:cs typeface="Calibri" panose="020F0502020204030204" pitchFamily="34" charset="0"/>
              </a:rPr>
              <a:t>T</a:t>
            </a:r>
            <a:r>
              <a:rPr kumimoji="0" lang="en-US" altLang="zh-CN"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he </a:t>
            </a:r>
            <a:r>
              <a:rPr kumimoji="0" lang="en-US" altLang="zh-CN" sz="2800" b="0" i="0" u="none" strike="noStrike" kern="1200" cap="none" spc="0" normalizeH="0" baseline="0" noProof="0" dirty="0">
                <a:ln>
                  <a:noFill/>
                </a:ln>
                <a:solidFill>
                  <a:srgbClr val="FF0000"/>
                </a:solidFill>
                <a:effectLst/>
                <a:uLnTx/>
                <a:uFillTx/>
                <a:latin typeface="Calibri" panose="020F0502020204030204" pitchFamily="34" charset="0"/>
                <a:ea typeface="等线" panose="02010600030101010101" charset="-122"/>
                <a:cs typeface="Calibri" panose="020F0502020204030204" pitchFamily="34" charset="0"/>
              </a:rPr>
              <a:t>float</a:t>
            </a:r>
            <a:r>
              <a:rPr kumimoji="0" lang="en-US" altLang="zh-CN"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 property can be used to wrap text around images.</a:t>
            </a:r>
            <a:r>
              <a:rPr kumimoji="0" lang="en-US" altLang="zh-CN" sz="2800" b="0" i="0" u="none" strike="noStrike" kern="1200" cap="none" spc="0" normalizeH="0" baseline="0" noProof="0" dirty="0">
                <a:ln>
                  <a:noFill/>
                </a:ln>
                <a:solidFill>
                  <a:srgbClr val="000000"/>
                </a:solidFill>
                <a:effectLst/>
                <a:uLnTx/>
                <a:uFillTx/>
                <a:latin typeface="Calibri" panose="020F0502020204030204" pitchFamily="34" charset="0"/>
                <a:ea typeface="等线" panose="02010600030101010101" charset="-122"/>
                <a:cs typeface="Calibri" panose="020F0502020204030204" pitchFamily="34" charset="0"/>
              </a:rPr>
              <a:t> </a:t>
            </a:r>
            <a:r>
              <a:rPr kumimoji="0" lang="en-US" altLang="zh-CN"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The following example specifies that an image should float to the right in a text:</a:t>
            </a:r>
            <a:endPar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p:txBody>
      </p:sp>
      <p:pic>
        <p:nvPicPr>
          <p:cNvPr id="7" name="图片 6"/>
          <p:cNvPicPr>
            <a:picLocks noChangeAspect="1"/>
          </p:cNvPicPr>
          <p:nvPr/>
        </p:nvPicPr>
        <p:blipFill>
          <a:blip r:embed="rId1"/>
          <a:stretch>
            <a:fillRect/>
          </a:stretch>
        </p:blipFill>
        <p:spPr>
          <a:xfrm>
            <a:off x="241156" y="2224893"/>
            <a:ext cx="3261655" cy="1749365"/>
          </a:xfrm>
          <a:prstGeom prst="rect">
            <a:avLst/>
          </a:prstGeom>
        </p:spPr>
      </p:pic>
      <p:pic>
        <p:nvPicPr>
          <p:cNvPr id="9" name="图片 8"/>
          <p:cNvPicPr>
            <a:picLocks noChangeAspect="1"/>
          </p:cNvPicPr>
          <p:nvPr/>
        </p:nvPicPr>
        <p:blipFill>
          <a:blip r:embed="rId2"/>
          <a:stretch>
            <a:fillRect/>
          </a:stretch>
        </p:blipFill>
        <p:spPr>
          <a:xfrm>
            <a:off x="196706" y="4146055"/>
            <a:ext cx="5810549" cy="2629035"/>
          </a:xfrm>
          <a:prstGeom prst="rect">
            <a:avLst/>
          </a:prstGeom>
        </p:spPr>
      </p:pic>
      <p:pic>
        <p:nvPicPr>
          <p:cNvPr id="11" name="图片 10"/>
          <p:cNvPicPr>
            <a:picLocks noChangeAspect="1"/>
          </p:cNvPicPr>
          <p:nvPr/>
        </p:nvPicPr>
        <p:blipFill rotWithShape="1">
          <a:blip r:embed="rId3"/>
          <a:srcRect t="11155"/>
          <a:stretch>
            <a:fillRect/>
          </a:stretch>
        </p:blipFill>
        <p:spPr>
          <a:xfrm>
            <a:off x="6906113" y="4794250"/>
            <a:ext cx="4805975" cy="16604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93184"/>
            <a:ext cx="609600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rPr>
              <a:t>The Clear Property</a:t>
            </a:r>
            <a:endParaRPr kumimoji="0" lang="en-US" altLang="zh-CN" sz="44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charset="-122"/>
              <a:cs typeface="Calibri" panose="020F0502020204030204" pitchFamily="34" charset="0"/>
            </a:endParaRPr>
          </a:p>
        </p:txBody>
      </p:sp>
      <p:pic>
        <p:nvPicPr>
          <p:cNvPr id="5" name="图片 4"/>
          <p:cNvPicPr>
            <a:picLocks noChangeAspect="1"/>
          </p:cNvPicPr>
          <p:nvPr/>
        </p:nvPicPr>
        <p:blipFill>
          <a:blip r:embed="rId1"/>
          <a:stretch>
            <a:fillRect/>
          </a:stretch>
        </p:blipFill>
        <p:spPr>
          <a:xfrm>
            <a:off x="1259462" y="1592574"/>
            <a:ext cx="9190476" cy="49809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9633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The Clear Property</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 name="文本框 4"/>
          <p:cNvSpPr txBox="1"/>
          <p:nvPr/>
        </p:nvSpPr>
        <p:spPr>
          <a:xfrm>
            <a:off x="330200" y="937478"/>
            <a:ext cx="11639550" cy="181588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The </a:t>
            </a: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clear</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 property is used to control the behavior of floating elements.</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Elements after a floating element will flow around it. To avoid this, use the </a:t>
            </a: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clear </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The clear property specifies on which sides of an element floating elements are not allowed to float: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66924" y="2689860"/>
            <a:ext cx="2780952" cy="1952381"/>
          </a:xfrm>
          <a:prstGeom prst="rect">
            <a:avLst/>
          </a:prstGeom>
        </p:spPr>
      </p:pic>
      <p:pic>
        <p:nvPicPr>
          <p:cNvPr id="6" name="图片 5"/>
          <p:cNvPicPr>
            <a:picLocks noChangeAspect="1"/>
          </p:cNvPicPr>
          <p:nvPr/>
        </p:nvPicPr>
        <p:blipFill rotWithShape="1">
          <a:blip r:embed="rId2"/>
          <a:srcRect r="9104"/>
          <a:stretch>
            <a:fillRect/>
          </a:stretch>
        </p:blipFill>
        <p:spPr>
          <a:xfrm>
            <a:off x="666925" y="4712091"/>
            <a:ext cx="2787476" cy="2066667"/>
          </a:xfrm>
          <a:prstGeom prst="rect">
            <a:avLst/>
          </a:prstGeom>
        </p:spPr>
      </p:pic>
      <p:pic>
        <p:nvPicPr>
          <p:cNvPr id="8" name="图片 7"/>
          <p:cNvPicPr>
            <a:picLocks noChangeAspect="1"/>
          </p:cNvPicPr>
          <p:nvPr/>
        </p:nvPicPr>
        <p:blipFill>
          <a:blip r:embed="rId3"/>
          <a:stretch>
            <a:fillRect/>
          </a:stretch>
        </p:blipFill>
        <p:spPr>
          <a:xfrm>
            <a:off x="3721100" y="3261360"/>
            <a:ext cx="8309241" cy="2656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9633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rPr>
              <a:t>The Clear Property</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00547" y="1632154"/>
            <a:ext cx="11418164" cy="48194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CSS Navigation Bar</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217839"/>
            <a:ext cx="10515600" cy="1325563"/>
          </a:xfrm>
        </p:spPr>
        <p:txBody>
          <a:bodyPr/>
          <a:lstStyle/>
          <a:p>
            <a:pPr algn="ctr"/>
            <a:r>
              <a:rPr lang="en-US" altLang="zh-CN" dirty="0"/>
              <a:t>Demo: Navigation Bars</a:t>
            </a:r>
            <a:endParaRPr lang="zh-CN" altLang="en-US" dirty="0"/>
          </a:p>
        </p:txBody>
      </p:sp>
      <p:pic>
        <p:nvPicPr>
          <p:cNvPr id="7" name="图片 6"/>
          <p:cNvPicPr>
            <a:picLocks noChangeAspect="1"/>
          </p:cNvPicPr>
          <p:nvPr/>
        </p:nvPicPr>
        <p:blipFill>
          <a:blip r:embed="rId1"/>
          <a:stretch>
            <a:fillRect/>
          </a:stretch>
        </p:blipFill>
        <p:spPr>
          <a:xfrm>
            <a:off x="168126" y="4042976"/>
            <a:ext cx="4000500" cy="2466975"/>
          </a:xfrm>
          <a:prstGeom prst="rect">
            <a:avLst/>
          </a:prstGeom>
        </p:spPr>
      </p:pic>
      <p:pic>
        <p:nvPicPr>
          <p:cNvPr id="9" name="图片 8"/>
          <p:cNvPicPr>
            <a:picLocks noChangeAspect="1"/>
          </p:cNvPicPr>
          <p:nvPr/>
        </p:nvPicPr>
        <p:blipFill>
          <a:blip r:embed="rId2"/>
          <a:stretch>
            <a:fillRect/>
          </a:stretch>
        </p:blipFill>
        <p:spPr>
          <a:xfrm>
            <a:off x="4610484" y="4385032"/>
            <a:ext cx="7476241" cy="1959234"/>
          </a:xfrm>
          <a:prstGeom prst="rect">
            <a:avLst/>
          </a:prstGeom>
        </p:spPr>
      </p:pic>
      <p:sp>
        <p:nvSpPr>
          <p:cNvPr id="3" name="内容占位符 2"/>
          <p:cNvSpPr>
            <a:spLocks noGrp="1"/>
          </p:cNvSpPr>
          <p:nvPr>
            <p:ph idx="1"/>
          </p:nvPr>
        </p:nvSpPr>
        <p:spPr>
          <a:xfrm>
            <a:off x="746125" y="1665605"/>
            <a:ext cx="10515600" cy="966470"/>
          </a:xfrm>
        </p:spPr>
        <p:txBody>
          <a:bodyPr/>
          <a:lstStyle/>
          <a:p>
            <a:pPr algn="just"/>
            <a:r>
              <a:rPr lang="en-US" altLang="zh-CN" dirty="0"/>
              <a:t>With CSS you can transform boring HTML menus into good-looking navigation bars.</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Navigation Bar = List of Links</a:t>
            </a:r>
            <a:endParaRPr lang="zh-CN" altLang="en-US" dirty="0"/>
          </a:p>
        </p:txBody>
      </p:sp>
      <p:sp>
        <p:nvSpPr>
          <p:cNvPr id="3" name="内容占位符 2"/>
          <p:cNvSpPr>
            <a:spLocks noGrp="1"/>
          </p:cNvSpPr>
          <p:nvPr>
            <p:ph idx="1"/>
          </p:nvPr>
        </p:nvSpPr>
        <p:spPr>
          <a:xfrm>
            <a:off x="838200" y="1422920"/>
            <a:ext cx="10515600" cy="2140412"/>
          </a:xfrm>
        </p:spPr>
        <p:txBody>
          <a:bodyPr>
            <a:normAutofit lnSpcReduction="10000"/>
          </a:bodyPr>
          <a:lstStyle/>
          <a:p>
            <a:pPr algn="just"/>
            <a:r>
              <a:rPr lang="en-US" altLang="zh-CN" dirty="0"/>
              <a:t>A navigation bar needs standard HTML as a base.</a:t>
            </a:r>
            <a:endParaRPr lang="en-US" altLang="zh-CN" dirty="0"/>
          </a:p>
          <a:p>
            <a:pPr algn="just"/>
            <a:r>
              <a:rPr lang="en-US" altLang="zh-CN" dirty="0"/>
              <a:t>In our examples we will build the navigation bar from a standard HTML list.</a:t>
            </a:r>
            <a:endParaRPr lang="en-US" altLang="zh-CN" dirty="0"/>
          </a:p>
          <a:p>
            <a:pPr algn="just"/>
            <a:r>
              <a:rPr lang="en-US" altLang="zh-CN" dirty="0"/>
              <a:t>A navigation bar is basically a list of links, so using the &lt;ul&gt; and &lt;li&gt; elements makes perfect sense:</a:t>
            </a:r>
            <a:endParaRPr lang="en-US" altLang="zh-CN" dirty="0"/>
          </a:p>
        </p:txBody>
      </p:sp>
      <p:pic>
        <p:nvPicPr>
          <p:cNvPr id="9" name="图片 8"/>
          <p:cNvPicPr>
            <a:picLocks noChangeAspect="1"/>
          </p:cNvPicPr>
          <p:nvPr/>
        </p:nvPicPr>
        <p:blipFill>
          <a:blip r:embed="rId1"/>
          <a:stretch>
            <a:fillRect/>
          </a:stretch>
        </p:blipFill>
        <p:spPr>
          <a:xfrm>
            <a:off x="7982074" y="4354020"/>
            <a:ext cx="1533525" cy="1209675"/>
          </a:xfrm>
          <a:prstGeom prst="rect">
            <a:avLst/>
          </a:prstGeom>
        </p:spPr>
      </p:pic>
      <p:pic>
        <p:nvPicPr>
          <p:cNvPr id="4" name="图片 3"/>
          <p:cNvPicPr>
            <a:picLocks noChangeAspect="1"/>
          </p:cNvPicPr>
          <p:nvPr/>
        </p:nvPicPr>
        <p:blipFill>
          <a:blip r:embed="rId2"/>
          <a:stretch>
            <a:fillRect/>
          </a:stretch>
        </p:blipFill>
        <p:spPr>
          <a:xfrm>
            <a:off x="1045029" y="3762933"/>
            <a:ext cx="5988232" cy="23918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55" y="224155"/>
            <a:ext cx="10515600" cy="644525"/>
          </a:xfrm>
        </p:spPr>
        <p:txBody>
          <a:bodyPr>
            <a:normAutofit fontScale="90000"/>
          </a:bodyPr>
          <a:lstStyle/>
          <a:p>
            <a:pPr algn="ctr"/>
            <a:r>
              <a:rPr lang="en-US" altLang="zh-CN" dirty="0"/>
              <a:t>Navigation Bar = List of Links</a:t>
            </a:r>
            <a:endParaRPr lang="zh-CN" altLang="en-US" dirty="0"/>
          </a:p>
        </p:txBody>
      </p:sp>
      <p:sp>
        <p:nvSpPr>
          <p:cNvPr id="3" name="内容占位符 2"/>
          <p:cNvSpPr>
            <a:spLocks noGrp="1"/>
          </p:cNvSpPr>
          <p:nvPr>
            <p:ph idx="1"/>
          </p:nvPr>
        </p:nvSpPr>
        <p:spPr>
          <a:xfrm>
            <a:off x="770255" y="928255"/>
            <a:ext cx="10515600" cy="594416"/>
          </a:xfrm>
        </p:spPr>
        <p:txBody>
          <a:bodyPr>
            <a:normAutofit/>
          </a:bodyPr>
          <a:lstStyle/>
          <a:p>
            <a:pPr marL="0" indent="0" algn="just">
              <a:buNone/>
            </a:pPr>
            <a:r>
              <a:rPr lang="en-US" altLang="zh-CN" dirty="0"/>
              <a:t>Now remove the bullets and the margins and padding from the list:</a:t>
            </a:r>
            <a:endParaRPr lang="en-US" altLang="zh-CN" dirty="0"/>
          </a:p>
        </p:txBody>
      </p:sp>
      <p:pic>
        <p:nvPicPr>
          <p:cNvPr id="4" name="图片 3"/>
          <p:cNvPicPr>
            <a:picLocks noChangeAspect="1"/>
          </p:cNvPicPr>
          <p:nvPr/>
        </p:nvPicPr>
        <p:blipFill>
          <a:blip r:embed="rId1"/>
          <a:stretch>
            <a:fillRect/>
          </a:stretch>
        </p:blipFill>
        <p:spPr>
          <a:xfrm>
            <a:off x="337820" y="1522730"/>
            <a:ext cx="6764655" cy="3667125"/>
          </a:xfrm>
          <a:prstGeom prst="rect">
            <a:avLst/>
          </a:prstGeom>
        </p:spPr>
      </p:pic>
      <p:pic>
        <p:nvPicPr>
          <p:cNvPr id="6" name="图片 5"/>
          <p:cNvPicPr>
            <a:picLocks noChangeAspect="1"/>
          </p:cNvPicPr>
          <p:nvPr/>
        </p:nvPicPr>
        <p:blipFill>
          <a:blip r:embed="rId2"/>
          <a:stretch>
            <a:fillRect/>
          </a:stretch>
        </p:blipFill>
        <p:spPr>
          <a:xfrm>
            <a:off x="337820" y="5534660"/>
            <a:ext cx="6764655" cy="1238250"/>
          </a:xfrm>
          <a:prstGeom prst="rect">
            <a:avLst/>
          </a:prstGeom>
        </p:spPr>
      </p:pic>
      <p:sp>
        <p:nvSpPr>
          <p:cNvPr id="10" name="内容占位符 2"/>
          <p:cNvSpPr txBox="1"/>
          <p:nvPr>
            <p:custDataLst>
              <p:tags r:id="rId3"/>
            </p:custDataLst>
          </p:nvPr>
        </p:nvSpPr>
        <p:spPr>
          <a:xfrm>
            <a:off x="7278370" y="1657985"/>
            <a:ext cx="4739005" cy="47040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list-style-type: none;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 Removes the bullets. A navigation bar does not need list markers</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Set margin: 0;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and </a:t>
            </a: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padding: 0;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to remove browser default settings</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The code in the example above is the standard code used in both vertical, and horizontal navigation bars.</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55" y="90170"/>
            <a:ext cx="10515600" cy="668655"/>
          </a:xfrm>
        </p:spPr>
        <p:txBody>
          <a:bodyPr>
            <a:normAutofit fontScale="90000"/>
          </a:bodyPr>
          <a:lstStyle/>
          <a:p>
            <a:pPr algn="ctr"/>
            <a:r>
              <a:rPr lang="en-US" altLang="zh-CN" dirty="0"/>
              <a:t>Vertical Navigation Bar</a:t>
            </a:r>
            <a:endParaRPr lang="zh-CN" altLang="en-US" dirty="0"/>
          </a:p>
        </p:txBody>
      </p:sp>
      <p:sp>
        <p:nvSpPr>
          <p:cNvPr id="3" name="内容占位符 2"/>
          <p:cNvSpPr>
            <a:spLocks noGrp="1"/>
          </p:cNvSpPr>
          <p:nvPr>
            <p:ph idx="1"/>
          </p:nvPr>
        </p:nvSpPr>
        <p:spPr>
          <a:xfrm>
            <a:off x="648970" y="758725"/>
            <a:ext cx="10637108" cy="990391"/>
          </a:xfrm>
        </p:spPr>
        <p:txBody>
          <a:bodyPr>
            <a:normAutofit/>
          </a:bodyPr>
          <a:lstStyle/>
          <a:p>
            <a:pPr marL="0" indent="0" algn="just">
              <a:buNone/>
            </a:pPr>
            <a:r>
              <a:rPr lang="en-US" altLang="zh-CN" dirty="0"/>
              <a:t>To build a vertical navigation bar, you can style the &lt;a&gt; elements inside the list, in addition to the code above:</a:t>
            </a:r>
            <a:endParaRPr lang="en-US" altLang="zh-CN" dirty="0"/>
          </a:p>
        </p:txBody>
      </p:sp>
      <p:pic>
        <p:nvPicPr>
          <p:cNvPr id="4" name="图片 3"/>
          <p:cNvPicPr>
            <a:picLocks noChangeAspect="1"/>
          </p:cNvPicPr>
          <p:nvPr/>
        </p:nvPicPr>
        <p:blipFill>
          <a:blip r:embed="rId1"/>
          <a:stretch>
            <a:fillRect/>
          </a:stretch>
        </p:blipFill>
        <p:spPr>
          <a:xfrm>
            <a:off x="424180" y="1655445"/>
            <a:ext cx="5327650" cy="4958080"/>
          </a:xfrm>
          <a:prstGeom prst="rect">
            <a:avLst/>
          </a:prstGeom>
        </p:spPr>
      </p:pic>
      <p:pic>
        <p:nvPicPr>
          <p:cNvPr id="6" name="图片 5"/>
          <p:cNvPicPr>
            <a:picLocks noChangeAspect="1"/>
          </p:cNvPicPr>
          <p:nvPr/>
        </p:nvPicPr>
        <p:blipFill>
          <a:blip r:embed="rId2"/>
          <a:stretch>
            <a:fillRect/>
          </a:stretch>
        </p:blipFill>
        <p:spPr>
          <a:xfrm>
            <a:off x="6736029" y="1251264"/>
            <a:ext cx="4686300" cy="1628775"/>
          </a:xfrm>
          <a:prstGeom prst="rect">
            <a:avLst/>
          </a:prstGeom>
        </p:spPr>
      </p:pic>
      <p:sp>
        <p:nvSpPr>
          <p:cNvPr id="10" name="内容占位符 2"/>
          <p:cNvSpPr txBox="1"/>
          <p:nvPr>
            <p:custDataLst>
              <p:tags r:id="rId3"/>
            </p:custDataLst>
          </p:nvPr>
        </p:nvSpPr>
        <p:spPr>
          <a:xfrm>
            <a:off x="6736080" y="3093720"/>
            <a:ext cx="5099050" cy="3374390"/>
          </a:xfrm>
          <a:prstGeom prst="rect">
            <a:avLst/>
          </a:prstGeom>
        </p:spPr>
        <p:txBody>
          <a:bodyPr vert="horz" lIns="91440" tIns="45720" rIns="91440" bIns="45720" rtlCol="0">
            <a:normAutofit fontScale="8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display: block;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 Displaying the links as block elements makes the whole link area clickable (not just the text), and it allows us to specify the width (and padding, margin, height, etc. if you want)</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width: 60px;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 Block elements take up the full width available by default. We want to specify a 60 pixels width</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Vertical Navigation Bar</a:t>
            </a:r>
            <a:endParaRPr lang="zh-CN" altLang="en-US" dirty="0"/>
          </a:p>
        </p:txBody>
      </p:sp>
      <p:sp>
        <p:nvSpPr>
          <p:cNvPr id="3" name="内容占位符 2"/>
          <p:cNvSpPr>
            <a:spLocks noGrp="1"/>
          </p:cNvSpPr>
          <p:nvPr>
            <p:ph idx="1"/>
          </p:nvPr>
        </p:nvSpPr>
        <p:spPr>
          <a:xfrm>
            <a:off x="683741" y="1223319"/>
            <a:ext cx="11096367" cy="1346886"/>
          </a:xfrm>
        </p:spPr>
        <p:txBody>
          <a:bodyPr>
            <a:normAutofit/>
          </a:bodyPr>
          <a:lstStyle/>
          <a:p>
            <a:pPr marL="0" indent="0" algn="just">
              <a:buNone/>
            </a:pPr>
            <a:r>
              <a:rPr lang="en-US" altLang="zh-CN" dirty="0"/>
              <a:t>You can also set the width of &lt;ul&gt;, and remove the width of &lt;a&gt;, as they will take up the full width available when displayed as block elements. This will produce the same result as our previous example:</a:t>
            </a:r>
            <a:endParaRPr lang="en-US" altLang="zh-CN" dirty="0"/>
          </a:p>
        </p:txBody>
      </p:sp>
      <p:pic>
        <p:nvPicPr>
          <p:cNvPr id="4" name="图片 3"/>
          <p:cNvPicPr>
            <a:picLocks noChangeAspect="1"/>
          </p:cNvPicPr>
          <p:nvPr/>
        </p:nvPicPr>
        <p:blipFill>
          <a:blip r:embed="rId1"/>
          <a:stretch>
            <a:fillRect/>
          </a:stretch>
        </p:blipFill>
        <p:spPr>
          <a:xfrm>
            <a:off x="1358538" y="2695007"/>
            <a:ext cx="4275772" cy="4053747"/>
          </a:xfrm>
          <a:prstGeom prst="rect">
            <a:avLst/>
          </a:prstGeom>
        </p:spPr>
      </p:pic>
      <p:pic>
        <p:nvPicPr>
          <p:cNvPr id="5" name="图片 4"/>
          <p:cNvPicPr>
            <a:picLocks noChangeAspect="1"/>
          </p:cNvPicPr>
          <p:nvPr/>
        </p:nvPicPr>
        <p:blipFill>
          <a:blip r:embed="rId2"/>
          <a:stretch>
            <a:fillRect/>
          </a:stretch>
        </p:blipFill>
        <p:spPr>
          <a:xfrm>
            <a:off x="6344058" y="3874155"/>
            <a:ext cx="4676775" cy="1695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Vertical Navigation Bar Examples</a:t>
            </a:r>
            <a:endParaRPr lang="zh-CN" altLang="en-US" dirty="0"/>
          </a:p>
        </p:txBody>
      </p:sp>
      <p:sp>
        <p:nvSpPr>
          <p:cNvPr id="3" name="内容占位符 2"/>
          <p:cNvSpPr>
            <a:spLocks noGrp="1"/>
          </p:cNvSpPr>
          <p:nvPr>
            <p:ph idx="1"/>
          </p:nvPr>
        </p:nvSpPr>
        <p:spPr>
          <a:xfrm>
            <a:off x="770238" y="1351018"/>
            <a:ext cx="10515600" cy="1320280"/>
          </a:xfrm>
        </p:spPr>
        <p:txBody>
          <a:bodyPr>
            <a:normAutofit/>
          </a:bodyPr>
          <a:lstStyle/>
          <a:p>
            <a:pPr marL="0" indent="0" algn="just">
              <a:buNone/>
            </a:pPr>
            <a:r>
              <a:rPr lang="en-US" altLang="zh-CN" dirty="0"/>
              <a:t>Create a basic vertical navigation bar with a gray background color and change the background color of the links when the user moves the mouse over them:</a:t>
            </a:r>
            <a:endParaRPr lang="en-US" altLang="zh-CN" dirty="0"/>
          </a:p>
        </p:txBody>
      </p:sp>
      <p:pic>
        <p:nvPicPr>
          <p:cNvPr id="6" name="图片 5"/>
          <p:cNvPicPr>
            <a:picLocks noChangeAspect="1"/>
          </p:cNvPicPr>
          <p:nvPr/>
        </p:nvPicPr>
        <p:blipFill>
          <a:blip r:embed="rId1"/>
          <a:stretch>
            <a:fillRect/>
          </a:stretch>
        </p:blipFill>
        <p:spPr>
          <a:xfrm>
            <a:off x="8150161" y="3549022"/>
            <a:ext cx="2688728" cy="2091233"/>
          </a:xfrm>
          <a:prstGeom prst="rect">
            <a:avLst/>
          </a:prstGeom>
        </p:spPr>
      </p:pic>
      <p:pic>
        <p:nvPicPr>
          <p:cNvPr id="5" name="图片 4"/>
          <p:cNvPicPr>
            <a:picLocks noChangeAspect="1"/>
          </p:cNvPicPr>
          <p:nvPr/>
        </p:nvPicPr>
        <p:blipFill>
          <a:blip r:embed="rId2"/>
          <a:stretch>
            <a:fillRect/>
          </a:stretch>
        </p:blipFill>
        <p:spPr>
          <a:xfrm>
            <a:off x="930724" y="2798997"/>
            <a:ext cx="2622833" cy="3883156"/>
          </a:xfrm>
          <a:prstGeom prst="rect">
            <a:avLst/>
          </a:prstGeom>
        </p:spPr>
      </p:pic>
      <p:pic>
        <p:nvPicPr>
          <p:cNvPr id="7" name="图片 6"/>
          <p:cNvPicPr>
            <a:picLocks noChangeAspect="1"/>
          </p:cNvPicPr>
          <p:nvPr/>
        </p:nvPicPr>
        <p:blipFill>
          <a:blip r:embed="rId3"/>
          <a:stretch>
            <a:fillRect/>
          </a:stretch>
        </p:blipFill>
        <p:spPr>
          <a:xfrm>
            <a:off x="4370688" y="3549022"/>
            <a:ext cx="3314700" cy="2362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4101" y="82849"/>
            <a:ext cx="10515600" cy="654867"/>
          </a:xfrm>
        </p:spPr>
        <p:txBody>
          <a:bodyPr>
            <a:normAutofit fontScale="90000"/>
          </a:bodyPr>
          <a:lstStyle/>
          <a:p>
            <a:pPr algn="ctr"/>
            <a:r>
              <a:rPr lang="en-US" altLang="zh-CN" dirty="0"/>
              <a:t>Vertical Navigation Bar Examples</a:t>
            </a:r>
            <a:endParaRPr lang="zh-CN" altLang="en-US" dirty="0"/>
          </a:p>
        </p:txBody>
      </p:sp>
      <p:sp>
        <p:nvSpPr>
          <p:cNvPr id="3" name="内容占位符 2"/>
          <p:cNvSpPr>
            <a:spLocks noGrp="1"/>
          </p:cNvSpPr>
          <p:nvPr>
            <p:ph idx="1"/>
          </p:nvPr>
        </p:nvSpPr>
        <p:spPr>
          <a:xfrm>
            <a:off x="312982" y="850894"/>
            <a:ext cx="11028544" cy="957649"/>
          </a:xfrm>
        </p:spPr>
        <p:txBody>
          <a:bodyPr>
            <a:normAutofit/>
          </a:bodyPr>
          <a:lstStyle/>
          <a:p>
            <a:pPr algn="just"/>
            <a:r>
              <a:rPr lang="en-US" altLang="zh-CN" sz="2400" dirty="0">
                <a:latin typeface="+mj-lt"/>
              </a:rPr>
              <a:t>Active/Current Navigation Link: </a:t>
            </a:r>
            <a:r>
              <a:rPr lang="en-US" altLang="zh-CN" sz="2400" dirty="0"/>
              <a:t>Add an "active" class to the current link to let the user know which page he/she is on:</a:t>
            </a:r>
            <a:endParaRPr lang="en-US" altLang="zh-CN" sz="2400" dirty="0"/>
          </a:p>
        </p:txBody>
      </p:sp>
      <p:pic>
        <p:nvPicPr>
          <p:cNvPr id="4" name="图片 3"/>
          <p:cNvPicPr>
            <a:picLocks noChangeAspect="1"/>
          </p:cNvPicPr>
          <p:nvPr/>
        </p:nvPicPr>
        <p:blipFill>
          <a:blip r:embed="rId1"/>
          <a:stretch>
            <a:fillRect/>
          </a:stretch>
        </p:blipFill>
        <p:spPr>
          <a:xfrm>
            <a:off x="248600" y="1619476"/>
            <a:ext cx="2764069" cy="5155675"/>
          </a:xfrm>
          <a:prstGeom prst="rect">
            <a:avLst/>
          </a:prstGeom>
        </p:spPr>
      </p:pic>
      <p:pic>
        <p:nvPicPr>
          <p:cNvPr id="5" name="图片 4"/>
          <p:cNvPicPr>
            <a:picLocks noChangeAspect="1"/>
          </p:cNvPicPr>
          <p:nvPr/>
        </p:nvPicPr>
        <p:blipFill>
          <a:blip r:embed="rId2"/>
          <a:stretch>
            <a:fillRect/>
          </a:stretch>
        </p:blipFill>
        <p:spPr>
          <a:xfrm>
            <a:off x="3439227" y="1562553"/>
            <a:ext cx="7966681" cy="2602272"/>
          </a:xfrm>
          <a:prstGeom prst="rect">
            <a:avLst/>
          </a:prstGeom>
        </p:spPr>
      </p:pic>
      <p:pic>
        <p:nvPicPr>
          <p:cNvPr id="6" name="图片 5"/>
          <p:cNvPicPr>
            <a:picLocks noChangeAspect="1"/>
          </p:cNvPicPr>
          <p:nvPr/>
        </p:nvPicPr>
        <p:blipFill>
          <a:blip r:embed="rId3"/>
          <a:stretch>
            <a:fillRect/>
          </a:stretch>
        </p:blipFill>
        <p:spPr>
          <a:xfrm>
            <a:off x="3190820" y="4221525"/>
            <a:ext cx="8610600" cy="2571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Vertical Navigation Bar Examples</a:t>
            </a:r>
            <a:endParaRPr lang="zh-CN" altLang="en-US" dirty="0"/>
          </a:p>
        </p:txBody>
      </p:sp>
      <p:sp>
        <p:nvSpPr>
          <p:cNvPr id="3" name="内容占位符 2"/>
          <p:cNvSpPr>
            <a:spLocks noGrp="1"/>
          </p:cNvSpPr>
          <p:nvPr>
            <p:ph idx="1"/>
          </p:nvPr>
        </p:nvSpPr>
        <p:spPr>
          <a:xfrm>
            <a:off x="770238" y="1788679"/>
            <a:ext cx="10515600" cy="4703561"/>
          </a:xfrm>
        </p:spPr>
        <p:txBody>
          <a:bodyPr>
            <a:normAutofit/>
          </a:bodyPr>
          <a:lstStyle/>
          <a:p>
            <a:pPr algn="just"/>
            <a:r>
              <a:rPr lang="en-US" altLang="zh-CN" sz="3500" dirty="0">
                <a:latin typeface="+mj-lt"/>
              </a:rPr>
              <a:t>Center Links &amp; Add Borders</a:t>
            </a:r>
            <a:endParaRPr lang="en-US" altLang="zh-CN" sz="3500" dirty="0">
              <a:latin typeface="+mj-lt"/>
            </a:endParaRPr>
          </a:p>
          <a:p>
            <a:pPr marL="0" indent="0" algn="just">
              <a:buNone/>
            </a:pPr>
            <a:endParaRPr lang="en-US" altLang="zh-CN" sz="3500" dirty="0">
              <a:latin typeface="+mj-lt"/>
            </a:endParaRPr>
          </a:p>
          <a:p>
            <a:pPr algn="just"/>
            <a:r>
              <a:rPr lang="en-US" altLang="zh-CN" dirty="0"/>
              <a:t>Add </a:t>
            </a:r>
            <a:r>
              <a:rPr lang="en-US" altLang="zh-CN" dirty="0">
                <a:solidFill>
                  <a:srgbClr val="FFFF00"/>
                </a:solidFill>
              </a:rPr>
              <a:t>text-align:center </a:t>
            </a:r>
            <a:r>
              <a:rPr lang="en-US" altLang="zh-CN" dirty="0"/>
              <a:t>to &lt;li&gt; or &lt;a&gt; to center the links.</a:t>
            </a:r>
            <a:endParaRPr lang="en-US" altLang="zh-CN" dirty="0"/>
          </a:p>
          <a:p>
            <a:pPr marL="0" indent="0" algn="just">
              <a:buNone/>
            </a:pPr>
            <a:endParaRPr lang="en-US" altLang="zh-CN" dirty="0"/>
          </a:p>
          <a:p>
            <a:pPr algn="just"/>
            <a:r>
              <a:rPr lang="en-US" altLang="zh-CN" dirty="0"/>
              <a:t>Add the </a:t>
            </a:r>
            <a:r>
              <a:rPr lang="en-US" altLang="zh-CN" dirty="0">
                <a:solidFill>
                  <a:srgbClr val="FFFF00"/>
                </a:solidFill>
              </a:rPr>
              <a:t>border</a:t>
            </a:r>
            <a:r>
              <a:rPr lang="en-US" altLang="zh-CN" dirty="0"/>
              <a:t> property to &lt;</a:t>
            </a:r>
            <a:r>
              <a:rPr lang="en-US" altLang="zh-CN" dirty="0" err="1"/>
              <a:t>ul</a:t>
            </a:r>
            <a:r>
              <a:rPr lang="en-US" altLang="zh-CN" dirty="0"/>
              <a:t>&gt;, add a border around the navbar. If you also want borders inside the navbar, add a </a:t>
            </a:r>
            <a:r>
              <a:rPr lang="en-US" altLang="zh-CN" dirty="0">
                <a:solidFill>
                  <a:srgbClr val="FFFF00"/>
                </a:solidFill>
              </a:rPr>
              <a:t>border-bottom</a:t>
            </a:r>
            <a:r>
              <a:rPr lang="en-US" altLang="zh-CN" dirty="0"/>
              <a:t> to all &lt;li&gt; elements, except for the last one:</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1"/>
            <a:ext cx="10515600" cy="489170"/>
          </a:xfrm>
        </p:spPr>
        <p:txBody>
          <a:bodyPr>
            <a:normAutofit fontScale="90000"/>
          </a:bodyPr>
          <a:lstStyle/>
          <a:p>
            <a:pPr algn="ctr"/>
            <a:r>
              <a:rPr lang="en-US" altLang="zh-CN" dirty="0"/>
              <a:t>Vertical Navigation Bar Examples</a:t>
            </a:r>
            <a:endParaRPr lang="zh-CN" altLang="en-US" dirty="0"/>
          </a:p>
        </p:txBody>
      </p:sp>
      <p:sp>
        <p:nvSpPr>
          <p:cNvPr id="3" name="内容占位符 2"/>
          <p:cNvSpPr>
            <a:spLocks noGrp="1"/>
          </p:cNvSpPr>
          <p:nvPr>
            <p:ph idx="1"/>
          </p:nvPr>
        </p:nvSpPr>
        <p:spPr>
          <a:xfrm>
            <a:off x="635682" y="821436"/>
            <a:ext cx="10515600" cy="627950"/>
          </a:xfrm>
        </p:spPr>
        <p:txBody>
          <a:bodyPr>
            <a:normAutofit/>
          </a:bodyPr>
          <a:lstStyle/>
          <a:p>
            <a:pPr marL="0" indent="0" algn="just">
              <a:buNone/>
            </a:pPr>
            <a:r>
              <a:rPr lang="en-US" altLang="zh-CN" dirty="0"/>
              <a:t>Example:</a:t>
            </a:r>
            <a:endParaRPr lang="en-US" altLang="zh-CN" dirty="0"/>
          </a:p>
        </p:txBody>
      </p:sp>
      <p:pic>
        <p:nvPicPr>
          <p:cNvPr id="6" name="图片 5"/>
          <p:cNvPicPr>
            <a:picLocks noChangeAspect="1"/>
          </p:cNvPicPr>
          <p:nvPr/>
        </p:nvPicPr>
        <p:blipFill>
          <a:blip r:embed="rId1"/>
          <a:stretch>
            <a:fillRect/>
          </a:stretch>
        </p:blipFill>
        <p:spPr>
          <a:xfrm>
            <a:off x="214763" y="1478688"/>
            <a:ext cx="2577532" cy="5276973"/>
          </a:xfrm>
          <a:prstGeom prst="rect">
            <a:avLst/>
          </a:prstGeom>
        </p:spPr>
      </p:pic>
      <p:pic>
        <p:nvPicPr>
          <p:cNvPr id="7" name="图片 6"/>
          <p:cNvPicPr>
            <a:picLocks noChangeAspect="1"/>
          </p:cNvPicPr>
          <p:nvPr/>
        </p:nvPicPr>
        <p:blipFill>
          <a:blip r:embed="rId2"/>
          <a:stretch>
            <a:fillRect/>
          </a:stretch>
        </p:blipFill>
        <p:spPr>
          <a:xfrm>
            <a:off x="3516809" y="1040858"/>
            <a:ext cx="8086859" cy="3212022"/>
          </a:xfrm>
          <a:prstGeom prst="rect">
            <a:avLst/>
          </a:prstGeom>
        </p:spPr>
      </p:pic>
      <p:pic>
        <p:nvPicPr>
          <p:cNvPr id="4" name="图片 3"/>
          <p:cNvPicPr>
            <a:picLocks noChangeAspect="1"/>
          </p:cNvPicPr>
          <p:nvPr/>
        </p:nvPicPr>
        <p:blipFill>
          <a:blip r:embed="rId3"/>
          <a:stretch>
            <a:fillRect/>
          </a:stretch>
        </p:blipFill>
        <p:spPr>
          <a:xfrm>
            <a:off x="4336025" y="4364886"/>
            <a:ext cx="6448425" cy="23907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1"/>
            <a:ext cx="10515600" cy="691688"/>
          </a:xfrm>
        </p:spPr>
        <p:txBody>
          <a:bodyPr>
            <a:normAutofit fontScale="90000"/>
          </a:bodyPr>
          <a:lstStyle/>
          <a:p>
            <a:pPr algn="ctr"/>
            <a:r>
              <a:rPr lang="en-US" altLang="zh-CN" dirty="0"/>
              <a:t>Vertical Navigation Bar Examples</a:t>
            </a:r>
            <a:endParaRPr lang="zh-CN" altLang="en-US" dirty="0"/>
          </a:p>
        </p:txBody>
      </p:sp>
      <p:sp>
        <p:nvSpPr>
          <p:cNvPr id="3" name="内容占位符 2"/>
          <p:cNvSpPr>
            <a:spLocks noGrp="1"/>
          </p:cNvSpPr>
          <p:nvPr>
            <p:ph idx="1"/>
          </p:nvPr>
        </p:nvSpPr>
        <p:spPr>
          <a:xfrm>
            <a:off x="690914" y="1128348"/>
            <a:ext cx="10515600" cy="841601"/>
          </a:xfrm>
        </p:spPr>
        <p:txBody>
          <a:bodyPr>
            <a:normAutofit lnSpcReduction="10000"/>
          </a:bodyPr>
          <a:lstStyle/>
          <a:p>
            <a:pPr algn="just"/>
            <a:r>
              <a:rPr lang="en-US" altLang="zh-CN" dirty="0">
                <a:latin typeface="+mj-lt"/>
              </a:rPr>
              <a:t>Full-height Fixed Vertical Navbar: </a:t>
            </a:r>
            <a:r>
              <a:rPr lang="en-US" altLang="zh-CN" dirty="0"/>
              <a:t>Create a full-height, "sticky" side navigation:</a:t>
            </a:r>
            <a:endParaRPr lang="en-US" altLang="zh-CN" dirty="0"/>
          </a:p>
        </p:txBody>
      </p:sp>
      <p:pic>
        <p:nvPicPr>
          <p:cNvPr id="4" name="图片 3"/>
          <p:cNvPicPr>
            <a:picLocks noChangeAspect="1"/>
          </p:cNvPicPr>
          <p:nvPr/>
        </p:nvPicPr>
        <p:blipFill>
          <a:blip r:embed="rId1"/>
          <a:stretch>
            <a:fillRect/>
          </a:stretch>
        </p:blipFill>
        <p:spPr>
          <a:xfrm>
            <a:off x="199960" y="2095841"/>
            <a:ext cx="3083287" cy="4653776"/>
          </a:xfrm>
          <a:prstGeom prst="rect">
            <a:avLst/>
          </a:prstGeom>
        </p:spPr>
      </p:pic>
      <p:pic>
        <p:nvPicPr>
          <p:cNvPr id="6" name="图片 5"/>
          <p:cNvPicPr>
            <a:picLocks noChangeAspect="1"/>
          </p:cNvPicPr>
          <p:nvPr/>
        </p:nvPicPr>
        <p:blipFill>
          <a:blip r:embed="rId2"/>
          <a:stretch>
            <a:fillRect/>
          </a:stretch>
        </p:blipFill>
        <p:spPr>
          <a:xfrm>
            <a:off x="3817071" y="1899066"/>
            <a:ext cx="7571423" cy="2576794"/>
          </a:xfrm>
          <a:prstGeom prst="rect">
            <a:avLst/>
          </a:prstGeom>
        </p:spPr>
      </p:pic>
      <p:pic>
        <p:nvPicPr>
          <p:cNvPr id="5" name="图片 4"/>
          <p:cNvPicPr>
            <a:picLocks noChangeAspect="1"/>
          </p:cNvPicPr>
          <p:nvPr/>
        </p:nvPicPr>
        <p:blipFill>
          <a:blip r:embed="rId3"/>
          <a:stretch>
            <a:fillRect/>
          </a:stretch>
        </p:blipFill>
        <p:spPr>
          <a:xfrm>
            <a:off x="3745379" y="4790167"/>
            <a:ext cx="7775860" cy="187896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1"/>
            <a:ext cx="10515600" cy="820564"/>
          </a:xfrm>
        </p:spPr>
        <p:txBody>
          <a:bodyPr/>
          <a:lstStyle/>
          <a:p>
            <a:pPr algn="ctr"/>
            <a:r>
              <a:rPr lang="en-US" altLang="zh-CN" dirty="0"/>
              <a:t>Horizontal Navigation Bar</a:t>
            </a:r>
            <a:endParaRPr lang="zh-CN" altLang="en-US" dirty="0"/>
          </a:p>
        </p:txBody>
      </p:sp>
      <p:sp>
        <p:nvSpPr>
          <p:cNvPr id="3" name="内容占位符 2"/>
          <p:cNvSpPr>
            <a:spLocks noGrp="1"/>
          </p:cNvSpPr>
          <p:nvPr>
            <p:ph idx="1"/>
          </p:nvPr>
        </p:nvSpPr>
        <p:spPr>
          <a:xfrm>
            <a:off x="4682463" y="1578364"/>
            <a:ext cx="7186325" cy="1908578"/>
          </a:xfrm>
        </p:spPr>
        <p:txBody>
          <a:bodyPr>
            <a:normAutofit fontScale="92500" lnSpcReduction="10000"/>
          </a:bodyPr>
          <a:lstStyle/>
          <a:p>
            <a:pPr marL="0" indent="0" algn="just">
              <a:buNone/>
            </a:pPr>
            <a:r>
              <a:rPr lang="en-US" altLang="zh-CN" dirty="0"/>
              <a:t>There are two ways to create a horizontal navigation bar. Using inline or floating list items. </a:t>
            </a:r>
            <a:endParaRPr lang="en-US" altLang="zh-CN" dirty="0"/>
          </a:p>
          <a:p>
            <a:pPr algn="just"/>
            <a:r>
              <a:rPr lang="en-US" altLang="zh-CN" dirty="0">
                <a:latin typeface="+mj-lt"/>
              </a:rPr>
              <a:t>Inline List Items: </a:t>
            </a:r>
            <a:r>
              <a:rPr lang="en-US" altLang="zh-CN" dirty="0"/>
              <a:t>One way to build a horizontal navigation bar is to specify the &lt;li&gt; elements as inline, in addition to the "standard" code above:</a:t>
            </a:r>
            <a:endParaRPr lang="en-US" altLang="zh-CN" dirty="0"/>
          </a:p>
        </p:txBody>
      </p:sp>
      <p:pic>
        <p:nvPicPr>
          <p:cNvPr id="4" name="图片 3"/>
          <p:cNvPicPr>
            <a:picLocks noChangeAspect="1"/>
          </p:cNvPicPr>
          <p:nvPr/>
        </p:nvPicPr>
        <p:blipFill>
          <a:blip r:embed="rId1"/>
          <a:stretch>
            <a:fillRect/>
          </a:stretch>
        </p:blipFill>
        <p:spPr>
          <a:xfrm>
            <a:off x="137723" y="1585936"/>
            <a:ext cx="4109021" cy="5006393"/>
          </a:xfrm>
          <a:prstGeom prst="rect">
            <a:avLst/>
          </a:prstGeom>
        </p:spPr>
      </p:pic>
      <p:pic>
        <p:nvPicPr>
          <p:cNvPr id="5" name="图片 4"/>
          <p:cNvPicPr>
            <a:picLocks noChangeAspect="1"/>
          </p:cNvPicPr>
          <p:nvPr/>
        </p:nvPicPr>
        <p:blipFill>
          <a:blip r:embed="rId2"/>
          <a:stretch>
            <a:fillRect/>
          </a:stretch>
        </p:blipFill>
        <p:spPr>
          <a:xfrm>
            <a:off x="5633777" y="4001270"/>
            <a:ext cx="4436295" cy="708316"/>
          </a:xfrm>
          <a:prstGeom prst="rect">
            <a:avLst/>
          </a:prstGeom>
        </p:spPr>
      </p:pic>
      <p:sp>
        <p:nvSpPr>
          <p:cNvPr id="6" name="内容占位符 2"/>
          <p:cNvSpPr txBox="1"/>
          <p:nvPr/>
        </p:nvSpPr>
        <p:spPr>
          <a:xfrm>
            <a:off x="4492676" y="5223914"/>
            <a:ext cx="7296845" cy="142463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Example explained:</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rgbClr val="FFFF00"/>
                </a:solidFill>
                <a:effectLst/>
                <a:uLnTx/>
                <a:uFillTx/>
                <a:latin typeface="Calibri" panose="020F0502020204030204"/>
                <a:ea typeface="等线" panose="02010600030101010101" charset="-122"/>
                <a:cs typeface="+mn-cs"/>
              </a:rPr>
              <a:t>display: inline; </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rPr>
              <a:t>- By default, &lt;li&gt; elements are block elements. Here, we remove the line breaks before and after each list item, to display them on one line</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1"/>
            <a:ext cx="10515600" cy="771468"/>
          </a:xfrm>
        </p:spPr>
        <p:txBody>
          <a:bodyPr/>
          <a:lstStyle/>
          <a:p>
            <a:pPr algn="ctr"/>
            <a:r>
              <a:rPr lang="en-US" altLang="zh-CN" dirty="0"/>
              <a:t>Horizontal Navigation Bar</a:t>
            </a:r>
            <a:endParaRPr lang="zh-CN" altLang="en-US" dirty="0"/>
          </a:p>
        </p:txBody>
      </p:sp>
      <p:sp>
        <p:nvSpPr>
          <p:cNvPr id="3" name="内容占位符 2"/>
          <p:cNvSpPr>
            <a:spLocks noGrp="1"/>
          </p:cNvSpPr>
          <p:nvPr>
            <p:ph idx="1"/>
          </p:nvPr>
        </p:nvSpPr>
        <p:spPr>
          <a:xfrm>
            <a:off x="568176" y="1037139"/>
            <a:ext cx="11226970" cy="1080096"/>
          </a:xfrm>
        </p:spPr>
        <p:txBody>
          <a:bodyPr>
            <a:normAutofit/>
          </a:bodyPr>
          <a:lstStyle/>
          <a:p>
            <a:pPr algn="just"/>
            <a:r>
              <a:rPr lang="en-US" altLang="zh-CN" dirty="0">
                <a:latin typeface="+mj-lt"/>
              </a:rPr>
              <a:t>Floating List Items: </a:t>
            </a:r>
            <a:r>
              <a:rPr lang="en-US" altLang="zh-CN" dirty="0"/>
              <a:t>Another way of creating a horizontal navigation bar is to float the &lt;li&gt; elements, and specify a layout for the navigation links:</a:t>
            </a:r>
            <a:endParaRPr lang="en-US" altLang="zh-CN" dirty="0"/>
          </a:p>
        </p:txBody>
      </p:sp>
      <p:pic>
        <p:nvPicPr>
          <p:cNvPr id="5" name="图片 4"/>
          <p:cNvPicPr>
            <a:picLocks noChangeAspect="1"/>
          </p:cNvPicPr>
          <p:nvPr/>
        </p:nvPicPr>
        <p:blipFill>
          <a:blip r:embed="rId1"/>
          <a:stretch>
            <a:fillRect/>
          </a:stretch>
        </p:blipFill>
        <p:spPr>
          <a:xfrm>
            <a:off x="226320" y="2191836"/>
            <a:ext cx="3179667" cy="4606286"/>
          </a:xfrm>
          <a:prstGeom prst="rect">
            <a:avLst/>
          </a:prstGeom>
        </p:spPr>
      </p:pic>
      <p:pic>
        <p:nvPicPr>
          <p:cNvPr id="7" name="图片 6"/>
          <p:cNvPicPr>
            <a:picLocks noChangeAspect="1"/>
          </p:cNvPicPr>
          <p:nvPr/>
        </p:nvPicPr>
        <p:blipFill>
          <a:blip r:embed="rId2"/>
          <a:stretch>
            <a:fillRect/>
          </a:stretch>
        </p:blipFill>
        <p:spPr>
          <a:xfrm>
            <a:off x="3753243" y="2172134"/>
            <a:ext cx="7870581" cy="2513732"/>
          </a:xfrm>
          <a:prstGeom prst="rect">
            <a:avLst/>
          </a:prstGeom>
        </p:spPr>
      </p:pic>
      <p:pic>
        <p:nvPicPr>
          <p:cNvPr id="4" name="图片 3"/>
          <p:cNvPicPr>
            <a:picLocks noChangeAspect="1"/>
          </p:cNvPicPr>
          <p:nvPr/>
        </p:nvPicPr>
        <p:blipFill>
          <a:blip r:embed="rId3"/>
          <a:stretch>
            <a:fillRect/>
          </a:stretch>
        </p:blipFill>
        <p:spPr>
          <a:xfrm>
            <a:off x="3612255" y="4982604"/>
            <a:ext cx="8353425" cy="16097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Horizontal Navigation Bar</a:t>
            </a:r>
            <a:endParaRPr lang="zh-CN" altLang="en-US" dirty="0"/>
          </a:p>
        </p:txBody>
      </p:sp>
      <p:sp>
        <p:nvSpPr>
          <p:cNvPr id="3" name="内容占位符 2"/>
          <p:cNvSpPr>
            <a:spLocks noGrp="1"/>
          </p:cNvSpPr>
          <p:nvPr>
            <p:ph idx="1"/>
          </p:nvPr>
        </p:nvSpPr>
        <p:spPr>
          <a:xfrm>
            <a:off x="838200" y="1771712"/>
            <a:ext cx="10515600" cy="3988066"/>
          </a:xfrm>
        </p:spPr>
        <p:txBody>
          <a:bodyPr>
            <a:normAutofit fontScale="92500" lnSpcReduction="10000"/>
          </a:bodyPr>
          <a:lstStyle/>
          <a:p>
            <a:pPr marL="0" indent="0" algn="just">
              <a:buNone/>
            </a:pPr>
            <a:r>
              <a:rPr lang="en-US" altLang="zh-CN" dirty="0"/>
              <a:t>Example explained:</a:t>
            </a:r>
            <a:endParaRPr lang="en-US" altLang="zh-CN" dirty="0"/>
          </a:p>
          <a:p>
            <a:pPr algn="just"/>
            <a:r>
              <a:rPr lang="en-US" altLang="zh-CN" dirty="0">
                <a:solidFill>
                  <a:srgbClr val="FFFF00"/>
                </a:solidFill>
              </a:rPr>
              <a:t>float: left; </a:t>
            </a:r>
            <a:r>
              <a:rPr lang="en-US" altLang="zh-CN" dirty="0"/>
              <a:t>- use float to get block elements to slide next to each other</a:t>
            </a:r>
            <a:endParaRPr lang="en-US" altLang="zh-CN" dirty="0"/>
          </a:p>
          <a:p>
            <a:pPr algn="just"/>
            <a:r>
              <a:rPr lang="en-US" altLang="zh-CN" dirty="0">
                <a:solidFill>
                  <a:srgbClr val="FFFF00"/>
                </a:solidFill>
              </a:rPr>
              <a:t>display: block; </a:t>
            </a:r>
            <a:r>
              <a:rPr lang="en-US" altLang="zh-CN" dirty="0"/>
              <a:t>- Displaying the links as block elements makes the whole link area clickable (not just the text), and it allows us to specify padding (and height, width, margins, etc. if you want)</a:t>
            </a:r>
            <a:endParaRPr lang="en-US" altLang="zh-CN" dirty="0"/>
          </a:p>
          <a:p>
            <a:pPr algn="just"/>
            <a:r>
              <a:rPr lang="en-US" altLang="zh-CN" dirty="0">
                <a:solidFill>
                  <a:srgbClr val="FFFF00"/>
                </a:solidFill>
              </a:rPr>
              <a:t>padding: 8px; </a:t>
            </a:r>
            <a:r>
              <a:rPr lang="en-US" altLang="zh-CN" dirty="0"/>
              <a:t>- Since block elements take up the full width available, they cannot float next to each other. Therefore, specify some padding to make them look good</a:t>
            </a:r>
            <a:endParaRPr lang="en-US" altLang="zh-CN" dirty="0"/>
          </a:p>
          <a:p>
            <a:pPr algn="just"/>
            <a:r>
              <a:rPr lang="en-US" altLang="zh-CN" dirty="0">
                <a:solidFill>
                  <a:srgbClr val="FFFF00"/>
                </a:solidFill>
              </a:rPr>
              <a:t>background-color:</a:t>
            </a:r>
            <a:r>
              <a:rPr lang="en-US" altLang="zh-CN" dirty="0"/>
              <a:t> </a:t>
            </a:r>
            <a:r>
              <a:rPr lang="en-US" altLang="zh-CN" dirty="0">
                <a:solidFill>
                  <a:srgbClr val="FFFF00"/>
                </a:solidFill>
              </a:rPr>
              <a:t>#dddddd; </a:t>
            </a:r>
            <a:r>
              <a:rPr lang="en-US" altLang="zh-CN" dirty="0"/>
              <a:t>- Add a gray background-color to each a element</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Horizontal Navigation Bar</a:t>
            </a:r>
            <a:endParaRPr lang="zh-CN" altLang="en-US" dirty="0"/>
          </a:p>
        </p:txBody>
      </p:sp>
      <p:sp>
        <p:nvSpPr>
          <p:cNvPr id="3" name="内容占位符 2"/>
          <p:cNvSpPr>
            <a:spLocks noGrp="1"/>
          </p:cNvSpPr>
          <p:nvPr>
            <p:ph idx="1"/>
          </p:nvPr>
        </p:nvSpPr>
        <p:spPr>
          <a:xfrm>
            <a:off x="770238" y="1112074"/>
            <a:ext cx="10515600" cy="957649"/>
          </a:xfrm>
        </p:spPr>
        <p:txBody>
          <a:bodyPr>
            <a:normAutofit/>
          </a:bodyPr>
          <a:lstStyle/>
          <a:p>
            <a:pPr marL="0" indent="0" algn="just">
              <a:buNone/>
            </a:pPr>
            <a:r>
              <a:rPr lang="en-US" altLang="zh-CN" dirty="0">
                <a:solidFill>
                  <a:srgbClr val="FFFF00"/>
                </a:solidFill>
              </a:rPr>
              <a:t>Tip: </a:t>
            </a:r>
            <a:r>
              <a:rPr lang="en-US" altLang="zh-CN" dirty="0"/>
              <a:t>Add the background-color to &lt;ul&gt; instead of each &lt;a&gt; element if you want a full-width background color:</a:t>
            </a:r>
            <a:endParaRPr lang="en-US" altLang="zh-CN" dirty="0"/>
          </a:p>
        </p:txBody>
      </p:sp>
      <p:pic>
        <p:nvPicPr>
          <p:cNvPr id="5" name="图片 4"/>
          <p:cNvPicPr>
            <a:picLocks noChangeAspect="1"/>
          </p:cNvPicPr>
          <p:nvPr/>
        </p:nvPicPr>
        <p:blipFill>
          <a:blip r:embed="rId1"/>
          <a:stretch>
            <a:fillRect/>
          </a:stretch>
        </p:blipFill>
        <p:spPr>
          <a:xfrm>
            <a:off x="347003" y="2069723"/>
            <a:ext cx="3556073" cy="4634008"/>
          </a:xfrm>
          <a:prstGeom prst="rect">
            <a:avLst/>
          </a:prstGeom>
        </p:spPr>
      </p:pic>
      <p:pic>
        <p:nvPicPr>
          <p:cNvPr id="7" name="图片 6"/>
          <p:cNvPicPr>
            <a:picLocks noChangeAspect="1"/>
          </p:cNvPicPr>
          <p:nvPr/>
        </p:nvPicPr>
        <p:blipFill>
          <a:blip r:embed="rId2"/>
          <a:stretch>
            <a:fillRect/>
          </a:stretch>
        </p:blipFill>
        <p:spPr>
          <a:xfrm>
            <a:off x="4020795" y="2259557"/>
            <a:ext cx="8047572" cy="2143637"/>
          </a:xfrm>
          <a:prstGeom prst="rect">
            <a:avLst/>
          </a:prstGeom>
        </p:spPr>
      </p:pic>
      <p:pic>
        <p:nvPicPr>
          <p:cNvPr id="4" name="图片 3"/>
          <p:cNvPicPr>
            <a:picLocks noChangeAspect="1"/>
          </p:cNvPicPr>
          <p:nvPr/>
        </p:nvPicPr>
        <p:blipFill>
          <a:blip r:embed="rId3"/>
          <a:stretch>
            <a:fillRect/>
          </a:stretch>
        </p:blipFill>
        <p:spPr>
          <a:xfrm>
            <a:off x="4172668" y="5126801"/>
            <a:ext cx="7743825" cy="1238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Horizontal Navigation Bar Examples</a:t>
            </a:r>
            <a:endParaRPr lang="zh-CN" altLang="en-US" dirty="0"/>
          </a:p>
        </p:txBody>
      </p:sp>
      <p:sp>
        <p:nvSpPr>
          <p:cNvPr id="3" name="内容占位符 2"/>
          <p:cNvSpPr>
            <a:spLocks noGrp="1"/>
          </p:cNvSpPr>
          <p:nvPr>
            <p:ph idx="1"/>
          </p:nvPr>
        </p:nvSpPr>
        <p:spPr>
          <a:xfrm>
            <a:off x="349803" y="1223319"/>
            <a:ext cx="11420795" cy="1306141"/>
          </a:xfrm>
        </p:spPr>
        <p:txBody>
          <a:bodyPr>
            <a:normAutofit/>
          </a:bodyPr>
          <a:lstStyle/>
          <a:p>
            <a:pPr marL="0" indent="0" algn="just">
              <a:buNone/>
            </a:pPr>
            <a:r>
              <a:rPr lang="en-US" altLang="zh-CN" sz="2400" dirty="0"/>
              <a:t>EX: Create a basic horizontal navigation bar with a dark background color and change the background color of the links when the user moves the mouse over them:</a:t>
            </a:r>
            <a:endParaRPr lang="en-US" altLang="zh-CN" sz="2400" dirty="0"/>
          </a:p>
        </p:txBody>
      </p:sp>
      <p:pic>
        <p:nvPicPr>
          <p:cNvPr id="12" name="图片 11"/>
          <p:cNvPicPr>
            <a:picLocks noChangeAspect="1"/>
          </p:cNvPicPr>
          <p:nvPr/>
        </p:nvPicPr>
        <p:blipFill>
          <a:blip r:embed="rId1"/>
          <a:stretch>
            <a:fillRect/>
          </a:stretch>
        </p:blipFill>
        <p:spPr>
          <a:xfrm>
            <a:off x="2813593" y="4854530"/>
            <a:ext cx="9229158" cy="1263743"/>
          </a:xfrm>
          <a:prstGeom prst="rect">
            <a:avLst/>
          </a:prstGeom>
        </p:spPr>
      </p:pic>
      <p:pic>
        <p:nvPicPr>
          <p:cNvPr id="5" name="图片 4"/>
          <p:cNvPicPr>
            <a:picLocks noChangeAspect="1"/>
          </p:cNvPicPr>
          <p:nvPr/>
        </p:nvPicPr>
        <p:blipFill>
          <a:blip r:embed="rId2"/>
          <a:stretch>
            <a:fillRect/>
          </a:stretch>
        </p:blipFill>
        <p:spPr>
          <a:xfrm>
            <a:off x="158913" y="2244897"/>
            <a:ext cx="2271871" cy="4543742"/>
          </a:xfrm>
          <a:prstGeom prst="rect">
            <a:avLst/>
          </a:prstGeom>
        </p:spPr>
      </p:pic>
      <p:pic>
        <p:nvPicPr>
          <p:cNvPr id="6" name="图片 5"/>
          <p:cNvPicPr>
            <a:picLocks noChangeAspect="1"/>
          </p:cNvPicPr>
          <p:nvPr/>
        </p:nvPicPr>
        <p:blipFill>
          <a:blip r:embed="rId3"/>
          <a:stretch>
            <a:fillRect/>
          </a:stretch>
        </p:blipFill>
        <p:spPr>
          <a:xfrm>
            <a:off x="4130062" y="2179878"/>
            <a:ext cx="6121792" cy="23368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Horizontal Navigation Bar Examples</a:t>
            </a:r>
            <a:endParaRPr lang="zh-CN" altLang="en-US" dirty="0"/>
          </a:p>
        </p:txBody>
      </p:sp>
      <p:sp>
        <p:nvSpPr>
          <p:cNvPr id="3" name="内容占位符 2"/>
          <p:cNvSpPr>
            <a:spLocks noGrp="1"/>
          </p:cNvSpPr>
          <p:nvPr>
            <p:ph idx="1"/>
          </p:nvPr>
        </p:nvSpPr>
        <p:spPr>
          <a:xfrm>
            <a:off x="257749" y="1413493"/>
            <a:ext cx="11399185" cy="876300"/>
          </a:xfrm>
        </p:spPr>
        <p:txBody>
          <a:bodyPr>
            <a:normAutofit/>
          </a:bodyPr>
          <a:lstStyle/>
          <a:p>
            <a:pPr algn="just"/>
            <a:r>
              <a:rPr lang="en-US" altLang="zh-CN" dirty="0">
                <a:latin typeface="+mj-lt"/>
              </a:rPr>
              <a:t>Active/Current Navigation Link: </a:t>
            </a:r>
            <a:r>
              <a:rPr lang="en-US" altLang="zh-CN" dirty="0"/>
              <a:t>Add an "active" class to the current link to let the user know which page he/she is on:</a:t>
            </a:r>
            <a:endParaRPr lang="en-US" altLang="zh-CN" dirty="0"/>
          </a:p>
        </p:txBody>
      </p:sp>
      <p:pic>
        <p:nvPicPr>
          <p:cNvPr id="6" name="图片 5"/>
          <p:cNvPicPr>
            <a:picLocks noChangeAspect="1"/>
          </p:cNvPicPr>
          <p:nvPr/>
        </p:nvPicPr>
        <p:blipFill>
          <a:blip r:embed="rId1"/>
          <a:stretch>
            <a:fillRect/>
          </a:stretch>
        </p:blipFill>
        <p:spPr>
          <a:xfrm>
            <a:off x="890487" y="2553884"/>
            <a:ext cx="3653473" cy="944156"/>
          </a:xfrm>
          <a:prstGeom prst="rect">
            <a:avLst/>
          </a:prstGeom>
        </p:spPr>
      </p:pic>
      <p:pic>
        <p:nvPicPr>
          <p:cNvPr id="9" name="图片 8"/>
          <p:cNvPicPr>
            <a:picLocks noChangeAspect="1"/>
          </p:cNvPicPr>
          <p:nvPr/>
        </p:nvPicPr>
        <p:blipFill>
          <a:blip r:embed="rId2"/>
          <a:stretch>
            <a:fillRect/>
          </a:stretch>
        </p:blipFill>
        <p:spPr>
          <a:xfrm>
            <a:off x="5179272" y="2553884"/>
            <a:ext cx="5998984" cy="875116"/>
          </a:xfrm>
          <a:prstGeom prst="rect">
            <a:avLst/>
          </a:prstGeom>
        </p:spPr>
      </p:pic>
      <p:sp>
        <p:nvSpPr>
          <p:cNvPr id="7" name="内容占位符 2"/>
          <p:cNvSpPr txBox="1"/>
          <p:nvPr/>
        </p:nvSpPr>
        <p:spPr>
          <a:xfrm>
            <a:off x="374352" y="3837573"/>
            <a:ext cx="11457616" cy="11977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latin typeface="+mj-lt"/>
              </a:rPr>
              <a:t>Right-Align </a:t>
            </a:r>
            <a:r>
              <a:rPr lang="en-US" altLang="zh-CN" dirty="0" err="1">
                <a:latin typeface="+mj-lt"/>
              </a:rPr>
              <a:t>Links:</a:t>
            </a:r>
            <a:r>
              <a:rPr lang="en-US" altLang="zh-CN" dirty="0" err="1"/>
              <a:t>Right-align</a:t>
            </a:r>
            <a:r>
              <a:rPr lang="en-US" altLang="zh-CN" dirty="0"/>
              <a:t> links by floating the list items to the right (</a:t>
            </a:r>
            <a:r>
              <a:rPr lang="en-US" altLang="zh-CN" dirty="0" err="1">
                <a:solidFill>
                  <a:srgbClr val="FFFF00"/>
                </a:solidFill>
              </a:rPr>
              <a:t>float:right</a:t>
            </a:r>
            <a:r>
              <a:rPr lang="en-US" altLang="zh-CN" dirty="0">
                <a:solidFill>
                  <a:srgbClr val="FFFF00"/>
                </a:solidFill>
              </a:rPr>
              <a:t>;</a:t>
            </a:r>
            <a:r>
              <a:rPr lang="en-US" altLang="zh-CN" dirty="0"/>
              <a:t>):</a:t>
            </a:r>
            <a:endParaRPr lang="en-US" altLang="zh-CN" dirty="0"/>
          </a:p>
        </p:txBody>
      </p:sp>
      <p:pic>
        <p:nvPicPr>
          <p:cNvPr id="8" name="图片 7"/>
          <p:cNvPicPr>
            <a:picLocks noChangeAspect="1"/>
          </p:cNvPicPr>
          <p:nvPr/>
        </p:nvPicPr>
        <p:blipFill>
          <a:blip r:embed="rId3"/>
          <a:stretch>
            <a:fillRect/>
          </a:stretch>
        </p:blipFill>
        <p:spPr>
          <a:xfrm>
            <a:off x="3067497" y="4427680"/>
            <a:ext cx="7677150" cy="1666875"/>
          </a:xfrm>
          <a:prstGeom prst="rect">
            <a:avLst/>
          </a:prstGeom>
        </p:spPr>
      </p:pic>
      <p:pic>
        <p:nvPicPr>
          <p:cNvPr id="10" name="图片 9"/>
          <p:cNvPicPr>
            <a:picLocks noChangeAspect="1"/>
          </p:cNvPicPr>
          <p:nvPr/>
        </p:nvPicPr>
        <p:blipFill>
          <a:blip r:embed="rId4"/>
          <a:stretch>
            <a:fillRect/>
          </a:stretch>
        </p:blipFill>
        <p:spPr>
          <a:xfrm>
            <a:off x="212198" y="6256928"/>
            <a:ext cx="11890342" cy="5322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Horizontal Navigation Bar Examples</a:t>
            </a:r>
            <a:endParaRPr lang="zh-CN" altLang="en-US" dirty="0"/>
          </a:p>
        </p:txBody>
      </p:sp>
      <p:sp>
        <p:nvSpPr>
          <p:cNvPr id="3" name="内容占位符 2"/>
          <p:cNvSpPr>
            <a:spLocks noGrp="1"/>
          </p:cNvSpPr>
          <p:nvPr>
            <p:ph idx="1"/>
          </p:nvPr>
        </p:nvSpPr>
        <p:spPr>
          <a:xfrm>
            <a:off x="617271" y="1227420"/>
            <a:ext cx="10515600" cy="1197732"/>
          </a:xfrm>
        </p:spPr>
        <p:txBody>
          <a:bodyPr>
            <a:normAutofit/>
          </a:bodyPr>
          <a:lstStyle/>
          <a:p>
            <a:pPr algn="just"/>
            <a:r>
              <a:rPr lang="en-US" altLang="zh-CN" dirty="0">
                <a:latin typeface="+mj-lt"/>
              </a:rPr>
              <a:t>Border Dividers: </a:t>
            </a:r>
            <a:r>
              <a:rPr lang="en-US" altLang="zh-CN" dirty="0"/>
              <a:t>Add the </a:t>
            </a:r>
            <a:r>
              <a:rPr lang="en-US" altLang="zh-CN" dirty="0">
                <a:solidFill>
                  <a:srgbClr val="FFFF00"/>
                </a:solidFill>
              </a:rPr>
              <a:t>border-right</a:t>
            </a:r>
            <a:r>
              <a:rPr lang="en-US" altLang="zh-CN" dirty="0"/>
              <a:t> property to &lt;li&gt; to create link dividers:</a:t>
            </a:r>
            <a:endParaRPr lang="en-US" altLang="zh-CN" dirty="0"/>
          </a:p>
        </p:txBody>
      </p:sp>
      <p:pic>
        <p:nvPicPr>
          <p:cNvPr id="9" name="图片 8"/>
          <p:cNvPicPr>
            <a:picLocks noChangeAspect="1"/>
          </p:cNvPicPr>
          <p:nvPr/>
        </p:nvPicPr>
        <p:blipFill>
          <a:blip r:embed="rId1"/>
          <a:stretch>
            <a:fillRect/>
          </a:stretch>
        </p:blipFill>
        <p:spPr>
          <a:xfrm>
            <a:off x="636768" y="2340288"/>
            <a:ext cx="11136132" cy="2784033"/>
          </a:xfrm>
          <a:prstGeom prst="rect">
            <a:avLst/>
          </a:prstGeom>
        </p:spPr>
      </p:pic>
      <p:pic>
        <p:nvPicPr>
          <p:cNvPr id="11" name="图片 10"/>
          <p:cNvPicPr>
            <a:picLocks noChangeAspect="1"/>
          </p:cNvPicPr>
          <p:nvPr/>
        </p:nvPicPr>
        <p:blipFill>
          <a:blip r:embed="rId2"/>
          <a:stretch>
            <a:fillRect/>
          </a:stretch>
        </p:blipFill>
        <p:spPr>
          <a:xfrm>
            <a:off x="527934" y="5630580"/>
            <a:ext cx="11353800" cy="5336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679415"/>
          </a:xfrm>
        </p:spPr>
        <p:txBody>
          <a:bodyPr>
            <a:normAutofit fontScale="90000"/>
          </a:bodyPr>
          <a:lstStyle/>
          <a:p>
            <a:pPr algn="ctr"/>
            <a:r>
              <a:rPr lang="en-US" altLang="zh-CN" dirty="0"/>
              <a:t>Horizontal Navigation Bar Examples</a:t>
            </a:r>
            <a:endParaRPr lang="zh-CN" altLang="en-US" dirty="0"/>
          </a:p>
        </p:txBody>
      </p:sp>
      <p:sp>
        <p:nvSpPr>
          <p:cNvPr id="3" name="内容占位符 2"/>
          <p:cNvSpPr>
            <a:spLocks noGrp="1"/>
          </p:cNvSpPr>
          <p:nvPr>
            <p:ph idx="1"/>
          </p:nvPr>
        </p:nvSpPr>
        <p:spPr>
          <a:xfrm>
            <a:off x="770238" y="1118921"/>
            <a:ext cx="10515600" cy="1065820"/>
          </a:xfrm>
        </p:spPr>
        <p:txBody>
          <a:bodyPr>
            <a:normAutofit/>
          </a:bodyPr>
          <a:lstStyle/>
          <a:p>
            <a:pPr algn="just"/>
            <a:r>
              <a:rPr lang="en-US" altLang="zh-CN" sz="3200" dirty="0">
                <a:latin typeface="+mj-lt"/>
              </a:rPr>
              <a:t>Fixed Navigation Bar</a:t>
            </a:r>
            <a:r>
              <a:rPr lang="zh-CN" altLang="en-US" sz="3200" dirty="0">
                <a:latin typeface="+mj-lt"/>
              </a:rPr>
              <a:t>：</a:t>
            </a:r>
            <a:r>
              <a:rPr lang="en-US" altLang="zh-CN" dirty="0"/>
              <a:t>Make the navigation bar stay at the top or the bottom of the page, even when the user scrolls the page:</a:t>
            </a:r>
            <a:endParaRPr lang="en-US" altLang="zh-CN" dirty="0"/>
          </a:p>
        </p:txBody>
      </p:sp>
      <p:pic>
        <p:nvPicPr>
          <p:cNvPr id="5" name="图片 4"/>
          <p:cNvPicPr>
            <a:picLocks noChangeAspect="1"/>
          </p:cNvPicPr>
          <p:nvPr/>
        </p:nvPicPr>
        <p:blipFill>
          <a:blip r:embed="rId1"/>
          <a:stretch>
            <a:fillRect/>
          </a:stretch>
        </p:blipFill>
        <p:spPr>
          <a:xfrm>
            <a:off x="1203392" y="2728912"/>
            <a:ext cx="2571750" cy="1400175"/>
          </a:xfrm>
          <a:prstGeom prst="rect">
            <a:avLst/>
          </a:prstGeom>
        </p:spPr>
      </p:pic>
      <p:pic>
        <p:nvPicPr>
          <p:cNvPr id="7" name="图片 6"/>
          <p:cNvPicPr>
            <a:picLocks noChangeAspect="1"/>
          </p:cNvPicPr>
          <p:nvPr/>
        </p:nvPicPr>
        <p:blipFill>
          <a:blip r:embed="rId2"/>
          <a:stretch>
            <a:fillRect/>
          </a:stretch>
        </p:blipFill>
        <p:spPr>
          <a:xfrm>
            <a:off x="499136" y="4255391"/>
            <a:ext cx="4795788" cy="2560331"/>
          </a:xfrm>
          <a:prstGeom prst="rect">
            <a:avLst/>
          </a:prstGeom>
        </p:spPr>
      </p:pic>
      <p:sp>
        <p:nvSpPr>
          <p:cNvPr id="6" name="文本框 5"/>
          <p:cNvSpPr txBox="1"/>
          <p:nvPr/>
        </p:nvSpPr>
        <p:spPr>
          <a:xfrm>
            <a:off x="1666227" y="2080212"/>
            <a:ext cx="2732460" cy="523220"/>
          </a:xfrm>
          <a:prstGeom prst="rect">
            <a:avLst/>
          </a:prstGeom>
          <a:noFill/>
        </p:spPr>
        <p:txBody>
          <a:bodyPr wrap="square">
            <a:spAutoFit/>
          </a:bodyPr>
          <a:lstStyle/>
          <a:p>
            <a:pPr marL="0" indent="0" algn="just">
              <a:buNone/>
            </a:pPr>
            <a:r>
              <a:rPr lang="en-US" altLang="zh-CN" sz="2800" dirty="0"/>
              <a:t>Fixed Top:</a:t>
            </a:r>
            <a:endParaRPr lang="en-US" altLang="zh-CN" sz="2800" dirty="0"/>
          </a:p>
        </p:txBody>
      </p:sp>
      <p:pic>
        <p:nvPicPr>
          <p:cNvPr id="8" name="图片 7"/>
          <p:cNvPicPr>
            <a:picLocks noChangeAspect="1"/>
          </p:cNvPicPr>
          <p:nvPr/>
        </p:nvPicPr>
        <p:blipFill>
          <a:blip r:embed="rId3"/>
          <a:stretch>
            <a:fillRect/>
          </a:stretch>
        </p:blipFill>
        <p:spPr>
          <a:xfrm>
            <a:off x="6897078" y="4311363"/>
            <a:ext cx="4707854" cy="2448386"/>
          </a:xfrm>
          <a:prstGeom prst="rect">
            <a:avLst/>
          </a:prstGeom>
        </p:spPr>
      </p:pic>
      <p:sp>
        <p:nvSpPr>
          <p:cNvPr id="9" name="内容占位符 2"/>
          <p:cNvSpPr txBox="1"/>
          <p:nvPr/>
        </p:nvSpPr>
        <p:spPr>
          <a:xfrm>
            <a:off x="7940491" y="2123077"/>
            <a:ext cx="2732460" cy="566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altLang="zh-CN" dirty="0"/>
              <a:t>Fixed Bottom:</a:t>
            </a:r>
            <a:endParaRPr lang="en-US" altLang="zh-CN" dirty="0"/>
          </a:p>
        </p:txBody>
      </p:sp>
      <p:pic>
        <p:nvPicPr>
          <p:cNvPr id="10" name="图片 9"/>
          <p:cNvPicPr>
            <a:picLocks noChangeAspect="1"/>
          </p:cNvPicPr>
          <p:nvPr/>
        </p:nvPicPr>
        <p:blipFill>
          <a:blip r:embed="rId4"/>
          <a:stretch>
            <a:fillRect/>
          </a:stretch>
        </p:blipFill>
        <p:spPr>
          <a:xfrm>
            <a:off x="7940491" y="2771626"/>
            <a:ext cx="2552700" cy="14573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zh-CN" b="0" dirty="0">
                <a:latin typeface="Calibri Light" panose="020F0302020204030204" charset="0"/>
                <a:cs typeface="Calibri Light" panose="020F0302020204030204" charset="0"/>
              </a:rPr>
              <a:t>CSS Forms</a:t>
            </a:r>
            <a:endParaRPr lang="zh-CN" altLang="zh-CN" b="0" dirty="0">
              <a:latin typeface="Calibri Light" panose="020F0302020204030204" charset="0"/>
              <a:cs typeface="Calibri Light" panose="020F0302020204030204" charset="0"/>
            </a:endParaRPr>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330" y="283536"/>
            <a:ext cx="11196955" cy="1240464"/>
          </a:xfrm>
        </p:spPr>
        <p:txBody>
          <a:bodyPr>
            <a:normAutofit fontScale="90000"/>
          </a:bodyPr>
          <a:lstStyle/>
          <a:p>
            <a:pPr algn="ctr"/>
            <a:r>
              <a:rPr lang="zh-CN" altLang="en-US" sz="4890" b="0" dirty="0">
                <a:solidFill>
                  <a:schemeClr val="bg1"/>
                </a:solidFill>
                <a:latin typeface="Calibri Light" panose="020F0302020204030204" charset="0"/>
                <a:cs typeface="Calibri Light" panose="020F0302020204030204" charset="0"/>
              </a:rPr>
              <a:t>The look of an HTML form can be greatly improved with CSS:</a:t>
            </a:r>
            <a:endParaRPr lang="zh-CN" altLang="en-US" sz="4890" b="0" dirty="0">
              <a:solidFill>
                <a:schemeClr val="bg1"/>
              </a:solidFill>
              <a:latin typeface="Calibri Light" panose="020F0302020204030204" charset="0"/>
              <a:cs typeface="Calibri Light" panose="020F0302020204030204" charset="0"/>
            </a:endParaRPr>
          </a:p>
        </p:txBody>
      </p:sp>
      <p:pic>
        <p:nvPicPr>
          <p:cNvPr id="5" name="内容占位符 4"/>
          <p:cNvPicPr>
            <a:picLocks noGrp="1" noChangeAspect="1"/>
          </p:cNvPicPr>
          <p:nvPr>
            <p:ph idx="1"/>
          </p:nvPr>
        </p:nvPicPr>
        <p:blipFill>
          <a:blip r:embed="rId2"/>
          <a:stretch>
            <a:fillRect/>
          </a:stretch>
        </p:blipFill>
        <p:spPr>
          <a:xfrm>
            <a:off x="300990" y="1759585"/>
            <a:ext cx="2329180" cy="4759325"/>
          </a:xfrm>
          <a:prstGeom prst="rect">
            <a:avLst/>
          </a:prstGeom>
        </p:spPr>
      </p:pic>
      <p:pic>
        <p:nvPicPr>
          <p:cNvPr id="6" name="图片 5"/>
          <p:cNvPicPr>
            <a:picLocks noChangeAspect="1"/>
          </p:cNvPicPr>
          <p:nvPr/>
        </p:nvPicPr>
        <p:blipFill>
          <a:blip r:embed="rId3"/>
          <a:stretch>
            <a:fillRect/>
          </a:stretch>
        </p:blipFill>
        <p:spPr>
          <a:xfrm>
            <a:off x="3141345" y="1759585"/>
            <a:ext cx="4076700" cy="3954780"/>
          </a:xfrm>
          <a:prstGeom prst="rect">
            <a:avLst/>
          </a:prstGeom>
        </p:spPr>
      </p:pic>
      <p:pic>
        <p:nvPicPr>
          <p:cNvPr id="7" name="图片 6"/>
          <p:cNvPicPr>
            <a:picLocks noChangeAspect="1"/>
          </p:cNvPicPr>
          <p:nvPr/>
        </p:nvPicPr>
        <p:blipFill>
          <a:blip r:embed="rId4"/>
          <a:stretch>
            <a:fillRect/>
          </a:stretch>
        </p:blipFill>
        <p:spPr>
          <a:xfrm>
            <a:off x="7527925" y="1759585"/>
            <a:ext cx="4408805" cy="2379980"/>
          </a:xfrm>
          <a:prstGeom prst="rect">
            <a:avLst/>
          </a:prstGeom>
        </p:spPr>
      </p:pic>
    </p:spTree>
    <p:custDataLst>
      <p:tags r:id="rId5"/>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latin typeface="Calibri Light" panose="020F0302020204030204" charset="0"/>
                <a:cs typeface="Calibri Light" panose="020F0302020204030204" charset="0"/>
              </a:rPr>
              <a:t>Styling Input Fields</a:t>
            </a:r>
            <a:endParaRPr lang="zh-CN" altLang="en-US" sz="4400" b="0" dirty="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08400" y="1490400"/>
            <a:ext cx="10969200" cy="777879"/>
          </a:xfrm>
        </p:spPr>
        <p:txBody>
          <a:bodyPr>
            <a:normAutofit/>
          </a:bodyPr>
          <a:lstStyle/>
          <a:p>
            <a:r>
              <a:rPr lang="zh-CN" altLang="en-US" sz="2800" dirty="0">
                <a:solidFill>
                  <a:schemeClr val="bg1"/>
                </a:solidFill>
                <a:latin typeface="Calibri Light" panose="020F0302020204030204" charset="0"/>
                <a:cs typeface="Calibri" panose="020F0502020204030204" pitchFamily="34" charset="0"/>
              </a:rPr>
              <a:t>Use the width property to determine the width of the input field:</a:t>
            </a:r>
            <a:endParaRPr lang="zh-CN" altLang="en-US" sz="2800" dirty="0">
              <a:solidFill>
                <a:schemeClr val="bg1"/>
              </a:solidFill>
              <a:latin typeface="Calibri Light" panose="020F0302020204030204" charset="0"/>
              <a:cs typeface="Calibri" panose="020F0502020204030204" pitchFamily="34" charset="0"/>
            </a:endParaRPr>
          </a:p>
        </p:txBody>
      </p:sp>
      <p:pic>
        <p:nvPicPr>
          <p:cNvPr id="5" name="图片 4"/>
          <p:cNvPicPr>
            <a:picLocks noChangeAspect="1"/>
          </p:cNvPicPr>
          <p:nvPr/>
        </p:nvPicPr>
        <p:blipFill>
          <a:blip r:embed="rId3"/>
          <a:stretch>
            <a:fillRect/>
          </a:stretch>
        </p:blipFill>
        <p:spPr>
          <a:xfrm>
            <a:off x="608400" y="2882118"/>
            <a:ext cx="3718560" cy="3627120"/>
          </a:xfrm>
          <a:prstGeom prst="rect">
            <a:avLst/>
          </a:prstGeom>
        </p:spPr>
      </p:pic>
      <p:pic>
        <p:nvPicPr>
          <p:cNvPr id="6" name="图片 5"/>
          <p:cNvPicPr>
            <a:picLocks noChangeAspect="1"/>
          </p:cNvPicPr>
          <p:nvPr/>
        </p:nvPicPr>
        <p:blipFill>
          <a:blip r:embed="rId4"/>
          <a:stretch>
            <a:fillRect/>
          </a:stretch>
        </p:blipFill>
        <p:spPr>
          <a:xfrm>
            <a:off x="4680866" y="2882118"/>
            <a:ext cx="7086600" cy="883920"/>
          </a:xfrm>
          <a:prstGeom prst="rect">
            <a:avLst/>
          </a:prstGeom>
        </p:spPr>
      </p:pic>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85028"/>
            <a:ext cx="10969200" cy="705600"/>
          </a:xfrm>
        </p:spPr>
        <p:txBody>
          <a:bodyPr>
            <a:noAutofit/>
          </a:bodyPr>
          <a:lstStyle/>
          <a:p>
            <a:pPr algn="ctr"/>
            <a:r>
              <a:rPr lang="zh-CN" altLang="en-US" sz="4400" b="0" dirty="0">
                <a:latin typeface="+mn-lt"/>
                <a:cs typeface="Arial" panose="020B0604020202020204" pitchFamily="34" charset="0"/>
              </a:rPr>
              <a:t>Styling Input Fields</a:t>
            </a:r>
            <a:endParaRPr lang="zh-CN" altLang="en-US" sz="4400" b="0" dirty="0">
              <a:latin typeface="+mn-lt"/>
              <a:cs typeface="Arial" panose="020B0604020202020204" pitchFamily="34" charset="0"/>
            </a:endParaRPr>
          </a:p>
        </p:txBody>
      </p:sp>
      <p:sp>
        <p:nvSpPr>
          <p:cNvPr id="2" name="内容占位符 1"/>
          <p:cNvSpPr>
            <a:spLocks noGrp="1"/>
          </p:cNvSpPr>
          <p:nvPr>
            <p:ph idx="1"/>
            <p:custDataLst>
              <p:tags r:id="rId2"/>
            </p:custDataLst>
          </p:nvPr>
        </p:nvSpPr>
        <p:spPr>
          <a:xfrm>
            <a:off x="608400" y="1490400"/>
            <a:ext cx="10969200" cy="4045619"/>
          </a:xfrm>
        </p:spPr>
        <p:txBody>
          <a:bodyPr>
            <a:normAutofit/>
          </a:bodyPr>
          <a:lstStyle/>
          <a:p>
            <a:pPr algn="just"/>
            <a:r>
              <a:rPr lang="zh-CN" altLang="en-US" sz="2800" dirty="0">
                <a:solidFill>
                  <a:schemeClr val="bg1"/>
                </a:solidFill>
                <a:latin typeface="Calibri" panose="020F0502020204030204" pitchFamily="34" charset="0"/>
                <a:cs typeface="Calibri" panose="020F0502020204030204" pitchFamily="34" charset="0"/>
              </a:rPr>
              <a:t>The example above applies to all &lt;input&gt; elements. If you only want to style a specific input type, you can use attribute selectors:</a:t>
            </a:r>
            <a:endParaRPr lang="zh-CN" altLang="en-US" sz="2800" dirty="0">
              <a:solidFill>
                <a:schemeClr val="bg1"/>
              </a:solidFill>
              <a:latin typeface="Calibri" panose="020F0502020204030204" pitchFamily="34" charset="0"/>
              <a:cs typeface="Calibri" panose="020F0502020204030204" pitchFamily="34" charset="0"/>
            </a:endParaRPr>
          </a:p>
          <a:p>
            <a:pPr algn="just">
              <a:buFont typeface="Wingdings" panose="05000000000000000000" charset="0"/>
              <a:buChar char="Ø"/>
            </a:pPr>
            <a:r>
              <a:rPr lang="zh-CN" altLang="en-US" sz="2800" dirty="0">
                <a:solidFill>
                  <a:schemeClr val="bg1"/>
                </a:solidFill>
                <a:latin typeface="Calibri" panose="020F0502020204030204" pitchFamily="34" charset="0"/>
                <a:cs typeface="Calibri" panose="020F0502020204030204" pitchFamily="34" charset="0"/>
              </a:rPr>
              <a:t>    input[type=text] - will only select text fields</a:t>
            </a:r>
            <a:endParaRPr lang="zh-CN" altLang="en-US" sz="2800" dirty="0">
              <a:solidFill>
                <a:schemeClr val="bg1"/>
              </a:solidFill>
              <a:latin typeface="Calibri" panose="020F0502020204030204" pitchFamily="34" charset="0"/>
              <a:cs typeface="Calibri" panose="020F0502020204030204" pitchFamily="34" charset="0"/>
            </a:endParaRPr>
          </a:p>
          <a:p>
            <a:pPr algn="just">
              <a:buFont typeface="Wingdings" panose="05000000000000000000" charset="0"/>
              <a:buChar char="Ø"/>
            </a:pPr>
            <a:r>
              <a:rPr lang="zh-CN" altLang="en-US" sz="2800" dirty="0">
                <a:solidFill>
                  <a:schemeClr val="bg1"/>
                </a:solidFill>
                <a:latin typeface="Calibri" panose="020F0502020204030204" pitchFamily="34" charset="0"/>
                <a:cs typeface="Calibri" panose="020F0502020204030204" pitchFamily="34" charset="0"/>
              </a:rPr>
              <a:t>    input[type=password] - will only select password fields</a:t>
            </a:r>
            <a:endParaRPr lang="zh-CN" altLang="en-US" sz="2800" dirty="0">
              <a:solidFill>
                <a:schemeClr val="bg1"/>
              </a:solidFill>
              <a:latin typeface="Calibri" panose="020F0502020204030204" pitchFamily="34" charset="0"/>
              <a:cs typeface="Calibri" panose="020F0502020204030204" pitchFamily="34" charset="0"/>
            </a:endParaRPr>
          </a:p>
          <a:p>
            <a:pPr algn="just">
              <a:buFont typeface="Wingdings" panose="05000000000000000000" charset="0"/>
              <a:buChar char="Ø"/>
            </a:pPr>
            <a:r>
              <a:rPr lang="zh-CN" altLang="en-US" sz="2800" dirty="0">
                <a:solidFill>
                  <a:schemeClr val="bg1"/>
                </a:solidFill>
                <a:latin typeface="Calibri" panose="020F0502020204030204" pitchFamily="34" charset="0"/>
                <a:cs typeface="Calibri" panose="020F0502020204030204" pitchFamily="34" charset="0"/>
              </a:rPr>
              <a:t>    input[type=number] - will only select number fields</a:t>
            </a:r>
            <a:endParaRPr lang="zh-CN" altLang="en-US" sz="2800" dirty="0">
              <a:solidFill>
                <a:schemeClr val="bg1"/>
              </a:solidFill>
              <a:latin typeface="Calibri" panose="020F0502020204030204" pitchFamily="34" charset="0"/>
              <a:cs typeface="Calibri" panose="020F0502020204030204" pitchFamily="34" charset="0"/>
            </a:endParaRPr>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43910"/>
            <a:ext cx="10969200" cy="705600"/>
          </a:xfrm>
        </p:spPr>
        <p:txBody>
          <a:bodyPr>
            <a:noAutofit/>
          </a:bodyPr>
          <a:lstStyle/>
          <a:p>
            <a:pPr algn="ctr"/>
            <a:r>
              <a:rPr lang="zh-CN" altLang="en-US" sz="4400" b="0" dirty="0">
                <a:latin typeface="+mn-lt"/>
                <a:cs typeface="Calibri Light" panose="020F0302020204030204" charset="0"/>
              </a:rPr>
              <a:t>Padded Inputs</a:t>
            </a:r>
            <a:endParaRPr lang="zh-CN" altLang="en-US" sz="4400" b="0" dirty="0">
              <a:latin typeface="+mn-lt"/>
              <a:cs typeface="Calibri Light" panose="020F0302020204030204" charset="0"/>
            </a:endParaRPr>
          </a:p>
        </p:txBody>
      </p:sp>
      <p:sp>
        <p:nvSpPr>
          <p:cNvPr id="2" name="内容占位符 1"/>
          <p:cNvSpPr>
            <a:spLocks noGrp="1"/>
          </p:cNvSpPr>
          <p:nvPr>
            <p:ph idx="1"/>
            <p:custDataLst>
              <p:tags r:id="rId2"/>
            </p:custDataLst>
          </p:nvPr>
        </p:nvSpPr>
        <p:spPr>
          <a:xfrm>
            <a:off x="611575" y="1049710"/>
            <a:ext cx="10969200" cy="1282364"/>
          </a:xfrm>
        </p:spPr>
        <p:txBody>
          <a:bodyPr>
            <a:normAutofit/>
          </a:bodyPr>
          <a:lstStyle/>
          <a:p>
            <a:r>
              <a:rPr lang="zh-CN" altLang="en-US" dirty="0">
                <a:solidFill>
                  <a:schemeClr val="bg1"/>
                </a:solidFill>
                <a:latin typeface="+mn-lt"/>
                <a:cs typeface="Arial" panose="020B0604020202020204" pitchFamily="34" charset="0"/>
              </a:rPr>
              <a:t>Use the padding property to add space inside the text field.</a:t>
            </a:r>
            <a:endParaRPr lang="zh-CN" altLang="en-US" dirty="0">
              <a:solidFill>
                <a:schemeClr val="bg1"/>
              </a:solidFill>
              <a:latin typeface="+mn-lt"/>
              <a:cs typeface="Arial" panose="020B0604020202020204" pitchFamily="34" charset="0"/>
            </a:endParaRPr>
          </a:p>
          <a:p>
            <a:r>
              <a:rPr lang="zh-CN" altLang="en-US" dirty="0">
                <a:solidFill>
                  <a:schemeClr val="bg1"/>
                </a:solidFill>
                <a:latin typeface="+mn-lt"/>
                <a:cs typeface="Arial" panose="020B0604020202020204" pitchFamily="34" charset="0"/>
              </a:rPr>
              <a:t>Tip: When you have many inputs after each other, you might also want to add some margin, to add more space outside of them:</a:t>
            </a:r>
            <a:endParaRPr lang="zh-CN" altLang="en-US" dirty="0">
              <a:solidFill>
                <a:schemeClr val="bg1"/>
              </a:solidFill>
              <a:latin typeface="+mn-lt"/>
              <a:cs typeface="Arial" panose="020B0604020202020204" pitchFamily="34" charset="0"/>
            </a:endParaRPr>
          </a:p>
        </p:txBody>
      </p:sp>
      <p:pic>
        <p:nvPicPr>
          <p:cNvPr id="6" name="图片 5"/>
          <p:cNvPicPr>
            <a:picLocks noChangeAspect="1"/>
          </p:cNvPicPr>
          <p:nvPr/>
        </p:nvPicPr>
        <p:blipFill>
          <a:blip r:embed="rId3"/>
          <a:stretch>
            <a:fillRect/>
          </a:stretch>
        </p:blipFill>
        <p:spPr>
          <a:xfrm>
            <a:off x="611575" y="2432274"/>
            <a:ext cx="3710940" cy="4259580"/>
          </a:xfrm>
          <a:prstGeom prst="rect">
            <a:avLst/>
          </a:prstGeom>
        </p:spPr>
      </p:pic>
      <p:pic>
        <p:nvPicPr>
          <p:cNvPr id="4" name="图片 3"/>
          <p:cNvPicPr>
            <a:picLocks noChangeAspect="1"/>
          </p:cNvPicPr>
          <p:nvPr/>
        </p:nvPicPr>
        <p:blipFill>
          <a:blip r:embed="rId4"/>
          <a:stretch>
            <a:fillRect/>
          </a:stretch>
        </p:blipFill>
        <p:spPr>
          <a:xfrm>
            <a:off x="4769509" y="2656465"/>
            <a:ext cx="7126397" cy="1615612"/>
          </a:xfrm>
          <a:prstGeom prst="rect">
            <a:avLst/>
          </a:prstGeom>
        </p:spPr>
      </p:pic>
      <p:sp>
        <p:nvSpPr>
          <p:cNvPr id="8" name="矩形 7"/>
          <p:cNvSpPr/>
          <p:nvPr/>
        </p:nvSpPr>
        <p:spPr>
          <a:xfrm>
            <a:off x="4769509" y="4675098"/>
            <a:ext cx="6811266" cy="1569660"/>
          </a:xfrm>
          <a:prstGeom prst="rect">
            <a:avLst/>
          </a:prstGeom>
        </p:spPr>
        <p:txBody>
          <a:bodyPr wrap="square">
            <a:spAutoFit/>
          </a:bodyPr>
          <a:lstStyle/>
          <a:p>
            <a:pPr lvl="0" algn="just" eaLnBrk="0" fontAlgn="base" hangingPunct="0">
              <a:spcBef>
                <a:spcPct val="0"/>
              </a:spcBef>
              <a:spcAft>
                <a:spcPct val="0"/>
              </a:spcAft>
            </a:pPr>
            <a:r>
              <a:rPr lang="zh-CN" altLang="zh-CN" sz="2400" dirty="0">
                <a:solidFill>
                  <a:schemeClr val="bg1"/>
                </a:solidFill>
              </a:rPr>
              <a:t>Note that we have set the </a:t>
            </a:r>
            <a:r>
              <a:rPr lang="zh-CN" altLang="zh-CN" sz="2400" dirty="0">
                <a:solidFill>
                  <a:schemeClr val="bg1"/>
                </a:solidFill>
                <a:cs typeface="Courier New" panose="02070309020205020404" pitchFamily="49" charset="0"/>
              </a:rPr>
              <a:t>box-sizing</a:t>
            </a:r>
            <a:r>
              <a:rPr lang="zh-CN" altLang="zh-CN" sz="2400" dirty="0">
                <a:solidFill>
                  <a:schemeClr val="bg1"/>
                </a:solidFill>
              </a:rPr>
              <a:t> property to </a:t>
            </a:r>
            <a:r>
              <a:rPr lang="zh-CN" altLang="zh-CN" sz="2400" dirty="0">
                <a:solidFill>
                  <a:schemeClr val="bg1"/>
                </a:solidFill>
                <a:cs typeface="Courier New" panose="02070309020205020404" pitchFamily="49" charset="0"/>
              </a:rPr>
              <a:t>border-box</a:t>
            </a:r>
            <a:r>
              <a:rPr lang="zh-CN" altLang="zh-CN" sz="2400" dirty="0">
                <a:solidFill>
                  <a:schemeClr val="bg1"/>
                </a:solidFill>
              </a:rPr>
              <a:t>. This makes sure that the padding and eventually borders are included in the total width and height of the elements. </a:t>
            </a:r>
            <a:endParaRPr lang="zh-CN" altLang="zh-CN" sz="2400" dirty="0">
              <a:solidFill>
                <a:schemeClr val="bg1"/>
              </a:solidFill>
            </a:endParaRPr>
          </a:p>
        </p:txBody>
      </p:sp>
    </p:spTree>
    <p:custDataLst>
      <p:tags r:id="rId5"/>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36620"/>
            <a:ext cx="10969200" cy="705600"/>
          </a:xfrm>
        </p:spPr>
        <p:txBody>
          <a:bodyPr>
            <a:noAutofit/>
          </a:bodyPr>
          <a:lstStyle/>
          <a:p>
            <a:pPr algn="ctr"/>
            <a:r>
              <a:rPr lang="zh-CN" altLang="en-US" sz="4400" b="0">
                <a:latin typeface="Calibri Light" panose="020F0302020204030204" charset="0"/>
                <a:cs typeface="Calibri Light" panose="020F0302020204030204" charset="0"/>
              </a:rPr>
              <a:t>Bordered Inputs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50875" y="1167765"/>
            <a:ext cx="10968990" cy="1104265"/>
          </a:xfrm>
        </p:spPr>
        <p:txBody>
          <a:bodyPr/>
          <a:lstStyle/>
          <a:p>
            <a:r>
              <a:rPr lang="zh-CN" altLang="en-US" sz="2000" dirty="0">
                <a:solidFill>
                  <a:schemeClr val="bg1"/>
                </a:solidFill>
                <a:latin typeface="Calibri" panose="020F0502020204030204" pitchFamily="34" charset="0"/>
                <a:cs typeface="Calibri" panose="020F0502020204030204" pitchFamily="34" charset="0"/>
              </a:rPr>
              <a:t>Use the border property to change the border size and color, and use the border-radius property to add rounded corners:</a:t>
            </a:r>
            <a:endParaRPr lang="zh-CN" altLang="en-US" sz="2000" dirty="0">
              <a:solidFill>
                <a:schemeClr val="bg1"/>
              </a:solidFill>
              <a:latin typeface="Calibri" panose="020F0502020204030204" pitchFamily="34" charset="0"/>
              <a:cs typeface="Calibri" panose="020F0502020204030204" pitchFamily="34" charset="0"/>
            </a:endParaRPr>
          </a:p>
        </p:txBody>
      </p:sp>
      <p:pic>
        <p:nvPicPr>
          <p:cNvPr id="6" name="图片 5"/>
          <p:cNvPicPr>
            <a:picLocks noChangeAspect="1"/>
          </p:cNvPicPr>
          <p:nvPr/>
        </p:nvPicPr>
        <p:blipFill>
          <a:blip r:embed="rId3"/>
          <a:stretch>
            <a:fillRect/>
          </a:stretch>
        </p:blipFill>
        <p:spPr>
          <a:xfrm>
            <a:off x="776605" y="2572385"/>
            <a:ext cx="3771900" cy="4008120"/>
          </a:xfrm>
          <a:prstGeom prst="rect">
            <a:avLst/>
          </a:prstGeom>
        </p:spPr>
      </p:pic>
      <p:pic>
        <p:nvPicPr>
          <p:cNvPr id="7" name="图片 6"/>
          <p:cNvPicPr>
            <a:picLocks noChangeAspect="1"/>
          </p:cNvPicPr>
          <p:nvPr/>
        </p:nvPicPr>
        <p:blipFill>
          <a:blip r:embed="rId4"/>
          <a:stretch>
            <a:fillRect/>
          </a:stretch>
        </p:blipFill>
        <p:spPr>
          <a:xfrm>
            <a:off x="4904105" y="2572385"/>
            <a:ext cx="7048500" cy="1950720"/>
          </a:xfrm>
          <a:prstGeom prst="rect">
            <a:avLst/>
          </a:prstGeom>
        </p:spPr>
      </p:pic>
    </p:spTree>
    <p:custDataLst>
      <p:tags r:id="rId5"/>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53765"/>
            <a:ext cx="10969200" cy="705600"/>
          </a:xfrm>
        </p:spPr>
        <p:txBody>
          <a:bodyPr>
            <a:noAutofit/>
          </a:bodyPr>
          <a:lstStyle/>
          <a:p>
            <a:pPr algn="ctr"/>
            <a:r>
              <a:rPr lang="zh-CN" altLang="en-US" sz="4400" b="0">
                <a:latin typeface="Calibri Light" panose="020F0302020204030204" charset="0"/>
                <a:cs typeface="Calibri Light" panose="020F0302020204030204" charset="0"/>
              </a:rPr>
              <a:t>Bordered Inputs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1575" y="1253545"/>
            <a:ext cx="10969200" cy="4759200"/>
          </a:xfrm>
        </p:spPr>
        <p:txBody>
          <a:bodyPr/>
          <a:lstStyle/>
          <a:p>
            <a:r>
              <a:rPr lang="zh-CN" altLang="en-US" sz="2000" dirty="0">
                <a:solidFill>
                  <a:schemeClr val="bg1"/>
                </a:solidFill>
                <a:latin typeface="Calibri" panose="020F0502020204030204" pitchFamily="34" charset="0"/>
                <a:cs typeface="Calibri" panose="020F0502020204030204" pitchFamily="34" charset="0"/>
              </a:rPr>
              <a:t>If you only want a bottom border, use the border-bottom property:</a:t>
            </a:r>
            <a:endParaRPr lang="zh-CN" altLang="en-US" sz="2000" dirty="0">
              <a:solidFill>
                <a:schemeClr val="bg1"/>
              </a:solidFill>
              <a:latin typeface="Calibri" panose="020F0502020204030204" pitchFamily="34" charset="0"/>
              <a:cs typeface="Calibri" panose="020F0502020204030204" pitchFamily="34" charset="0"/>
            </a:endParaRPr>
          </a:p>
        </p:txBody>
      </p:sp>
      <p:pic>
        <p:nvPicPr>
          <p:cNvPr id="4" name="图片 3"/>
          <p:cNvPicPr>
            <a:picLocks noChangeAspect="1"/>
          </p:cNvPicPr>
          <p:nvPr/>
        </p:nvPicPr>
        <p:blipFill>
          <a:blip r:embed="rId3"/>
          <a:stretch>
            <a:fillRect/>
          </a:stretch>
        </p:blipFill>
        <p:spPr>
          <a:xfrm>
            <a:off x="608330" y="1966595"/>
            <a:ext cx="3642360" cy="4747260"/>
          </a:xfrm>
          <a:prstGeom prst="rect">
            <a:avLst/>
          </a:prstGeom>
        </p:spPr>
      </p:pic>
      <p:pic>
        <p:nvPicPr>
          <p:cNvPr id="6" name="图片 5"/>
          <p:cNvPicPr>
            <a:picLocks noChangeAspect="1"/>
          </p:cNvPicPr>
          <p:nvPr/>
        </p:nvPicPr>
        <p:blipFill>
          <a:blip r:embed="rId4"/>
          <a:stretch>
            <a:fillRect/>
          </a:stretch>
        </p:blipFill>
        <p:spPr>
          <a:xfrm>
            <a:off x="4820716" y="2966812"/>
            <a:ext cx="6949583" cy="1546728"/>
          </a:xfrm>
          <a:prstGeom prst="rect">
            <a:avLst/>
          </a:prstGeom>
        </p:spPr>
      </p:pic>
    </p:spTree>
    <p:custDataLst>
      <p:tags r:id="rId5"/>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71215"/>
            <a:ext cx="10969200" cy="705600"/>
          </a:xfrm>
        </p:spPr>
        <p:txBody>
          <a:bodyPr>
            <a:noAutofit/>
          </a:bodyPr>
          <a:lstStyle/>
          <a:p>
            <a:pPr algn="ctr"/>
            <a:r>
              <a:rPr lang="zh-CN" altLang="en-US" sz="4400" b="0">
                <a:latin typeface="Calibri Light" panose="020F0302020204030204" charset="0"/>
                <a:cs typeface="Calibri Light" panose="020F0302020204030204" charset="0"/>
              </a:rPr>
              <a:t>Colored Inputs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1575" y="1162740"/>
            <a:ext cx="10969200" cy="4759200"/>
          </a:xfrm>
        </p:spPr>
        <p:txBody>
          <a:bodyPr/>
          <a:lstStyle/>
          <a:p>
            <a:r>
              <a:rPr lang="zh-CN" altLang="en-US" sz="2000" dirty="0">
                <a:solidFill>
                  <a:schemeClr val="bg1"/>
                </a:solidFill>
                <a:latin typeface="Calibri" panose="020F0502020204030204" pitchFamily="34" charset="0"/>
                <a:cs typeface="Calibri" panose="020F0502020204030204" pitchFamily="34" charset="0"/>
              </a:rPr>
              <a:t>Use the background-color property to add a background color to the input, and the color property to change the text color:</a:t>
            </a:r>
            <a:endParaRPr lang="zh-CN" altLang="en-US" sz="2000" dirty="0">
              <a:solidFill>
                <a:schemeClr val="bg1"/>
              </a:solidFill>
              <a:latin typeface="Calibri" panose="020F0502020204030204" pitchFamily="34" charset="0"/>
              <a:cs typeface="Calibri" panose="020F0502020204030204" pitchFamily="34" charset="0"/>
            </a:endParaRPr>
          </a:p>
        </p:txBody>
      </p:sp>
      <p:pic>
        <p:nvPicPr>
          <p:cNvPr id="6" name="图片 5"/>
          <p:cNvPicPr>
            <a:picLocks noChangeAspect="1"/>
          </p:cNvPicPr>
          <p:nvPr/>
        </p:nvPicPr>
        <p:blipFill>
          <a:blip r:embed="rId3"/>
          <a:stretch>
            <a:fillRect/>
          </a:stretch>
        </p:blipFill>
        <p:spPr>
          <a:xfrm>
            <a:off x="878840" y="2131695"/>
            <a:ext cx="4587240" cy="4579620"/>
          </a:xfrm>
          <a:prstGeom prst="rect">
            <a:avLst/>
          </a:prstGeom>
        </p:spPr>
      </p:pic>
      <p:pic>
        <p:nvPicPr>
          <p:cNvPr id="7" name="图片 6"/>
          <p:cNvPicPr>
            <a:picLocks noChangeAspect="1"/>
          </p:cNvPicPr>
          <p:nvPr/>
        </p:nvPicPr>
        <p:blipFill>
          <a:blip r:embed="rId4"/>
          <a:stretch>
            <a:fillRect/>
          </a:stretch>
        </p:blipFill>
        <p:spPr>
          <a:xfrm>
            <a:off x="5703570" y="2131695"/>
            <a:ext cx="6158865" cy="1788795"/>
          </a:xfrm>
          <a:prstGeom prst="rect">
            <a:avLst/>
          </a:prstGeom>
        </p:spPr>
      </p:pic>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43910"/>
            <a:ext cx="10969200" cy="705600"/>
          </a:xfrm>
        </p:spPr>
        <p:txBody>
          <a:bodyPr>
            <a:noAutofit/>
          </a:bodyPr>
          <a:lstStyle/>
          <a:p>
            <a:pPr algn="ctr"/>
            <a:r>
              <a:rPr lang="zh-CN" altLang="en-US" sz="4400" b="0">
                <a:latin typeface="Calibri Light" panose="020F0302020204030204" charset="0"/>
                <a:cs typeface="Calibri Light" panose="020F0302020204030204" charset="0"/>
              </a:rPr>
              <a:t>Focused Inputs</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1575" y="1049075"/>
            <a:ext cx="10969200" cy="4759200"/>
          </a:xfrm>
        </p:spPr>
        <p:txBody>
          <a:bodyPr/>
          <a:lstStyle/>
          <a:p>
            <a:r>
              <a:rPr lang="zh-CN" altLang="en-US" sz="2000" dirty="0">
                <a:solidFill>
                  <a:schemeClr val="bg1"/>
                </a:solidFill>
                <a:latin typeface="Calibri" panose="020F0502020204030204" pitchFamily="34" charset="0"/>
                <a:cs typeface="Calibri" panose="020F0502020204030204" pitchFamily="34" charset="0"/>
              </a:rPr>
              <a:t>By default, some browsers will add a blue outline around the input when it gets focus (clicked on). You can remove this behavior by adding outline: none; to the input.</a:t>
            </a:r>
            <a:endParaRPr lang="zh-CN" altLang="en-US" sz="2000" dirty="0">
              <a:solidFill>
                <a:schemeClr val="bg1"/>
              </a:solidFill>
              <a:latin typeface="Calibri" panose="020F0502020204030204" pitchFamily="34" charset="0"/>
              <a:cs typeface="Calibri" panose="020F0502020204030204" pitchFamily="34" charset="0"/>
            </a:endParaRPr>
          </a:p>
          <a:p>
            <a:r>
              <a:rPr lang="zh-CN" altLang="en-US" sz="2000" dirty="0">
                <a:solidFill>
                  <a:schemeClr val="bg1"/>
                </a:solidFill>
                <a:latin typeface="Calibri" panose="020F0502020204030204" pitchFamily="34" charset="0"/>
                <a:cs typeface="Calibri" panose="020F0502020204030204" pitchFamily="34" charset="0"/>
              </a:rPr>
              <a:t>Use the :focus selector to do something with the input field when it gets focus:</a:t>
            </a:r>
            <a:endParaRPr lang="zh-CN" altLang="en-US" sz="2000" dirty="0">
              <a:solidFill>
                <a:schemeClr val="bg1"/>
              </a:solidFill>
              <a:latin typeface="Calibri" panose="020F0502020204030204" pitchFamily="34" charset="0"/>
              <a:cs typeface="Calibri" panose="020F0502020204030204" pitchFamily="34" charset="0"/>
            </a:endParaRPr>
          </a:p>
        </p:txBody>
      </p:sp>
      <p:pic>
        <p:nvPicPr>
          <p:cNvPr id="8" name="图片 7"/>
          <p:cNvPicPr>
            <a:picLocks noChangeAspect="1"/>
          </p:cNvPicPr>
          <p:nvPr/>
        </p:nvPicPr>
        <p:blipFill>
          <a:blip r:embed="rId3"/>
          <a:stretch>
            <a:fillRect/>
          </a:stretch>
        </p:blipFill>
        <p:spPr>
          <a:xfrm>
            <a:off x="780415" y="2614930"/>
            <a:ext cx="5258435" cy="3896995"/>
          </a:xfrm>
          <a:prstGeom prst="rect">
            <a:avLst/>
          </a:prstGeom>
        </p:spPr>
      </p:pic>
      <p:pic>
        <p:nvPicPr>
          <p:cNvPr id="9" name="图片 8"/>
          <p:cNvPicPr>
            <a:picLocks noChangeAspect="1"/>
          </p:cNvPicPr>
          <p:nvPr/>
        </p:nvPicPr>
        <p:blipFill>
          <a:blip r:embed="rId4"/>
          <a:stretch>
            <a:fillRect/>
          </a:stretch>
        </p:blipFill>
        <p:spPr>
          <a:xfrm>
            <a:off x="6210300" y="2614930"/>
            <a:ext cx="5636895" cy="1664970"/>
          </a:xfrm>
          <a:prstGeom prst="rect">
            <a:avLst/>
          </a:prstGeom>
        </p:spPr>
      </p:pic>
      <p:pic>
        <p:nvPicPr>
          <p:cNvPr id="4" name="图片 3"/>
          <p:cNvPicPr>
            <a:picLocks noChangeAspect="1"/>
          </p:cNvPicPr>
          <p:nvPr/>
        </p:nvPicPr>
        <p:blipFill>
          <a:blip r:embed="rId5"/>
          <a:stretch>
            <a:fillRect/>
          </a:stretch>
        </p:blipFill>
        <p:spPr>
          <a:xfrm>
            <a:off x="6234915" y="4896346"/>
            <a:ext cx="5612280" cy="1416183"/>
          </a:xfrm>
          <a:prstGeom prst="rect">
            <a:avLst/>
          </a:prstGeom>
        </p:spPr>
      </p:pic>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43910"/>
            <a:ext cx="10969200" cy="705600"/>
          </a:xfrm>
        </p:spPr>
        <p:txBody>
          <a:bodyPr>
            <a:noAutofit/>
          </a:bodyPr>
          <a:lstStyle/>
          <a:p>
            <a:pPr algn="ctr"/>
            <a:r>
              <a:rPr lang="zh-CN" altLang="en-US" sz="4400" b="0">
                <a:latin typeface="Calibri Light" panose="020F0302020204030204" charset="0"/>
                <a:cs typeface="Calibri Light" panose="020F0302020204030204" charset="0"/>
              </a:rPr>
              <a:t>Focused Inputs</a:t>
            </a:r>
            <a:endParaRPr lang="zh-CN" altLang="en-US" sz="4400" b="0">
              <a:latin typeface="Calibri Light" panose="020F0302020204030204" charset="0"/>
              <a:cs typeface="Calibri Light" panose="020F0302020204030204" charset="0"/>
            </a:endParaRPr>
          </a:p>
        </p:txBody>
      </p:sp>
      <p:pic>
        <p:nvPicPr>
          <p:cNvPr id="4" name="内容占位符 3"/>
          <p:cNvPicPr>
            <a:picLocks noGrp="1" noChangeAspect="1"/>
          </p:cNvPicPr>
          <p:nvPr>
            <p:ph idx="1"/>
          </p:nvPr>
        </p:nvPicPr>
        <p:blipFill>
          <a:blip r:embed="rId2"/>
          <a:stretch>
            <a:fillRect/>
          </a:stretch>
        </p:blipFill>
        <p:spPr>
          <a:xfrm>
            <a:off x="390525" y="1430427"/>
            <a:ext cx="5654040" cy="5086985"/>
          </a:xfrm>
          <a:prstGeom prst="rect">
            <a:avLst/>
          </a:prstGeom>
        </p:spPr>
      </p:pic>
      <p:pic>
        <p:nvPicPr>
          <p:cNvPr id="5" name="图片 4"/>
          <p:cNvPicPr>
            <a:picLocks noChangeAspect="1"/>
          </p:cNvPicPr>
          <p:nvPr/>
        </p:nvPicPr>
        <p:blipFill>
          <a:blip r:embed="rId3"/>
          <a:stretch>
            <a:fillRect/>
          </a:stretch>
        </p:blipFill>
        <p:spPr>
          <a:xfrm>
            <a:off x="6539865" y="2063115"/>
            <a:ext cx="5377815" cy="2098040"/>
          </a:xfrm>
          <a:prstGeom prst="rect">
            <a:avLst/>
          </a:prstGeom>
        </p:spPr>
      </p:pic>
    </p:spTree>
    <p:custDataLst>
      <p:tags r:id="rId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89630"/>
            <a:ext cx="10969200" cy="705600"/>
          </a:xfrm>
        </p:spPr>
        <p:txBody>
          <a:bodyPr>
            <a:noAutofit/>
          </a:bodyPr>
          <a:lstStyle/>
          <a:p>
            <a:pPr algn="ctr"/>
            <a:r>
              <a:rPr lang="zh-CN" altLang="en-US" sz="4400" b="0">
                <a:latin typeface="Calibri Light" panose="020F0302020204030204" charset="0"/>
                <a:cs typeface="Calibri Light" panose="020F0302020204030204" charset="0"/>
              </a:rPr>
              <a:t>Input with icon/image</a:t>
            </a:r>
            <a:endParaRPr lang="zh-CN" altLang="en-US" sz="4400" b="0">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71900" y="995100"/>
            <a:ext cx="10969200" cy="4759200"/>
          </a:xfrm>
        </p:spPr>
        <p:txBody>
          <a:bodyPr/>
          <a:lstStyle/>
          <a:p>
            <a:r>
              <a:rPr lang="zh-CN" altLang="en-US" sz="2000" dirty="0">
                <a:solidFill>
                  <a:schemeClr val="bg1"/>
                </a:solidFill>
                <a:latin typeface="Calibri" panose="020F0502020204030204" pitchFamily="34" charset="0"/>
                <a:cs typeface="Calibri" panose="020F0502020204030204" pitchFamily="34" charset="0"/>
              </a:rPr>
              <a:t>If you want an icon inside the input, use the background-image property and position it with the background-position property. Also notice that we add a large left padding to reserve the space of the icon:</a:t>
            </a:r>
            <a:endParaRPr lang="zh-CN" altLang="en-US" sz="2000" dirty="0">
              <a:solidFill>
                <a:schemeClr val="bg1"/>
              </a:solidFill>
              <a:latin typeface="Calibri" panose="020F0502020204030204" pitchFamily="34" charset="0"/>
              <a:cs typeface="Calibri" panose="020F0502020204030204" pitchFamily="34" charset="0"/>
            </a:endParaRPr>
          </a:p>
        </p:txBody>
      </p:sp>
      <p:pic>
        <p:nvPicPr>
          <p:cNvPr id="6" name="图片 5"/>
          <p:cNvPicPr>
            <a:picLocks noChangeAspect="1"/>
          </p:cNvPicPr>
          <p:nvPr/>
        </p:nvPicPr>
        <p:blipFill>
          <a:blip r:embed="rId3"/>
          <a:stretch>
            <a:fillRect/>
          </a:stretch>
        </p:blipFill>
        <p:spPr>
          <a:xfrm>
            <a:off x="871220" y="2281555"/>
            <a:ext cx="4573270" cy="4410710"/>
          </a:xfrm>
          <a:prstGeom prst="rect">
            <a:avLst/>
          </a:prstGeom>
        </p:spPr>
      </p:pic>
      <p:pic>
        <p:nvPicPr>
          <p:cNvPr id="7" name="图片 6"/>
          <p:cNvPicPr>
            <a:picLocks noChangeAspect="1"/>
          </p:cNvPicPr>
          <p:nvPr/>
        </p:nvPicPr>
        <p:blipFill>
          <a:blip r:embed="rId4"/>
          <a:stretch>
            <a:fillRect/>
          </a:stretch>
        </p:blipFill>
        <p:spPr>
          <a:xfrm>
            <a:off x="5899150" y="2642235"/>
            <a:ext cx="5621655" cy="822960"/>
          </a:xfrm>
          <a:prstGeom prst="rect">
            <a:avLst/>
          </a:prstGeom>
        </p:spPr>
      </p:pic>
    </p:spTree>
    <p:custDataLst>
      <p:tags r:id="rId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11575" y="207715"/>
            <a:ext cx="10969200" cy="705600"/>
          </a:xfrm>
        </p:spPr>
        <p:txBody>
          <a:bodyPr>
            <a:noAutofit/>
          </a:bodyPr>
          <a:lstStyle/>
          <a:p>
            <a:pPr algn="ctr"/>
            <a:r>
              <a:rPr lang="zh-CN" altLang="en-US" sz="4400" b="0">
                <a:solidFill>
                  <a:schemeClr val="bg1"/>
                </a:solidFill>
                <a:latin typeface="Calibri Light" panose="020F0302020204030204" charset="0"/>
                <a:cs typeface="Calibri Light" panose="020F0302020204030204" charset="0"/>
              </a:rPr>
              <a:t>Animated Search Input</a:t>
            </a:r>
            <a:endParaRPr lang="zh-CN" altLang="en-US" sz="4400" b="0">
              <a:solidFill>
                <a:schemeClr val="bg1"/>
              </a:solidFill>
              <a:latin typeface="Calibri Light" panose="020F0302020204030204" charset="0"/>
              <a:cs typeface="Calibri Light" panose="020F0302020204030204" charset="0"/>
            </a:endParaRPr>
          </a:p>
        </p:txBody>
      </p:sp>
      <p:sp>
        <p:nvSpPr>
          <p:cNvPr id="2" name="内容占位符 1"/>
          <p:cNvSpPr>
            <a:spLocks noGrp="1"/>
          </p:cNvSpPr>
          <p:nvPr>
            <p:ph idx="1"/>
            <p:custDataLst>
              <p:tags r:id="rId2"/>
            </p:custDataLst>
          </p:nvPr>
        </p:nvSpPr>
        <p:spPr>
          <a:xfrm>
            <a:off x="611575" y="913185"/>
            <a:ext cx="10969200" cy="1317951"/>
          </a:xfrm>
        </p:spPr>
        <p:txBody>
          <a:bodyPr>
            <a:noAutofit/>
          </a:bodyPr>
          <a:lstStyle/>
          <a:p>
            <a:pPr algn="just"/>
            <a:r>
              <a:rPr lang="zh-CN" altLang="en-US" sz="2800" dirty="0">
                <a:solidFill>
                  <a:schemeClr val="bg1"/>
                </a:solidFill>
                <a:latin typeface="Calibri" panose="020F0502020204030204" pitchFamily="34" charset="0"/>
                <a:cs typeface="Calibri" panose="020F0502020204030204" pitchFamily="34" charset="0"/>
              </a:rPr>
              <a:t>In this example we use the CSS3 transition property to animate the width of the search input when it gets focus</a:t>
            </a:r>
            <a:endParaRPr lang="zh-CN" altLang="en-US" sz="2800" dirty="0">
              <a:solidFill>
                <a:schemeClr val="bg1"/>
              </a:solidFill>
              <a:latin typeface="Calibri" panose="020F0502020204030204" pitchFamily="34" charset="0"/>
              <a:cs typeface="Calibri" panose="020F0502020204030204" pitchFamily="34" charset="0"/>
            </a:endParaRPr>
          </a:p>
        </p:txBody>
      </p:sp>
      <p:pic>
        <p:nvPicPr>
          <p:cNvPr id="6" name="图片 5"/>
          <p:cNvPicPr>
            <a:picLocks noChangeAspect="1"/>
          </p:cNvPicPr>
          <p:nvPr/>
        </p:nvPicPr>
        <p:blipFill>
          <a:blip r:embed="rId3"/>
          <a:stretch>
            <a:fillRect/>
          </a:stretch>
        </p:blipFill>
        <p:spPr>
          <a:xfrm>
            <a:off x="6773051" y="2136793"/>
            <a:ext cx="4240603" cy="4513492"/>
          </a:xfrm>
          <a:prstGeom prst="rect">
            <a:avLst/>
          </a:prstGeom>
        </p:spPr>
      </p:pic>
      <p:pic>
        <p:nvPicPr>
          <p:cNvPr id="7" name="图片 6"/>
          <p:cNvPicPr>
            <a:picLocks noChangeAspect="1"/>
          </p:cNvPicPr>
          <p:nvPr/>
        </p:nvPicPr>
        <p:blipFill>
          <a:blip r:embed="rId4"/>
          <a:stretch>
            <a:fillRect/>
          </a:stretch>
        </p:blipFill>
        <p:spPr>
          <a:xfrm>
            <a:off x="1294674" y="2754359"/>
            <a:ext cx="3396668" cy="1317950"/>
          </a:xfrm>
          <a:prstGeom prst="rect">
            <a:avLst/>
          </a:prstGeom>
        </p:spPr>
      </p:pic>
      <p:sp>
        <p:nvSpPr>
          <p:cNvPr id="4" name="矩形 3"/>
          <p:cNvSpPr/>
          <p:nvPr/>
        </p:nvSpPr>
        <p:spPr>
          <a:xfrm>
            <a:off x="723341" y="4540810"/>
            <a:ext cx="4806950" cy="923330"/>
          </a:xfrm>
          <a:prstGeom prst="rect">
            <a:avLst/>
          </a:prstGeom>
        </p:spPr>
        <p:txBody>
          <a:bodyPr wrap="square">
            <a:spAutoFit/>
          </a:bodyPr>
          <a:lstStyle/>
          <a:p>
            <a:pPr algn="just"/>
            <a:r>
              <a:rPr lang="en-US" altLang="zh-CN" dirty="0">
                <a:solidFill>
                  <a:schemeClr val="bg1"/>
                </a:solidFill>
                <a:latin typeface="Verdana" panose="020B0604030504040204" pitchFamily="34" charset="0"/>
              </a:rPr>
              <a:t>CSS3 transitions allows you to change property values smoothly (from one value to another), over a given duration.</a:t>
            </a:r>
            <a:endParaRPr lang="zh-CN" altLang="en-US" dirty="0">
              <a:solidFill>
                <a:schemeClr val="bg1"/>
              </a:solidFill>
            </a:endParaRPr>
          </a:p>
        </p:txBody>
      </p:sp>
    </p:spTree>
    <p:custDataLst>
      <p:tags r:id="rId5"/>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198190"/>
            <a:ext cx="10969200" cy="705600"/>
          </a:xfrm>
        </p:spPr>
        <p:txBody>
          <a:bodyPr>
            <a:noAutofit/>
          </a:bodyPr>
          <a:lstStyle/>
          <a:p>
            <a:pPr algn="ctr"/>
            <a:r>
              <a:rPr lang="zh-CN" altLang="en-US" sz="4400" b="0">
                <a:latin typeface="Calibri Light" panose="020F0302020204030204" charset="0"/>
                <a:cs typeface="Calibri Light" panose="020F0302020204030204" charset="0"/>
              </a:rPr>
              <a:t>Styling Textareas</a:t>
            </a:r>
            <a:endParaRPr lang="zh-CN" altLang="en-US" sz="4400" b="0">
              <a:latin typeface="Calibri Light" panose="020F0302020204030204" charset="0"/>
              <a:cs typeface="Calibri Light" panose="020F0302020204030204" charset="0"/>
            </a:endParaRPr>
          </a:p>
        </p:txBody>
      </p:sp>
      <p:sp>
        <p:nvSpPr>
          <p:cNvPr id="5" name="内容占位符 4"/>
          <p:cNvSpPr>
            <a:spLocks noGrp="1"/>
          </p:cNvSpPr>
          <p:nvPr>
            <p:ph idx="1"/>
          </p:nvPr>
        </p:nvSpPr>
        <p:spPr>
          <a:xfrm>
            <a:off x="611575" y="903660"/>
            <a:ext cx="10969200" cy="4759200"/>
          </a:xfrm>
        </p:spPr>
        <p:txBody>
          <a:bodyPr/>
          <a:lstStyle/>
          <a:p>
            <a:r>
              <a:rPr lang="zh-CN" altLang="en-US" sz="2000">
                <a:solidFill>
                  <a:schemeClr val="bg1"/>
                </a:solidFill>
                <a:latin typeface="Calibri" panose="020F0502020204030204" pitchFamily="34" charset="0"/>
                <a:cs typeface="Calibri" panose="020F0502020204030204" pitchFamily="34" charset="0"/>
              </a:rPr>
              <a:t>Tip: Use the resize property to prevent textareas from being resized (disable the "grabber" in the bottom right corner):</a:t>
            </a:r>
            <a:endParaRPr lang="zh-CN" altLang="en-US" sz="2000">
              <a:solidFill>
                <a:schemeClr val="bg1"/>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2"/>
          <a:stretch>
            <a:fillRect/>
          </a:stretch>
        </p:blipFill>
        <p:spPr>
          <a:xfrm>
            <a:off x="206466" y="2119811"/>
            <a:ext cx="6417427" cy="4346303"/>
          </a:xfrm>
          <a:prstGeom prst="rect">
            <a:avLst/>
          </a:prstGeom>
        </p:spPr>
      </p:pic>
      <p:pic>
        <p:nvPicPr>
          <p:cNvPr id="4" name="图片 3"/>
          <p:cNvPicPr>
            <a:picLocks noChangeAspect="1"/>
          </p:cNvPicPr>
          <p:nvPr/>
        </p:nvPicPr>
        <p:blipFill>
          <a:blip r:embed="rId3"/>
          <a:stretch>
            <a:fillRect/>
          </a:stretch>
        </p:blipFill>
        <p:spPr>
          <a:xfrm>
            <a:off x="6941457" y="3099526"/>
            <a:ext cx="5128260" cy="1676400"/>
          </a:xfrm>
          <a:prstGeom prst="rect">
            <a:avLst/>
          </a:prstGeom>
        </p:spPr>
      </p:pic>
    </p:spTree>
    <p:custDataLst>
      <p:tags r:id="rId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sz="4000" b="0">
                <a:latin typeface="Calibri Light" panose="020F0302020204030204" charset="0"/>
                <a:cs typeface="Calibri Light" panose="020F0302020204030204" charset="0"/>
                <a:sym typeface="+mn-ea"/>
              </a:rPr>
              <a:t>Styling Select Menus</a:t>
            </a:r>
            <a:br>
              <a:rPr lang="zh-CN" altLang="en-US" sz="4000" b="0">
                <a:solidFill>
                  <a:schemeClr val="bg1"/>
                </a:solidFill>
                <a:latin typeface="Calibri Light" panose="020F0302020204030204" charset="0"/>
                <a:cs typeface="Calibri Light" panose="020F0302020204030204" charset="0"/>
              </a:rPr>
            </a:br>
            <a:endParaRPr lang="zh-CN" altLang="en-US" sz="4000"/>
          </a:p>
        </p:txBody>
      </p:sp>
      <p:pic>
        <p:nvPicPr>
          <p:cNvPr id="4" name="内容占位符 3"/>
          <p:cNvPicPr>
            <a:picLocks noGrp="1" noChangeAspect="1"/>
          </p:cNvPicPr>
          <p:nvPr>
            <p:ph idx="1"/>
          </p:nvPr>
        </p:nvPicPr>
        <p:blipFill>
          <a:blip r:embed="rId1"/>
          <a:stretch>
            <a:fillRect/>
          </a:stretch>
        </p:blipFill>
        <p:spPr>
          <a:xfrm>
            <a:off x="372579" y="1555679"/>
            <a:ext cx="3865592" cy="5131907"/>
          </a:xfrm>
          <a:prstGeom prst="rect">
            <a:avLst/>
          </a:prstGeom>
        </p:spPr>
      </p:pic>
      <p:pic>
        <p:nvPicPr>
          <p:cNvPr id="5" name="图片 4"/>
          <p:cNvPicPr>
            <a:picLocks noChangeAspect="1"/>
          </p:cNvPicPr>
          <p:nvPr/>
        </p:nvPicPr>
        <p:blipFill>
          <a:blip r:embed="rId2"/>
          <a:stretch>
            <a:fillRect/>
          </a:stretch>
        </p:blipFill>
        <p:spPr>
          <a:xfrm>
            <a:off x="4600499" y="1659483"/>
            <a:ext cx="7109460" cy="1706880"/>
          </a:xfrm>
          <a:prstGeom prst="rect">
            <a:avLst/>
          </a:prstGeom>
        </p:spPr>
      </p:pic>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zh-CN" altLang="en-US" sz="4000" b="0">
                <a:latin typeface="Calibri Light" panose="020F0302020204030204" charset="0"/>
                <a:cs typeface="Calibri Light" panose="020F0302020204030204" charset="0"/>
                <a:sym typeface="+mn-ea"/>
              </a:rPr>
              <a:t>Styling Input Buttons</a:t>
            </a:r>
            <a:br>
              <a:rPr lang="zh-CN" altLang="en-US" sz="4000" b="0">
                <a:latin typeface="Calibri Light" panose="020F0302020204030204" charset="0"/>
                <a:cs typeface="Calibri Light" panose="020F0302020204030204" charset="0"/>
              </a:rPr>
            </a:br>
            <a:endParaRPr lang="zh-CN" altLang="en-US" sz="4000"/>
          </a:p>
        </p:txBody>
      </p:sp>
      <p:pic>
        <p:nvPicPr>
          <p:cNvPr id="4" name="内容占位符 3"/>
          <p:cNvPicPr>
            <a:picLocks noGrp="1" noChangeAspect="1"/>
          </p:cNvPicPr>
          <p:nvPr>
            <p:ph idx="1"/>
          </p:nvPr>
        </p:nvPicPr>
        <p:blipFill>
          <a:blip r:embed="rId1"/>
          <a:stretch>
            <a:fillRect/>
          </a:stretch>
        </p:blipFill>
        <p:spPr>
          <a:xfrm>
            <a:off x="368081" y="1405617"/>
            <a:ext cx="5351093" cy="4900839"/>
          </a:xfrm>
          <a:prstGeom prst="rect">
            <a:avLst/>
          </a:prstGeom>
        </p:spPr>
      </p:pic>
      <p:pic>
        <p:nvPicPr>
          <p:cNvPr id="5" name="图片 4"/>
          <p:cNvPicPr>
            <a:picLocks noChangeAspect="1"/>
          </p:cNvPicPr>
          <p:nvPr/>
        </p:nvPicPr>
        <p:blipFill>
          <a:blip r:embed="rId2"/>
          <a:stretch>
            <a:fillRect/>
          </a:stretch>
        </p:blipFill>
        <p:spPr>
          <a:xfrm>
            <a:off x="6472827" y="1841046"/>
            <a:ext cx="5264678" cy="1587954"/>
          </a:xfrm>
          <a:prstGeom prst="rect">
            <a:avLst/>
          </a:prstGeom>
        </p:spPr>
      </p:pic>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CSS Pagination</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Simple Pagination</a:t>
            </a:r>
            <a:endParaRPr lang="zh-CN" altLang="en-US" dirty="0"/>
          </a:p>
        </p:txBody>
      </p:sp>
      <p:sp>
        <p:nvSpPr>
          <p:cNvPr id="3" name="内容占位符 2"/>
          <p:cNvSpPr>
            <a:spLocks noGrp="1"/>
          </p:cNvSpPr>
          <p:nvPr>
            <p:ph idx="1"/>
          </p:nvPr>
        </p:nvSpPr>
        <p:spPr>
          <a:xfrm>
            <a:off x="838200" y="1479636"/>
            <a:ext cx="10515600" cy="4351338"/>
          </a:xfrm>
        </p:spPr>
        <p:txBody>
          <a:bodyPr>
            <a:normAutofit/>
          </a:bodyPr>
          <a:lstStyle/>
          <a:p>
            <a:pPr marL="0" indent="0" algn="just">
              <a:buNone/>
            </a:pPr>
            <a:r>
              <a:rPr lang="en-US" altLang="zh-CN" dirty="0"/>
              <a:t>If you have a website with lots of pages, you may wish to add some sort of pagination to each page:</a:t>
            </a: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To create a pagination, style a HTML list:</a:t>
            </a:r>
            <a:endParaRPr lang="en-US" altLang="zh-CN" dirty="0"/>
          </a:p>
        </p:txBody>
      </p:sp>
      <p:pic>
        <p:nvPicPr>
          <p:cNvPr id="5" name="图片 4"/>
          <p:cNvPicPr>
            <a:picLocks noChangeAspect="1"/>
          </p:cNvPicPr>
          <p:nvPr/>
        </p:nvPicPr>
        <p:blipFill>
          <a:blip r:embed="rId1"/>
          <a:stretch>
            <a:fillRect/>
          </a:stretch>
        </p:blipFill>
        <p:spPr>
          <a:xfrm>
            <a:off x="1228725" y="2510266"/>
            <a:ext cx="9734550" cy="790575"/>
          </a:xfrm>
          <a:prstGeom prst="rect">
            <a:avLst/>
          </a:prstGeom>
        </p:spPr>
      </p:pic>
      <p:pic>
        <p:nvPicPr>
          <p:cNvPr id="8" name="图片 7"/>
          <p:cNvPicPr>
            <a:picLocks noChangeAspect="1"/>
          </p:cNvPicPr>
          <p:nvPr/>
        </p:nvPicPr>
        <p:blipFill>
          <a:blip r:embed="rId2"/>
          <a:stretch>
            <a:fillRect/>
          </a:stretch>
        </p:blipFill>
        <p:spPr>
          <a:xfrm>
            <a:off x="7323277" y="3476378"/>
            <a:ext cx="3639998" cy="311595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Simple Pagination</a:t>
            </a:r>
            <a:endParaRPr lang="zh-CN" altLang="en-US" dirty="0"/>
          </a:p>
        </p:txBody>
      </p:sp>
      <p:sp>
        <p:nvSpPr>
          <p:cNvPr id="3" name="内容占位符 2"/>
          <p:cNvSpPr>
            <a:spLocks noGrp="1"/>
          </p:cNvSpPr>
          <p:nvPr>
            <p:ph idx="1"/>
          </p:nvPr>
        </p:nvSpPr>
        <p:spPr>
          <a:xfrm>
            <a:off x="838200" y="1479636"/>
            <a:ext cx="10515600" cy="4351338"/>
          </a:xfrm>
        </p:spPr>
        <p:txBody>
          <a:bodyPr>
            <a:normAutofit/>
          </a:bodyPr>
          <a:lstStyle/>
          <a:p>
            <a:pPr marL="0" indent="0" algn="just">
              <a:buNone/>
            </a:pPr>
            <a:r>
              <a:rPr lang="en-US" altLang="zh-CN" dirty="0"/>
              <a:t>Example</a:t>
            </a:r>
            <a:r>
              <a:rPr lang="zh-CN" altLang="en-US" dirty="0"/>
              <a:t>：</a:t>
            </a:r>
            <a:endParaRPr lang="en-US" altLang="zh-CN" dirty="0"/>
          </a:p>
        </p:txBody>
      </p:sp>
      <p:pic>
        <p:nvPicPr>
          <p:cNvPr id="4" name="图片 3"/>
          <p:cNvPicPr>
            <a:picLocks noChangeAspect="1"/>
          </p:cNvPicPr>
          <p:nvPr/>
        </p:nvPicPr>
        <p:blipFill>
          <a:blip r:embed="rId1"/>
          <a:stretch>
            <a:fillRect/>
          </a:stretch>
        </p:blipFill>
        <p:spPr>
          <a:xfrm>
            <a:off x="2719429" y="1265296"/>
            <a:ext cx="3514317" cy="5468466"/>
          </a:xfrm>
          <a:prstGeom prst="rect">
            <a:avLst/>
          </a:prstGeom>
        </p:spPr>
      </p:pic>
      <p:pic>
        <p:nvPicPr>
          <p:cNvPr id="6" name="图片 5"/>
          <p:cNvPicPr>
            <a:picLocks noChangeAspect="1"/>
          </p:cNvPicPr>
          <p:nvPr/>
        </p:nvPicPr>
        <p:blipFill>
          <a:blip r:embed="rId2"/>
          <a:stretch>
            <a:fillRect/>
          </a:stretch>
        </p:blipFill>
        <p:spPr>
          <a:xfrm>
            <a:off x="6771289" y="2715819"/>
            <a:ext cx="3838095" cy="151428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Active and </a:t>
            </a:r>
            <a:r>
              <a:rPr lang="en-US" altLang="zh-CN" dirty="0" err="1"/>
              <a:t>Hoverable</a:t>
            </a:r>
            <a:r>
              <a:rPr lang="en-US" altLang="zh-CN" dirty="0"/>
              <a:t> Pagination</a:t>
            </a:r>
            <a:endParaRPr lang="zh-CN" altLang="en-US" dirty="0"/>
          </a:p>
        </p:txBody>
      </p:sp>
      <p:sp>
        <p:nvSpPr>
          <p:cNvPr id="3" name="内容占位符 2"/>
          <p:cNvSpPr>
            <a:spLocks noGrp="1"/>
          </p:cNvSpPr>
          <p:nvPr>
            <p:ph idx="1"/>
          </p:nvPr>
        </p:nvSpPr>
        <p:spPr>
          <a:xfrm>
            <a:off x="838200" y="1361654"/>
            <a:ext cx="10515600" cy="1286448"/>
          </a:xfrm>
        </p:spPr>
        <p:txBody>
          <a:bodyPr>
            <a:noAutofit/>
          </a:bodyPr>
          <a:lstStyle/>
          <a:p>
            <a:pPr marL="0" indent="0">
              <a:buNone/>
            </a:pPr>
            <a:r>
              <a:rPr lang="en-US" altLang="zh-CN" dirty="0"/>
              <a:t>Highlight the current page with an </a:t>
            </a:r>
            <a:r>
              <a:rPr lang="en-US" altLang="zh-CN" dirty="0">
                <a:solidFill>
                  <a:srgbClr val="FFFF00"/>
                </a:solidFill>
              </a:rPr>
              <a:t>.active </a:t>
            </a:r>
            <a:r>
              <a:rPr lang="en-US" altLang="zh-CN" dirty="0"/>
              <a:t>class, and use the </a:t>
            </a:r>
            <a:r>
              <a:rPr lang="en-US" altLang="zh-CN" dirty="0">
                <a:solidFill>
                  <a:srgbClr val="FFFF00"/>
                </a:solidFill>
              </a:rPr>
              <a:t>:hover</a:t>
            </a:r>
            <a:r>
              <a:rPr lang="en-US" altLang="zh-CN" dirty="0"/>
              <a:t> selector to change the color of each page link when moving the mouse over them:</a:t>
            </a:r>
            <a:endParaRPr lang="en-US" altLang="zh-CN" dirty="0"/>
          </a:p>
          <a:p>
            <a:pPr marL="0" indent="0">
              <a:buNone/>
            </a:pPr>
            <a:endParaRPr lang="en-US" altLang="zh-CN" dirty="0"/>
          </a:p>
        </p:txBody>
      </p:sp>
      <p:pic>
        <p:nvPicPr>
          <p:cNvPr id="6" name="图片 5"/>
          <p:cNvPicPr>
            <a:picLocks noChangeAspect="1"/>
          </p:cNvPicPr>
          <p:nvPr/>
        </p:nvPicPr>
        <p:blipFill>
          <a:blip r:embed="rId1"/>
          <a:stretch>
            <a:fillRect/>
          </a:stretch>
        </p:blipFill>
        <p:spPr>
          <a:xfrm>
            <a:off x="3328104" y="5369403"/>
            <a:ext cx="5705475" cy="742950"/>
          </a:xfrm>
          <a:prstGeom prst="rect">
            <a:avLst/>
          </a:prstGeom>
        </p:spPr>
      </p:pic>
      <p:pic>
        <p:nvPicPr>
          <p:cNvPr id="10" name="图片 9"/>
          <p:cNvPicPr>
            <a:picLocks noChangeAspect="1"/>
          </p:cNvPicPr>
          <p:nvPr/>
        </p:nvPicPr>
        <p:blipFill>
          <a:blip r:embed="rId2"/>
          <a:stretch>
            <a:fillRect/>
          </a:stretch>
        </p:blipFill>
        <p:spPr>
          <a:xfrm>
            <a:off x="1885067" y="3048544"/>
            <a:ext cx="8591550" cy="20097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Active and </a:t>
            </a:r>
            <a:r>
              <a:rPr lang="en-US" altLang="zh-CN" dirty="0" err="1"/>
              <a:t>Hoverable</a:t>
            </a:r>
            <a:r>
              <a:rPr lang="en-US" altLang="zh-CN" dirty="0"/>
              <a:t> Pagination</a:t>
            </a:r>
            <a:endParaRPr lang="zh-CN" altLang="en-US" dirty="0"/>
          </a:p>
        </p:txBody>
      </p:sp>
      <p:sp>
        <p:nvSpPr>
          <p:cNvPr id="3" name="内容占位符 2"/>
          <p:cNvSpPr>
            <a:spLocks noGrp="1"/>
          </p:cNvSpPr>
          <p:nvPr>
            <p:ph idx="1"/>
          </p:nvPr>
        </p:nvSpPr>
        <p:spPr>
          <a:xfrm>
            <a:off x="108438" y="1077786"/>
            <a:ext cx="10515600" cy="4538168"/>
          </a:xfrm>
        </p:spPr>
        <p:txBody>
          <a:bodyPr>
            <a:noAutofit/>
          </a:bodyPr>
          <a:lstStyle/>
          <a:p>
            <a:pPr marL="0" indent="0">
              <a:buNone/>
            </a:pPr>
            <a:r>
              <a:rPr lang="en-US" altLang="zh-CN" dirty="0"/>
              <a:t>Example</a:t>
            </a:r>
            <a:r>
              <a:rPr lang="zh-CN" altLang="en-US" dirty="0"/>
              <a:t>：</a:t>
            </a:r>
            <a:endParaRPr lang="en-US" altLang="zh-CN" dirty="0"/>
          </a:p>
        </p:txBody>
      </p:sp>
      <p:pic>
        <p:nvPicPr>
          <p:cNvPr id="5" name="图片 4"/>
          <p:cNvPicPr>
            <a:picLocks noChangeAspect="1"/>
          </p:cNvPicPr>
          <p:nvPr/>
        </p:nvPicPr>
        <p:blipFill>
          <a:blip r:embed="rId1"/>
          <a:stretch>
            <a:fillRect/>
          </a:stretch>
        </p:blipFill>
        <p:spPr>
          <a:xfrm>
            <a:off x="1446740" y="1688316"/>
            <a:ext cx="4548722" cy="4336394"/>
          </a:xfrm>
          <a:prstGeom prst="rect">
            <a:avLst/>
          </a:prstGeom>
        </p:spPr>
      </p:pic>
      <p:pic>
        <p:nvPicPr>
          <p:cNvPr id="7" name="图片 6"/>
          <p:cNvPicPr>
            <a:picLocks noChangeAspect="1"/>
          </p:cNvPicPr>
          <p:nvPr/>
        </p:nvPicPr>
        <p:blipFill>
          <a:blip r:embed="rId2"/>
          <a:stretch>
            <a:fillRect/>
          </a:stretch>
        </p:blipFill>
        <p:spPr>
          <a:xfrm>
            <a:off x="6604002" y="1264034"/>
            <a:ext cx="3942857" cy="2885714"/>
          </a:xfrm>
          <a:prstGeom prst="rect">
            <a:avLst/>
          </a:prstGeom>
        </p:spPr>
      </p:pic>
      <p:pic>
        <p:nvPicPr>
          <p:cNvPr id="8" name="图片 7"/>
          <p:cNvPicPr>
            <a:picLocks noChangeAspect="1"/>
          </p:cNvPicPr>
          <p:nvPr/>
        </p:nvPicPr>
        <p:blipFill>
          <a:blip r:embed="rId3"/>
          <a:stretch>
            <a:fillRect/>
          </a:stretch>
        </p:blipFill>
        <p:spPr>
          <a:xfrm>
            <a:off x="6435040" y="4356337"/>
            <a:ext cx="4285714" cy="183809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Rounded Active and </a:t>
            </a:r>
            <a:r>
              <a:rPr lang="en-US" altLang="zh-CN" dirty="0" err="1"/>
              <a:t>Hoverable</a:t>
            </a:r>
            <a:r>
              <a:rPr lang="en-US" altLang="zh-CN" dirty="0"/>
              <a:t> Buttons</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Add the </a:t>
            </a:r>
            <a:r>
              <a:rPr lang="en-US" altLang="zh-CN" dirty="0">
                <a:solidFill>
                  <a:srgbClr val="FFFF00"/>
                </a:solidFill>
              </a:rPr>
              <a:t>border-radius</a:t>
            </a:r>
            <a:r>
              <a:rPr lang="en-US" altLang="zh-CN" dirty="0"/>
              <a:t> property if you want a rounded "active" and "hover" button:</a:t>
            </a:r>
            <a:endParaRPr lang="en-US" altLang="zh-CN" dirty="0"/>
          </a:p>
        </p:txBody>
      </p:sp>
      <p:pic>
        <p:nvPicPr>
          <p:cNvPr id="13" name="图片 12"/>
          <p:cNvPicPr>
            <a:picLocks noChangeAspect="1"/>
          </p:cNvPicPr>
          <p:nvPr/>
        </p:nvPicPr>
        <p:blipFill>
          <a:blip r:embed="rId1"/>
          <a:stretch>
            <a:fillRect/>
          </a:stretch>
        </p:blipFill>
        <p:spPr>
          <a:xfrm>
            <a:off x="3390900" y="5264106"/>
            <a:ext cx="5410200" cy="790575"/>
          </a:xfrm>
          <a:prstGeom prst="rect">
            <a:avLst/>
          </a:prstGeom>
        </p:spPr>
      </p:pic>
      <p:pic>
        <p:nvPicPr>
          <p:cNvPr id="16" name="图片 15"/>
          <p:cNvPicPr>
            <a:picLocks noChangeAspect="1"/>
          </p:cNvPicPr>
          <p:nvPr/>
        </p:nvPicPr>
        <p:blipFill>
          <a:blip r:embed="rId2"/>
          <a:stretch>
            <a:fillRect/>
          </a:stretch>
        </p:blipFill>
        <p:spPr>
          <a:xfrm>
            <a:off x="3009900" y="2312624"/>
            <a:ext cx="6172200" cy="24288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Rounded Active and </a:t>
            </a:r>
            <a:r>
              <a:rPr lang="en-US" altLang="zh-CN" dirty="0" err="1"/>
              <a:t>Hoverable</a:t>
            </a:r>
            <a:r>
              <a:rPr lang="en-US" altLang="zh-CN" dirty="0"/>
              <a:t> Buttons</a:t>
            </a:r>
            <a:endParaRPr lang="zh-CN" altLang="en-US" dirty="0"/>
          </a:p>
        </p:txBody>
      </p:sp>
      <p:sp>
        <p:nvSpPr>
          <p:cNvPr id="3" name="内容占位符 2"/>
          <p:cNvSpPr>
            <a:spLocks noGrp="1"/>
          </p:cNvSpPr>
          <p:nvPr>
            <p:ph idx="1"/>
          </p:nvPr>
        </p:nvSpPr>
        <p:spPr>
          <a:xfrm>
            <a:off x="186075" y="977233"/>
            <a:ext cx="10515600" cy="2228037"/>
          </a:xfrm>
        </p:spPr>
        <p:txBody>
          <a:bodyPr>
            <a:normAutofit/>
          </a:bodyPr>
          <a:lstStyle/>
          <a:p>
            <a:pPr marL="0" indent="0" algn="just">
              <a:buNone/>
            </a:pPr>
            <a:r>
              <a:rPr lang="en-US" altLang="zh-CN" dirty="0"/>
              <a:t>Example</a:t>
            </a:r>
            <a:r>
              <a:rPr lang="zh-CN" altLang="en-US" dirty="0"/>
              <a:t>：</a:t>
            </a:r>
            <a:endParaRPr lang="en-US" altLang="zh-CN" dirty="0"/>
          </a:p>
        </p:txBody>
      </p:sp>
      <p:pic>
        <p:nvPicPr>
          <p:cNvPr id="4" name="图片 3"/>
          <p:cNvPicPr>
            <a:picLocks noChangeAspect="1"/>
          </p:cNvPicPr>
          <p:nvPr/>
        </p:nvPicPr>
        <p:blipFill>
          <a:blip r:embed="rId1"/>
          <a:stretch>
            <a:fillRect/>
          </a:stretch>
        </p:blipFill>
        <p:spPr>
          <a:xfrm>
            <a:off x="1686343" y="1313990"/>
            <a:ext cx="4431281" cy="4471347"/>
          </a:xfrm>
          <a:prstGeom prst="rect">
            <a:avLst/>
          </a:prstGeom>
        </p:spPr>
      </p:pic>
      <p:pic>
        <p:nvPicPr>
          <p:cNvPr id="5" name="图片 4"/>
          <p:cNvPicPr>
            <a:picLocks noChangeAspect="1"/>
          </p:cNvPicPr>
          <p:nvPr/>
        </p:nvPicPr>
        <p:blipFill>
          <a:blip r:embed="rId2"/>
          <a:stretch>
            <a:fillRect/>
          </a:stretch>
        </p:blipFill>
        <p:spPr>
          <a:xfrm>
            <a:off x="6303877" y="1313991"/>
            <a:ext cx="4468598" cy="3030243"/>
          </a:xfrm>
          <a:prstGeom prst="rect">
            <a:avLst/>
          </a:prstGeom>
        </p:spPr>
      </p:pic>
      <p:pic>
        <p:nvPicPr>
          <p:cNvPr id="6" name="图片 5"/>
          <p:cNvPicPr>
            <a:picLocks noChangeAspect="1"/>
          </p:cNvPicPr>
          <p:nvPr/>
        </p:nvPicPr>
        <p:blipFill rotWithShape="1">
          <a:blip r:embed="rId3"/>
          <a:srcRect t="16754"/>
          <a:stretch>
            <a:fillRect/>
          </a:stretch>
        </p:blipFill>
        <p:spPr>
          <a:xfrm>
            <a:off x="6361985" y="4857292"/>
            <a:ext cx="4352381" cy="133192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err="1"/>
              <a:t>Hoverable</a:t>
            </a:r>
            <a:r>
              <a:rPr lang="en-US" altLang="zh-CN" dirty="0"/>
              <a:t> Transition Effect</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Add the </a:t>
            </a:r>
            <a:r>
              <a:rPr lang="en-US" altLang="zh-CN" dirty="0">
                <a:solidFill>
                  <a:srgbClr val="FFFF00"/>
                </a:solidFill>
              </a:rPr>
              <a:t>transition</a:t>
            </a:r>
            <a:r>
              <a:rPr lang="en-US" altLang="zh-CN" dirty="0"/>
              <a:t> property to the page links to create a transition effect on hover:</a:t>
            </a:r>
            <a:endParaRPr lang="en-US" altLang="zh-CN" dirty="0"/>
          </a:p>
        </p:txBody>
      </p:sp>
      <p:pic>
        <p:nvPicPr>
          <p:cNvPr id="13" name="图片 12"/>
          <p:cNvPicPr>
            <a:picLocks noChangeAspect="1"/>
          </p:cNvPicPr>
          <p:nvPr/>
        </p:nvPicPr>
        <p:blipFill>
          <a:blip r:embed="rId1"/>
          <a:stretch>
            <a:fillRect/>
          </a:stretch>
        </p:blipFill>
        <p:spPr>
          <a:xfrm>
            <a:off x="3390900" y="4106867"/>
            <a:ext cx="5410200" cy="790575"/>
          </a:xfrm>
          <a:prstGeom prst="rect">
            <a:avLst/>
          </a:prstGeom>
        </p:spPr>
      </p:pic>
      <p:pic>
        <p:nvPicPr>
          <p:cNvPr id="7" name="图片 6"/>
          <p:cNvPicPr>
            <a:picLocks noChangeAspect="1"/>
          </p:cNvPicPr>
          <p:nvPr/>
        </p:nvPicPr>
        <p:blipFill>
          <a:blip r:embed="rId2"/>
          <a:stretch>
            <a:fillRect/>
          </a:stretch>
        </p:blipFill>
        <p:spPr>
          <a:xfrm>
            <a:off x="3381375" y="2274118"/>
            <a:ext cx="5429250" cy="11525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err="1"/>
              <a:t>Hoverable</a:t>
            </a:r>
            <a:r>
              <a:rPr lang="en-US" altLang="zh-CN" dirty="0"/>
              <a:t> Transition Effect</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Example</a:t>
            </a:r>
            <a:r>
              <a:rPr lang="zh-CN" altLang="en-US" dirty="0"/>
              <a:t>：</a:t>
            </a:r>
            <a:endParaRPr lang="en-US" altLang="zh-CN" dirty="0"/>
          </a:p>
        </p:txBody>
      </p:sp>
      <p:pic>
        <p:nvPicPr>
          <p:cNvPr id="4" name="图片 3"/>
          <p:cNvPicPr>
            <a:picLocks noChangeAspect="1"/>
          </p:cNvPicPr>
          <p:nvPr/>
        </p:nvPicPr>
        <p:blipFill>
          <a:blip r:embed="rId1"/>
          <a:stretch>
            <a:fillRect/>
          </a:stretch>
        </p:blipFill>
        <p:spPr>
          <a:xfrm>
            <a:off x="973789" y="1832975"/>
            <a:ext cx="4278514" cy="4138997"/>
          </a:xfrm>
          <a:prstGeom prst="rect">
            <a:avLst/>
          </a:prstGeom>
        </p:spPr>
      </p:pic>
      <p:pic>
        <p:nvPicPr>
          <p:cNvPr id="5" name="图片 4"/>
          <p:cNvPicPr>
            <a:picLocks noChangeAspect="1"/>
          </p:cNvPicPr>
          <p:nvPr/>
        </p:nvPicPr>
        <p:blipFill>
          <a:blip r:embed="rId2"/>
          <a:stretch>
            <a:fillRect/>
          </a:stretch>
        </p:blipFill>
        <p:spPr>
          <a:xfrm>
            <a:off x="6164623" y="1832975"/>
            <a:ext cx="3438222" cy="2727176"/>
          </a:xfrm>
          <a:prstGeom prst="rect">
            <a:avLst/>
          </a:prstGeom>
        </p:spPr>
      </p:pic>
      <p:pic>
        <p:nvPicPr>
          <p:cNvPr id="7" name="20210422_232459">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6164623" y="5366767"/>
            <a:ext cx="3867150" cy="7810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Bordered Pagination</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Use the </a:t>
            </a:r>
            <a:r>
              <a:rPr lang="en-US" altLang="zh-CN" dirty="0">
                <a:solidFill>
                  <a:srgbClr val="FFFF00"/>
                </a:solidFill>
              </a:rPr>
              <a:t>border</a:t>
            </a:r>
            <a:r>
              <a:rPr lang="en-US" altLang="zh-CN" dirty="0"/>
              <a:t> property to add borders to the pagination:</a:t>
            </a:r>
            <a:endParaRPr lang="en-US" altLang="zh-CN" dirty="0"/>
          </a:p>
        </p:txBody>
      </p:sp>
      <p:pic>
        <p:nvPicPr>
          <p:cNvPr id="5" name="图片 4"/>
          <p:cNvPicPr>
            <a:picLocks noChangeAspect="1"/>
          </p:cNvPicPr>
          <p:nvPr/>
        </p:nvPicPr>
        <p:blipFill>
          <a:blip r:embed="rId1"/>
          <a:stretch>
            <a:fillRect/>
          </a:stretch>
        </p:blipFill>
        <p:spPr>
          <a:xfrm>
            <a:off x="3333750" y="4101930"/>
            <a:ext cx="5562600" cy="847725"/>
          </a:xfrm>
          <a:prstGeom prst="rect">
            <a:avLst/>
          </a:prstGeom>
        </p:spPr>
      </p:pic>
      <p:pic>
        <p:nvPicPr>
          <p:cNvPr id="8" name="图片 7"/>
          <p:cNvPicPr>
            <a:picLocks noChangeAspect="1"/>
          </p:cNvPicPr>
          <p:nvPr/>
        </p:nvPicPr>
        <p:blipFill>
          <a:blip r:embed="rId2"/>
          <a:stretch>
            <a:fillRect/>
          </a:stretch>
        </p:blipFill>
        <p:spPr>
          <a:xfrm>
            <a:off x="3333750" y="2274118"/>
            <a:ext cx="5524500" cy="11525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Bordered Pagination</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Example</a:t>
            </a:r>
            <a:r>
              <a:rPr lang="zh-CN" altLang="en-US" dirty="0"/>
              <a:t>：</a:t>
            </a:r>
            <a:endParaRPr lang="en-US" altLang="zh-CN" dirty="0"/>
          </a:p>
        </p:txBody>
      </p:sp>
      <p:pic>
        <p:nvPicPr>
          <p:cNvPr id="4" name="图片 3"/>
          <p:cNvPicPr>
            <a:picLocks noChangeAspect="1"/>
          </p:cNvPicPr>
          <p:nvPr/>
        </p:nvPicPr>
        <p:blipFill>
          <a:blip r:embed="rId1"/>
          <a:stretch>
            <a:fillRect/>
          </a:stretch>
        </p:blipFill>
        <p:spPr>
          <a:xfrm>
            <a:off x="1145769" y="2035815"/>
            <a:ext cx="4245871" cy="4329421"/>
          </a:xfrm>
          <a:prstGeom prst="rect">
            <a:avLst/>
          </a:prstGeom>
        </p:spPr>
      </p:pic>
      <p:pic>
        <p:nvPicPr>
          <p:cNvPr id="6" name="图片 5"/>
          <p:cNvPicPr>
            <a:picLocks noChangeAspect="1"/>
          </p:cNvPicPr>
          <p:nvPr/>
        </p:nvPicPr>
        <p:blipFill>
          <a:blip r:embed="rId2"/>
          <a:stretch>
            <a:fillRect/>
          </a:stretch>
        </p:blipFill>
        <p:spPr>
          <a:xfrm>
            <a:off x="7031541" y="1532824"/>
            <a:ext cx="3281836" cy="2463577"/>
          </a:xfrm>
          <a:prstGeom prst="rect">
            <a:avLst/>
          </a:prstGeom>
        </p:spPr>
      </p:pic>
      <p:pic>
        <p:nvPicPr>
          <p:cNvPr id="7" name="图片 6"/>
          <p:cNvPicPr>
            <a:picLocks noChangeAspect="1"/>
          </p:cNvPicPr>
          <p:nvPr/>
        </p:nvPicPr>
        <p:blipFill rotWithShape="1">
          <a:blip r:embed="rId3"/>
          <a:srcRect t="14663"/>
          <a:stretch>
            <a:fillRect/>
          </a:stretch>
        </p:blipFill>
        <p:spPr>
          <a:xfrm>
            <a:off x="6735188" y="4974335"/>
            <a:ext cx="4076190" cy="126785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Rounded Borders</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b="1" dirty="0"/>
              <a:t>Tip:</a:t>
            </a:r>
            <a:r>
              <a:rPr lang="en-US" altLang="zh-CN" dirty="0"/>
              <a:t> Add rounded borders to your first and last link in the pagination:</a:t>
            </a:r>
            <a:endParaRPr lang="en-US" altLang="zh-CN" dirty="0"/>
          </a:p>
        </p:txBody>
      </p:sp>
      <p:pic>
        <p:nvPicPr>
          <p:cNvPr id="6" name="图片 5"/>
          <p:cNvPicPr>
            <a:picLocks noChangeAspect="1"/>
          </p:cNvPicPr>
          <p:nvPr/>
        </p:nvPicPr>
        <p:blipFill>
          <a:blip r:embed="rId1"/>
          <a:stretch>
            <a:fillRect/>
          </a:stretch>
        </p:blipFill>
        <p:spPr>
          <a:xfrm>
            <a:off x="2993390" y="2849987"/>
            <a:ext cx="6096000" cy="28956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Rounded Borders</a:t>
            </a:r>
            <a:endParaRPr lang="zh-CN" altLang="en-US" dirty="0"/>
          </a:p>
        </p:txBody>
      </p:sp>
      <p:pic>
        <p:nvPicPr>
          <p:cNvPr id="4" name="图片 3"/>
          <p:cNvPicPr>
            <a:picLocks noChangeAspect="1"/>
          </p:cNvPicPr>
          <p:nvPr/>
        </p:nvPicPr>
        <p:blipFill>
          <a:blip r:embed="rId1"/>
          <a:stretch>
            <a:fillRect/>
          </a:stretch>
        </p:blipFill>
        <p:spPr>
          <a:xfrm>
            <a:off x="274815" y="1044987"/>
            <a:ext cx="2861789" cy="5460424"/>
          </a:xfrm>
          <a:prstGeom prst="rect">
            <a:avLst/>
          </a:prstGeom>
        </p:spPr>
      </p:pic>
      <p:pic>
        <p:nvPicPr>
          <p:cNvPr id="7" name="图片 6"/>
          <p:cNvPicPr>
            <a:picLocks noChangeAspect="1"/>
          </p:cNvPicPr>
          <p:nvPr/>
        </p:nvPicPr>
        <p:blipFill>
          <a:blip r:embed="rId2"/>
          <a:stretch>
            <a:fillRect/>
          </a:stretch>
        </p:blipFill>
        <p:spPr>
          <a:xfrm>
            <a:off x="5333171" y="1044987"/>
            <a:ext cx="4254353" cy="2924381"/>
          </a:xfrm>
          <a:prstGeom prst="rect">
            <a:avLst/>
          </a:prstGeom>
        </p:spPr>
      </p:pic>
      <p:pic>
        <p:nvPicPr>
          <p:cNvPr id="9" name="图片 8"/>
          <p:cNvPicPr>
            <a:picLocks noChangeAspect="1"/>
          </p:cNvPicPr>
          <p:nvPr/>
        </p:nvPicPr>
        <p:blipFill>
          <a:blip r:embed="rId3"/>
          <a:stretch>
            <a:fillRect/>
          </a:stretch>
        </p:blipFill>
        <p:spPr>
          <a:xfrm>
            <a:off x="3892641" y="4629221"/>
            <a:ext cx="7961905" cy="187619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Space Between Links</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b="1" dirty="0"/>
              <a:t>Tip:</a:t>
            </a:r>
            <a:r>
              <a:rPr lang="en-US" altLang="zh-CN" dirty="0"/>
              <a:t> Add the </a:t>
            </a:r>
            <a:r>
              <a:rPr lang="en-US" altLang="zh-CN" dirty="0">
                <a:solidFill>
                  <a:srgbClr val="FFFF00"/>
                </a:solidFill>
              </a:rPr>
              <a:t>margin</a:t>
            </a:r>
            <a:r>
              <a:rPr lang="en-US" altLang="zh-CN" dirty="0"/>
              <a:t> property if you do not want to group the page links:</a:t>
            </a:r>
            <a:endParaRPr lang="en-US" altLang="zh-CN" dirty="0"/>
          </a:p>
        </p:txBody>
      </p:sp>
      <p:pic>
        <p:nvPicPr>
          <p:cNvPr id="7" name="图片 6"/>
          <p:cNvPicPr>
            <a:picLocks noChangeAspect="1"/>
          </p:cNvPicPr>
          <p:nvPr/>
        </p:nvPicPr>
        <p:blipFill>
          <a:blip r:embed="rId1"/>
          <a:stretch>
            <a:fillRect/>
          </a:stretch>
        </p:blipFill>
        <p:spPr>
          <a:xfrm>
            <a:off x="1547812" y="2312624"/>
            <a:ext cx="9096375" cy="12001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Space Between Links</a:t>
            </a:r>
            <a:endParaRPr lang="zh-CN" altLang="en-US" dirty="0"/>
          </a:p>
        </p:txBody>
      </p:sp>
      <p:pic>
        <p:nvPicPr>
          <p:cNvPr id="4" name="图片 3"/>
          <p:cNvPicPr>
            <a:picLocks noChangeAspect="1"/>
          </p:cNvPicPr>
          <p:nvPr/>
        </p:nvPicPr>
        <p:blipFill>
          <a:blip r:embed="rId1"/>
          <a:stretch>
            <a:fillRect/>
          </a:stretch>
        </p:blipFill>
        <p:spPr>
          <a:xfrm>
            <a:off x="233325" y="1383026"/>
            <a:ext cx="4658856" cy="5040730"/>
          </a:xfrm>
          <a:prstGeom prst="rect">
            <a:avLst/>
          </a:prstGeom>
        </p:spPr>
      </p:pic>
      <p:pic>
        <p:nvPicPr>
          <p:cNvPr id="6" name="图片 5"/>
          <p:cNvPicPr>
            <a:picLocks noChangeAspect="1"/>
          </p:cNvPicPr>
          <p:nvPr/>
        </p:nvPicPr>
        <p:blipFill>
          <a:blip r:embed="rId2"/>
          <a:stretch>
            <a:fillRect/>
          </a:stretch>
        </p:blipFill>
        <p:spPr>
          <a:xfrm>
            <a:off x="6246495" y="1497961"/>
            <a:ext cx="3628571" cy="2714286"/>
          </a:xfrm>
          <a:prstGeom prst="rect">
            <a:avLst/>
          </a:prstGeom>
        </p:spPr>
      </p:pic>
      <p:pic>
        <p:nvPicPr>
          <p:cNvPr id="9" name="图片 8"/>
          <p:cNvPicPr>
            <a:picLocks noChangeAspect="1"/>
          </p:cNvPicPr>
          <p:nvPr/>
        </p:nvPicPr>
        <p:blipFill>
          <a:blip r:embed="rId3"/>
          <a:stretch>
            <a:fillRect/>
          </a:stretch>
        </p:blipFill>
        <p:spPr>
          <a:xfrm>
            <a:off x="5417822" y="5132106"/>
            <a:ext cx="5935978" cy="7487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Pagination Size</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Change the size of the pagination with the </a:t>
            </a:r>
            <a:r>
              <a:rPr lang="en-US" altLang="zh-CN" dirty="0">
                <a:solidFill>
                  <a:srgbClr val="FFFF00"/>
                </a:solidFill>
              </a:rPr>
              <a:t>font-size</a:t>
            </a:r>
            <a:r>
              <a:rPr lang="en-US" altLang="zh-CN" dirty="0"/>
              <a:t> property:</a:t>
            </a:r>
            <a:endParaRPr lang="en-US" altLang="zh-CN" dirty="0"/>
          </a:p>
        </p:txBody>
      </p:sp>
      <p:pic>
        <p:nvPicPr>
          <p:cNvPr id="10" name="图片 9"/>
          <p:cNvPicPr>
            <a:picLocks noChangeAspect="1"/>
          </p:cNvPicPr>
          <p:nvPr/>
        </p:nvPicPr>
        <p:blipFill>
          <a:blip r:embed="rId1"/>
          <a:stretch>
            <a:fillRect/>
          </a:stretch>
        </p:blipFill>
        <p:spPr>
          <a:xfrm>
            <a:off x="3143250" y="4136254"/>
            <a:ext cx="5905500" cy="981075"/>
          </a:xfrm>
          <a:prstGeom prst="rect">
            <a:avLst/>
          </a:prstGeom>
        </p:spPr>
      </p:pic>
      <p:pic>
        <p:nvPicPr>
          <p:cNvPr id="14" name="图片 13"/>
          <p:cNvPicPr>
            <a:picLocks noChangeAspect="1"/>
          </p:cNvPicPr>
          <p:nvPr/>
        </p:nvPicPr>
        <p:blipFill>
          <a:blip r:embed="rId2"/>
          <a:stretch>
            <a:fillRect/>
          </a:stretch>
        </p:blipFill>
        <p:spPr>
          <a:xfrm>
            <a:off x="3981450" y="2312624"/>
            <a:ext cx="4229100" cy="12001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Pagination Size</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Example</a:t>
            </a:r>
            <a:r>
              <a:rPr lang="zh-CN" altLang="en-US" dirty="0"/>
              <a:t>：</a:t>
            </a:r>
            <a:endParaRPr lang="en-US" altLang="zh-CN" dirty="0"/>
          </a:p>
        </p:txBody>
      </p:sp>
      <p:pic>
        <p:nvPicPr>
          <p:cNvPr id="4" name="图片 3"/>
          <p:cNvPicPr>
            <a:picLocks noChangeAspect="1"/>
          </p:cNvPicPr>
          <p:nvPr/>
        </p:nvPicPr>
        <p:blipFill>
          <a:blip r:embed="rId1"/>
          <a:stretch>
            <a:fillRect/>
          </a:stretch>
        </p:blipFill>
        <p:spPr>
          <a:xfrm>
            <a:off x="1691248" y="1767616"/>
            <a:ext cx="4165842" cy="4421969"/>
          </a:xfrm>
          <a:prstGeom prst="rect">
            <a:avLst/>
          </a:prstGeom>
        </p:spPr>
      </p:pic>
      <p:pic>
        <p:nvPicPr>
          <p:cNvPr id="5" name="图片 4"/>
          <p:cNvPicPr>
            <a:picLocks noChangeAspect="1"/>
          </p:cNvPicPr>
          <p:nvPr/>
        </p:nvPicPr>
        <p:blipFill>
          <a:blip r:embed="rId2"/>
          <a:stretch>
            <a:fillRect/>
          </a:stretch>
        </p:blipFill>
        <p:spPr>
          <a:xfrm>
            <a:off x="6239775" y="1695226"/>
            <a:ext cx="5178882" cy="2228037"/>
          </a:xfrm>
          <a:prstGeom prst="rect">
            <a:avLst/>
          </a:prstGeom>
        </p:spPr>
      </p:pic>
      <p:pic>
        <p:nvPicPr>
          <p:cNvPr id="6" name="图片 5"/>
          <p:cNvPicPr>
            <a:picLocks noChangeAspect="1"/>
          </p:cNvPicPr>
          <p:nvPr/>
        </p:nvPicPr>
        <p:blipFill rotWithShape="1">
          <a:blip r:embed="rId3"/>
          <a:srcRect t="12685"/>
          <a:stretch>
            <a:fillRect/>
          </a:stretch>
        </p:blipFill>
        <p:spPr>
          <a:xfrm>
            <a:off x="6278344" y="4542739"/>
            <a:ext cx="5101744" cy="157445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Centered Pagination</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To center the pagination, wrap a container element around it (like &lt;div&gt;), and add </a:t>
            </a:r>
            <a:r>
              <a:rPr lang="en-US" altLang="zh-CN" dirty="0" err="1">
                <a:solidFill>
                  <a:srgbClr val="FFFF00"/>
                </a:solidFill>
              </a:rPr>
              <a:t>text-align:center</a:t>
            </a:r>
            <a:endParaRPr lang="en-US" altLang="zh-CN" dirty="0">
              <a:solidFill>
                <a:srgbClr val="FFFF00"/>
              </a:solidFill>
            </a:endParaRPr>
          </a:p>
        </p:txBody>
      </p:sp>
      <p:pic>
        <p:nvPicPr>
          <p:cNvPr id="11" name="图片 10"/>
          <p:cNvPicPr>
            <a:picLocks noChangeAspect="1"/>
          </p:cNvPicPr>
          <p:nvPr/>
        </p:nvPicPr>
        <p:blipFill>
          <a:blip r:embed="rId1"/>
          <a:stretch>
            <a:fillRect/>
          </a:stretch>
        </p:blipFill>
        <p:spPr>
          <a:xfrm>
            <a:off x="3876675" y="2881312"/>
            <a:ext cx="4438650" cy="1095375"/>
          </a:xfrm>
          <a:prstGeom prst="rect">
            <a:avLst/>
          </a:prstGeom>
        </p:spPr>
      </p:pic>
      <p:pic>
        <p:nvPicPr>
          <p:cNvPr id="13" name="图片 12"/>
          <p:cNvPicPr>
            <a:picLocks noChangeAspect="1"/>
          </p:cNvPicPr>
          <p:nvPr/>
        </p:nvPicPr>
        <p:blipFill>
          <a:blip r:embed="rId2"/>
          <a:stretch>
            <a:fillRect/>
          </a:stretch>
        </p:blipFill>
        <p:spPr>
          <a:xfrm>
            <a:off x="3328988" y="4525793"/>
            <a:ext cx="5534025" cy="8763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Centered Pagination</a:t>
            </a:r>
            <a:endParaRPr lang="zh-CN" altLang="en-US" dirty="0"/>
          </a:p>
        </p:txBody>
      </p:sp>
      <p:pic>
        <p:nvPicPr>
          <p:cNvPr id="4" name="图片 3"/>
          <p:cNvPicPr>
            <a:picLocks noChangeAspect="1"/>
          </p:cNvPicPr>
          <p:nvPr/>
        </p:nvPicPr>
        <p:blipFill>
          <a:blip r:embed="rId1"/>
          <a:stretch>
            <a:fillRect/>
          </a:stretch>
        </p:blipFill>
        <p:spPr>
          <a:xfrm>
            <a:off x="368887" y="1481158"/>
            <a:ext cx="3949809" cy="4341938"/>
          </a:xfrm>
          <a:prstGeom prst="rect">
            <a:avLst/>
          </a:prstGeom>
        </p:spPr>
      </p:pic>
      <p:pic>
        <p:nvPicPr>
          <p:cNvPr id="5" name="图片 4"/>
          <p:cNvPicPr>
            <a:picLocks noChangeAspect="1"/>
          </p:cNvPicPr>
          <p:nvPr/>
        </p:nvPicPr>
        <p:blipFill>
          <a:blip r:embed="rId2"/>
          <a:stretch>
            <a:fillRect/>
          </a:stretch>
        </p:blipFill>
        <p:spPr>
          <a:xfrm>
            <a:off x="6637360" y="1481158"/>
            <a:ext cx="3120425" cy="2634329"/>
          </a:xfrm>
          <a:prstGeom prst="rect">
            <a:avLst/>
          </a:prstGeom>
        </p:spPr>
      </p:pic>
      <p:pic>
        <p:nvPicPr>
          <p:cNvPr id="6" name="图片 5"/>
          <p:cNvPicPr>
            <a:picLocks noChangeAspect="1"/>
          </p:cNvPicPr>
          <p:nvPr/>
        </p:nvPicPr>
        <p:blipFill>
          <a:blip r:embed="rId3"/>
          <a:stretch>
            <a:fillRect/>
          </a:stretch>
        </p:blipFill>
        <p:spPr>
          <a:xfrm>
            <a:off x="5028272" y="4895474"/>
            <a:ext cx="6581614" cy="147460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Breadcrumbs</a:t>
            </a:r>
            <a:endParaRPr lang="zh-CN" altLang="en-US" dirty="0"/>
          </a:p>
        </p:txBody>
      </p:sp>
      <p:sp>
        <p:nvSpPr>
          <p:cNvPr id="3" name="内容占位符 2"/>
          <p:cNvSpPr>
            <a:spLocks noGrp="1"/>
          </p:cNvSpPr>
          <p:nvPr>
            <p:ph idx="1"/>
          </p:nvPr>
        </p:nvSpPr>
        <p:spPr>
          <a:xfrm>
            <a:off x="838200" y="1198606"/>
            <a:ext cx="10515600" cy="2228037"/>
          </a:xfrm>
        </p:spPr>
        <p:txBody>
          <a:bodyPr>
            <a:normAutofit/>
          </a:bodyPr>
          <a:lstStyle/>
          <a:p>
            <a:pPr marL="0" indent="0" algn="just">
              <a:buNone/>
            </a:pPr>
            <a:r>
              <a:rPr lang="en-US" altLang="zh-CN" dirty="0"/>
              <a:t>Another variation of pagination is so-called "breadcrumbs":</a:t>
            </a:r>
            <a:endParaRPr lang="en-US" altLang="zh-CN" dirty="0"/>
          </a:p>
        </p:txBody>
      </p:sp>
      <p:pic>
        <p:nvPicPr>
          <p:cNvPr id="5" name="图片 4"/>
          <p:cNvPicPr>
            <a:picLocks noChangeAspect="1"/>
          </p:cNvPicPr>
          <p:nvPr/>
        </p:nvPicPr>
        <p:blipFill>
          <a:blip r:embed="rId1"/>
          <a:stretch>
            <a:fillRect/>
          </a:stretch>
        </p:blipFill>
        <p:spPr>
          <a:xfrm>
            <a:off x="1232697" y="2041195"/>
            <a:ext cx="4778794" cy="3906548"/>
          </a:xfrm>
          <a:prstGeom prst="rect">
            <a:avLst/>
          </a:prstGeom>
        </p:spPr>
      </p:pic>
      <p:pic>
        <p:nvPicPr>
          <p:cNvPr id="8" name="图片 7"/>
          <p:cNvPicPr>
            <a:picLocks noChangeAspect="1"/>
          </p:cNvPicPr>
          <p:nvPr/>
        </p:nvPicPr>
        <p:blipFill>
          <a:blip r:embed="rId2"/>
          <a:stretch>
            <a:fillRect/>
          </a:stretch>
        </p:blipFill>
        <p:spPr>
          <a:xfrm>
            <a:off x="6405988" y="3083743"/>
            <a:ext cx="5429250" cy="6858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Breadcrumbs</a:t>
            </a:r>
            <a:endParaRPr lang="zh-CN" altLang="en-US" dirty="0"/>
          </a:p>
        </p:txBody>
      </p:sp>
      <p:pic>
        <p:nvPicPr>
          <p:cNvPr id="4" name="图片 3"/>
          <p:cNvPicPr>
            <a:picLocks noChangeAspect="1"/>
          </p:cNvPicPr>
          <p:nvPr/>
        </p:nvPicPr>
        <p:blipFill>
          <a:blip r:embed="rId1"/>
          <a:stretch>
            <a:fillRect/>
          </a:stretch>
        </p:blipFill>
        <p:spPr>
          <a:xfrm>
            <a:off x="551442" y="1249812"/>
            <a:ext cx="3561905" cy="5304762"/>
          </a:xfrm>
          <a:prstGeom prst="rect">
            <a:avLst/>
          </a:prstGeom>
        </p:spPr>
      </p:pic>
      <p:pic>
        <p:nvPicPr>
          <p:cNvPr id="7" name="图片 6"/>
          <p:cNvPicPr>
            <a:picLocks noChangeAspect="1"/>
          </p:cNvPicPr>
          <p:nvPr/>
        </p:nvPicPr>
        <p:blipFill rotWithShape="1">
          <a:blip r:embed="rId2"/>
          <a:srcRect t="19137"/>
          <a:stretch>
            <a:fillRect/>
          </a:stretch>
        </p:blipFill>
        <p:spPr>
          <a:xfrm>
            <a:off x="5059286" y="2318919"/>
            <a:ext cx="6538120" cy="1938528"/>
          </a:xfrm>
          <a:prstGeom prst="rect">
            <a:avLst/>
          </a:prstGeom>
        </p:spPr>
      </p:pic>
      <p:sp>
        <p:nvSpPr>
          <p:cNvPr id="5" name="文本框 4"/>
          <p:cNvSpPr txBox="1"/>
          <p:nvPr/>
        </p:nvSpPr>
        <p:spPr>
          <a:xfrm>
            <a:off x="4873946" y="5130577"/>
            <a:ext cx="6908800" cy="954107"/>
          </a:xfrm>
          <a:prstGeom prst="rect">
            <a:avLst/>
          </a:prstGeom>
          <a:noFill/>
        </p:spPr>
        <p:txBody>
          <a:bodyPr wrap="square">
            <a:spAutoFit/>
          </a:bodyPr>
          <a:lstStyle/>
          <a:p>
            <a:r>
              <a:rPr lang="zh-CN" altLang="en-US" sz="2800" dirty="0"/>
              <a:t>The :before selector inserts content before the content of the selected element.</a:t>
            </a:r>
            <a:endParaRPr lang="zh-CN" altLang="en-US" sz="2800"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5"/>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66.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68.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6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9.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0.xml><?xml version="1.0" encoding="utf-8"?>
<p:tagLst xmlns:p="http://schemas.openxmlformats.org/presentationml/2006/main">
  <p:tag name="KSO_WM_BEAUTIFY_FLAG" val="#wm#"/>
  <p:tag name="KSO_WM_TEMPLATE_CATEGORY" val="custom"/>
  <p:tag name="KSO_WM_TEMPLATE_INDEX" val="20205175"/>
</p:tagLst>
</file>

<file path=ppt/tags/tag101.xml><?xml version="1.0" encoding="utf-8"?>
<p:tagLst xmlns:p="http://schemas.openxmlformats.org/presentationml/2006/main">
  <p:tag name="KSO_WM_BEAUTIFY_FLAG" val="#wm#"/>
  <p:tag name="KSO_WM_TEMPLATE_CATEGORY" val="custom"/>
  <p:tag name="KSO_WM_TEMPLATE_INDEX" val="20205175"/>
</p:tagLst>
</file>

<file path=ppt/tags/tag102.xml><?xml version="1.0" encoding="utf-8"?>
<p:tagLst xmlns:p="http://schemas.openxmlformats.org/presentationml/2006/main">
  <p:tag name="commondata" val="eyJoZGlkIjoiNTRkOGIzNjk2ODJjYjgwMzk0ODkwYjk3ZGE3MTA4Y2MifQ=="/>
</p:tagLst>
</file>

<file path=ppt/theme/theme1.xml><?xml version="1.0" encoding="utf-8"?>
<a:theme xmlns:a="http://schemas.openxmlformats.org/drawingml/2006/main" name="1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8417</Words>
  <Application>WPS 演示</Application>
  <PresentationFormat>宽屏</PresentationFormat>
  <Paragraphs>263</Paragraphs>
  <Slides>62</Slides>
  <Notes>4</Notes>
  <HiddenSlides>0</HiddenSlides>
  <MMClips>0</MMClips>
  <ScaleCrop>false</ScaleCrop>
  <HeadingPairs>
    <vt:vector size="6" baseType="variant">
      <vt:variant>
        <vt:lpstr>已用的字体</vt:lpstr>
      </vt:variant>
      <vt:variant>
        <vt:i4>14</vt:i4>
      </vt:variant>
      <vt:variant>
        <vt:lpstr>主题</vt:lpstr>
      </vt:variant>
      <vt:variant>
        <vt:i4>5</vt:i4>
      </vt:variant>
      <vt:variant>
        <vt:lpstr>幻灯片标题</vt:lpstr>
      </vt:variant>
      <vt:variant>
        <vt:i4>62</vt:i4>
      </vt:variant>
    </vt:vector>
  </HeadingPairs>
  <TitlesOfParts>
    <vt:vector size="81" baseType="lpstr">
      <vt:lpstr>Arial</vt:lpstr>
      <vt:lpstr>宋体</vt:lpstr>
      <vt:lpstr>Wingdings</vt:lpstr>
      <vt:lpstr>Calibri</vt:lpstr>
      <vt:lpstr>等线</vt:lpstr>
      <vt:lpstr>微软雅黑</vt:lpstr>
      <vt:lpstr>Wingdings</vt:lpstr>
      <vt:lpstr>Times New Roman</vt:lpstr>
      <vt:lpstr>Calibri</vt:lpstr>
      <vt:lpstr>等线 Light</vt:lpstr>
      <vt:lpstr>Arial Unicode MS</vt:lpstr>
      <vt:lpstr>Calibri Light</vt:lpstr>
      <vt:lpstr>Courier New</vt:lpstr>
      <vt:lpstr>Verdana</vt:lpstr>
      <vt:lpstr>1_Office Theme</vt:lpstr>
      <vt:lpstr>3_Office 主题​​</vt:lpstr>
      <vt:lpstr>Office 主题​​</vt:lpstr>
      <vt:lpstr>1_Office 主题​​</vt:lpstr>
      <vt:lpstr>2_Office Theme</vt:lpstr>
      <vt:lpstr>CSS FLOAT</vt:lpstr>
      <vt:lpstr>PowerPoint 演示文稿</vt:lpstr>
      <vt:lpstr>PowerPoint 演示文稿</vt:lpstr>
      <vt:lpstr>PowerPoint 演示文稿</vt:lpstr>
      <vt:lpstr>PowerPoint 演示文稿</vt:lpstr>
      <vt:lpstr>PowerPoint 演示文稿</vt:lpstr>
      <vt:lpstr>PowerPoint 演示文稿</vt:lpstr>
      <vt:lpstr>CSS Navigation Bar</vt:lpstr>
      <vt:lpstr>Demo: Navigation Bars</vt:lpstr>
      <vt:lpstr>Navigation Bar = List of Links</vt:lpstr>
      <vt:lpstr>Navigation Bar = List of Links</vt:lpstr>
      <vt:lpstr>Vertical Navigation Bar</vt:lpstr>
      <vt:lpstr>Vertical Navigation Bar</vt:lpstr>
      <vt:lpstr>Vertical Navigation Bar Examples</vt:lpstr>
      <vt:lpstr>Vertical Navigation Bar Examples</vt:lpstr>
      <vt:lpstr>Vertical Navigation Bar Examples</vt:lpstr>
      <vt:lpstr>Vertical Navigation Bar Examples</vt:lpstr>
      <vt:lpstr>Vertical Navigation Bar Examples</vt:lpstr>
      <vt:lpstr>Horizontal Navigation Bar</vt:lpstr>
      <vt:lpstr>Horizontal Navigation Bar</vt:lpstr>
      <vt:lpstr>Horizontal Navigation Bar</vt:lpstr>
      <vt:lpstr>Horizontal Navigation Bar</vt:lpstr>
      <vt:lpstr>Horizontal Navigation Bar Examples</vt:lpstr>
      <vt:lpstr>Horizontal Navigation Bar Examples</vt:lpstr>
      <vt:lpstr>Horizontal Navigation Bar Examples</vt:lpstr>
      <vt:lpstr>Horizontal Navigation Bar Examples</vt:lpstr>
      <vt:lpstr>CSS Forms</vt:lpstr>
      <vt:lpstr>The look of an HTML form can be greatly improved with CSS:</vt:lpstr>
      <vt:lpstr>Styling Input Fields</vt:lpstr>
      <vt:lpstr>Styling Input Fields</vt:lpstr>
      <vt:lpstr>Padded Inputs</vt:lpstr>
      <vt:lpstr>Bordered Inputs</vt:lpstr>
      <vt:lpstr>Bordered Inputs</vt:lpstr>
      <vt:lpstr>Colored Inputs</vt:lpstr>
      <vt:lpstr>Focused Inputs</vt:lpstr>
      <vt:lpstr>Focused Inputs</vt:lpstr>
      <vt:lpstr>Input with icon/image</vt:lpstr>
      <vt:lpstr>Animated Search Input</vt:lpstr>
      <vt:lpstr>Styling Textareas</vt:lpstr>
      <vt:lpstr>Styling Select Menus </vt:lpstr>
      <vt:lpstr>Styling Input Buttons </vt:lpstr>
      <vt:lpstr>CSS Pagination</vt:lpstr>
      <vt:lpstr>Simple Pagination</vt:lpstr>
      <vt:lpstr>Simple Pagination</vt:lpstr>
      <vt:lpstr>Active and Hoverable Pagination</vt:lpstr>
      <vt:lpstr>Active and Hoverable Pagination</vt:lpstr>
      <vt:lpstr>Rounded Active and Hoverable Buttons</vt:lpstr>
      <vt:lpstr>Rounded Active and Hoverable Buttons</vt:lpstr>
      <vt:lpstr>Hoverable Transition Effect</vt:lpstr>
      <vt:lpstr>Hoverable Transition Effect</vt:lpstr>
      <vt:lpstr>Bordered Pagination</vt:lpstr>
      <vt:lpstr>Bordered Pagination</vt:lpstr>
      <vt:lpstr>Rounded Borders</vt:lpstr>
      <vt:lpstr>Rounded Borders</vt:lpstr>
      <vt:lpstr>Space Between Links</vt:lpstr>
      <vt:lpstr>Space Between Links</vt:lpstr>
      <vt:lpstr>Pagination Size</vt:lpstr>
      <vt:lpstr>Pagination Size</vt:lpstr>
      <vt:lpstr>Centered Pagination</vt:lpstr>
      <vt:lpstr>Centered Pagination</vt:lpstr>
      <vt:lpstr>Breadcrumbs</vt:lpstr>
      <vt:lpstr>Breadcrumbs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yzchen</dc:creator>
  <cp:lastModifiedBy>陈羽中</cp:lastModifiedBy>
  <cp:revision>223</cp:revision>
  <dcterms:created xsi:type="dcterms:W3CDTF">2021-02-18T03:39:00Z</dcterms:created>
  <dcterms:modified xsi:type="dcterms:W3CDTF">2025-06-04T12:25:35Z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9161A3C627774C0D9642304C39947963_12</vt:lpwstr>
  </property>
</Properties>
</file>