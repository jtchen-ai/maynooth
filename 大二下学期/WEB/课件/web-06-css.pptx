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7" r:id="rId3"/>
    <p:sldId id="258" r:id="rId4"/>
    <p:sldId id="261" r:id="rId5"/>
    <p:sldId id="268" r:id="rId6"/>
    <p:sldId id="269" r:id="rId7"/>
    <p:sldId id="270" r:id="rId8"/>
    <p:sldId id="272" r:id="rId9"/>
    <p:sldId id="287" r:id="rId10"/>
    <p:sldId id="274" r:id="rId11"/>
    <p:sldId id="276" r:id="rId12"/>
    <p:sldId id="278" r:id="rId13"/>
    <p:sldId id="280" r:id="rId14"/>
    <p:sldId id="282" r:id="rId15"/>
    <p:sldId id="316" r:id="rId16"/>
    <p:sldId id="318" r:id="rId17"/>
    <p:sldId id="319" r:id="rId18"/>
    <p:sldId id="320" r:id="rId19"/>
    <p:sldId id="323" r:id="rId20"/>
    <p:sldId id="325" r:id="rId21"/>
    <p:sldId id="332" r:id="rId22"/>
    <p:sldId id="333" r:id="rId23"/>
    <p:sldId id="334" r:id="rId24"/>
    <p:sldId id="345" r:id="rId26"/>
    <p:sldId id="346" r:id="rId27"/>
    <p:sldId id="347" r:id="rId28"/>
    <p:sldId id="348" r:id="rId29"/>
    <p:sldId id="350" r:id="rId30"/>
    <p:sldId id="353" r:id="rId31"/>
    <p:sldId id="355" r:id="rId32"/>
    <p:sldId id="357" r:id="rId33"/>
    <p:sldId id="359" r:id="rId34"/>
    <p:sldId id="361" r:id="rId35"/>
    <p:sldId id="363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5" r:id="rId46"/>
    <p:sldId id="377" r:id="rId47"/>
    <p:sldId id="378" r:id="rId48"/>
    <p:sldId id="379" r:id="rId49"/>
    <p:sldId id="380" r:id="rId50"/>
    <p:sldId id="382" r:id="rId51"/>
    <p:sldId id="383" r:id="rId52"/>
    <p:sldId id="385" r:id="rId53"/>
    <p:sldId id="386" r:id="rId54"/>
    <p:sldId id="387" r:id="rId55"/>
    <p:sldId id="388" r:id="rId56"/>
    <p:sldId id="389" r:id="rId57"/>
    <p:sldId id="390" r:id="rId58"/>
    <p:sldId id="391" r:id="rId59"/>
    <p:sldId id="392" r:id="rId60"/>
    <p:sldId id="393" r:id="rId61"/>
    <p:sldId id="394" r:id="rId62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4" autoAdjust="0"/>
    <p:restoredTop sz="84779" autoAdjust="0"/>
  </p:normalViewPr>
  <p:slideViewPr>
    <p:cSldViewPr snapToGrid="0">
      <p:cViewPr varScale="1">
        <p:scale>
          <a:sx n="137" d="100"/>
          <a:sy n="137" d="100"/>
        </p:scale>
        <p:origin x="351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gs" Target="tags/tag2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ADFDB-4AB8-4D99-8D25-189D71A761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8546E-9AEE-4434-9B61-999B4AE261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Number sign</a:t>
            </a:r>
            <a:endParaRPr lang="en-US" altLang="zh-CN" dirty="0"/>
          </a:p>
          <a:p>
            <a:r>
              <a:rPr lang="en-US" altLang="zh-CN" dirty="0"/>
              <a:t>bracket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A8546E-9AEE-4434-9B61-999B4AE261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7ED12-17D6-47CC-905B-E89188D116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B3DC9-4C5B-4D9F-84D5-E67E87066088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GIF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tags" Target="../tags/tag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INTRODUCTION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054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Why uses CSS?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645920"/>
            <a:ext cx="11156315" cy="4351655"/>
          </a:xfrm>
        </p:spPr>
        <p:txBody>
          <a:bodyPr>
            <a:normAutofit/>
          </a:bodyPr>
          <a:lstStyle/>
          <a:p>
            <a:pPr algn="just"/>
            <a:r>
              <a:rPr lang="en-US" altLang="zh-CN" b="1" dirty="0"/>
              <a:t>CSS</a:t>
            </a:r>
            <a:r>
              <a:rPr lang="en-US" altLang="zh-CN" dirty="0"/>
              <a:t> stands for </a:t>
            </a:r>
            <a:r>
              <a:rPr lang="en-US" altLang="zh-CN" b="1" dirty="0"/>
              <a:t>C</a:t>
            </a:r>
            <a:r>
              <a:rPr lang="en-US" altLang="zh-CN" dirty="0"/>
              <a:t>ascading </a:t>
            </a:r>
            <a:r>
              <a:rPr lang="en-US" altLang="zh-CN" b="1" dirty="0"/>
              <a:t>S</a:t>
            </a:r>
            <a:r>
              <a:rPr lang="en-US" altLang="zh-CN" dirty="0"/>
              <a:t>tyle </a:t>
            </a:r>
            <a:r>
              <a:rPr lang="en-US" altLang="zh-CN" b="1" dirty="0"/>
              <a:t>S</a:t>
            </a:r>
            <a:r>
              <a:rPr lang="en-US" altLang="zh-CN" dirty="0"/>
              <a:t>heets</a:t>
            </a:r>
            <a:endParaRPr lang="en-US" altLang="zh-CN" dirty="0"/>
          </a:p>
          <a:p>
            <a:pPr algn="just"/>
            <a:r>
              <a:rPr lang="en-US" altLang="zh-CN" dirty="0"/>
              <a:t>CSS describes </a:t>
            </a:r>
            <a:r>
              <a:rPr lang="en-US" altLang="zh-CN" b="1" dirty="0"/>
              <a:t>how HTML elements are to be displayed on screen, paper, or in other media</a:t>
            </a:r>
            <a:endParaRPr lang="en-US" altLang="zh-CN" dirty="0"/>
          </a:p>
          <a:p>
            <a:pPr algn="just"/>
            <a:r>
              <a:rPr lang="en-US" altLang="zh-CN" dirty="0"/>
              <a:t>CSS </a:t>
            </a:r>
            <a:r>
              <a:rPr lang="en-US" altLang="zh-CN" b="1" dirty="0"/>
              <a:t>saves a lot of work</a:t>
            </a:r>
            <a:r>
              <a:rPr lang="en-US" altLang="zh-CN" dirty="0"/>
              <a:t>. It can control the layout of multiple web pages all at once</a:t>
            </a:r>
            <a:endParaRPr lang="en-US" altLang="zh-CN" dirty="0"/>
          </a:p>
          <a:p>
            <a:pPr algn="just"/>
            <a:r>
              <a:rPr lang="en-US" altLang="zh-CN" dirty="0"/>
              <a:t>External stylesheets are stored in </a:t>
            </a:r>
            <a:r>
              <a:rPr lang="en-US" altLang="zh-CN" b="1" dirty="0"/>
              <a:t>CSS files</a:t>
            </a:r>
            <a:endParaRPr lang="en-US" altLang="zh-C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20548"/>
            <a:ext cx="10515600" cy="908359"/>
          </a:xfrm>
        </p:spPr>
        <p:txBody>
          <a:bodyPr/>
          <a:lstStyle/>
          <a:p>
            <a:pPr algn="ctr"/>
            <a:r>
              <a:rPr lang="en-US" altLang="zh-CN" dirty="0"/>
              <a:t>CSS Solved a Big Problem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945" y="1372235"/>
            <a:ext cx="11436350" cy="510413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dirty="0"/>
              <a:t>HTML was NEVER intended to contain tags for formatting a web page!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HTML was created to </a:t>
            </a:r>
            <a:r>
              <a:rPr lang="en-US" altLang="zh-CN" b="1" dirty="0"/>
              <a:t>describe the content</a:t>
            </a:r>
            <a:r>
              <a:rPr lang="en-US" altLang="zh-CN" dirty="0"/>
              <a:t> of a web page, like: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&lt;h1&gt;This is a heading&lt;/h1&gt;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&lt;p&gt;This is a paragraph.&lt;/p&gt;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When tags like &lt;font&gt;, and color attributes were added to the HTML 3.2 specification. Development of large websites, where fonts and color information were added to every single page, became a long and expensive process.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r>
              <a:rPr lang="en-US" altLang="zh-CN" dirty="0"/>
              <a:t>To solve this problem, the World Wide Web Consortium (W3C) created CSS. CSS removed the style formatting from the HTML page!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SYNTAX AND SELECTORS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220" y="172085"/>
            <a:ext cx="10515600" cy="1060450"/>
          </a:xfrm>
        </p:spPr>
        <p:txBody>
          <a:bodyPr/>
          <a:lstStyle/>
          <a:p>
            <a:pPr algn="ctr"/>
            <a:r>
              <a:rPr lang="en-US" altLang="zh-CN" dirty="0"/>
              <a:t>CSS Syntax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4135"/>
            <a:ext cx="10515600" cy="514096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A CSS rule-set consists of a selector and a declaration block: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selector points to the HTML element you want to style.</a:t>
            </a:r>
            <a:endParaRPr lang="en-US" altLang="zh-CN" dirty="0"/>
          </a:p>
          <a:p>
            <a:r>
              <a:rPr lang="en-US" altLang="zh-CN" dirty="0"/>
              <a:t>The declaration block contains one or more declarations separated by semicolons.</a:t>
            </a:r>
            <a:endParaRPr lang="en-US" altLang="zh-CN" dirty="0"/>
          </a:p>
          <a:p>
            <a:r>
              <a:rPr lang="en-US" altLang="zh-CN" dirty="0"/>
              <a:t>Each declaration includes a CSS property name and a value, separated by a colon.</a:t>
            </a:r>
            <a:endParaRPr lang="en-US" altLang="zh-CN" dirty="0"/>
          </a:p>
          <a:p>
            <a:r>
              <a:rPr lang="en-US" altLang="zh-CN" dirty="0"/>
              <a:t>A CSS declaration always ends with a semicolon, and declaration blocks are surrounded by curly braces.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0652" y="2010401"/>
            <a:ext cx="5016963" cy="1144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096" y="285447"/>
            <a:ext cx="10515600" cy="889895"/>
          </a:xfrm>
        </p:spPr>
        <p:txBody>
          <a:bodyPr/>
          <a:lstStyle/>
          <a:p>
            <a:pPr algn="ctr"/>
            <a:r>
              <a:rPr lang="en-US" altLang="zh-CN" dirty="0"/>
              <a:t>CSS Syntax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0069" y="1175342"/>
            <a:ext cx="10515600" cy="4977111"/>
          </a:xfrm>
        </p:spPr>
        <p:txBody>
          <a:bodyPr>
            <a:normAutofit/>
          </a:bodyPr>
          <a:lstStyle/>
          <a:p>
            <a:r>
              <a:rPr lang="en-US" altLang="zh-CN" dirty="0"/>
              <a:t>In the following example all &lt;p&gt; elements will be center-aligned, with a red text color: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597" y="3386353"/>
            <a:ext cx="6542336" cy="13930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566670"/>
            <a:ext cx="4405630" cy="3855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6894" y="168902"/>
            <a:ext cx="10515600" cy="967921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498" y="1323197"/>
            <a:ext cx="10515600" cy="3365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CSS selectors are used to "find" (or select) HTML elements based on their element name, id, class, attribute, and more.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3200" dirty="0"/>
              <a:t>element Selector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3200" dirty="0"/>
              <a:t>id Selector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3200" dirty="0"/>
              <a:t>class Selector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3200" dirty="0"/>
              <a:t>Grouping Selectors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4466"/>
            <a:ext cx="10515600" cy="718176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828" y="996339"/>
            <a:ext cx="11370669" cy="2020600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The element selector selects elements based on the element name.</a:t>
            </a:r>
            <a:endParaRPr lang="en-US" altLang="zh-CN" sz="3200" dirty="0"/>
          </a:p>
          <a:p>
            <a:r>
              <a:rPr lang="en-US" altLang="zh-CN" sz="3200" dirty="0"/>
              <a:t>You can select all &lt;p&gt; elements on a page like this (in this case, all &lt;p&gt; elements will be center-aligned, with a red text color):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25" y="3271351"/>
            <a:ext cx="5628571" cy="33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380" y="3947284"/>
            <a:ext cx="3990476" cy="1304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-12356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345" y="889688"/>
            <a:ext cx="11719043" cy="3228602"/>
          </a:xfrm>
        </p:spPr>
        <p:txBody>
          <a:bodyPr>
            <a:noAutofit/>
          </a:bodyPr>
          <a:lstStyle/>
          <a:p>
            <a:pPr algn="just"/>
            <a:r>
              <a:rPr lang="en-US" altLang="zh-CN" dirty="0"/>
              <a:t>The id selector uses the id attribute of an HTML element to select a specific element. The id of an element should be unique within a page, so the id selector is used to select </a:t>
            </a:r>
            <a:r>
              <a:rPr lang="en-US" altLang="zh-CN" dirty="0">
                <a:solidFill>
                  <a:srgbClr val="FFFF00"/>
                </a:solidFill>
              </a:rPr>
              <a:t>one unique element!</a:t>
            </a:r>
            <a:endParaRPr lang="en-US" altLang="zh-CN" dirty="0">
              <a:solidFill>
                <a:srgbClr val="FFFF00"/>
              </a:solidFill>
            </a:endParaRPr>
          </a:p>
          <a:p>
            <a:pPr algn="just"/>
            <a:r>
              <a:rPr lang="en-US" altLang="zh-CN" dirty="0"/>
              <a:t>To select an element with a specific id, write </a:t>
            </a:r>
            <a:r>
              <a:rPr lang="en-US" altLang="zh-CN" dirty="0">
                <a:solidFill>
                  <a:srgbClr val="FFFF00"/>
                </a:solidFill>
              </a:rPr>
              <a:t>a hash (#) character</a:t>
            </a:r>
            <a:r>
              <a:rPr lang="en-US" altLang="zh-CN" dirty="0"/>
              <a:t>, followed by the id of the element.</a:t>
            </a:r>
            <a:endParaRPr lang="en-US" altLang="zh-CN" dirty="0"/>
          </a:p>
          <a:p>
            <a:pPr algn="just"/>
            <a:r>
              <a:rPr lang="en-US" altLang="zh-CN" dirty="0"/>
              <a:t>The style rule below will be applied to the HTML element with id="para1":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8195" y="4373880"/>
            <a:ext cx="7341235" cy="810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66490"/>
            <a:ext cx="4051935" cy="3037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-12356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849" y="928257"/>
            <a:ext cx="11565424" cy="2403188"/>
          </a:xfrm>
        </p:spPr>
        <p:txBody>
          <a:bodyPr>
            <a:normAutofit/>
          </a:bodyPr>
          <a:lstStyle/>
          <a:p>
            <a:r>
              <a:rPr lang="en-US" altLang="zh-CN" dirty="0"/>
              <a:t>The class selector selects elements with a specific class attribute.</a:t>
            </a:r>
            <a:endParaRPr lang="en-US" altLang="zh-CN" dirty="0"/>
          </a:p>
          <a:p>
            <a:r>
              <a:rPr lang="en-US" altLang="zh-CN" dirty="0"/>
              <a:t>To select elements with a specific class, </a:t>
            </a:r>
            <a:r>
              <a:rPr lang="en-US" altLang="zh-CN" dirty="0">
                <a:solidFill>
                  <a:srgbClr val="FFFF00"/>
                </a:solidFill>
              </a:rPr>
              <a:t>write a period (.) character</a:t>
            </a:r>
            <a:r>
              <a:rPr lang="en-US" altLang="zh-CN" dirty="0"/>
              <a:t>, followed by the name of the class.</a:t>
            </a:r>
            <a:endParaRPr lang="en-US" altLang="zh-CN" dirty="0"/>
          </a:p>
          <a:p>
            <a:r>
              <a:rPr lang="en-US" altLang="zh-CN" dirty="0"/>
              <a:t>In the example below, all HTML elements with class="center" will be red and center-aligned: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38143"/>
          <a:stretch>
            <a:fillRect/>
          </a:stretch>
        </p:blipFill>
        <p:spPr>
          <a:xfrm>
            <a:off x="5558155" y="4364355"/>
            <a:ext cx="6412230" cy="1308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8" y="3331338"/>
            <a:ext cx="5019048" cy="3361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-12356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755" y="1124857"/>
            <a:ext cx="11314827" cy="2158571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You can also specify that only specific HTML elements should be affected by a class.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In the example below, only &lt;p&gt; elements with class="center" will be center-aligned: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6510" y="4519313"/>
            <a:ext cx="5193484" cy="8705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33" y="3635918"/>
            <a:ext cx="5069355" cy="2910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-6590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8470" y="1168400"/>
            <a:ext cx="11271250" cy="1694815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HTML elements can also refer to more than one class.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In the example below, the &lt;p&gt; element will be styled according to class="center" and class="large":</a:t>
            </a:r>
            <a:endParaRPr lang="en-US" altLang="zh-CN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2563" y="3852992"/>
            <a:ext cx="4430978" cy="13944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00" y="3201859"/>
            <a:ext cx="6945756" cy="35134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55" y="5586010"/>
            <a:ext cx="327688" cy="2895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96699" y="5468003"/>
            <a:ext cx="404270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/>
              <a:t>A class name cannot start with a number!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Grouping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3369" y="1432403"/>
            <a:ext cx="10515600" cy="5519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If you have elements with the same style definitions, like this: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665" y="2371323"/>
            <a:ext cx="5240897" cy="42179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3369" y="90617"/>
            <a:ext cx="10515600" cy="1120818"/>
          </a:xfrm>
        </p:spPr>
        <p:txBody>
          <a:bodyPr/>
          <a:lstStyle/>
          <a:p>
            <a:pPr algn="ctr"/>
            <a:r>
              <a:rPr lang="en-US" altLang="zh-CN" dirty="0"/>
              <a:t>Grouping Selectors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8612" y="1140258"/>
            <a:ext cx="11398588" cy="184173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3200" dirty="0"/>
              <a:t>It will be better to group the selectors, to minimize the code.</a:t>
            </a:r>
            <a:endParaRPr lang="en-US" altLang="zh-CN" sz="32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3200" dirty="0"/>
              <a:t>To group selectors, separate each selector with a comma.</a:t>
            </a:r>
            <a:endParaRPr lang="en-US" altLang="zh-CN" sz="3200" dirty="0"/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z="3200" dirty="0"/>
              <a:t>In the example below we have grouped the selectors from the code above:</a:t>
            </a:r>
            <a:endParaRPr lang="en-US" altLang="zh-CN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945" y="3224526"/>
            <a:ext cx="2942857" cy="35428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58" y="4464078"/>
            <a:ext cx="6906523" cy="16989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HOW TO…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444115"/>
            <a:ext cx="10515600" cy="982815"/>
          </a:xfrm>
        </p:spPr>
        <p:txBody>
          <a:bodyPr/>
          <a:lstStyle/>
          <a:p>
            <a:pPr algn="ctr"/>
            <a:r>
              <a:rPr lang="en-US" altLang="zh-CN" dirty="0"/>
              <a:t>Three Ways to Insert CSS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1769678"/>
            <a:ext cx="10515600" cy="420595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When a browser reads a style sheet, it will format the HTML document according to the information in the style sheet.</a:t>
            </a:r>
            <a:endParaRPr lang="en-US" altLang="zh-CN" sz="4400" dirty="0"/>
          </a:p>
          <a:p>
            <a:r>
              <a:rPr lang="en-US" altLang="zh-CN" sz="3600" dirty="0"/>
              <a:t>There are three ways of inserting a style sheet:</a:t>
            </a:r>
            <a:endParaRPr lang="en-US" altLang="zh-CN" sz="3600" dirty="0"/>
          </a:p>
          <a:p>
            <a:pPr lvl="1"/>
            <a:r>
              <a:rPr lang="en-US" altLang="zh-CN" sz="3200" dirty="0"/>
              <a:t>External style sheet</a:t>
            </a:r>
            <a:endParaRPr lang="en-US" altLang="zh-CN" sz="3200" dirty="0"/>
          </a:p>
          <a:p>
            <a:pPr lvl="1"/>
            <a:r>
              <a:rPr lang="en-US" altLang="zh-CN" sz="3200" dirty="0"/>
              <a:t>Internal style sheet</a:t>
            </a:r>
            <a:endParaRPr lang="en-US" altLang="zh-CN" sz="3200" dirty="0"/>
          </a:p>
          <a:p>
            <a:pPr lvl="1"/>
            <a:r>
              <a:rPr lang="en-US" altLang="zh-CN" sz="3200" dirty="0"/>
              <a:t>Inline style</a:t>
            </a:r>
            <a:endParaRPr lang="en-US" altLang="zh-CN" sz="3200" dirty="0"/>
          </a:p>
          <a:p>
            <a:endParaRPr lang="en-US" altLang="zh-CN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14755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External Style Sheet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220" y="1473200"/>
            <a:ext cx="10515600" cy="1840230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Each page must include a reference to the external style sheet file inside the &lt;link&gt; element. The &lt;link&gt; element goes inside the &lt;head&gt; section: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966" y="4485485"/>
            <a:ext cx="10253093" cy="11698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14755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Internal Style Sheet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8930" y="1236980"/>
            <a:ext cx="11324590" cy="170942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An internal style sheet may be used if one single page has a unique style.</a:t>
            </a:r>
            <a:endParaRPr lang="en-US" altLang="zh-CN" dirty="0"/>
          </a:p>
          <a:p>
            <a:pPr algn="just"/>
            <a:r>
              <a:rPr lang="en-US" altLang="zh-CN" dirty="0"/>
              <a:t>Internal styles are defined within the &lt;style&gt; element, inside the &lt;head&gt; section of an HTML page: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880" y="2877185"/>
            <a:ext cx="6490335" cy="36791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14755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Inline Styles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1160" y="1374140"/>
            <a:ext cx="11434445" cy="2210435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An inline style may be used to apply a unique style for a single element.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To use inline styles, add the style attribute to the relevant element. The style attribute can contain any CSS property.</a:t>
            </a:r>
            <a:endParaRPr lang="en-US" altLang="zh-CN" dirty="0"/>
          </a:p>
          <a:p>
            <a:pPr marL="457200" lvl="1" indent="0" algn="just">
              <a:buNone/>
            </a:pPr>
            <a:endParaRPr lang="en-US" altLang="zh-CN" dirty="0"/>
          </a:p>
          <a:p>
            <a:pPr marL="457200" lvl="1" indent="0" algn="just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60" y="4379595"/>
            <a:ext cx="1157287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98853"/>
            <a:ext cx="10515600" cy="970287"/>
          </a:xfrm>
        </p:spPr>
        <p:txBody>
          <a:bodyPr/>
          <a:lstStyle/>
          <a:p>
            <a:pPr algn="ctr"/>
            <a:r>
              <a:rPr lang="en-US" altLang="zh-CN" dirty="0">
                <a:sym typeface="+mn-ea"/>
              </a:rPr>
              <a:t>Multiple Style Sheets-</a:t>
            </a:r>
            <a:r>
              <a:rPr lang="en-US" altLang="zh-CN" dirty="0"/>
              <a:t>Cascading Order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131" y="1299485"/>
            <a:ext cx="11365319" cy="5275819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What style will be used when there is more than one style specified for an HTML element?</a:t>
            </a:r>
            <a:endParaRPr lang="en-US" altLang="zh-CN" sz="3200" dirty="0"/>
          </a:p>
          <a:p>
            <a:pPr algn="just"/>
            <a:r>
              <a:rPr lang="en-US" altLang="zh-CN" sz="3200" dirty="0"/>
              <a:t>All the styles will "cascade" into a new "virtual" style sheet by the following rules, where number one has the highest priority:</a:t>
            </a:r>
            <a:endParaRPr lang="en-US" altLang="zh-CN" sz="3200" dirty="0"/>
          </a:p>
          <a:p>
            <a:pPr lvl="1" algn="just"/>
            <a:r>
              <a:rPr lang="en-US" altLang="zh-CN" sz="2800" dirty="0"/>
              <a:t>Inline style (inside an HTML element)</a:t>
            </a:r>
            <a:endParaRPr lang="en-US" altLang="zh-CN" sz="2800" dirty="0"/>
          </a:p>
          <a:p>
            <a:pPr lvl="1" algn="just"/>
            <a:r>
              <a:rPr lang="en-US" altLang="zh-CN" sz="2800" dirty="0"/>
              <a:t>External and internal style sheets (in the head section)</a:t>
            </a:r>
            <a:endParaRPr lang="en-US" altLang="zh-CN" sz="2800" dirty="0"/>
          </a:p>
          <a:p>
            <a:pPr lvl="1" algn="just"/>
            <a:r>
              <a:rPr lang="en-US" altLang="zh-CN" sz="2800" dirty="0"/>
              <a:t>Browser default</a:t>
            </a:r>
            <a:endParaRPr lang="en-US" altLang="zh-CN" sz="2800" dirty="0"/>
          </a:p>
          <a:p>
            <a:pPr algn="just"/>
            <a:r>
              <a:rPr lang="en-US" altLang="zh-CN" sz="3200" dirty="0"/>
              <a:t>So, an inline style (inside a specific HTML element) has the highest priority, which means that it will override a style defined inside the &lt;head&gt; tag, or in an external style sheet, or a browser default value.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39835"/>
            <a:ext cx="9144000" cy="1886507"/>
          </a:xfrm>
        </p:spPr>
        <p:txBody>
          <a:bodyPr/>
          <a:lstStyle/>
          <a:p>
            <a:r>
              <a:rPr lang="en-US" altLang="zh-CN" dirty="0"/>
              <a:t>CSS COLORS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343628"/>
            <a:ext cx="10515600" cy="1042534"/>
          </a:xfrm>
        </p:spPr>
        <p:txBody>
          <a:bodyPr/>
          <a:lstStyle/>
          <a:p>
            <a:pPr algn="ctr"/>
            <a:r>
              <a:rPr lang="en-US" altLang="zh-CN" dirty="0"/>
              <a:t>CSS Colors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865" y="1661795"/>
            <a:ext cx="11352530" cy="4278630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Colors are displayed combining RED, GREEN, and BLUE light.</a:t>
            </a:r>
            <a:endParaRPr lang="en-US" altLang="zh-CN" sz="4000" dirty="0"/>
          </a:p>
          <a:p>
            <a:r>
              <a:rPr lang="en-US" altLang="zh-CN" sz="4000" dirty="0"/>
              <a:t>Colors in CSS are most often specified by:</a:t>
            </a:r>
            <a:endParaRPr lang="en-US" altLang="zh-CN" sz="4000" dirty="0"/>
          </a:p>
          <a:p>
            <a:pPr lvl="1"/>
            <a:r>
              <a:rPr lang="en-US" altLang="zh-CN" sz="3600" dirty="0"/>
              <a:t>a valid color name - like "red"</a:t>
            </a:r>
            <a:endParaRPr lang="en-US" altLang="zh-CN" sz="3600" dirty="0"/>
          </a:p>
          <a:p>
            <a:pPr lvl="1"/>
            <a:r>
              <a:rPr lang="en-US" altLang="zh-CN" sz="3600" dirty="0"/>
              <a:t>an RGB value - like "</a:t>
            </a:r>
            <a:r>
              <a:rPr lang="en-US" altLang="zh-CN" sz="3600" dirty="0" err="1"/>
              <a:t>rgb</a:t>
            </a:r>
            <a:r>
              <a:rPr lang="en-US" altLang="zh-CN" sz="3600" dirty="0"/>
              <a:t>(255, 0, 0)"</a:t>
            </a:r>
            <a:endParaRPr lang="en-US" altLang="zh-CN" sz="3600" dirty="0"/>
          </a:p>
          <a:p>
            <a:pPr lvl="1"/>
            <a:r>
              <a:rPr lang="en-US" altLang="zh-CN" sz="3600" dirty="0"/>
              <a:t>a HEX value - like "#ff0000"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BACKGROUNDS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229931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 Backgrounds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455" y="1555750"/>
            <a:ext cx="11481435" cy="4977130"/>
          </a:xfrm>
        </p:spPr>
        <p:txBody>
          <a:bodyPr>
            <a:normAutofit/>
          </a:bodyPr>
          <a:lstStyle/>
          <a:p>
            <a:pPr algn="just"/>
            <a:r>
              <a:rPr lang="en-US" altLang="zh-CN" sz="3600" dirty="0"/>
              <a:t>The CSS background properties are used to define the background effects for elements.</a:t>
            </a:r>
            <a:endParaRPr lang="en-US" altLang="zh-CN" sz="3600" dirty="0"/>
          </a:p>
          <a:p>
            <a:pPr algn="just"/>
            <a:r>
              <a:rPr lang="en-US" altLang="zh-CN" sz="3600" dirty="0"/>
              <a:t>CSS background properties:</a:t>
            </a:r>
            <a:endParaRPr lang="en-US" altLang="zh-CN" sz="3600" dirty="0"/>
          </a:p>
          <a:p>
            <a:pPr lvl="1" algn="just"/>
            <a:r>
              <a:rPr lang="en-US" altLang="zh-CN" sz="3200" dirty="0"/>
              <a:t>background-color</a:t>
            </a:r>
            <a:endParaRPr lang="en-US" altLang="zh-CN" sz="3200" dirty="0"/>
          </a:p>
          <a:p>
            <a:pPr lvl="1" algn="just"/>
            <a:r>
              <a:rPr lang="en-US" altLang="zh-CN" sz="3200" dirty="0"/>
              <a:t>background-image</a:t>
            </a:r>
            <a:endParaRPr lang="en-US" altLang="zh-CN" sz="3200" dirty="0"/>
          </a:p>
          <a:p>
            <a:pPr lvl="1" algn="just"/>
            <a:r>
              <a:rPr lang="en-US" altLang="zh-CN" sz="3200" dirty="0"/>
              <a:t>background-repeat</a:t>
            </a:r>
            <a:endParaRPr lang="en-US" altLang="zh-CN" sz="3200" dirty="0"/>
          </a:p>
          <a:p>
            <a:pPr lvl="1" algn="just"/>
            <a:r>
              <a:rPr lang="en-US" altLang="zh-CN" sz="3200" dirty="0"/>
              <a:t>background-attachment</a:t>
            </a:r>
            <a:endParaRPr lang="en-US" altLang="zh-CN" sz="3200" dirty="0"/>
          </a:p>
          <a:p>
            <a:pPr lvl="1" algn="just"/>
            <a:r>
              <a:rPr lang="en-US" altLang="zh-CN" sz="3200" dirty="0"/>
              <a:t>background-position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0709" y="161179"/>
            <a:ext cx="10515600" cy="1007603"/>
          </a:xfrm>
        </p:spPr>
        <p:txBody>
          <a:bodyPr/>
          <a:lstStyle/>
          <a:p>
            <a:pPr algn="ctr"/>
            <a:r>
              <a:rPr lang="en-US" altLang="zh-CN" dirty="0"/>
              <a:t>Background Color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5709" y="1308359"/>
            <a:ext cx="10515600" cy="1007603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The  background-color property specifies the background color of an element. </a:t>
            </a:r>
            <a:endParaRPr lang="en-US" altLang="zh-CN" sz="3200" dirty="0"/>
          </a:p>
        </p:txBody>
      </p:sp>
      <p:sp>
        <p:nvSpPr>
          <p:cNvPr id="7" name="文本框 6"/>
          <p:cNvSpPr txBox="1"/>
          <p:nvPr/>
        </p:nvSpPr>
        <p:spPr>
          <a:xfrm>
            <a:off x="982167" y="3046526"/>
            <a:ext cx="10226793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/>
              <a:t>With CSS, a color is most often specified by:</a:t>
            </a:r>
            <a:endParaRPr lang="en-US" altLang="zh-CN" sz="3200" dirty="0"/>
          </a:p>
          <a:p>
            <a:pPr lvl="1"/>
            <a:r>
              <a:rPr lang="en-US" altLang="zh-CN" sz="3200" dirty="0"/>
              <a:t>a valid color name - like "red"</a:t>
            </a:r>
            <a:endParaRPr lang="en-US" altLang="zh-CN" sz="3200" dirty="0"/>
          </a:p>
          <a:p>
            <a:pPr lvl="1"/>
            <a:r>
              <a:rPr lang="en-US" altLang="zh-CN" sz="3200" dirty="0"/>
              <a:t>a HEX value - like "#ff0000"</a:t>
            </a:r>
            <a:endParaRPr lang="en-US" altLang="zh-CN" sz="3200" dirty="0"/>
          </a:p>
          <a:p>
            <a:pPr lvl="1"/>
            <a:r>
              <a:rPr lang="en-US" altLang="zh-CN" sz="3200" dirty="0"/>
              <a:t>an RGB value - like "</a:t>
            </a:r>
            <a:r>
              <a:rPr lang="en-US" altLang="zh-CN" sz="3200" dirty="0" err="1"/>
              <a:t>rgb</a:t>
            </a:r>
            <a:r>
              <a:rPr lang="en-US" altLang="zh-CN" sz="3200" dirty="0"/>
              <a:t>(255,0,0)"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220" y="229870"/>
            <a:ext cx="10515600" cy="1000125"/>
          </a:xfrm>
        </p:spPr>
        <p:txBody>
          <a:bodyPr/>
          <a:lstStyle/>
          <a:p>
            <a:pPr algn="ctr"/>
            <a:r>
              <a:rPr lang="en-US" altLang="zh-CN" dirty="0"/>
              <a:t>Background Color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040" y="1331595"/>
            <a:ext cx="11210290" cy="104013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The  background-color property specifies the background color of an element.</a:t>
            </a:r>
            <a:endParaRPr lang="en-US" altLang="zh-CN" sz="3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320" y="3270885"/>
            <a:ext cx="6535420" cy="2148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" y="2515235"/>
            <a:ext cx="4958715" cy="4155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229931"/>
            <a:ext cx="10515600" cy="946403"/>
          </a:xfrm>
        </p:spPr>
        <p:txBody>
          <a:bodyPr/>
          <a:lstStyle/>
          <a:p>
            <a:pPr algn="ctr"/>
            <a:r>
              <a:rPr lang="en-US" altLang="zh-CN" dirty="0"/>
              <a:t>Background Image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8145" y="1176020"/>
            <a:ext cx="11482070" cy="2198370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dirty="0"/>
              <a:t>The  </a:t>
            </a:r>
            <a:r>
              <a:rPr lang="en-US" altLang="zh-CN" sz="2800" dirty="0"/>
              <a:t>background-image </a:t>
            </a:r>
            <a:r>
              <a:rPr lang="en-US" altLang="zh-CN" dirty="0"/>
              <a:t>property specifies an image to use as the background of an element. </a:t>
            </a:r>
            <a:endParaRPr lang="en-US" altLang="zh-CN" dirty="0"/>
          </a:p>
          <a:p>
            <a:pPr algn="just"/>
            <a:r>
              <a:rPr lang="en-US" altLang="zh-CN" dirty="0"/>
              <a:t>By default, the image is repeated </a:t>
            </a:r>
            <a:r>
              <a:rPr lang="en-US" altLang="zh-CN" dirty="0">
                <a:sym typeface="+mn-ea"/>
              </a:rPr>
              <a:t> both horizontally and vertically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/>
              <a:t>so it covers the entire element.</a:t>
            </a:r>
            <a:endParaRPr lang="en-US" altLang="zh-CN" dirty="0"/>
          </a:p>
          <a:p>
            <a:pPr algn="just"/>
            <a:r>
              <a:rPr lang="en-US" altLang="zh-CN" dirty="0"/>
              <a:t>The background image for a page can be set like this:</a:t>
            </a:r>
            <a:endParaRPr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2" y="3587965"/>
            <a:ext cx="7196179" cy="28815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228" y="3587965"/>
            <a:ext cx="4528335" cy="23070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229932"/>
            <a:ext cx="10515600" cy="1016964"/>
          </a:xfrm>
        </p:spPr>
        <p:txBody>
          <a:bodyPr/>
          <a:lstStyle/>
          <a:p>
            <a:pPr algn="ctr"/>
            <a:r>
              <a:rPr lang="en-US" altLang="zh-CN" dirty="0"/>
              <a:t>Background Image - Repeat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626" y="1315969"/>
            <a:ext cx="11242748" cy="1016963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If the image above is repeated only horizontally ( </a:t>
            </a:r>
            <a:r>
              <a:rPr lang="en-US" altLang="zh-CN" sz="3200" dirty="0">
                <a:solidFill>
                  <a:srgbClr val="FF0000"/>
                </a:solidFill>
              </a:rPr>
              <a:t>background-repeat: repeat-x</a:t>
            </a:r>
            <a:r>
              <a:rPr lang="en-US" altLang="zh-CN" sz="3200" dirty="0"/>
              <a:t>  ) , the background will look like this: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65" y="2402005"/>
            <a:ext cx="7272174" cy="316339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772" y="3750862"/>
            <a:ext cx="7038566" cy="24265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7027" y="129926"/>
            <a:ext cx="11260171" cy="1325563"/>
          </a:xfrm>
        </p:spPr>
        <p:txBody>
          <a:bodyPr/>
          <a:lstStyle/>
          <a:p>
            <a:pPr algn="ctr"/>
            <a:r>
              <a:rPr lang="en-US" altLang="zh-CN" dirty="0"/>
              <a:t>Background Image - Set position and no-repeat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1795" y="1198880"/>
            <a:ext cx="11442065" cy="1009015"/>
          </a:xfrm>
        </p:spPr>
        <p:txBody>
          <a:bodyPr>
            <a:normAutofit/>
          </a:bodyPr>
          <a:lstStyle/>
          <a:p>
            <a:pPr marL="0" algn="just"/>
            <a:r>
              <a:rPr lang="en-US" altLang="zh-CN" dirty="0"/>
              <a:t>Showing the background image only once is also specified by the </a:t>
            </a:r>
            <a:r>
              <a:rPr lang="en-US" altLang="zh-CN" sz="2800" dirty="0"/>
              <a:t>background-repeat  property: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709" y="2296471"/>
            <a:ext cx="8360292" cy="38291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761" y="4326436"/>
            <a:ext cx="6480239" cy="23354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4995" y="0"/>
            <a:ext cx="11168245" cy="1325563"/>
          </a:xfrm>
        </p:spPr>
        <p:txBody>
          <a:bodyPr/>
          <a:lstStyle/>
          <a:p>
            <a:pPr algn="ctr"/>
            <a:r>
              <a:rPr lang="en-US" altLang="zh-CN" dirty="0"/>
              <a:t>Background Image - Set position and no-repeat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4815" y="1089025"/>
            <a:ext cx="11448415" cy="1266825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We can change the position of the background image by the background-position property:</a:t>
            </a:r>
            <a:endParaRPr lang="en-US" altLang="zh-CN" sz="3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9" y="3175970"/>
            <a:ext cx="7080640" cy="33993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747" y="3292819"/>
            <a:ext cx="6507100" cy="203303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Background Image - Fixed position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3861" y="940445"/>
            <a:ext cx="11406755" cy="965138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To specify that the background image should be fixed (will not scroll with the rest of the page), use the background-attachment property: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5" y="2152050"/>
            <a:ext cx="5529396" cy="46101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701" y="2269221"/>
            <a:ext cx="6588299" cy="43758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3" y="-15080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Background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868" y="1017939"/>
            <a:ext cx="11510271" cy="1466996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To shorten the code, it is also possible to specify all the background properties in one single property. This is called a shorthand property.</a:t>
            </a:r>
            <a:endParaRPr lang="en-US" altLang="zh-CN" dirty="0"/>
          </a:p>
          <a:p>
            <a:pPr algn="just"/>
            <a:r>
              <a:rPr lang="en-US" altLang="zh-CN" dirty="0"/>
              <a:t>The shorthand property for background is  </a:t>
            </a:r>
            <a:r>
              <a:rPr lang="en-US" altLang="zh-CN" sz="3200" dirty="0">
                <a:solidFill>
                  <a:srgbClr val="FF0000"/>
                </a:solidFill>
              </a:rPr>
              <a:t>background</a:t>
            </a:r>
            <a:r>
              <a:rPr lang="en-US" altLang="zh-CN" dirty="0"/>
              <a:t> :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065" y="2555875"/>
            <a:ext cx="9745345" cy="40220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500038"/>
            <a:ext cx="10515600" cy="812231"/>
          </a:xfrm>
        </p:spPr>
        <p:txBody>
          <a:bodyPr/>
          <a:lstStyle/>
          <a:p>
            <a:pPr algn="ctr"/>
            <a:r>
              <a:rPr lang="en-US" altLang="zh-CN" dirty="0"/>
              <a:t>Background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4510" y="1503680"/>
            <a:ext cx="11369675" cy="4845685"/>
          </a:xfrm>
        </p:spPr>
        <p:txBody>
          <a:bodyPr>
            <a:normAutofit lnSpcReduction="20000"/>
          </a:bodyPr>
          <a:lstStyle/>
          <a:p>
            <a:r>
              <a:rPr lang="en-US" altLang="zh-CN" dirty="0"/>
              <a:t>When using the shorthand property the order of the property values is: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It does not matter if one of the property values is missing, as long as the other ones are in this order.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265" y="2114550"/>
            <a:ext cx="5625465" cy="288417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BORDERS</a:t>
            </a:r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58415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CSS Border Properties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2288662"/>
            <a:ext cx="10515600" cy="1218715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The CSS </a:t>
            </a:r>
            <a:r>
              <a:rPr lang="en-US" altLang="zh-CN" sz="3200" dirty="0">
                <a:solidFill>
                  <a:srgbClr val="FF0000"/>
                </a:solidFill>
              </a:rPr>
              <a:t>border</a:t>
            </a:r>
            <a:r>
              <a:rPr lang="en-US" altLang="zh-CN" sz="3200" dirty="0"/>
              <a:t> properties allow you to specify the style, width, and color of an element's border.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Style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1325563"/>
            <a:ext cx="10515600" cy="4977111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The  </a:t>
            </a:r>
            <a:r>
              <a:rPr lang="en-US" altLang="zh-CN" dirty="0">
                <a:solidFill>
                  <a:srgbClr val="FF0000"/>
                </a:solidFill>
              </a:rPr>
              <a:t>border-style</a:t>
            </a:r>
            <a:r>
              <a:rPr lang="en-US" altLang="zh-CN" dirty="0"/>
              <a:t> property specifies what kind of border to display.</a:t>
            </a:r>
            <a:endParaRPr lang="en-US" altLang="zh-CN" dirty="0"/>
          </a:p>
          <a:p>
            <a:r>
              <a:rPr lang="en-US" altLang="zh-CN" dirty="0"/>
              <a:t>The following values are allowed: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dotted</a:t>
            </a:r>
            <a:r>
              <a:rPr lang="en-US" altLang="zh-CN" dirty="0"/>
              <a:t>- Defines a dotted border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dashed</a:t>
            </a:r>
            <a:r>
              <a:rPr lang="en-US" altLang="zh-CN" dirty="0"/>
              <a:t>- Defines a dashed border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solid-</a:t>
            </a:r>
            <a:r>
              <a:rPr lang="en-US" altLang="zh-CN" dirty="0"/>
              <a:t> Defines a solid border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double</a:t>
            </a:r>
            <a:r>
              <a:rPr lang="en-US" altLang="zh-CN" dirty="0"/>
              <a:t>- Defines a double border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groove</a:t>
            </a:r>
            <a:r>
              <a:rPr lang="en-US" altLang="zh-CN" dirty="0"/>
              <a:t>- Defines a 3D grooved border. The effect depends on the border-color value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ridge</a:t>
            </a:r>
            <a:r>
              <a:rPr lang="en-US" altLang="zh-CN" dirty="0"/>
              <a:t>- Defines a 3D ridged border. The effect depends on the border-color value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inset-</a:t>
            </a:r>
            <a:r>
              <a:rPr lang="en-US" altLang="zh-CN" dirty="0"/>
              <a:t> Defines a 3D inset border. The effect depends on the border-color value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outset</a:t>
            </a:r>
            <a:r>
              <a:rPr lang="en-US" altLang="zh-CN" dirty="0"/>
              <a:t> - Defines a 3D outset border. The effect depends on the border-color value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none</a:t>
            </a:r>
            <a:r>
              <a:rPr lang="en-US" altLang="zh-CN" dirty="0"/>
              <a:t> - Defines no border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hidden-</a:t>
            </a:r>
            <a:r>
              <a:rPr lang="en-US" altLang="zh-CN" dirty="0"/>
              <a:t> Defines a hidden border</a:t>
            </a:r>
            <a:endParaRPr lang="en-US" altLang="zh-CN" dirty="0"/>
          </a:p>
          <a:p>
            <a:r>
              <a:rPr lang="en-US" altLang="zh-CN" dirty="0"/>
              <a:t>The  </a:t>
            </a:r>
            <a:r>
              <a:rPr lang="en-US" altLang="zh-CN" dirty="0">
                <a:solidFill>
                  <a:srgbClr val="FF0000"/>
                </a:solidFill>
              </a:rPr>
              <a:t>border-style</a:t>
            </a:r>
            <a:r>
              <a:rPr lang="en-US" altLang="zh-CN" dirty="0"/>
              <a:t> property can have from one to four values (for the top border, right border, bottom border, and the left border).</a:t>
            </a:r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Style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1109432"/>
            <a:ext cx="10515600" cy="497711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Example:</a:t>
            </a:r>
            <a:endParaRPr lang="en-US" altLang="zh-CN" sz="3200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151" y="1280108"/>
            <a:ext cx="4748449" cy="546623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Style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949138"/>
            <a:ext cx="10515600" cy="5495370"/>
          </a:xfrm>
        </p:spPr>
        <p:txBody>
          <a:bodyPr>
            <a:normAutofit/>
          </a:bodyPr>
          <a:lstStyle/>
          <a:p>
            <a:r>
              <a:rPr lang="en-US" altLang="zh-CN" dirty="0"/>
              <a:t>Result: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     Note:</a:t>
            </a:r>
            <a:r>
              <a:rPr lang="en-US" altLang="zh-CN" dirty="0"/>
              <a:t> None of the OTHER CSS border properties will have ANY effect unless the </a:t>
            </a:r>
            <a:r>
              <a:rPr lang="en-US" altLang="zh-CN" dirty="0">
                <a:solidFill>
                  <a:srgbClr val="FF0000"/>
                </a:solidFill>
              </a:rPr>
              <a:t>border-style</a:t>
            </a:r>
            <a:r>
              <a:rPr lang="en-US" altLang="zh-CN" dirty="0"/>
              <a:t> property is set!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1436867"/>
            <a:ext cx="10575779" cy="39907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68" y="5627167"/>
            <a:ext cx="297206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-259409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Width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007" y="674818"/>
            <a:ext cx="11580073" cy="1872439"/>
          </a:xfrm>
        </p:spPr>
        <p:txBody>
          <a:bodyPr>
            <a:normAutofit lnSpcReduction="20000"/>
          </a:bodyPr>
          <a:lstStyle/>
          <a:p>
            <a:pPr algn="just" fontAlgn="auto">
              <a:lnSpc>
                <a:spcPct val="100000"/>
              </a:lnSpc>
            </a:pPr>
            <a:r>
              <a:rPr lang="en-US" altLang="zh-CN" sz="2200" dirty="0"/>
              <a:t>The  </a:t>
            </a:r>
            <a:r>
              <a:rPr lang="en-US" altLang="zh-CN" sz="2200" dirty="0">
                <a:solidFill>
                  <a:srgbClr val="FF0000"/>
                </a:solidFill>
              </a:rPr>
              <a:t>border-width</a:t>
            </a:r>
            <a:r>
              <a:rPr lang="en-US" altLang="zh-CN" sz="2200" dirty="0"/>
              <a:t>  property specifies the width of the four borders.</a:t>
            </a:r>
            <a:endParaRPr lang="en-US" altLang="zh-CN" sz="2200" dirty="0"/>
          </a:p>
          <a:p>
            <a:pPr algn="just" fontAlgn="auto">
              <a:lnSpc>
                <a:spcPct val="100000"/>
              </a:lnSpc>
            </a:pPr>
            <a:r>
              <a:rPr lang="en-US" altLang="zh-CN" sz="2200" dirty="0"/>
              <a:t>The width can be set as a specific size (in </a:t>
            </a:r>
            <a:r>
              <a:rPr lang="en-US" altLang="zh-CN" sz="2200" dirty="0" err="1"/>
              <a:t>px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pt</a:t>
            </a:r>
            <a:r>
              <a:rPr lang="en-US" altLang="zh-CN" sz="2200" dirty="0"/>
              <a:t>, cm, </a:t>
            </a:r>
            <a:r>
              <a:rPr lang="en-US" altLang="zh-CN" sz="2200" dirty="0" err="1"/>
              <a:t>em</a:t>
            </a:r>
            <a:r>
              <a:rPr lang="en-US" altLang="zh-CN" sz="2200" dirty="0"/>
              <a:t>, </a:t>
            </a:r>
            <a:r>
              <a:rPr lang="en-US" altLang="zh-CN" sz="2200" dirty="0" err="1"/>
              <a:t>etc</a:t>
            </a:r>
            <a:r>
              <a:rPr lang="en-US" altLang="zh-CN" sz="2200" dirty="0"/>
              <a:t>) or by using one of the three pre-defined values: thin, medium, or thick.</a:t>
            </a:r>
            <a:endParaRPr lang="en-US" altLang="zh-CN" sz="2200" dirty="0"/>
          </a:p>
          <a:p>
            <a:pPr algn="just" fontAlgn="auto">
              <a:lnSpc>
                <a:spcPct val="100000"/>
              </a:lnSpc>
            </a:pPr>
            <a:r>
              <a:rPr lang="en-US" altLang="zh-CN" sz="2200" dirty="0"/>
              <a:t>The </a:t>
            </a:r>
            <a:r>
              <a:rPr lang="en-US" altLang="zh-CN" sz="2200" dirty="0">
                <a:solidFill>
                  <a:srgbClr val="FF0000"/>
                </a:solidFill>
              </a:rPr>
              <a:t>border-width</a:t>
            </a:r>
            <a:r>
              <a:rPr lang="en-US" altLang="zh-CN" sz="2200" dirty="0"/>
              <a:t> property can have from one to four values (for the top border, right border, bottom border, and the left border).</a:t>
            </a:r>
            <a:endParaRPr lang="en-US" altLang="zh-CN" sz="2200" dirty="0"/>
          </a:p>
          <a:p>
            <a:pPr algn="just" fontAlgn="auto">
              <a:lnSpc>
                <a:spcPct val="100000"/>
              </a:lnSpc>
            </a:pPr>
            <a:endParaRPr lang="en-US" altLang="zh-CN" sz="2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309" y="2501209"/>
            <a:ext cx="2718855" cy="42750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27" y="3063473"/>
            <a:ext cx="6652364" cy="335039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Width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949138"/>
            <a:ext cx="10515600" cy="5495370"/>
          </a:xfrm>
        </p:spPr>
        <p:txBody>
          <a:bodyPr>
            <a:normAutofit/>
          </a:bodyPr>
          <a:lstStyle/>
          <a:p>
            <a:r>
              <a:rPr lang="en-US" altLang="zh-CN" dirty="0"/>
              <a:t>Result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85" y="1616710"/>
            <a:ext cx="10161270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0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Color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0225" y="1325880"/>
            <a:ext cx="11095355" cy="2390775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0000"/>
                </a:solidFill>
              </a:rPr>
              <a:t>border-color</a:t>
            </a:r>
            <a:r>
              <a:rPr lang="en-US" altLang="zh-CN" sz="3200" dirty="0"/>
              <a:t> property is used to set the color of the four borders.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0000"/>
                </a:solidFill>
              </a:rPr>
              <a:t>border-color</a:t>
            </a:r>
            <a:r>
              <a:rPr lang="en-US" altLang="zh-CN" sz="3200" dirty="0"/>
              <a:t> property can have from one to four values (for the top border, right border, bottom border, and the left border). 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220" y="170180"/>
            <a:ext cx="10515600" cy="907415"/>
          </a:xfrm>
        </p:spPr>
        <p:txBody>
          <a:bodyPr/>
          <a:lstStyle/>
          <a:p>
            <a:pPr algn="ctr"/>
            <a:r>
              <a:rPr lang="en-US" altLang="zh-CN" dirty="0"/>
              <a:t>Border Color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2028" y="1044575"/>
            <a:ext cx="10515600" cy="561976"/>
          </a:xfrm>
        </p:spPr>
        <p:txBody>
          <a:bodyPr>
            <a:normAutofit/>
          </a:bodyPr>
          <a:lstStyle/>
          <a:p>
            <a:r>
              <a:rPr lang="en-US" altLang="zh-CN" dirty="0"/>
              <a:t>If </a:t>
            </a:r>
            <a:r>
              <a:rPr lang="en-US" altLang="zh-CN" dirty="0">
                <a:solidFill>
                  <a:srgbClr val="FF0000"/>
                </a:solidFill>
              </a:rPr>
              <a:t>border-color</a:t>
            </a:r>
            <a:r>
              <a:rPr lang="en-US" altLang="zh-CN" dirty="0"/>
              <a:t>  is not set, it inherits the color of the element. 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05" y="1685570"/>
            <a:ext cx="7262549" cy="48574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17" y="1606551"/>
            <a:ext cx="7340794" cy="23136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-15496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4315" y="892810"/>
            <a:ext cx="11562715" cy="5495290"/>
          </a:xfrm>
        </p:spPr>
        <p:txBody>
          <a:bodyPr>
            <a:normAutofit/>
          </a:bodyPr>
          <a:lstStyle/>
          <a:p>
            <a:pPr algn="just"/>
            <a:r>
              <a:rPr lang="en-US" altLang="zh-CN" dirty="0"/>
              <a:t>In CSS, there is also properties for specifying each of the borders (top, right, bottom, and left) </a:t>
            </a:r>
            <a:endParaRPr lang="en-US" altLang="zh-CN" dirty="0"/>
          </a:p>
          <a:p>
            <a:pPr algn="just"/>
            <a:r>
              <a:rPr lang="en-US" altLang="zh-CN" dirty="0"/>
              <a:t>The example on the right side gives the same result as the example on the left side 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492" y="2942105"/>
            <a:ext cx="4334017" cy="369076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534" y="2942105"/>
            <a:ext cx="4616505" cy="36907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-15496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2233" y="2249488"/>
            <a:ext cx="10515600" cy="4608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If the  </a:t>
            </a:r>
            <a:r>
              <a:rPr lang="en-US" altLang="zh-CN" dirty="0">
                <a:solidFill>
                  <a:srgbClr val="FF0000"/>
                </a:solidFill>
              </a:rPr>
              <a:t>border-style </a:t>
            </a:r>
            <a:r>
              <a:rPr lang="en-US" altLang="zh-CN" dirty="0"/>
              <a:t> property has four values:</a:t>
            </a:r>
            <a:endParaRPr lang="en-US" altLang="zh-CN" dirty="0"/>
          </a:p>
          <a:p>
            <a:r>
              <a:rPr lang="en-US" altLang="zh-CN" b="1" dirty="0"/>
              <a:t>border-style: dotted solid double dashed;</a:t>
            </a:r>
            <a:endParaRPr lang="en-US" altLang="zh-CN" dirty="0"/>
          </a:p>
          <a:p>
            <a:pPr lvl="1"/>
            <a:r>
              <a:rPr lang="en-US" altLang="zh-CN" dirty="0"/>
              <a:t>top border is dotted</a:t>
            </a:r>
            <a:endParaRPr lang="en-US" altLang="zh-CN" dirty="0"/>
          </a:p>
          <a:p>
            <a:pPr lvl="1"/>
            <a:r>
              <a:rPr lang="en-US" altLang="zh-CN" dirty="0"/>
              <a:t>right border is solid</a:t>
            </a:r>
            <a:endParaRPr lang="en-US" altLang="zh-CN" dirty="0"/>
          </a:p>
          <a:p>
            <a:pPr lvl="1"/>
            <a:r>
              <a:rPr lang="en-US" altLang="zh-CN" dirty="0"/>
              <a:t>bottom border is double</a:t>
            </a:r>
            <a:endParaRPr lang="en-US" altLang="zh-CN" dirty="0"/>
          </a:p>
          <a:p>
            <a:pPr lvl="1"/>
            <a:r>
              <a:rPr lang="en-US" altLang="zh-CN" dirty="0"/>
              <a:t>left border is dashed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the </a:t>
            </a:r>
            <a:r>
              <a:rPr lang="en-US" altLang="zh-CN" dirty="0">
                <a:solidFill>
                  <a:srgbClr val="FF0000"/>
                </a:solidFill>
              </a:rPr>
              <a:t>border-style</a:t>
            </a:r>
            <a:r>
              <a:rPr lang="en-US" altLang="zh-CN" dirty="0"/>
              <a:t>  property has three values:</a:t>
            </a:r>
            <a:endParaRPr lang="en-US" altLang="zh-CN" dirty="0"/>
          </a:p>
          <a:p>
            <a:r>
              <a:rPr lang="en-US" altLang="zh-CN" b="1" dirty="0"/>
              <a:t>border-style: dotted solid double;</a:t>
            </a:r>
            <a:endParaRPr lang="en-US" altLang="zh-CN" dirty="0"/>
          </a:p>
          <a:p>
            <a:pPr lvl="1"/>
            <a:r>
              <a:rPr lang="en-US" altLang="zh-CN" dirty="0"/>
              <a:t>top border is dotted</a:t>
            </a:r>
            <a:endParaRPr lang="en-US" altLang="zh-CN" dirty="0"/>
          </a:p>
          <a:p>
            <a:pPr lvl="1"/>
            <a:r>
              <a:rPr lang="en-US" altLang="zh-CN" dirty="0"/>
              <a:t>right and left borders are solid</a:t>
            </a:r>
            <a:endParaRPr lang="en-US" altLang="zh-CN" dirty="0"/>
          </a:p>
          <a:p>
            <a:pPr lvl="1"/>
            <a:r>
              <a:rPr lang="en-US" altLang="zh-CN" dirty="0"/>
              <a:t>bottom border is double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167" y="1049711"/>
            <a:ext cx="10783666" cy="94661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-15496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5" y="1285875"/>
            <a:ext cx="11391900" cy="4970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/>
              <a:t>If the </a:t>
            </a:r>
            <a:r>
              <a:rPr lang="en-US" altLang="zh-CN" sz="3600" dirty="0">
                <a:solidFill>
                  <a:srgbClr val="FF0000"/>
                </a:solidFill>
              </a:rPr>
              <a:t> border-style</a:t>
            </a:r>
            <a:r>
              <a:rPr lang="en-US" altLang="zh-CN" sz="3600" dirty="0"/>
              <a:t>  property has two values:</a:t>
            </a:r>
            <a:endParaRPr lang="en-US" altLang="zh-CN" sz="3600" dirty="0"/>
          </a:p>
          <a:p>
            <a:r>
              <a:rPr lang="en-US" altLang="zh-CN" sz="3600" b="1" dirty="0"/>
              <a:t>border-style: dotted solid;</a:t>
            </a:r>
            <a:endParaRPr lang="en-US" altLang="zh-CN" sz="3600" dirty="0"/>
          </a:p>
          <a:p>
            <a:pPr lvl="1"/>
            <a:r>
              <a:rPr lang="en-US" altLang="zh-CN" sz="3200" dirty="0"/>
              <a:t>top and bottom borders are dotted</a:t>
            </a:r>
            <a:endParaRPr lang="en-US" altLang="zh-CN" sz="3200" dirty="0"/>
          </a:p>
          <a:p>
            <a:pPr lvl="1"/>
            <a:r>
              <a:rPr lang="en-US" altLang="zh-CN" sz="3200" dirty="0"/>
              <a:t>right and left borders are solid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600" dirty="0"/>
              <a:t>If the </a:t>
            </a:r>
            <a:r>
              <a:rPr lang="en-US" altLang="zh-CN" sz="3600" dirty="0">
                <a:solidFill>
                  <a:srgbClr val="FF0000"/>
                </a:solidFill>
              </a:rPr>
              <a:t>border-style</a:t>
            </a:r>
            <a:r>
              <a:rPr lang="en-US" altLang="zh-CN" sz="3600" dirty="0"/>
              <a:t> property has one value:</a:t>
            </a:r>
            <a:endParaRPr lang="en-US" altLang="zh-CN" sz="3600" dirty="0"/>
          </a:p>
          <a:p>
            <a:r>
              <a:rPr lang="en-US" altLang="zh-CN" sz="3600" b="1" dirty="0"/>
              <a:t>border-style: dotted;</a:t>
            </a:r>
            <a:endParaRPr lang="en-US" altLang="zh-CN" sz="3600" dirty="0"/>
          </a:p>
          <a:p>
            <a:pPr lvl="1"/>
            <a:r>
              <a:rPr lang="en-US" altLang="zh-CN" sz="3200" dirty="0"/>
              <a:t>all four borders are dotted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005" y="180975"/>
            <a:ext cx="10515600" cy="989965"/>
          </a:xfrm>
        </p:spPr>
        <p:txBody>
          <a:bodyPr/>
          <a:lstStyle/>
          <a:p>
            <a:pPr algn="ctr"/>
            <a:r>
              <a:rPr lang="en-US" altLang="zh-CN" dirty="0"/>
              <a:t>Border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5295" y="1356360"/>
            <a:ext cx="11153140" cy="4276725"/>
          </a:xfrm>
        </p:spPr>
        <p:txBody>
          <a:bodyPr>
            <a:noAutofit/>
          </a:bodyPr>
          <a:lstStyle/>
          <a:p>
            <a:pPr algn="just"/>
            <a:r>
              <a:rPr lang="en-US" altLang="zh-CN" sz="3200" dirty="0"/>
              <a:t>As you can see from the examples above, there are many properties to consider when dealing with borders.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To shorten the code, it is also possible to specify all the individual border properties in one property.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The </a:t>
            </a:r>
            <a:r>
              <a:rPr lang="en-US" altLang="zh-CN" sz="3200" dirty="0">
                <a:solidFill>
                  <a:srgbClr val="FF0000"/>
                </a:solidFill>
              </a:rPr>
              <a:t>border</a:t>
            </a:r>
            <a:r>
              <a:rPr lang="en-US" altLang="zh-CN" sz="3200" dirty="0"/>
              <a:t> property is a shorthand property for the following individual border properties:</a:t>
            </a:r>
            <a:endParaRPr lang="en-US" altLang="zh-CN" sz="3200" dirty="0"/>
          </a:p>
          <a:p>
            <a:pPr lvl="1" algn="just"/>
            <a:r>
              <a:rPr lang="en-US" altLang="zh-CN" sz="2800" dirty="0">
                <a:solidFill>
                  <a:srgbClr val="FF0000"/>
                </a:solidFill>
              </a:rPr>
              <a:t>border-width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 algn="just"/>
            <a:r>
              <a:rPr lang="en-US" altLang="zh-CN" sz="2800" dirty="0">
                <a:solidFill>
                  <a:srgbClr val="FF0000"/>
                </a:solidFill>
              </a:rPr>
              <a:t>border-style</a:t>
            </a:r>
            <a:r>
              <a:rPr lang="en-US" altLang="zh-CN" sz="2800" dirty="0"/>
              <a:t>(required)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 algn="just"/>
            <a:r>
              <a:rPr lang="en-US" altLang="zh-CN" sz="2800" dirty="0">
                <a:solidFill>
                  <a:srgbClr val="FF0000"/>
                </a:solidFill>
              </a:rPr>
              <a:t>border-color</a:t>
            </a:r>
            <a:endParaRPr lang="en-US" altLang="zh-CN" sz="3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-15496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Border - Shorthand Property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29374"/>
          <a:stretch>
            <a:fillRect/>
          </a:stretch>
        </p:blipFill>
        <p:spPr>
          <a:xfrm>
            <a:off x="801908" y="5118259"/>
            <a:ext cx="11087259" cy="15895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33" y="997722"/>
            <a:ext cx="8927098" cy="39988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6507"/>
          </a:xfrm>
        </p:spPr>
        <p:txBody>
          <a:bodyPr/>
          <a:lstStyle/>
          <a:p>
            <a:r>
              <a:rPr lang="en-US" altLang="zh-CN" dirty="0"/>
              <a:t>CSS MARGINS</a:t>
            </a:r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375154"/>
            <a:ext cx="10515600" cy="950728"/>
          </a:xfrm>
        </p:spPr>
        <p:txBody>
          <a:bodyPr/>
          <a:lstStyle/>
          <a:p>
            <a:pPr algn="ctr" latinLnBrk="1"/>
            <a:r>
              <a:rPr lang="en-US" altLang="zh-CN" dirty="0"/>
              <a:t>CSS Margin Properties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9605" y="1967865"/>
            <a:ext cx="11027410" cy="2865120"/>
          </a:xfrm>
        </p:spPr>
        <p:txBody>
          <a:bodyPr>
            <a:normAutofit/>
          </a:bodyPr>
          <a:lstStyle/>
          <a:p>
            <a:pPr algn="just"/>
            <a:r>
              <a:rPr lang="en-US" altLang="zh-CN" sz="3200" dirty="0"/>
              <a:t>The CSS </a:t>
            </a:r>
            <a:r>
              <a:rPr lang="en-US" altLang="zh-CN" dirty="0">
                <a:solidFill>
                  <a:srgbClr val="FF0000"/>
                </a:solidFill>
              </a:rPr>
              <a:t>margin</a:t>
            </a:r>
            <a:r>
              <a:rPr lang="en-US" altLang="zh-CN" sz="3200" dirty="0"/>
              <a:t> properties are used to generate space around elements.</a:t>
            </a:r>
            <a:endParaRPr lang="en-US" altLang="zh-CN" sz="3200" dirty="0"/>
          </a:p>
          <a:p>
            <a:pPr algn="just"/>
            <a:r>
              <a:rPr lang="en-US" altLang="zh-CN" sz="3200" dirty="0"/>
              <a:t>The margin properties set the size of the white space OUTSIDE the border.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-20933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4" y="747186"/>
            <a:ext cx="10924426" cy="54119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dirty="0"/>
              <a:t>CSS has properties for specifying the margin for each side of an element:</a:t>
            </a:r>
            <a:endParaRPr lang="en-US" altLang="zh-CN" sz="32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margin-top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margin-right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margin-bottom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rgbClr val="FF0000"/>
                </a:solidFill>
              </a:rPr>
              <a:t>margin-left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3200" dirty="0"/>
              <a:t>All the margin properties can have the following values:</a:t>
            </a:r>
            <a:endParaRPr lang="en-US" altLang="zh-CN" sz="32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/>
              <a:t>auto - the browser calculates the margin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i="1" dirty="0"/>
              <a:t>length</a:t>
            </a:r>
            <a:r>
              <a:rPr lang="en-US" altLang="zh-CN" sz="2800" dirty="0"/>
              <a:t> - specifies a margin in </a:t>
            </a:r>
            <a:r>
              <a:rPr lang="en-US" altLang="zh-CN" sz="2800" dirty="0" err="1"/>
              <a:t>px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pt</a:t>
            </a:r>
            <a:r>
              <a:rPr lang="en-US" altLang="zh-CN" sz="2800" dirty="0"/>
              <a:t>, cm, etc.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i="1" dirty="0"/>
              <a:t>%</a:t>
            </a:r>
            <a:r>
              <a:rPr lang="en-US" altLang="zh-CN" sz="2800" dirty="0"/>
              <a:t> - specifies a margin in % of the width of the containing element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zh-CN" sz="2800" dirty="0"/>
              <a:t>inherit - specifies that the margin should be inherited from the parent element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94" y="6362057"/>
            <a:ext cx="335309" cy="32006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58685" y="6291259"/>
            <a:ext cx="97497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Note:</a:t>
            </a:r>
            <a:r>
              <a:rPr lang="en-US" altLang="zh-CN" sz="2400" dirty="0"/>
              <a:t> It is also possible to use negative values for margins; to overlap content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-20933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3" y="774959"/>
            <a:ext cx="10515600" cy="1027715"/>
          </a:xfrm>
        </p:spPr>
        <p:txBody>
          <a:bodyPr>
            <a:normAutofit/>
          </a:bodyPr>
          <a:lstStyle/>
          <a:p>
            <a:r>
              <a:rPr lang="en-US" altLang="zh-CN" dirty="0"/>
              <a:t>The following example sets different margins for all four sides of a &lt;p&gt; element: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62" y="1996985"/>
            <a:ext cx="7477331" cy="40968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579" y="3373803"/>
            <a:ext cx="4404116" cy="125697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-20933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Individual Sides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3" y="774959"/>
            <a:ext cx="10515602" cy="612799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The following example lets the left margin be inherited from the parent element: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644650"/>
            <a:ext cx="8343265" cy="50399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757" y="1327486"/>
            <a:ext cx="6390835" cy="11395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172586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7158" y="1683521"/>
            <a:ext cx="10990439" cy="3988251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To shorten the code, it is possible to specify all the margin properties in one property.</a:t>
            </a:r>
            <a:endParaRPr lang="en-US" altLang="zh-CN" sz="3200" dirty="0"/>
          </a:p>
          <a:p>
            <a:r>
              <a:rPr lang="en-US" altLang="zh-CN" sz="3200" dirty="0"/>
              <a:t>The  </a:t>
            </a:r>
            <a:r>
              <a:rPr lang="en-US" altLang="zh-CN" sz="3200" dirty="0">
                <a:solidFill>
                  <a:srgbClr val="FF0000"/>
                </a:solidFill>
              </a:rPr>
              <a:t>margin</a:t>
            </a:r>
            <a:r>
              <a:rPr lang="en-US" altLang="zh-CN" sz="3200" dirty="0"/>
              <a:t>  property is a shorthand property for the following individual margin properties:</a:t>
            </a:r>
            <a:endParaRPr lang="en-US" altLang="zh-CN" sz="3200" dirty="0"/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margin-top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margin-right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margin-bottom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>
                <a:solidFill>
                  <a:srgbClr val="FF0000"/>
                </a:solidFill>
              </a:rPr>
              <a:t>margin-left</a:t>
            </a:r>
            <a:endParaRPr lang="en-US" altLang="zh-CN" sz="280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334" y="-20933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1333" y="774959"/>
            <a:ext cx="10515600" cy="5650555"/>
          </a:xfrm>
        </p:spPr>
        <p:txBody>
          <a:bodyPr>
            <a:normAutofit/>
          </a:bodyPr>
          <a:lstStyle/>
          <a:p>
            <a:r>
              <a:rPr lang="en-US" altLang="zh-CN" dirty="0"/>
              <a:t>Example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5553" y="5055746"/>
            <a:ext cx="6556572" cy="165838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69" y="1176694"/>
            <a:ext cx="7692984" cy="37349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-154964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Margin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7250" y="1092200"/>
            <a:ext cx="10741660" cy="5495290"/>
          </a:xfrm>
        </p:spPr>
        <p:txBody>
          <a:bodyPr>
            <a:normAutofit/>
          </a:bodyPr>
          <a:lstStyle/>
          <a:p>
            <a:r>
              <a:rPr lang="en-US" altLang="zh-CN" dirty="0"/>
              <a:t>So, here is how it works: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the  </a:t>
            </a:r>
            <a:r>
              <a:rPr lang="en-US" altLang="zh-CN" dirty="0">
                <a:solidFill>
                  <a:srgbClr val="FF0000"/>
                </a:solidFill>
              </a:rPr>
              <a:t>margin</a:t>
            </a:r>
            <a:r>
              <a:rPr lang="en-US" altLang="zh-CN" dirty="0"/>
              <a:t>  property has four values:</a:t>
            </a:r>
            <a:endParaRPr lang="en-US" altLang="zh-CN" dirty="0"/>
          </a:p>
          <a:p>
            <a:r>
              <a:rPr lang="en-US" altLang="zh-CN" b="1" dirty="0"/>
              <a:t>margin: 25px 50px 75px 100px;</a:t>
            </a:r>
            <a:endParaRPr lang="en-US" altLang="zh-CN" dirty="0"/>
          </a:p>
          <a:p>
            <a:pPr lvl="1"/>
            <a:r>
              <a:rPr lang="en-US" altLang="zh-CN" dirty="0"/>
              <a:t>top margin is 25px</a:t>
            </a:r>
            <a:endParaRPr lang="en-US" altLang="zh-CN" dirty="0"/>
          </a:p>
          <a:p>
            <a:pPr lvl="1"/>
            <a:r>
              <a:rPr lang="en-US" altLang="zh-CN" dirty="0"/>
              <a:t>right margin is 50px</a:t>
            </a:r>
            <a:endParaRPr lang="en-US" altLang="zh-CN" dirty="0"/>
          </a:p>
          <a:p>
            <a:pPr lvl="1"/>
            <a:r>
              <a:rPr lang="en-US" altLang="zh-CN" dirty="0"/>
              <a:t>bottom margin is 75px</a:t>
            </a:r>
            <a:endParaRPr lang="en-US" altLang="zh-CN" dirty="0"/>
          </a:p>
          <a:p>
            <a:pPr lvl="1"/>
            <a:r>
              <a:rPr lang="en-US" altLang="zh-CN" dirty="0"/>
              <a:t>left margin is 100px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If the </a:t>
            </a:r>
            <a:r>
              <a:rPr lang="en-US" altLang="zh-CN" dirty="0">
                <a:solidFill>
                  <a:srgbClr val="FF0000"/>
                </a:solidFill>
              </a:rPr>
              <a:t>margin</a:t>
            </a:r>
            <a:r>
              <a:rPr lang="en-US" altLang="zh-CN" dirty="0"/>
              <a:t> property has three values:</a:t>
            </a:r>
            <a:endParaRPr lang="en-US" altLang="zh-CN" dirty="0"/>
          </a:p>
          <a:p>
            <a:r>
              <a:rPr lang="en-US" altLang="zh-CN" b="1" dirty="0"/>
              <a:t>margin: 25px 50px 75px;</a:t>
            </a:r>
            <a:endParaRPr lang="en-US" altLang="zh-CN" dirty="0"/>
          </a:p>
          <a:p>
            <a:pPr lvl="1"/>
            <a:r>
              <a:rPr lang="en-US" altLang="zh-CN" dirty="0"/>
              <a:t>top margin is 25px</a:t>
            </a:r>
            <a:endParaRPr lang="en-US" altLang="zh-CN" dirty="0"/>
          </a:p>
          <a:p>
            <a:pPr lvl="1"/>
            <a:r>
              <a:rPr lang="en-US" altLang="zh-CN" dirty="0"/>
              <a:t>right and left margins are 50px</a:t>
            </a:r>
            <a:endParaRPr lang="en-US" altLang="zh-CN" dirty="0"/>
          </a:p>
          <a:p>
            <a:pPr lvl="1"/>
            <a:r>
              <a:rPr lang="en-US" altLang="zh-CN" dirty="0"/>
              <a:t>bottom margin is 75px</a:t>
            </a:r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005" y="153670"/>
            <a:ext cx="10515600" cy="1017270"/>
          </a:xfrm>
        </p:spPr>
        <p:txBody>
          <a:bodyPr/>
          <a:lstStyle/>
          <a:p>
            <a:pPr algn="ctr"/>
            <a:r>
              <a:rPr lang="en-US" altLang="zh-CN" dirty="0"/>
              <a:t>Margin - Shorthand Property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9475" y="1314397"/>
            <a:ext cx="10112108" cy="49623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CN" sz="3600" dirty="0"/>
              <a:t>If the </a:t>
            </a:r>
            <a:r>
              <a:rPr lang="en-US" altLang="zh-CN" sz="3600" dirty="0">
                <a:solidFill>
                  <a:srgbClr val="FF0000"/>
                </a:solidFill>
              </a:rPr>
              <a:t> margin</a:t>
            </a:r>
            <a:r>
              <a:rPr lang="en-US" altLang="zh-CN" sz="3600" dirty="0"/>
              <a:t> property has two values:</a:t>
            </a:r>
            <a:endParaRPr lang="en-US" altLang="zh-CN" sz="3600" dirty="0"/>
          </a:p>
          <a:p>
            <a:pPr algn="just"/>
            <a:r>
              <a:rPr lang="en-US" altLang="zh-CN" sz="3600" b="1" dirty="0"/>
              <a:t>margin: 25px 50px;</a:t>
            </a:r>
            <a:endParaRPr lang="en-US" altLang="zh-CN" sz="3600" dirty="0"/>
          </a:p>
          <a:p>
            <a:pPr lvl="1" algn="just"/>
            <a:r>
              <a:rPr lang="en-US" altLang="zh-CN" sz="3200" dirty="0"/>
              <a:t>top and bottom margins are 25px</a:t>
            </a:r>
            <a:endParaRPr lang="en-US" altLang="zh-CN" sz="3200" dirty="0"/>
          </a:p>
          <a:p>
            <a:pPr lvl="1" algn="just"/>
            <a:r>
              <a:rPr lang="en-US" altLang="zh-CN" sz="3200" dirty="0"/>
              <a:t>right and left margins are 50px</a:t>
            </a:r>
            <a:endParaRPr lang="en-US" altLang="zh-CN" sz="3200" dirty="0"/>
          </a:p>
          <a:p>
            <a:pPr marL="0" indent="0" algn="just">
              <a:buNone/>
            </a:pPr>
            <a:r>
              <a:rPr lang="en-US" altLang="zh-CN" sz="3600" dirty="0"/>
              <a:t>If the </a:t>
            </a:r>
            <a:r>
              <a:rPr lang="en-US" altLang="zh-CN" sz="3600" dirty="0">
                <a:solidFill>
                  <a:srgbClr val="FF0000"/>
                </a:solidFill>
              </a:rPr>
              <a:t>margin</a:t>
            </a:r>
            <a:r>
              <a:rPr lang="en-US" altLang="zh-CN" sz="3600" dirty="0"/>
              <a:t> property has one value:</a:t>
            </a:r>
            <a:endParaRPr lang="en-US" altLang="zh-CN" sz="3600" dirty="0"/>
          </a:p>
          <a:p>
            <a:pPr algn="just"/>
            <a:r>
              <a:rPr lang="en-US" altLang="zh-CN" sz="3600" b="1" dirty="0"/>
              <a:t>margin: 25px;</a:t>
            </a:r>
            <a:endParaRPr lang="en-US" altLang="zh-CN" sz="3600" dirty="0"/>
          </a:p>
          <a:p>
            <a:pPr lvl="1" algn="just"/>
            <a:r>
              <a:rPr lang="en-US" altLang="zh-CN" sz="3200" dirty="0"/>
              <a:t>all four margins are 25px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005" y="119380"/>
            <a:ext cx="10515600" cy="847725"/>
          </a:xfrm>
        </p:spPr>
        <p:txBody>
          <a:bodyPr/>
          <a:lstStyle/>
          <a:p>
            <a:pPr algn="ctr"/>
            <a:r>
              <a:rPr lang="en-US" altLang="zh-CN" dirty="0"/>
              <a:t>Use of The auto Value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0200" y="1038860"/>
            <a:ext cx="11624945" cy="1758315"/>
          </a:xfrm>
        </p:spPr>
        <p:txBody>
          <a:bodyPr>
            <a:noAutofit/>
          </a:bodyPr>
          <a:lstStyle/>
          <a:p>
            <a:r>
              <a:rPr lang="en-US" altLang="zh-CN" dirty="0"/>
              <a:t>You can set the margin property to </a:t>
            </a:r>
            <a:r>
              <a:rPr lang="en-US" altLang="zh-CN" dirty="0">
                <a:solidFill>
                  <a:srgbClr val="FF0000"/>
                </a:solidFill>
              </a:rPr>
              <a:t>auto</a:t>
            </a:r>
            <a:r>
              <a:rPr lang="en-US" altLang="zh-CN" dirty="0"/>
              <a:t> to horizontally center the element within its container.</a:t>
            </a:r>
            <a:endParaRPr lang="en-US" altLang="zh-CN" dirty="0"/>
          </a:p>
          <a:p>
            <a:r>
              <a:rPr lang="en-US" altLang="zh-CN" dirty="0"/>
              <a:t>The element will then take up the specified width, and the remaining space will be split equally between the left and right margins: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18690" y="2797175"/>
            <a:ext cx="7847965" cy="397954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1908" y="31261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Use of The auto Value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2179320"/>
            <a:ext cx="11907520" cy="239141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2475" y="217805"/>
            <a:ext cx="10515600" cy="1133475"/>
          </a:xfrm>
        </p:spPr>
        <p:txBody>
          <a:bodyPr/>
          <a:lstStyle/>
          <a:p>
            <a:pPr algn="ctr"/>
            <a:r>
              <a:rPr lang="en-US" altLang="zh-CN" dirty="0"/>
              <a:t>All CSS Margin Properties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190" y="1599565"/>
            <a:ext cx="10467975" cy="48914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TczYmQ4YzA3MGVhYzljYmVjYjQ2YWIwNWYwNmYwOGQifQ==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11442</Words>
  <Application>WPS 演示</Application>
  <PresentationFormat>宽屏</PresentationFormat>
  <Paragraphs>377</Paragraphs>
  <Slides>59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Arial</vt:lpstr>
      <vt:lpstr>宋体</vt:lpstr>
      <vt:lpstr>Wingdings</vt:lpstr>
      <vt:lpstr>Calibri Light</vt:lpstr>
      <vt:lpstr>微软雅黑</vt:lpstr>
      <vt:lpstr>Arial Unicode MS</vt:lpstr>
      <vt:lpstr>等线 Light</vt:lpstr>
      <vt:lpstr>等线</vt:lpstr>
      <vt:lpstr>Calibri</vt:lpstr>
      <vt:lpstr>Office Theme</vt:lpstr>
      <vt:lpstr>CSS INTRODUCTION</vt:lpstr>
      <vt:lpstr>What is CSS?</vt:lpstr>
      <vt:lpstr>CSS Solved a Big Problem</vt:lpstr>
      <vt:lpstr>CSS SYNTAX AND SELECTORS</vt:lpstr>
      <vt:lpstr>CSS Syntax</vt:lpstr>
      <vt:lpstr>CSS Syntax</vt:lpstr>
      <vt:lpstr>CSS Selectors</vt:lpstr>
      <vt:lpstr>CSS Selectors</vt:lpstr>
      <vt:lpstr>CSS Selectors</vt:lpstr>
      <vt:lpstr>CSS Selectors</vt:lpstr>
      <vt:lpstr>CSS Selectors</vt:lpstr>
      <vt:lpstr>CSS Selectors</vt:lpstr>
      <vt:lpstr>Grouping Selectors</vt:lpstr>
      <vt:lpstr>Grouping Selectors</vt:lpstr>
      <vt:lpstr>CSS HOW TO…</vt:lpstr>
      <vt:lpstr>Three Ways to Insert CSS</vt:lpstr>
      <vt:lpstr>External Style Sheet</vt:lpstr>
      <vt:lpstr>Internal Style Sheet</vt:lpstr>
      <vt:lpstr>Inline Styles</vt:lpstr>
      <vt:lpstr>Cascading Order</vt:lpstr>
      <vt:lpstr>CSS COLORS</vt:lpstr>
      <vt:lpstr>CSS Colors</vt:lpstr>
      <vt:lpstr>CSS BACKGROUNDS</vt:lpstr>
      <vt:lpstr>CSS Backgrounds</vt:lpstr>
      <vt:lpstr>Background Color</vt:lpstr>
      <vt:lpstr>Background Color</vt:lpstr>
      <vt:lpstr>Background Image</vt:lpstr>
      <vt:lpstr>Background Image - Repeat</vt:lpstr>
      <vt:lpstr>Background Image - Set position and no-repeat</vt:lpstr>
      <vt:lpstr>Background Image - Set position and no-repeat</vt:lpstr>
      <vt:lpstr>Background Image - Fixed position</vt:lpstr>
      <vt:lpstr>Background - Shorthand property</vt:lpstr>
      <vt:lpstr>Background - Shorthand property</vt:lpstr>
      <vt:lpstr>CSS BORDERS</vt:lpstr>
      <vt:lpstr>CSS Border Properties</vt:lpstr>
      <vt:lpstr>Border Style</vt:lpstr>
      <vt:lpstr>Border Style</vt:lpstr>
      <vt:lpstr>Border Style</vt:lpstr>
      <vt:lpstr>Border Width</vt:lpstr>
      <vt:lpstr>Border Width</vt:lpstr>
      <vt:lpstr>Border Color</vt:lpstr>
      <vt:lpstr>Border Color</vt:lpstr>
      <vt:lpstr>Border - Individual Sides</vt:lpstr>
      <vt:lpstr>Border - Individual Sides</vt:lpstr>
      <vt:lpstr>Border - Individual Sides</vt:lpstr>
      <vt:lpstr>Border - Shorthand Property</vt:lpstr>
      <vt:lpstr>Border - Shorthand Property</vt:lpstr>
      <vt:lpstr>CSS MARGINS</vt:lpstr>
      <vt:lpstr>CSS Margin Properties</vt:lpstr>
      <vt:lpstr>Margin - Individual Sides</vt:lpstr>
      <vt:lpstr>Margin - Individual Sides</vt:lpstr>
      <vt:lpstr>Margin - Individual Sides</vt:lpstr>
      <vt:lpstr>Margin - Shorthand Property</vt:lpstr>
      <vt:lpstr>Margin - Shorthand Property</vt:lpstr>
      <vt:lpstr>Margin - Shorthand Property</vt:lpstr>
      <vt:lpstr>Margin - Shorthand Property</vt:lpstr>
      <vt:lpstr>Use of The auto Value</vt:lpstr>
      <vt:lpstr>Use of The auto Value</vt:lpstr>
      <vt:lpstr>All CSS Margin Properties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APPLICATION CACHE</dc:title>
  <dc:creator>N Kyrie</dc:creator>
  <cp:lastModifiedBy>陈羽中</cp:lastModifiedBy>
  <cp:revision>143</cp:revision>
  <dcterms:created xsi:type="dcterms:W3CDTF">2021-02-25T07:28:00Z</dcterms:created>
  <dcterms:modified xsi:type="dcterms:W3CDTF">2025-05-07T12:46:15Z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636B0B299E6F4B9191B6B91F433A9EEA_12</vt:lpwstr>
  </property>
  <property fmtid="{D5CDD505-2E9C-101B-9397-08002B2CF9AE}" pid="3" name="KSOProductBuildVer">
    <vt:lpwstr>2052-12.1.0.15990</vt:lpwstr>
  </property>
</Properties>
</file>