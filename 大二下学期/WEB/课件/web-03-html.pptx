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9"/>
  </p:notesMasterIdLst>
  <p:sldIdLst>
    <p:sldId id="257" r:id="rId6"/>
    <p:sldId id="258" r:id="rId7"/>
    <p:sldId id="262" r:id="rId8"/>
    <p:sldId id="263" r:id="rId10"/>
    <p:sldId id="265" r:id="rId11"/>
    <p:sldId id="302" r:id="rId12"/>
    <p:sldId id="280" r:id="rId13"/>
    <p:sldId id="281" r:id="rId14"/>
    <p:sldId id="282" r:id="rId15"/>
    <p:sldId id="284" r:id="rId16"/>
    <p:sldId id="285" r:id="rId17"/>
    <p:sldId id="286" r:id="rId18"/>
    <p:sldId id="293" r:id="rId19"/>
    <p:sldId id="294" r:id="rId20"/>
    <p:sldId id="295" r:id="rId21"/>
    <p:sldId id="296" r:id="rId22"/>
    <p:sldId id="297" r:id="rId23"/>
    <p:sldId id="298" r:id="rId24"/>
    <p:sldId id="299"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1" r:id="rId71"/>
    <p:sldId id="352" r:id="rId72"/>
    <p:sldId id="353" r:id="rId73"/>
    <p:sldId id="354" r:id="rId74"/>
    <p:sldId id="355" r:id="rId75"/>
    <p:sldId id="356" r:id="rId76"/>
    <p:sldId id="357" r:id="rId77"/>
    <p:sldId id="358" r:id="rId78"/>
    <p:sldId id="359" r:id="rId79"/>
    <p:sldId id="360" r:id="rId80"/>
    <p:sldId id="361" r:id="rId81"/>
    <p:sldId id="362" r:id="rId82"/>
    <p:sldId id="363" r:id="rId83"/>
    <p:sldId id="364" r:id="rId84"/>
    <p:sldId id="365" r:id="rId85"/>
    <p:sldId id="366" r:id="rId86"/>
    <p:sldId id="367" r:id="rId87"/>
    <p:sldId id="368" r:id="rId88"/>
    <p:sldId id="369" r:id="rId89"/>
    <p:sldId id="370" r:id="rId90"/>
    <p:sldId id="371" r:id="rId91"/>
    <p:sldId id="372" r:id="rId92"/>
    <p:sldId id="373" r:id="rId93"/>
    <p:sldId id="374" r:id="rId94"/>
    <p:sldId id="375" r:id="rId95"/>
    <p:sldId id="376" r:id="rId96"/>
  </p:sldIdLst>
  <p:sldSz cx="12192000" cy="6858000"/>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715" autoAdjust="0"/>
  </p:normalViewPr>
  <p:slideViewPr>
    <p:cSldViewPr snapToGrid="0">
      <p:cViewPr varScale="1">
        <p:scale>
          <a:sx n="136" d="100"/>
          <a:sy n="136" d="100"/>
        </p:scale>
        <p:origin x="340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notesMaster" Target="notesMasters/notesMaster1.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0" Type="http://schemas.openxmlformats.org/officeDocument/2006/relationships/tags" Target="tags/tag139.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49ACD-917A-4C53-8EC8-943788F15AB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759A5-3A61-4345-9810-4167C468D12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pound sign ,  </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1" i="0" kern="1200" dirty="0" smtClean="0">
                <a:solidFill>
                  <a:schemeClr val="tx1"/>
                </a:solidFill>
                <a:effectLst/>
                <a:latin typeface="+mn-lt"/>
                <a:ea typeface="+mn-ea"/>
                <a:cs typeface="+mn-cs"/>
              </a:rPr>
              <a:t>semicolon </a:t>
            </a:r>
            <a:endParaRPr lang="en-US" altLang="zh-CN" sz="1200" b="1"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D8759A5-3A61-4345-9810-4167C468D12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7" name="页脚占位符 16"/>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8" name="灯片编号占位符 17"/>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6"/>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7"/>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8" name="页脚占位符 7"/>
          <p:cNvSpPr>
            <a:spLocks noGrp="1"/>
          </p:cNvSpPr>
          <p:nvPr>
            <p:ph type="ftr" sz="quarter" idx="11"/>
            <p:custDataLst>
              <p:tags r:id="rId8"/>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custDataLst>
              <p:tags r:id="rId9"/>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4"/>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页脚占位符 5"/>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indent="-228600">
              <a:spcAft>
                <a:spcPts val="1000"/>
              </a:spcAft>
              <a:defRPr spc="300"/>
            </a:lvl1pPr>
            <a:lvl2pPr indent="-228600">
              <a:defRPr spc="300"/>
            </a:lvl2pPr>
            <a:lvl3pPr indent="-228600">
              <a:defRPr spc="300"/>
            </a:lvl3pPr>
            <a:lvl4pPr indent="-228600">
              <a:defRPr spc="300"/>
            </a:lvl4pPr>
            <a:lvl5pPr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11"/>
            <p:custDataLst>
              <p:tags r:id="rId5"/>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custDataLst>
              <p:tags r:id="rId6"/>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4" name="页脚占位符 3"/>
          <p:cNvSpPr>
            <a:spLocks noGrp="1"/>
          </p:cNvSpPr>
          <p:nvPr>
            <p:ph type="ftr" sz="quarter" idx="11"/>
            <p:custDataLst>
              <p:tags r:id="rId3"/>
            </p:custDataLst>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custDataLst>
              <p:tags r:id="rId4"/>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7" Type="http://schemas.openxmlformats.org/officeDocument/2006/relationships/theme" Target="../theme/theme4.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B3DC9-4C5B-4D9F-84D5-E67E87066088}"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F38F8FF-4483-46BC-B130-006C09EC61A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C19E930C-6B64-45D6-A0C7-7BF5A569AB3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F14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bg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bg1"/>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bg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000" b="0" i="0" u="none" strike="noStrike" kern="1200" cap="none" spc="0" normalizeH="0" baseline="0" noProof="0" smtClean="0">
                <a:ln>
                  <a:noFill/>
                </a:ln>
                <a:solidFill>
                  <a:srgbClr val="FFFFFF"/>
                </a:solidFill>
                <a:effectLst/>
                <a:uLnTx/>
                <a:uFillTx/>
                <a:latin typeface="Arial" panose="020B0604020202020204" pitchFamily="34" charset="0"/>
                <a:ea typeface="微软雅黑" panose="020B0503020204020204" pitchFamily="34" charset="-122"/>
                <a:cs typeface="+mn-cs"/>
              </a:rPr>
            </a:fld>
            <a:endParaRPr kumimoji="0" lang="zh-CN" altLang="en-US" sz="1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bg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png"/><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4.png"/><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6.png"/><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9.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1.pn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3.png"/><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25.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34.png"/><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36.png"/><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42.png"/><Relationship Id="rId1" Type="http://schemas.openxmlformats.org/officeDocument/2006/relationships/image" Target="../media/image41.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4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9.png"/><Relationship Id="rId1"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1.png"/><Relationship Id="rId1" Type="http://schemas.openxmlformats.org/officeDocument/2006/relationships/image" Target="../media/image50.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3.png"/><Relationship Id="rId1"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5.png"/><Relationship Id="rId1"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7.png"/><Relationship Id="rId1"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9.png"/><Relationship Id="rId1" Type="http://schemas.openxmlformats.org/officeDocument/2006/relationships/image" Target="../media/image58.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0.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4.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2.png"/><Relationship Id="rId1" Type="http://schemas.openxmlformats.org/officeDocument/2006/relationships/image" Target="../media/image71.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3.png"/><Relationship Id="rId1" Type="http://schemas.openxmlformats.org/officeDocument/2006/relationships/image" Target="../media/image82.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9.xml"/><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8.png"/><Relationship Id="rId1" Type="http://schemas.openxmlformats.org/officeDocument/2006/relationships/image" Target="../media/image87.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90.png"/><Relationship Id="rId1" Type="http://schemas.openxmlformats.org/officeDocument/2006/relationships/image" Target="../media/image89.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92.png"/><Relationship Id="rId1" Type="http://schemas.openxmlformats.org/officeDocument/2006/relationships/image" Target="../media/image9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63.xml"/><Relationship Id="rId1" Type="http://schemas.openxmlformats.org/officeDocument/2006/relationships/tags" Target="../tags/tag62.xml"/></Relationships>
</file>

<file path=ppt/slides/_rels/slide67.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67.xml"/><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68.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70.xml"/><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tags" Target="../tags/tag69.xml"/><Relationship Id="rId1" Type="http://schemas.openxmlformats.org/officeDocument/2006/relationships/tags" Target="../tags/tag68.xml"/></Relationships>
</file>

<file path=ppt/slides/_rels/slide69.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73.xml"/><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tags" Target="../tags/tag72.xml"/><Relationship Id="rId1" Type="http://schemas.openxmlformats.org/officeDocument/2006/relationships/tags" Target="../tags/tag71.xml"/></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76.xml"/><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tags" Target="../tags/tag75.xml"/><Relationship Id="rId1" Type="http://schemas.openxmlformats.org/officeDocument/2006/relationships/tags" Target="../tags/tag74.xml"/></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79.xml"/><Relationship Id="rId3" Type="http://schemas.openxmlformats.org/officeDocument/2006/relationships/image" Target="../media/image101.png"/><Relationship Id="rId2" Type="http://schemas.openxmlformats.org/officeDocument/2006/relationships/tags" Target="../tags/tag78.xml"/><Relationship Id="rId1" Type="http://schemas.openxmlformats.org/officeDocument/2006/relationships/tags" Target="../tags/tag77.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75.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91.xml"/><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tags" Target="../tags/tag90.xml"/><Relationship Id="rId1" Type="http://schemas.openxmlformats.org/officeDocument/2006/relationships/tags" Target="../tags/tag89.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35.xml"/><Relationship Id="rId4" Type="http://schemas.openxmlformats.org/officeDocument/2006/relationships/tags" Target="../tags/tag94.xml"/><Relationship Id="rId3" Type="http://schemas.openxmlformats.org/officeDocument/2006/relationships/image" Target="../media/image104.png"/><Relationship Id="rId2" Type="http://schemas.openxmlformats.org/officeDocument/2006/relationships/tags" Target="../tags/tag93.xml"/><Relationship Id="rId1" Type="http://schemas.openxmlformats.org/officeDocument/2006/relationships/tags" Target="../tags/tag92.xml"/></Relationships>
</file>

<file path=ppt/slides/_rels/slide77.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97.xml"/><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tags" Target="../tags/tag96.xml"/><Relationship Id="rId1" Type="http://schemas.openxmlformats.org/officeDocument/2006/relationships/tags" Target="../tags/tag95.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00.xml"/><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tags" Target="../tags/tag99.xml"/><Relationship Id="rId1" Type="http://schemas.openxmlformats.org/officeDocument/2006/relationships/tags" Target="../tags/tag98.xml"/></Relationships>
</file>

<file path=ppt/slides/_rels/slide79.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03.xml"/><Relationship Id="rId4" Type="http://schemas.openxmlformats.org/officeDocument/2006/relationships/image" Target="../media/image110.png"/><Relationship Id="rId3" Type="http://schemas.openxmlformats.org/officeDocument/2006/relationships/image" Target="../media/image109.png"/><Relationship Id="rId2" Type="http://schemas.openxmlformats.org/officeDocument/2006/relationships/tags" Target="../tags/tag102.xml"/><Relationship Id="rId1" Type="http://schemas.openxmlformats.org/officeDocument/2006/relationships/tags" Target="../tags/tag101.xml"/></Relationships>
</file>

<file path=ppt/slides/_rels/slide80.xml.rels><?xml version="1.0" encoding="UTF-8" standalone="yes"?>
<Relationships xmlns="http://schemas.openxmlformats.org/package/2006/relationships"><Relationship Id="rId7" Type="http://schemas.openxmlformats.org/officeDocument/2006/relationships/slideLayout" Target="../slideLayouts/slideLayout37.xml"/><Relationship Id="rId6" Type="http://schemas.openxmlformats.org/officeDocument/2006/relationships/tags" Target="../tags/tag107.xml"/><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10.xml"/><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tags" Target="../tags/tag109.xml"/><Relationship Id="rId1" Type="http://schemas.openxmlformats.org/officeDocument/2006/relationships/tags" Target="../tags/tag108.xml"/></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13.xml"/><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tags" Target="../tags/tag112.xml"/><Relationship Id="rId1" Type="http://schemas.openxmlformats.org/officeDocument/2006/relationships/tags" Target="../tags/tag111.xml"/></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image" Target="../media/image118.png"/><Relationship Id="rId3" Type="http://schemas.openxmlformats.org/officeDocument/2006/relationships/image" Target="../media/image117.png"/><Relationship Id="rId2" Type="http://schemas.openxmlformats.org/officeDocument/2006/relationships/tags" Target="../tags/tag115.xml"/><Relationship Id="rId1" Type="http://schemas.openxmlformats.org/officeDocument/2006/relationships/tags" Target="../tags/tag114.xml"/></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20.xml"/><Relationship Id="rId4" Type="http://schemas.openxmlformats.org/officeDocument/2006/relationships/image" Target="../media/image120.png"/><Relationship Id="rId3" Type="http://schemas.openxmlformats.org/officeDocument/2006/relationships/image" Target="../media/image119.png"/><Relationship Id="rId2" Type="http://schemas.openxmlformats.org/officeDocument/2006/relationships/tags" Target="../tags/tag119.xml"/><Relationship Id="rId1" Type="http://schemas.openxmlformats.org/officeDocument/2006/relationships/tags" Target="../tags/tag118.xml"/></Relationships>
</file>

<file path=ppt/slides/_rels/slide85.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23.xml"/><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tags" Target="../tags/tag122.xml"/><Relationship Id="rId1" Type="http://schemas.openxmlformats.org/officeDocument/2006/relationships/tags" Target="../tags/tag121.xml"/></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26.xml"/><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tags" Target="../tags/tag125.xml"/><Relationship Id="rId1" Type="http://schemas.openxmlformats.org/officeDocument/2006/relationships/tags" Target="../tags/tag124.xml"/></Relationships>
</file>

<file path=ppt/slides/_rels/slide87.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tags" Target="../tags/tag129.xml"/><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tags" Target="../tags/tag128.xml"/><Relationship Id="rId1" Type="http://schemas.openxmlformats.org/officeDocument/2006/relationships/tags" Target="../tags/tag127.xml"/></Relationships>
</file>

<file path=ppt/slides/_rels/slide88.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32.xml"/><Relationship Id="rId4" Type="http://schemas.openxmlformats.org/officeDocument/2006/relationships/image" Target="../media/image128.png"/><Relationship Id="rId3" Type="http://schemas.openxmlformats.org/officeDocument/2006/relationships/image" Target="../media/image127.png"/><Relationship Id="rId2" Type="http://schemas.openxmlformats.org/officeDocument/2006/relationships/tags" Target="../tags/tag131.xml"/><Relationship Id="rId1" Type="http://schemas.openxmlformats.org/officeDocument/2006/relationships/tags" Target="../tags/tag130.xml"/></Relationships>
</file>

<file path=ppt/slides/_rels/slide89.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35.xml"/><Relationship Id="rId4" Type="http://schemas.openxmlformats.org/officeDocument/2006/relationships/image" Target="../media/image130.png"/><Relationship Id="rId3" Type="http://schemas.openxmlformats.org/officeDocument/2006/relationships/image" Target="../media/image129.png"/><Relationship Id="rId2" Type="http://schemas.openxmlformats.org/officeDocument/2006/relationships/tags" Target="../tags/tag134.xml"/><Relationship Id="rId1" Type="http://schemas.openxmlformats.org/officeDocument/2006/relationships/tags" Target="../tags/tag133.xml"/></Relationships>
</file>

<file path=ppt/slides/_rels/slide90.xml.rels><?xml version="1.0" encoding="UTF-8" standalone="yes"?>
<Relationships xmlns="http://schemas.openxmlformats.org/package/2006/relationships"><Relationship Id="rId6" Type="http://schemas.openxmlformats.org/officeDocument/2006/relationships/slideLayout" Target="../slideLayouts/slideLayout35.xml"/><Relationship Id="rId5" Type="http://schemas.openxmlformats.org/officeDocument/2006/relationships/tags" Target="../tags/tag138.xml"/><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tags" Target="../tags/tag137.xml"/><Relationship Id="rId1" Type="http://schemas.openxmlformats.org/officeDocument/2006/relationships/tags" Target="../tags/tag1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smtClean="0"/>
              <a:t>HTML ENTITIES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pPr algn="ctr"/>
            <a:r>
              <a:rPr lang="en-US" altLang="zh-CN" dirty="0"/>
              <a:t>HTML Entities</a:t>
            </a:r>
            <a:endParaRPr lang="en-US" altLang="zh-CN" dirty="0"/>
          </a:p>
        </p:txBody>
      </p:sp>
      <p:sp>
        <p:nvSpPr>
          <p:cNvPr id="3" name="内容占位符 2"/>
          <p:cNvSpPr>
            <a:spLocks noGrp="1"/>
          </p:cNvSpPr>
          <p:nvPr>
            <p:ph idx="1"/>
          </p:nvPr>
        </p:nvSpPr>
        <p:spPr>
          <a:xfrm>
            <a:off x="838200" y="1325563"/>
            <a:ext cx="10515600" cy="4351338"/>
          </a:xfrm>
        </p:spPr>
        <p:txBody>
          <a:bodyPr>
            <a:normAutofit/>
          </a:bodyPr>
          <a:lstStyle/>
          <a:p>
            <a:r>
              <a:rPr lang="en-US" altLang="zh-CN" dirty="0"/>
              <a:t>Character entities are used to display reserved characters in HTML</a:t>
            </a:r>
            <a:r>
              <a:rPr lang="en-US" altLang="zh-CN" dirty="0" smtClean="0"/>
              <a:t>.</a:t>
            </a:r>
            <a:endParaRPr lang="en-US" altLang="zh-CN" dirty="0" smtClean="0"/>
          </a:p>
          <a:p>
            <a:r>
              <a:rPr lang="en-US" altLang="zh-CN" dirty="0" smtClean="0"/>
              <a:t>Some </a:t>
            </a:r>
            <a:r>
              <a:rPr lang="en-US" altLang="zh-CN" dirty="0"/>
              <a:t>characters are reserved in </a:t>
            </a:r>
            <a:r>
              <a:rPr lang="en-US" altLang="zh-CN" dirty="0" smtClean="0"/>
              <a:t>HTML. For example, if </a:t>
            </a:r>
            <a:r>
              <a:rPr lang="en-US" altLang="zh-CN" dirty="0"/>
              <a:t>you use the less than (&lt;) or greater than (&gt;) signs in your text, the browser might mix them with tags</a:t>
            </a:r>
            <a:r>
              <a:rPr lang="en-US" altLang="zh-CN" dirty="0" smtClean="0"/>
              <a:t>.</a:t>
            </a:r>
            <a:endParaRPr lang="en-US" altLang="zh-CN" dirty="0" smtClean="0"/>
          </a:p>
          <a:p>
            <a:r>
              <a:rPr lang="en-US" altLang="zh-CN" dirty="0"/>
              <a:t>Reserved characters in HTML must be replaced with character entities.</a:t>
            </a:r>
            <a:endParaRPr lang="en-US" altLang="zh-CN" dirty="0"/>
          </a:p>
          <a:p>
            <a:r>
              <a:rPr lang="en-US" altLang="zh-CN" dirty="0"/>
              <a:t>Characters, not present on your keyboard, can also be replaced by entities</a:t>
            </a:r>
            <a:r>
              <a:rPr lang="en-US" altLang="zh-CN" dirty="0" smtClean="0"/>
              <a:t>.</a:t>
            </a:r>
            <a:endParaRPr lang="en-US" altLang="zh-CN" dirty="0"/>
          </a:p>
          <a:p>
            <a:pPr marL="0" indent="0">
              <a:buNone/>
            </a:pP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pPr algn="ctr"/>
            <a:r>
              <a:rPr lang="en-US" altLang="zh-CN" dirty="0"/>
              <a:t>HTML Entities</a:t>
            </a:r>
            <a:endParaRPr lang="en-US" altLang="zh-CN" dirty="0"/>
          </a:p>
        </p:txBody>
      </p:sp>
      <p:sp>
        <p:nvSpPr>
          <p:cNvPr id="3" name="内容占位符 2"/>
          <p:cNvSpPr>
            <a:spLocks noGrp="1"/>
          </p:cNvSpPr>
          <p:nvPr>
            <p:ph idx="1"/>
          </p:nvPr>
        </p:nvSpPr>
        <p:spPr>
          <a:xfrm>
            <a:off x="838200" y="1114039"/>
            <a:ext cx="10515600" cy="2691842"/>
          </a:xfrm>
        </p:spPr>
        <p:txBody>
          <a:bodyPr>
            <a:normAutofit/>
          </a:bodyPr>
          <a:lstStyle/>
          <a:p>
            <a:r>
              <a:rPr lang="en-US" altLang="zh-CN" dirty="0"/>
              <a:t>A character entity </a:t>
            </a:r>
            <a:r>
              <a:rPr lang="en-US" altLang="zh-CN" dirty="0" smtClean="0"/>
              <a:t>looks </a:t>
            </a:r>
            <a:r>
              <a:rPr lang="en-US" altLang="zh-CN" dirty="0"/>
              <a:t>like this:</a:t>
            </a:r>
            <a:endParaRPr lang="en-US" altLang="zh-CN" dirty="0"/>
          </a:p>
        </p:txBody>
      </p:sp>
      <p:pic>
        <p:nvPicPr>
          <p:cNvPr id="5" name="图片 4"/>
          <p:cNvPicPr>
            <a:picLocks noChangeAspect="1"/>
          </p:cNvPicPr>
          <p:nvPr/>
        </p:nvPicPr>
        <p:blipFill>
          <a:blip r:embed="rId1"/>
          <a:stretch>
            <a:fillRect/>
          </a:stretch>
        </p:blipFill>
        <p:spPr>
          <a:xfrm>
            <a:off x="4461017" y="1786905"/>
            <a:ext cx="3128869" cy="1687772"/>
          </a:xfrm>
          <a:prstGeom prst="rect">
            <a:avLst/>
          </a:prstGeom>
        </p:spPr>
      </p:pic>
      <p:sp>
        <p:nvSpPr>
          <p:cNvPr id="4" name="文本框 3"/>
          <p:cNvSpPr txBox="1"/>
          <p:nvPr/>
        </p:nvSpPr>
        <p:spPr>
          <a:xfrm>
            <a:off x="904102" y="3771773"/>
            <a:ext cx="9113108" cy="461665"/>
          </a:xfrm>
          <a:prstGeom prst="rect">
            <a:avLst/>
          </a:prstGeom>
          <a:noFill/>
        </p:spPr>
        <p:txBody>
          <a:bodyPr wrap="square" rtlCol="0">
            <a:spAutoFit/>
          </a:bodyPr>
          <a:lstStyle/>
          <a:p>
            <a:r>
              <a:rPr lang="en-US" altLang="zh-CN" sz="2400" dirty="0"/>
              <a:t>To display a less than sign we must write: </a:t>
            </a:r>
            <a:r>
              <a:rPr lang="en-US" altLang="zh-CN" sz="2400" b="1" dirty="0"/>
              <a:t>&amp;</a:t>
            </a:r>
            <a:r>
              <a:rPr lang="en-US" altLang="zh-CN" sz="2400" b="1" dirty="0" err="1"/>
              <a:t>lt</a:t>
            </a:r>
            <a:r>
              <a:rPr lang="en-US" altLang="zh-CN" sz="2400" b="1" dirty="0"/>
              <a:t>;</a:t>
            </a:r>
            <a:r>
              <a:rPr lang="en-US" altLang="zh-CN" sz="2400" dirty="0"/>
              <a:t> or </a:t>
            </a:r>
            <a:r>
              <a:rPr lang="en-US" altLang="zh-CN" sz="2400" b="1" dirty="0"/>
              <a:t>&amp;#60</a:t>
            </a:r>
            <a:r>
              <a:rPr lang="en-US" altLang="zh-CN" sz="2400" b="1" dirty="0" smtClean="0"/>
              <a:t>;</a:t>
            </a:r>
            <a:endParaRPr lang="en-US" altLang="zh-CN" sz="2400" b="1" dirty="0" smtClean="0"/>
          </a:p>
        </p:txBody>
      </p:sp>
      <p:sp>
        <p:nvSpPr>
          <p:cNvPr id="6" name="文本框 5"/>
          <p:cNvSpPr txBox="1"/>
          <p:nvPr/>
        </p:nvSpPr>
        <p:spPr>
          <a:xfrm>
            <a:off x="838200" y="4802584"/>
            <a:ext cx="10771776" cy="1569660"/>
          </a:xfrm>
          <a:prstGeom prst="rect">
            <a:avLst/>
          </a:prstGeom>
          <a:noFill/>
        </p:spPr>
        <p:txBody>
          <a:bodyPr wrap="square" rtlCol="0">
            <a:spAutoFit/>
          </a:bodyPr>
          <a:lstStyle/>
          <a:p>
            <a:r>
              <a:rPr lang="en-US" altLang="zh-CN" sz="2400" dirty="0"/>
              <a:t>The advantage of using an entity name, instead of a number, is that the name is easier to remember</a:t>
            </a:r>
            <a:r>
              <a:rPr lang="en-US" altLang="zh-CN" sz="2400" dirty="0" smtClean="0"/>
              <a:t>.</a:t>
            </a:r>
            <a:endParaRPr lang="en-US" altLang="zh-CN" sz="2400" dirty="0" smtClean="0"/>
          </a:p>
          <a:p>
            <a:r>
              <a:rPr lang="en-US" altLang="zh-CN" sz="2400" dirty="0" smtClean="0"/>
              <a:t>The </a:t>
            </a:r>
            <a:r>
              <a:rPr lang="en-US" altLang="zh-CN" sz="2400" dirty="0"/>
              <a:t>disadvantage is that browsers may not support all entity names, but the support for numbers is good.</a:t>
            </a:r>
            <a:endParaRPr lang="zh-CN" altLang="en-US" sz="2400" dirty="0"/>
          </a:p>
        </p:txBody>
      </p:sp>
      <p:pic>
        <p:nvPicPr>
          <p:cNvPr id="8" name="图片 7"/>
          <p:cNvPicPr>
            <a:picLocks noChangeAspect="1"/>
          </p:cNvPicPr>
          <p:nvPr/>
        </p:nvPicPr>
        <p:blipFill>
          <a:blip r:embed="rId2"/>
          <a:stretch>
            <a:fillRect/>
          </a:stretch>
        </p:blipFill>
        <p:spPr>
          <a:xfrm>
            <a:off x="904102" y="4343828"/>
            <a:ext cx="426757" cy="3734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11892"/>
            <a:ext cx="10515600" cy="1325563"/>
          </a:xfrm>
        </p:spPr>
        <p:txBody>
          <a:bodyPr/>
          <a:lstStyle/>
          <a:p>
            <a:pPr algn="ctr"/>
            <a:r>
              <a:rPr lang="en-US" altLang="zh-CN" dirty="0"/>
              <a:t>Non-breaking Space</a:t>
            </a:r>
            <a:endParaRPr lang="en-US" altLang="zh-CN" dirty="0"/>
          </a:p>
        </p:txBody>
      </p:sp>
      <p:sp>
        <p:nvSpPr>
          <p:cNvPr id="3" name="内容占位符 2"/>
          <p:cNvSpPr>
            <a:spLocks noGrp="1"/>
          </p:cNvSpPr>
          <p:nvPr>
            <p:ph idx="1"/>
          </p:nvPr>
        </p:nvSpPr>
        <p:spPr>
          <a:xfrm>
            <a:off x="838200" y="1992828"/>
            <a:ext cx="10515600" cy="4351338"/>
          </a:xfrm>
        </p:spPr>
        <p:txBody>
          <a:bodyPr>
            <a:normAutofit/>
          </a:bodyPr>
          <a:lstStyle/>
          <a:p>
            <a:r>
              <a:rPr lang="en-US" altLang="zh-CN" dirty="0"/>
              <a:t>A common character entity used in HTML is the non-breaking space: </a:t>
            </a:r>
            <a:r>
              <a:rPr lang="en-US" altLang="zh-CN" b="1" dirty="0"/>
              <a:t>&amp;</a:t>
            </a:r>
            <a:r>
              <a:rPr lang="en-US" altLang="zh-CN" b="1" dirty="0" err="1"/>
              <a:t>nbsp</a:t>
            </a:r>
            <a:r>
              <a:rPr lang="en-US" altLang="zh-CN" b="1" dirty="0"/>
              <a:t>;</a:t>
            </a:r>
            <a:endParaRPr lang="en-US" altLang="zh-CN" dirty="0"/>
          </a:p>
          <a:p>
            <a:r>
              <a:rPr lang="en-US" altLang="zh-CN" dirty="0"/>
              <a:t>A non-breaking space is a space that will not break into a new line</a:t>
            </a:r>
            <a:r>
              <a:rPr lang="en-US" altLang="zh-CN" dirty="0" smtClean="0"/>
              <a:t>.</a:t>
            </a:r>
            <a:endParaRPr lang="en-US" altLang="zh-CN" dirty="0" smtClean="0"/>
          </a:p>
          <a:p>
            <a:r>
              <a:rPr lang="en-US" altLang="zh-CN" dirty="0" smtClean="0">
                <a:sym typeface="+mn-ea"/>
              </a:rPr>
              <a:t>Another </a:t>
            </a:r>
            <a:r>
              <a:rPr lang="en-US" altLang="zh-CN" dirty="0">
                <a:sym typeface="+mn-ea"/>
              </a:rPr>
              <a:t>common use of the non-breaking space is to prevent that browsers truncate spaces in HTML pages.</a:t>
            </a:r>
            <a:endParaRPr lang="en-US" altLang="zh-CN" dirty="0"/>
          </a:p>
          <a:p>
            <a:r>
              <a:rPr lang="en-US" altLang="zh-CN" dirty="0">
                <a:sym typeface="+mn-ea"/>
              </a:rPr>
              <a:t>If you write 10 spaces in your text, the browser will remove 9 of them. To add real spaces to your text, you can use the </a:t>
            </a:r>
            <a:r>
              <a:rPr lang="en-US" altLang="zh-CN" b="1" dirty="0">
                <a:sym typeface="+mn-ea"/>
              </a:rPr>
              <a:t>&amp;</a:t>
            </a:r>
            <a:r>
              <a:rPr lang="en-US" altLang="zh-CN" b="1" dirty="0" err="1">
                <a:sym typeface="+mn-ea"/>
              </a:rPr>
              <a:t>nbsp</a:t>
            </a:r>
            <a:r>
              <a:rPr lang="en-US" altLang="zh-CN" b="1" dirty="0">
                <a:sym typeface="+mn-ea"/>
              </a:rPr>
              <a:t>;</a:t>
            </a:r>
            <a:r>
              <a:rPr lang="en-US" altLang="zh-CN" dirty="0">
                <a:sym typeface="+mn-ea"/>
              </a:rPr>
              <a:t> character entity</a:t>
            </a:r>
            <a:r>
              <a:rPr lang="en-US" altLang="zh-CN" dirty="0" smtClean="0">
                <a:sym typeface="+mn-ea"/>
              </a:rPr>
              <a:t>.</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pPr algn="ctr"/>
            <a:r>
              <a:rPr lang="en-US" altLang="zh-CN" dirty="0"/>
              <a:t>Some Other Useful HTML Character Entities</a:t>
            </a:r>
            <a:endParaRPr lang="en-US" altLang="zh-CN" dirty="0"/>
          </a:p>
        </p:txBody>
      </p:sp>
      <p:pic>
        <p:nvPicPr>
          <p:cNvPr id="4" name="图片 3"/>
          <p:cNvPicPr>
            <a:picLocks noChangeAspect="1"/>
          </p:cNvPicPr>
          <p:nvPr/>
        </p:nvPicPr>
        <p:blipFill>
          <a:blip r:embed="rId1"/>
          <a:stretch>
            <a:fillRect/>
          </a:stretch>
        </p:blipFill>
        <p:spPr>
          <a:xfrm>
            <a:off x="979210" y="5873684"/>
            <a:ext cx="419136" cy="403895"/>
          </a:xfrm>
          <a:prstGeom prst="rect">
            <a:avLst/>
          </a:prstGeom>
        </p:spPr>
      </p:pic>
      <p:pic>
        <p:nvPicPr>
          <p:cNvPr id="6" name="内容占位符 5"/>
          <p:cNvPicPr>
            <a:picLocks noGrp="1" noChangeAspect="1"/>
          </p:cNvPicPr>
          <p:nvPr>
            <p:ph idx="1"/>
          </p:nvPr>
        </p:nvPicPr>
        <p:blipFill>
          <a:blip r:embed="rId2"/>
          <a:stretch>
            <a:fillRect/>
          </a:stretch>
        </p:blipFill>
        <p:spPr>
          <a:xfrm>
            <a:off x="1101784" y="1325563"/>
            <a:ext cx="10120237" cy="4206605"/>
          </a:xfrm>
          <a:prstGeom prst="rect">
            <a:avLst/>
          </a:prstGeom>
        </p:spPr>
      </p:pic>
      <p:sp>
        <p:nvSpPr>
          <p:cNvPr id="7" name="文本框 6"/>
          <p:cNvSpPr txBox="1"/>
          <p:nvPr/>
        </p:nvSpPr>
        <p:spPr>
          <a:xfrm>
            <a:off x="1383957" y="5815914"/>
            <a:ext cx="6186616" cy="461665"/>
          </a:xfrm>
          <a:prstGeom prst="rect">
            <a:avLst/>
          </a:prstGeom>
          <a:noFill/>
        </p:spPr>
        <p:txBody>
          <a:bodyPr wrap="square" rtlCol="0">
            <a:spAutoFit/>
          </a:bodyPr>
          <a:lstStyle/>
          <a:p>
            <a:r>
              <a:rPr lang="en-US" altLang="zh-CN" sz="2400" dirty="0"/>
              <a:t>Entity names are case sensitive.</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mtClean="0">
                <a:sym typeface="+mn-ea"/>
              </a:rPr>
              <a:t>How to use these symbols</a:t>
            </a:r>
            <a:endParaRPr lang="en-US" altLang="zh-CN" dirty="0">
              <a:sym typeface="+mn-ea"/>
            </a:endParaRPr>
          </a:p>
        </p:txBody>
      </p:sp>
      <p:sp>
        <p:nvSpPr>
          <p:cNvPr id="3" name="内容占位符 2"/>
          <p:cNvSpPr>
            <a:spLocks noGrp="1"/>
          </p:cNvSpPr>
          <p:nvPr>
            <p:ph idx="1"/>
          </p:nvPr>
        </p:nvSpPr>
        <p:spPr>
          <a:xfrm>
            <a:off x="838200" y="1853565"/>
            <a:ext cx="10515600" cy="4323715"/>
          </a:xfrm>
        </p:spPr>
        <p:txBody>
          <a:bodyPr>
            <a:normAutofit/>
          </a:bodyPr>
          <a:lstStyle/>
          <a:p>
            <a:pPr algn="just"/>
            <a:r>
              <a:rPr lang="en-US" altLang="zh-CN" dirty="0"/>
              <a:t>If you want any of these characters displayed in HTML, you can use the HTML </a:t>
            </a:r>
            <a:r>
              <a:rPr lang="en-US" altLang="zh-CN" dirty="0" smtClean="0"/>
              <a:t>entity.</a:t>
            </a:r>
            <a:endParaRPr lang="en-US" altLang="zh-CN" dirty="0"/>
          </a:p>
          <a:p>
            <a:pPr algn="just"/>
            <a:r>
              <a:rPr lang="en-US" altLang="zh-CN" dirty="0"/>
              <a:t>If the character does not have an HTML entity, you can use the decimal (dec) or hexadecimal (hex) reference.</a:t>
            </a:r>
            <a:endParaRPr lang="en-US" altLang="zh-CN" dirty="0"/>
          </a:p>
          <a:p>
            <a:pPr marL="0" indent="0">
              <a:buNone/>
            </a:pPr>
            <a:endParaRPr lang="en-US" altLang="zh-CN" dirty="0"/>
          </a:p>
          <a:p>
            <a:pPr marL="0" indent="0">
              <a:buNone/>
            </a:pPr>
            <a:r>
              <a:rPr lang="en-US" altLang="zh-CN" sz="2400" dirty="0" smtClean="0">
                <a:solidFill>
                  <a:srgbClr val="FFC000"/>
                </a:solidFill>
              </a:rPr>
              <a:t>Hint</a:t>
            </a:r>
            <a:r>
              <a:rPr lang="en-US" altLang="zh-CN" sz="2400" dirty="0">
                <a:solidFill>
                  <a:srgbClr val="FFC000"/>
                </a:solidFill>
              </a:rPr>
              <a:t>: If you use an HTML entity name or a hexadecimal number, the character will always display </a:t>
            </a:r>
            <a:r>
              <a:rPr lang="en-US" altLang="zh-CN" sz="2400" dirty="0" smtClean="0">
                <a:solidFill>
                  <a:srgbClr val="FFC000"/>
                </a:solidFill>
              </a:rPr>
              <a:t>correctly. This </a:t>
            </a:r>
            <a:r>
              <a:rPr lang="en-US" altLang="zh-CN" sz="2400" dirty="0">
                <a:solidFill>
                  <a:srgbClr val="FFC000"/>
                </a:solidFill>
              </a:rPr>
              <a:t>is independent of what character set (encoding) your page uses</a:t>
            </a:r>
            <a:r>
              <a:rPr lang="en-US" altLang="zh-CN" sz="2400" dirty="0" smtClean="0">
                <a:solidFill>
                  <a:srgbClr val="FFC000"/>
                </a:solidFill>
              </a:rPr>
              <a:t>!</a:t>
            </a:r>
            <a:endParaRPr lang="en-US" altLang="zh-CN" sz="2400" dirty="0" smtClean="0">
              <a:solidFill>
                <a:srgbClr val="FFC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72770" y="1122680"/>
            <a:ext cx="11047095" cy="1886585"/>
          </a:xfrm>
        </p:spPr>
        <p:txBody>
          <a:bodyPr/>
          <a:lstStyle/>
          <a:p>
            <a:r>
              <a:rPr lang="en-US" altLang="zh-CN" dirty="0" smtClean="0"/>
              <a:t>HTML Encoding (Character Sets)</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39700"/>
            <a:ext cx="10515600" cy="1325563"/>
          </a:xfrm>
        </p:spPr>
        <p:txBody>
          <a:bodyPr/>
          <a:lstStyle/>
          <a:p>
            <a:pPr algn="ctr"/>
            <a:r>
              <a:rPr lang="en-US" altLang="zh-CN" dirty="0"/>
              <a:t>What is Character Encoding</a:t>
            </a:r>
            <a:r>
              <a:rPr lang="en-US" altLang="zh-CN" dirty="0" smtClean="0"/>
              <a:t>?</a:t>
            </a:r>
            <a:endParaRPr lang="zh-CN" altLang="en-US" dirty="0"/>
          </a:p>
        </p:txBody>
      </p:sp>
      <p:sp>
        <p:nvSpPr>
          <p:cNvPr id="3" name="内容占位符 2"/>
          <p:cNvSpPr>
            <a:spLocks noGrp="1"/>
          </p:cNvSpPr>
          <p:nvPr>
            <p:ph idx="1"/>
          </p:nvPr>
        </p:nvSpPr>
        <p:spPr>
          <a:xfrm>
            <a:off x="527050" y="1091564"/>
            <a:ext cx="11261676" cy="5478047"/>
          </a:xfrm>
        </p:spPr>
        <p:txBody>
          <a:bodyPr>
            <a:noAutofit/>
          </a:bodyPr>
          <a:lstStyle/>
          <a:p>
            <a:pPr marL="0" indent="0">
              <a:buNone/>
            </a:pPr>
            <a:r>
              <a:rPr lang="en-US" altLang="zh-CN" sz="2000" dirty="0"/>
              <a:t>To display an HTML page correctly, a web browser must know the character set (character encoding) to use</a:t>
            </a:r>
            <a:r>
              <a:rPr lang="en-US" altLang="zh-CN" sz="2000" dirty="0" smtClean="0"/>
              <a:t>.  Then </a:t>
            </a:r>
            <a:endParaRPr lang="en-US" altLang="zh-CN" sz="2000" dirty="0"/>
          </a:p>
          <a:p>
            <a:r>
              <a:rPr lang="en-US" altLang="zh-CN" sz="2400" dirty="0">
                <a:solidFill>
                  <a:srgbClr val="FFC000"/>
                </a:solidFill>
              </a:rPr>
              <a:t>ASCII</a:t>
            </a:r>
            <a:r>
              <a:rPr lang="en-US" altLang="zh-CN" sz="2400" dirty="0"/>
              <a:t> was </a:t>
            </a:r>
            <a:r>
              <a:rPr lang="en-US" altLang="zh-CN" sz="2400" dirty="0">
                <a:solidFill>
                  <a:srgbClr val="FF0000"/>
                </a:solidFill>
              </a:rPr>
              <a:t>the first character encoding standard</a:t>
            </a:r>
            <a:r>
              <a:rPr lang="en-US" altLang="zh-CN" sz="2400" dirty="0"/>
              <a:t> (also called character set). It defines 127 different </a:t>
            </a:r>
            <a:r>
              <a:rPr lang="en-US" altLang="zh-CN" sz="2400" dirty="0">
                <a:solidFill>
                  <a:srgbClr val="FF0000"/>
                </a:solidFill>
              </a:rPr>
              <a:t>alphanumeric characters</a:t>
            </a:r>
            <a:r>
              <a:rPr lang="en-US" altLang="zh-CN" sz="2400" dirty="0"/>
              <a:t> that could be used on the internet.</a:t>
            </a:r>
            <a:endParaRPr lang="en-US" altLang="zh-CN" sz="2400" dirty="0"/>
          </a:p>
          <a:p>
            <a:r>
              <a:rPr lang="en-US" altLang="zh-CN" sz="2400" dirty="0"/>
              <a:t>ASCII supported numbers (0-9), English letters (A-Z), and some special characters like ! $ + - ( ) @ &lt; &gt; .</a:t>
            </a:r>
            <a:endParaRPr lang="en-US" altLang="zh-CN" sz="2400" dirty="0"/>
          </a:p>
          <a:p>
            <a:r>
              <a:rPr lang="en-US" altLang="zh-CN" sz="2400" dirty="0">
                <a:solidFill>
                  <a:srgbClr val="FFC000"/>
                </a:solidFill>
              </a:rPr>
              <a:t>ANSI (Windows-1252)</a:t>
            </a:r>
            <a:r>
              <a:rPr lang="en-US" altLang="zh-CN" sz="2400" dirty="0"/>
              <a:t> was the original Windows character set. It </a:t>
            </a:r>
            <a:r>
              <a:rPr lang="en-US" altLang="zh-CN" sz="2400" dirty="0" smtClean="0"/>
              <a:t>supports </a:t>
            </a:r>
            <a:r>
              <a:rPr lang="en-US" altLang="zh-CN" sz="2400" dirty="0"/>
              <a:t>256 different character codes. </a:t>
            </a:r>
            <a:endParaRPr lang="en-US" altLang="zh-CN" sz="2400" dirty="0"/>
          </a:p>
          <a:p>
            <a:r>
              <a:rPr lang="en-US" altLang="zh-CN" sz="2400" dirty="0">
                <a:solidFill>
                  <a:srgbClr val="FFC000"/>
                </a:solidFill>
              </a:rPr>
              <a:t>ISO-8859-1 </a:t>
            </a:r>
            <a:r>
              <a:rPr lang="en-US" altLang="zh-CN" sz="2400" dirty="0"/>
              <a:t>was the default character set for HTML 4. It also </a:t>
            </a:r>
            <a:r>
              <a:rPr lang="en-US" altLang="zh-CN" sz="2400" dirty="0" smtClean="0"/>
              <a:t>supports </a:t>
            </a:r>
            <a:r>
              <a:rPr lang="en-US" altLang="zh-CN" sz="2400" dirty="0"/>
              <a:t>256 different character codes. </a:t>
            </a:r>
            <a:endParaRPr lang="en-US" altLang="zh-CN" sz="2400" dirty="0"/>
          </a:p>
          <a:p>
            <a:r>
              <a:rPr lang="en-US" altLang="zh-CN" sz="2400" dirty="0"/>
              <a:t>Because ANSI and ISO </a:t>
            </a:r>
            <a:r>
              <a:rPr lang="en-US" altLang="zh-CN" sz="2400" dirty="0" smtClean="0"/>
              <a:t>is </a:t>
            </a:r>
            <a:r>
              <a:rPr lang="en-US" altLang="zh-CN" sz="2400" dirty="0"/>
              <a:t>limited, </a:t>
            </a:r>
            <a:r>
              <a:rPr lang="en-US" altLang="zh-CN" sz="2400" dirty="0">
                <a:solidFill>
                  <a:srgbClr val="FF0000"/>
                </a:solidFill>
              </a:rPr>
              <a:t>the default character encoding </a:t>
            </a:r>
            <a:r>
              <a:rPr lang="en-US" altLang="zh-CN" sz="2400" dirty="0" smtClean="0">
                <a:solidFill>
                  <a:srgbClr val="FF0000"/>
                </a:solidFill>
              </a:rPr>
              <a:t>is </a:t>
            </a:r>
            <a:r>
              <a:rPr lang="en-US" altLang="zh-CN" sz="2400" dirty="0">
                <a:solidFill>
                  <a:srgbClr val="FF0000"/>
                </a:solidFill>
              </a:rPr>
              <a:t>changed to UTF-8 in HTML5</a:t>
            </a:r>
            <a:r>
              <a:rPr lang="en-US" altLang="zh-CN" sz="2400" dirty="0"/>
              <a:t>.</a:t>
            </a:r>
            <a:endParaRPr lang="en-US" altLang="zh-CN" sz="2400" dirty="0"/>
          </a:p>
          <a:p>
            <a:r>
              <a:rPr lang="en-US" altLang="zh-CN" sz="2400" dirty="0">
                <a:solidFill>
                  <a:srgbClr val="FFC000"/>
                </a:solidFill>
              </a:rPr>
              <a:t>UTF-8 (Unicode)</a:t>
            </a:r>
            <a:r>
              <a:rPr lang="en-US" altLang="zh-CN" sz="2400" dirty="0"/>
              <a:t> covers almost </a:t>
            </a:r>
            <a:r>
              <a:rPr lang="en-US" altLang="zh-CN" sz="2400" dirty="0">
                <a:solidFill>
                  <a:srgbClr val="FF0000"/>
                </a:solidFill>
              </a:rPr>
              <a:t>all of</a:t>
            </a:r>
            <a:r>
              <a:rPr lang="en-US" altLang="zh-CN" sz="2400" dirty="0"/>
              <a:t> the characters and symbols in the world.</a:t>
            </a:r>
            <a:endParaRPr lang="en-US" altLang="zh-CN" sz="2400" dirty="0"/>
          </a:p>
          <a:p>
            <a:pPr marL="0" indent="0">
              <a:buNone/>
            </a:pPr>
            <a:r>
              <a:rPr lang="en-US" altLang="zh-CN" sz="2400" dirty="0">
                <a:solidFill>
                  <a:srgbClr val="FFC000"/>
                </a:solidFill>
              </a:rPr>
              <a:t>Hint:All HTML 4 processors also support UTF-8.</a:t>
            </a:r>
            <a:endParaRPr lang="en-US" altLang="zh-CN" sz="2400" dirty="0">
              <a:solidFill>
                <a:srgbClr val="FFC000"/>
              </a:solidFill>
            </a:endParaRPr>
          </a:p>
          <a:p>
            <a:endParaRPr lang="en-US" altLang="zh-CN" sz="2400" dirty="0">
              <a:solidFill>
                <a:srgbClr val="FFC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How to use the HTML charset</a:t>
            </a:r>
            <a:r>
              <a:rPr lang="zh-CN" altLang="en-US" dirty="0"/>
              <a:t>？</a:t>
            </a:r>
            <a:endParaRPr lang="zh-CN" altLang="en-US" dirty="0"/>
          </a:p>
        </p:txBody>
      </p:sp>
      <p:sp>
        <p:nvSpPr>
          <p:cNvPr id="3" name="内容占位符 2"/>
          <p:cNvSpPr>
            <a:spLocks noGrp="1"/>
          </p:cNvSpPr>
          <p:nvPr>
            <p:ph idx="1"/>
          </p:nvPr>
        </p:nvSpPr>
        <p:spPr>
          <a:xfrm>
            <a:off x="838200" y="1584668"/>
            <a:ext cx="10787062" cy="832377"/>
          </a:xfrm>
        </p:spPr>
        <p:txBody>
          <a:bodyPr>
            <a:noAutofit/>
          </a:bodyPr>
          <a:lstStyle/>
          <a:p>
            <a:pPr marL="0" indent="0">
              <a:buNone/>
            </a:pPr>
            <a:r>
              <a:rPr lang="en-US" altLang="zh-CN" dirty="0"/>
              <a:t>To display an HTML page correctly, a </a:t>
            </a:r>
            <a:r>
              <a:rPr lang="en-US" altLang="zh-CN" dirty="0">
                <a:solidFill>
                  <a:srgbClr val="FF0000"/>
                </a:solidFill>
              </a:rPr>
              <a:t>web browser</a:t>
            </a:r>
            <a:r>
              <a:rPr lang="en-US" altLang="zh-CN" dirty="0"/>
              <a:t> must know the character set used in the page. </a:t>
            </a:r>
            <a:r>
              <a:rPr lang="en-US" altLang="zh-CN" dirty="0" smtClean="0"/>
              <a:t> This </a:t>
            </a:r>
            <a:r>
              <a:rPr lang="en-US" altLang="zh-CN" dirty="0"/>
              <a:t>is specified in the</a:t>
            </a:r>
            <a:r>
              <a:rPr lang="en-US" altLang="zh-CN" dirty="0">
                <a:solidFill>
                  <a:srgbClr val="FF0000"/>
                </a:solidFill>
              </a:rPr>
              <a:t> &lt;meta&gt; tag</a:t>
            </a:r>
            <a:r>
              <a:rPr lang="en-US" altLang="zh-CN" dirty="0"/>
              <a:t>:</a:t>
            </a:r>
            <a:endParaRPr lang="en-US" altLang="zh-CN" dirty="0"/>
          </a:p>
          <a:p>
            <a:r>
              <a:rPr lang="en-US" altLang="zh-CN" dirty="0"/>
              <a:t>For HTML4:</a:t>
            </a:r>
            <a:endParaRPr lang="en-US" altLang="zh-CN" dirty="0"/>
          </a:p>
          <a:p>
            <a:pPr marL="0" indent="0">
              <a:buNone/>
            </a:pPr>
            <a:r>
              <a:rPr lang="en-US" altLang="zh-CN" dirty="0"/>
              <a:t>   </a:t>
            </a:r>
            <a:endParaRPr lang="en-US" altLang="zh-CN" dirty="0"/>
          </a:p>
          <a:p>
            <a:pPr marL="0" indent="0">
              <a:buNone/>
            </a:pPr>
            <a:endParaRPr lang="en-US" altLang="zh-CN" dirty="0"/>
          </a:p>
          <a:p>
            <a:r>
              <a:rPr lang="en-US" altLang="zh-CN" dirty="0"/>
              <a:t>For HTML5:</a:t>
            </a:r>
            <a:endParaRPr lang="en-US" altLang="zh-CN" dirty="0"/>
          </a:p>
        </p:txBody>
      </p:sp>
      <p:pic>
        <p:nvPicPr>
          <p:cNvPr id="5" name="图片 4"/>
          <p:cNvPicPr>
            <a:picLocks noChangeAspect="1"/>
          </p:cNvPicPr>
          <p:nvPr/>
        </p:nvPicPr>
        <p:blipFill>
          <a:blip r:embed="rId1"/>
          <a:stretch>
            <a:fillRect/>
          </a:stretch>
        </p:blipFill>
        <p:spPr>
          <a:xfrm>
            <a:off x="1088072" y="3183882"/>
            <a:ext cx="10537190" cy="558800"/>
          </a:xfrm>
          <a:prstGeom prst="rect">
            <a:avLst/>
          </a:prstGeom>
        </p:spPr>
      </p:pic>
      <p:pic>
        <p:nvPicPr>
          <p:cNvPr id="6" name="图片 5"/>
          <p:cNvPicPr>
            <a:picLocks noChangeAspect="1"/>
          </p:cNvPicPr>
          <p:nvPr/>
        </p:nvPicPr>
        <p:blipFill>
          <a:blip r:embed="rId2"/>
          <a:stretch>
            <a:fillRect/>
          </a:stretch>
        </p:blipFill>
        <p:spPr>
          <a:xfrm>
            <a:off x="958850" y="4802978"/>
            <a:ext cx="10518140" cy="516255"/>
          </a:xfrm>
          <a:prstGeom prst="rect">
            <a:avLst/>
          </a:prstGeom>
        </p:spPr>
      </p:pic>
      <p:sp>
        <p:nvSpPr>
          <p:cNvPr id="7" name="文本框 6"/>
          <p:cNvSpPr txBox="1"/>
          <p:nvPr/>
        </p:nvSpPr>
        <p:spPr>
          <a:xfrm>
            <a:off x="883135" y="5609578"/>
            <a:ext cx="1079563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Hint: </a:t>
            </a:r>
            <a:r>
              <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If a browser detects </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ISO-8859-1</a:t>
            </a:r>
            <a:r>
              <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in a web page, it defaults to ANSI, </a:t>
            </a:r>
            <a:r>
              <a:rPr kumimoji="0" lang="zh-CN" altLang="en-US" sz="24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because</a:t>
            </a:r>
            <a:r>
              <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 ANSI is identical to ISO-8859-1 except that ANSI has 32 extra characters. </a:t>
            </a:r>
            <a:endParaRPr kumimoji="0" lang="zh-CN" altLang="en-US" sz="24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About the ASCII Character Set</a:t>
            </a:r>
            <a:endParaRPr lang="en-US" altLang="zh-CN" dirty="0"/>
          </a:p>
        </p:txBody>
      </p:sp>
      <p:sp>
        <p:nvSpPr>
          <p:cNvPr id="3" name="内容占位符 2"/>
          <p:cNvSpPr>
            <a:spLocks noGrp="1"/>
          </p:cNvSpPr>
          <p:nvPr>
            <p:ph idx="1"/>
          </p:nvPr>
        </p:nvSpPr>
        <p:spPr>
          <a:xfrm>
            <a:off x="838200" y="1683385"/>
            <a:ext cx="10515600" cy="4800600"/>
          </a:xfrm>
        </p:spPr>
        <p:txBody>
          <a:bodyPr>
            <a:noAutofit/>
          </a:bodyPr>
          <a:lstStyle/>
          <a:p>
            <a:pPr marL="0" indent="0">
              <a:buNone/>
            </a:pPr>
            <a:r>
              <a:rPr lang="en-US" altLang="zh-CN" dirty="0">
                <a:solidFill>
                  <a:srgbClr val="FFFF00"/>
                </a:solidFill>
              </a:rPr>
              <a:t>The ASCII Character Set</a:t>
            </a:r>
            <a:endParaRPr lang="en-US" altLang="zh-CN" dirty="0">
              <a:solidFill>
                <a:srgbClr val="FFFF00"/>
              </a:solidFill>
            </a:endParaRPr>
          </a:p>
          <a:p>
            <a:r>
              <a:rPr lang="en-US" altLang="zh-CN" dirty="0">
                <a:solidFill>
                  <a:schemeClr val="tx1"/>
                </a:solidFill>
              </a:rPr>
              <a:t>ASCII uses the values from 0 to 31 (and 127) </a:t>
            </a:r>
            <a:r>
              <a:rPr lang="en-US" altLang="zh-CN" dirty="0">
                <a:solidFill>
                  <a:srgbClr val="FF0000"/>
                </a:solidFill>
              </a:rPr>
              <a:t>for control characters</a:t>
            </a:r>
            <a:r>
              <a:rPr lang="en-US" altLang="zh-CN" dirty="0">
                <a:solidFill>
                  <a:schemeClr val="tx1"/>
                </a:solidFill>
              </a:rPr>
              <a:t>.</a:t>
            </a:r>
            <a:endParaRPr lang="en-US" altLang="zh-CN" dirty="0">
              <a:solidFill>
                <a:schemeClr val="tx1"/>
              </a:solidFill>
            </a:endParaRPr>
          </a:p>
          <a:p>
            <a:r>
              <a:rPr lang="en-US" altLang="zh-CN" dirty="0">
                <a:solidFill>
                  <a:schemeClr val="tx1"/>
                </a:solidFill>
              </a:rPr>
              <a:t>ASCII uses the values from 32 to 126 </a:t>
            </a:r>
            <a:r>
              <a:rPr lang="en-US" altLang="zh-CN" dirty="0">
                <a:solidFill>
                  <a:srgbClr val="FF0000"/>
                </a:solidFill>
              </a:rPr>
              <a:t>for letters, digits, and symbols</a:t>
            </a:r>
            <a:r>
              <a:rPr lang="en-US" altLang="zh-CN" dirty="0">
                <a:solidFill>
                  <a:schemeClr val="tx1"/>
                </a:solidFill>
              </a:rPr>
              <a:t>.</a:t>
            </a:r>
            <a:endParaRPr lang="en-US" altLang="zh-CN" dirty="0">
              <a:solidFill>
                <a:schemeClr val="tx1"/>
              </a:solidFill>
            </a:endParaRPr>
          </a:p>
          <a:p>
            <a:r>
              <a:rPr lang="en-US" altLang="zh-CN" dirty="0">
                <a:solidFill>
                  <a:schemeClr val="tx1"/>
                </a:solidFill>
              </a:rPr>
              <a:t>ASCII does </a:t>
            </a:r>
            <a:r>
              <a:rPr lang="en-US" altLang="zh-CN" dirty="0">
                <a:solidFill>
                  <a:srgbClr val="FF0000"/>
                </a:solidFill>
              </a:rPr>
              <a:t>not use</a:t>
            </a:r>
            <a:r>
              <a:rPr lang="en-US" altLang="zh-CN" dirty="0">
                <a:solidFill>
                  <a:schemeClr val="tx1"/>
                </a:solidFill>
              </a:rPr>
              <a:t> the values from 128 to 255.</a:t>
            </a:r>
            <a:endParaRPr lang="en-US" altLang="zh-CN" dirty="0">
              <a:solidFill>
                <a:schemeClr val="tx1"/>
              </a:solidFill>
            </a:endParaRPr>
          </a:p>
          <a:p>
            <a:pPr marL="0" indent="0">
              <a:buNone/>
            </a:pPr>
            <a:r>
              <a:rPr lang="en-US" altLang="zh-CN" dirty="0">
                <a:solidFill>
                  <a:srgbClr val="FFFF00"/>
                </a:solidFill>
              </a:rPr>
              <a:t>The ANSI Character Set (Windows-1252)</a:t>
            </a:r>
            <a:endParaRPr lang="en-US" altLang="zh-CN" dirty="0">
              <a:solidFill>
                <a:srgbClr val="FFFF00"/>
              </a:solidFill>
            </a:endParaRPr>
          </a:p>
          <a:p>
            <a:r>
              <a:rPr lang="en-US" altLang="zh-CN" dirty="0">
                <a:solidFill>
                  <a:srgbClr val="FF0000"/>
                </a:solidFill>
              </a:rPr>
              <a:t>ANSI</a:t>
            </a:r>
            <a:r>
              <a:rPr lang="en-US" altLang="zh-CN" dirty="0">
                <a:solidFill>
                  <a:schemeClr val="tx1"/>
                </a:solidFill>
              </a:rPr>
              <a:t> is identical to </a:t>
            </a:r>
            <a:r>
              <a:rPr lang="en-US" altLang="zh-CN" dirty="0">
                <a:solidFill>
                  <a:srgbClr val="FF0000"/>
                </a:solidFill>
              </a:rPr>
              <a:t>ASCI</a:t>
            </a:r>
            <a:r>
              <a:rPr lang="en-US" altLang="zh-CN" dirty="0">
                <a:solidFill>
                  <a:schemeClr val="tx1"/>
                </a:solidFill>
              </a:rPr>
              <a:t>I for the values from 0 to 127.</a:t>
            </a:r>
            <a:endParaRPr lang="en-US" altLang="zh-CN" dirty="0">
              <a:solidFill>
                <a:schemeClr val="tx1"/>
              </a:solidFill>
            </a:endParaRPr>
          </a:p>
          <a:p>
            <a:r>
              <a:rPr lang="en-US" altLang="zh-CN" dirty="0">
                <a:solidFill>
                  <a:schemeClr val="tx1"/>
                </a:solidFill>
              </a:rPr>
              <a:t>ANSI has </a:t>
            </a:r>
            <a:r>
              <a:rPr lang="en-US" altLang="zh-CN" dirty="0">
                <a:solidFill>
                  <a:srgbClr val="FF0000"/>
                </a:solidFill>
              </a:rPr>
              <a:t>a proprietary set </a:t>
            </a:r>
            <a:r>
              <a:rPr lang="en-US" altLang="zh-CN" dirty="0">
                <a:solidFill>
                  <a:schemeClr val="tx1"/>
                </a:solidFill>
              </a:rPr>
              <a:t>of characters</a:t>
            </a:r>
            <a:r>
              <a:rPr lang="en-US" altLang="zh-CN" dirty="0">
                <a:solidFill>
                  <a:srgbClr val="FF0000"/>
                </a:solidFill>
              </a:rPr>
              <a:t> </a:t>
            </a:r>
            <a:r>
              <a:rPr lang="en-US" altLang="zh-CN" dirty="0">
                <a:solidFill>
                  <a:schemeClr val="tx1"/>
                </a:solidFill>
              </a:rPr>
              <a:t>for the values from 128 to 159.</a:t>
            </a:r>
            <a:endParaRPr lang="en-US" altLang="zh-CN" dirty="0">
              <a:solidFill>
                <a:schemeClr val="tx1"/>
              </a:solidFill>
            </a:endParaRPr>
          </a:p>
          <a:p>
            <a:r>
              <a:rPr lang="en-US" altLang="zh-CN" dirty="0">
                <a:solidFill>
                  <a:srgbClr val="FF0000"/>
                </a:solidFill>
              </a:rPr>
              <a:t>ANSI</a:t>
            </a:r>
            <a:r>
              <a:rPr lang="en-US" altLang="zh-CN" dirty="0">
                <a:solidFill>
                  <a:schemeClr val="tx1"/>
                </a:solidFill>
              </a:rPr>
              <a:t> is identical to </a:t>
            </a:r>
            <a:r>
              <a:rPr lang="en-US" altLang="zh-CN" dirty="0">
                <a:solidFill>
                  <a:srgbClr val="FF0000"/>
                </a:solidFill>
              </a:rPr>
              <a:t>UTF-8</a:t>
            </a:r>
            <a:r>
              <a:rPr lang="en-US" altLang="zh-CN" dirty="0">
                <a:solidFill>
                  <a:schemeClr val="tx1"/>
                </a:solidFill>
              </a:rPr>
              <a:t> for the values from 160 to 255.</a:t>
            </a:r>
            <a:endParaRPr lang="en-US" altLang="zh-CN"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About the ISO-8859-1 Character Set</a:t>
            </a:r>
            <a:endParaRPr lang="en-US" altLang="zh-CN" dirty="0"/>
          </a:p>
        </p:txBody>
      </p:sp>
      <p:sp>
        <p:nvSpPr>
          <p:cNvPr id="3" name="内容占位符 2"/>
          <p:cNvSpPr>
            <a:spLocks noGrp="1"/>
          </p:cNvSpPr>
          <p:nvPr>
            <p:ph idx="1"/>
          </p:nvPr>
        </p:nvSpPr>
        <p:spPr>
          <a:xfrm>
            <a:off x="838200" y="1635708"/>
            <a:ext cx="10515600" cy="4389824"/>
          </a:xfrm>
        </p:spPr>
        <p:txBody>
          <a:bodyPr/>
          <a:lstStyle/>
          <a:p>
            <a:pPr algn="just"/>
            <a:r>
              <a:rPr lang="en-US" altLang="zh-CN" dirty="0">
                <a:solidFill>
                  <a:srgbClr val="FF0000"/>
                </a:solidFill>
              </a:rPr>
              <a:t>8859-1</a:t>
            </a:r>
            <a:r>
              <a:rPr lang="en-US" altLang="zh-CN" dirty="0"/>
              <a:t> is identical to </a:t>
            </a:r>
            <a:r>
              <a:rPr lang="en-US" altLang="zh-CN" dirty="0">
                <a:solidFill>
                  <a:srgbClr val="FF0000"/>
                </a:solidFill>
              </a:rPr>
              <a:t>ASCII</a:t>
            </a:r>
            <a:r>
              <a:rPr lang="en-US" altLang="zh-CN" dirty="0"/>
              <a:t> for the values from 0 to 127.</a:t>
            </a:r>
            <a:endParaRPr lang="en-US" altLang="zh-CN" dirty="0"/>
          </a:p>
          <a:p>
            <a:pPr algn="just"/>
            <a:r>
              <a:rPr lang="en-US" altLang="zh-CN" dirty="0"/>
              <a:t>8859-1 does</a:t>
            </a:r>
            <a:r>
              <a:rPr lang="en-US" altLang="zh-CN" dirty="0">
                <a:solidFill>
                  <a:srgbClr val="FF0000"/>
                </a:solidFill>
              </a:rPr>
              <a:t> not use</a:t>
            </a:r>
            <a:r>
              <a:rPr lang="en-US" altLang="zh-CN" dirty="0"/>
              <a:t> the values from 128 to 159.</a:t>
            </a:r>
            <a:endParaRPr lang="en-US" altLang="zh-CN" dirty="0"/>
          </a:p>
          <a:p>
            <a:pPr algn="just"/>
            <a:r>
              <a:rPr lang="en-US" altLang="zh-CN" dirty="0">
                <a:solidFill>
                  <a:srgbClr val="FF0000"/>
                </a:solidFill>
              </a:rPr>
              <a:t>8859-1</a:t>
            </a:r>
            <a:r>
              <a:rPr lang="en-US" altLang="zh-CN" dirty="0"/>
              <a:t> is identical to </a:t>
            </a:r>
            <a:r>
              <a:rPr lang="en-US" altLang="zh-CN" dirty="0">
                <a:solidFill>
                  <a:srgbClr val="FF0000"/>
                </a:solidFill>
              </a:rPr>
              <a:t>UTF-8</a:t>
            </a:r>
            <a:r>
              <a:rPr lang="en-US" altLang="zh-CN" dirty="0"/>
              <a:t> for the values from 160 to 255.</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lstStyle/>
          <a:p>
            <a:pPr algn="ctr"/>
            <a:r>
              <a:rPr lang="en-US" dirty="0"/>
              <a:t>About the UTF-8 Character Set</a:t>
            </a:r>
            <a:endParaRPr lang="en-US" dirty="0"/>
          </a:p>
        </p:txBody>
      </p:sp>
      <p:sp>
        <p:nvSpPr>
          <p:cNvPr id="3" name="内容占位符 2"/>
          <p:cNvSpPr>
            <a:spLocks noGrp="1"/>
          </p:cNvSpPr>
          <p:nvPr>
            <p:ph idx="1"/>
          </p:nvPr>
        </p:nvSpPr>
        <p:spPr>
          <a:xfrm>
            <a:off x="838200" y="1510083"/>
            <a:ext cx="10515600" cy="1819618"/>
          </a:xfrm>
        </p:spPr>
        <p:txBody>
          <a:bodyPr>
            <a:noAutofit/>
          </a:bodyPr>
          <a:lstStyle/>
          <a:p>
            <a:r>
              <a:rPr lang="en-US" altLang="zh-CN" dirty="0">
                <a:solidFill>
                  <a:srgbClr val="FF0000"/>
                </a:solidFill>
              </a:rPr>
              <a:t>UTF-8</a:t>
            </a:r>
            <a:r>
              <a:rPr lang="en-US" altLang="zh-CN" dirty="0"/>
              <a:t> is identical to </a:t>
            </a:r>
            <a:r>
              <a:rPr lang="en-US" altLang="zh-CN" dirty="0">
                <a:solidFill>
                  <a:srgbClr val="FF0000"/>
                </a:solidFill>
              </a:rPr>
              <a:t>ASCII</a:t>
            </a:r>
            <a:r>
              <a:rPr lang="en-US" altLang="zh-CN" dirty="0"/>
              <a:t> for the values from 0 to 127.</a:t>
            </a:r>
            <a:endParaRPr lang="en-US" altLang="zh-CN" dirty="0"/>
          </a:p>
          <a:p>
            <a:r>
              <a:rPr lang="en-US" altLang="zh-CN" dirty="0"/>
              <a:t>UTF-8 does </a:t>
            </a:r>
            <a:r>
              <a:rPr lang="en-US" altLang="zh-CN" dirty="0">
                <a:solidFill>
                  <a:srgbClr val="FF0000"/>
                </a:solidFill>
              </a:rPr>
              <a:t>not use</a:t>
            </a:r>
            <a:r>
              <a:rPr lang="en-US" altLang="zh-CN" dirty="0"/>
              <a:t> the values from 128 to 159.  </a:t>
            </a:r>
            <a:endParaRPr lang="en-US" altLang="zh-CN" dirty="0"/>
          </a:p>
          <a:p>
            <a:r>
              <a:rPr lang="en-US" altLang="zh-CN" dirty="0">
                <a:solidFill>
                  <a:srgbClr val="FF0000"/>
                </a:solidFill>
              </a:rPr>
              <a:t>UTF-8</a:t>
            </a:r>
            <a:r>
              <a:rPr lang="en-US" altLang="zh-CN" dirty="0"/>
              <a:t> is identical to both </a:t>
            </a:r>
            <a:r>
              <a:rPr lang="en-US" altLang="zh-CN" dirty="0">
                <a:solidFill>
                  <a:srgbClr val="FF0000"/>
                </a:solidFill>
              </a:rPr>
              <a:t>ANSI</a:t>
            </a:r>
            <a:r>
              <a:rPr lang="en-US" altLang="zh-CN" dirty="0"/>
              <a:t> and </a:t>
            </a:r>
            <a:r>
              <a:rPr lang="en-US" altLang="zh-CN" dirty="0">
                <a:solidFill>
                  <a:srgbClr val="FF0000"/>
                </a:solidFill>
              </a:rPr>
              <a:t>8859-1</a:t>
            </a:r>
            <a:r>
              <a:rPr lang="en-US" altLang="zh-CN" dirty="0"/>
              <a:t> for the values from 160 to 255.</a:t>
            </a:r>
            <a:endParaRPr lang="en-US" altLang="zh-CN" dirty="0"/>
          </a:p>
          <a:p>
            <a:r>
              <a:rPr lang="en-US" altLang="zh-CN" dirty="0"/>
              <a:t>UTF-8 </a:t>
            </a:r>
            <a:r>
              <a:rPr lang="en-US" altLang="zh-CN" dirty="0">
                <a:solidFill>
                  <a:srgbClr val="FF0000"/>
                </a:solidFill>
              </a:rPr>
              <a:t>continues from</a:t>
            </a:r>
            <a:r>
              <a:rPr lang="en-US" altLang="zh-CN" dirty="0"/>
              <a:t> the value 256 with more than 10 000 different characters.</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05180" y="1122680"/>
            <a:ext cx="11132185" cy="1886585"/>
          </a:xfrm>
        </p:spPr>
        <p:txBody>
          <a:bodyPr/>
          <a:lstStyle/>
          <a:p>
            <a:r>
              <a:rPr lang="en-US" altLang="zh-CN" dirty="0" smtClean="0"/>
              <a:t>HTML Uniform Resource Locators</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URL</a:t>
            </a:r>
            <a:r>
              <a:rPr lang="en-US" altLang="zh-CN" dirty="0" smtClean="0"/>
              <a:t>?</a:t>
            </a:r>
            <a:endParaRPr lang="zh-CN" altLang="en-US" dirty="0"/>
          </a:p>
        </p:txBody>
      </p:sp>
      <p:sp>
        <p:nvSpPr>
          <p:cNvPr id="3" name="内容占位符 2"/>
          <p:cNvSpPr>
            <a:spLocks noGrp="1"/>
          </p:cNvSpPr>
          <p:nvPr>
            <p:ph idx="1"/>
          </p:nvPr>
        </p:nvSpPr>
        <p:spPr/>
        <p:txBody>
          <a:bodyPr/>
          <a:lstStyle/>
          <a:p>
            <a:pPr marL="0" indent="0">
              <a:buNone/>
            </a:pPr>
            <a:r>
              <a:rPr lang="en-US" altLang="zh-CN" dirty="0">
                <a:solidFill>
                  <a:srgbClr val="FFFF00"/>
                </a:solidFill>
              </a:rPr>
              <a:t>Preface</a:t>
            </a:r>
            <a:r>
              <a:rPr lang="zh-CN" altLang="en-US" dirty="0">
                <a:solidFill>
                  <a:srgbClr val="FFFF00"/>
                </a:solidFill>
              </a:rPr>
              <a:t>：</a:t>
            </a:r>
            <a:endParaRPr lang="en-US" altLang="zh-CN" dirty="0"/>
          </a:p>
          <a:p>
            <a:r>
              <a:rPr lang="en-US" altLang="zh-CN" dirty="0"/>
              <a:t>A URL(</a:t>
            </a:r>
            <a:r>
              <a:rPr lang="en-US" altLang="zh-CN" dirty="0" smtClean="0">
                <a:sym typeface="+mn-ea"/>
              </a:rPr>
              <a:t>Uniform Resource Locators) </a:t>
            </a:r>
            <a:r>
              <a:rPr lang="en-US" altLang="zh-CN" dirty="0"/>
              <a:t>is another word for </a:t>
            </a:r>
            <a:r>
              <a:rPr lang="en-US" altLang="zh-CN" dirty="0">
                <a:solidFill>
                  <a:srgbClr val="FF0000"/>
                </a:solidFill>
              </a:rPr>
              <a:t>a</a:t>
            </a:r>
            <a:r>
              <a:rPr lang="en-US" altLang="zh-CN" dirty="0"/>
              <a:t> </a:t>
            </a:r>
            <a:r>
              <a:rPr lang="en-US" altLang="zh-CN" dirty="0">
                <a:solidFill>
                  <a:srgbClr val="FF0000"/>
                </a:solidFill>
              </a:rPr>
              <a:t>web address</a:t>
            </a:r>
            <a:r>
              <a:rPr lang="en-US" altLang="zh-CN" dirty="0"/>
              <a:t>.</a:t>
            </a:r>
            <a:endParaRPr lang="en-US" altLang="zh-CN" dirty="0"/>
          </a:p>
          <a:p>
            <a:r>
              <a:rPr lang="en-US" altLang="zh-CN" dirty="0"/>
              <a:t>A URL can be composed of </a:t>
            </a:r>
            <a:r>
              <a:rPr lang="en-US" altLang="zh-CN" dirty="0" smtClean="0"/>
              <a:t>words, or </a:t>
            </a:r>
            <a:r>
              <a:rPr lang="en-US" altLang="zh-CN" dirty="0"/>
              <a:t>an Internet Protocol (</a:t>
            </a:r>
            <a:r>
              <a:rPr lang="en-US" altLang="zh-CN" dirty="0">
                <a:solidFill>
                  <a:srgbClr val="FF0000"/>
                </a:solidFill>
              </a:rPr>
              <a:t>IP</a:t>
            </a:r>
            <a:r>
              <a:rPr lang="en-US" altLang="zh-CN" dirty="0"/>
              <a:t>) address (eg: 192.68.20.50).</a:t>
            </a:r>
            <a:endParaRPr lang="en-US" altLang="zh-CN" dirty="0"/>
          </a:p>
          <a:p>
            <a:r>
              <a:rPr lang="en-US" altLang="zh-CN" dirty="0"/>
              <a:t>Most people enter the name </a:t>
            </a:r>
            <a:r>
              <a:rPr lang="en-US" altLang="zh-CN" dirty="0" smtClean="0"/>
              <a:t>because </a:t>
            </a:r>
            <a:r>
              <a:rPr lang="en-US" altLang="zh-CN" dirty="0"/>
              <a:t>names are easier to remember than numbers.</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URL</a:t>
            </a:r>
            <a:r>
              <a:rPr lang="en-US" altLang="zh-CN" dirty="0" smtClean="0"/>
              <a:t>?</a:t>
            </a:r>
            <a:endParaRPr lang="zh-CN" altLang="en-US" dirty="0"/>
          </a:p>
        </p:txBody>
      </p:sp>
      <p:sp>
        <p:nvSpPr>
          <p:cNvPr id="3" name="内容占位符 2"/>
          <p:cNvSpPr>
            <a:spLocks noGrp="1"/>
          </p:cNvSpPr>
          <p:nvPr>
            <p:ph idx="1"/>
          </p:nvPr>
        </p:nvSpPr>
        <p:spPr>
          <a:xfrm>
            <a:off x="838200" y="1691640"/>
            <a:ext cx="10515600" cy="4823460"/>
          </a:xfrm>
        </p:spPr>
        <p:txBody>
          <a:bodyPr>
            <a:normAutofit fontScale="90000" lnSpcReduction="10000"/>
          </a:bodyPr>
          <a:lstStyle/>
          <a:p>
            <a:r>
              <a:rPr lang="en-US" altLang="zh-CN" sz="3100" dirty="0"/>
              <a:t>Web browsers </a:t>
            </a:r>
            <a:r>
              <a:rPr lang="en-US" altLang="zh-CN" sz="3100" dirty="0">
                <a:solidFill>
                  <a:srgbClr val="FF0000"/>
                </a:solidFill>
              </a:rPr>
              <a:t>request pages</a:t>
            </a:r>
            <a:r>
              <a:rPr lang="en-US" altLang="zh-CN" sz="3100" dirty="0"/>
              <a:t> from web servers by using a URL.</a:t>
            </a:r>
            <a:endParaRPr lang="en-US" altLang="zh-CN" sz="3100" dirty="0"/>
          </a:p>
          <a:p>
            <a:r>
              <a:rPr lang="en-US" altLang="zh-CN" sz="3100" dirty="0"/>
              <a:t>When you click on a link in an HTML page, an underlying </a:t>
            </a:r>
            <a:r>
              <a:rPr lang="en-US" altLang="zh-CN" sz="3100" dirty="0">
                <a:solidFill>
                  <a:srgbClr val="FF0000"/>
                </a:solidFill>
              </a:rPr>
              <a:t>&lt;a&gt;</a:t>
            </a:r>
            <a:r>
              <a:rPr lang="en-US" altLang="zh-CN" sz="3100" dirty="0"/>
              <a:t> tag </a:t>
            </a:r>
            <a:r>
              <a:rPr lang="en-US" altLang="zh-CN" sz="3100" dirty="0">
                <a:solidFill>
                  <a:srgbClr val="FF0000"/>
                </a:solidFill>
              </a:rPr>
              <a:t>points to an address</a:t>
            </a:r>
            <a:r>
              <a:rPr lang="en-US" altLang="zh-CN" sz="3100" dirty="0"/>
              <a:t> on the web.</a:t>
            </a:r>
            <a:endParaRPr lang="en-US" altLang="zh-CN" sz="3100" dirty="0"/>
          </a:p>
          <a:p>
            <a:r>
              <a:rPr lang="en-US" altLang="zh-CN" sz="3100" dirty="0"/>
              <a:t>A Uniform Resource Locator (URL) is </a:t>
            </a:r>
            <a:r>
              <a:rPr lang="en-US" altLang="zh-CN" sz="3100" dirty="0">
                <a:solidFill>
                  <a:srgbClr val="FF0000"/>
                </a:solidFill>
              </a:rPr>
              <a:t>used to address</a:t>
            </a:r>
            <a:r>
              <a:rPr lang="en-US" altLang="zh-CN" sz="3100" dirty="0"/>
              <a:t> a document (or other data) on the web.</a:t>
            </a:r>
            <a:endParaRPr lang="en-US" altLang="zh-CN" sz="3100" dirty="0"/>
          </a:p>
          <a:p>
            <a:pPr marL="0" indent="0">
              <a:buNone/>
            </a:pPr>
            <a:endParaRPr lang="en-US" altLang="zh-CN" dirty="0"/>
          </a:p>
          <a:p>
            <a:pPr marL="0" indent="0">
              <a:buNone/>
            </a:pPr>
            <a:r>
              <a:rPr lang="en-US" altLang="zh-CN" dirty="0"/>
              <a:t>Example:</a:t>
            </a:r>
            <a:endParaRPr lang="en-US" altLang="zh-CN" dirty="0"/>
          </a:p>
          <a:p>
            <a:pPr marL="0" indent="0">
              <a:buNone/>
            </a:pPr>
            <a:r>
              <a:rPr lang="en-US" altLang="zh-CN" dirty="0"/>
              <a:t>A web address, like </a:t>
            </a:r>
            <a:endParaRPr lang="en-US" altLang="zh-CN" dirty="0"/>
          </a:p>
          <a:p>
            <a:pPr marL="0" indent="0" algn="ctr">
              <a:buNone/>
            </a:pPr>
            <a:r>
              <a:rPr lang="en-US" altLang="zh-CN" dirty="0">
                <a:solidFill>
                  <a:srgbClr val="FFFF00"/>
                </a:solidFill>
              </a:rPr>
              <a:t>http://</a:t>
            </a:r>
            <a:r>
              <a:rPr lang="en-US" altLang="zh-CN" dirty="0" smtClean="0">
                <a:solidFill>
                  <a:srgbClr val="FFFF00"/>
                </a:solidFill>
              </a:rPr>
              <a:t>www.fzu.edu.cn/html/default.asp</a:t>
            </a:r>
            <a:r>
              <a:rPr lang="en-US" altLang="zh-CN" dirty="0" smtClean="0"/>
              <a:t> </a:t>
            </a:r>
            <a:endParaRPr lang="en-US" altLang="zh-CN" dirty="0"/>
          </a:p>
          <a:p>
            <a:pPr marL="0" indent="0">
              <a:buNone/>
            </a:pPr>
            <a:r>
              <a:rPr lang="en-US" altLang="zh-CN" dirty="0"/>
              <a:t>follows these syntax rules:</a:t>
            </a:r>
            <a:endParaRPr lang="en-US" altLang="zh-CN" dirty="0"/>
          </a:p>
          <a:p>
            <a:pPr marL="0" indent="0" algn="ctr">
              <a:buNone/>
            </a:pPr>
            <a:r>
              <a:rPr lang="en-US" altLang="zh-CN" dirty="0">
                <a:solidFill>
                  <a:srgbClr val="FFFF00"/>
                </a:solidFill>
              </a:rPr>
              <a:t>scheme://prefix.domain:port/path/filename</a:t>
            </a:r>
            <a:r>
              <a:rPr lang="en-US" altLang="zh-CN" dirty="0"/>
              <a:t> </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4449"/>
            <a:ext cx="10515600" cy="837663"/>
          </a:xfrm>
        </p:spPr>
        <p:txBody>
          <a:bodyPr/>
          <a:lstStyle/>
          <a:p>
            <a:pPr algn="ctr"/>
            <a:r>
              <a:rPr lang="en-US" altLang="zh-CN" dirty="0"/>
              <a:t>What is URL</a:t>
            </a:r>
            <a:r>
              <a:rPr lang="en-US" altLang="zh-CN" dirty="0" smtClean="0"/>
              <a:t>?</a:t>
            </a:r>
            <a:endParaRPr lang="zh-CN" altLang="en-US" dirty="0"/>
          </a:p>
        </p:txBody>
      </p:sp>
      <p:sp>
        <p:nvSpPr>
          <p:cNvPr id="3" name="内容占位符 2"/>
          <p:cNvSpPr>
            <a:spLocks noGrp="1"/>
          </p:cNvSpPr>
          <p:nvPr>
            <p:ph idx="1"/>
          </p:nvPr>
        </p:nvSpPr>
        <p:spPr>
          <a:xfrm>
            <a:off x="718624" y="1135429"/>
            <a:ext cx="10739511" cy="5602996"/>
          </a:xfrm>
        </p:spPr>
        <p:txBody>
          <a:bodyPr>
            <a:noAutofit/>
          </a:bodyPr>
          <a:lstStyle/>
          <a:p>
            <a:pPr marL="0" indent="0" algn="ctr">
              <a:buNone/>
            </a:pPr>
            <a:r>
              <a:rPr lang="en-US" altLang="zh-CN" sz="2400" dirty="0">
                <a:solidFill>
                  <a:srgbClr val="FFFF00"/>
                </a:solidFill>
              </a:rPr>
              <a:t>http://www.fzu.edu.cn/html/default.asp</a:t>
            </a:r>
            <a:r>
              <a:rPr lang="en-US" altLang="zh-CN" sz="2400" dirty="0"/>
              <a:t> </a:t>
            </a:r>
            <a:endParaRPr lang="en-US" altLang="zh-CN" sz="2400" dirty="0"/>
          </a:p>
          <a:p>
            <a:pPr marL="0" indent="0" algn="ctr">
              <a:buNone/>
            </a:pPr>
            <a:r>
              <a:rPr lang="en-US" altLang="zh-CN" sz="2400" dirty="0" smtClean="0">
                <a:solidFill>
                  <a:srgbClr val="FFFF00"/>
                </a:solidFill>
              </a:rPr>
              <a:t>= </a:t>
            </a:r>
            <a:r>
              <a:rPr lang="en-US" altLang="zh-CN" sz="2400" dirty="0">
                <a:solidFill>
                  <a:srgbClr val="FFFF00"/>
                </a:solidFill>
              </a:rPr>
              <a:t>scheme://prefix.domain:port/path/filename</a:t>
            </a:r>
            <a:r>
              <a:rPr lang="en-US" altLang="zh-CN" sz="2400" dirty="0"/>
              <a:t> </a:t>
            </a:r>
            <a:endParaRPr lang="en-US" altLang="zh-CN" sz="2400" dirty="0"/>
          </a:p>
          <a:p>
            <a:pPr marL="0" indent="0" algn="l">
              <a:buNone/>
            </a:pPr>
            <a:r>
              <a:rPr lang="en-US" altLang="zh-CN" sz="2400" dirty="0">
                <a:solidFill>
                  <a:schemeClr val="tx1"/>
                </a:solidFill>
              </a:rPr>
              <a:t>Explanation:</a:t>
            </a:r>
            <a:endParaRPr lang="en-US" altLang="zh-CN" sz="2400" dirty="0">
              <a:solidFill>
                <a:srgbClr val="FFFF00"/>
              </a:solidFill>
            </a:endParaRPr>
          </a:p>
          <a:p>
            <a:pPr marL="0" indent="0" algn="l">
              <a:buNone/>
            </a:pPr>
            <a:r>
              <a:rPr lang="en-US" altLang="zh-CN" sz="2400" dirty="0">
                <a:solidFill>
                  <a:srgbClr val="FFFF00"/>
                </a:solidFill>
              </a:rPr>
              <a:t>scheme</a:t>
            </a:r>
            <a:r>
              <a:rPr lang="en-US" altLang="zh-CN" sz="2400" dirty="0"/>
              <a:t> - defines the </a:t>
            </a:r>
            <a:r>
              <a:rPr lang="en-US" altLang="zh-CN" sz="2400" dirty="0">
                <a:solidFill>
                  <a:srgbClr val="FF0000"/>
                </a:solidFill>
              </a:rPr>
              <a:t>type</a:t>
            </a:r>
            <a:r>
              <a:rPr lang="en-US" altLang="zh-CN" sz="2400" dirty="0"/>
              <a:t> of Internet service (most common is http)</a:t>
            </a:r>
            <a:endParaRPr lang="en-US" altLang="zh-CN" sz="2400" dirty="0"/>
          </a:p>
          <a:p>
            <a:pPr marL="0" indent="0" algn="l">
              <a:buNone/>
            </a:pPr>
            <a:r>
              <a:rPr lang="en-US" altLang="zh-CN" sz="2400" dirty="0">
                <a:solidFill>
                  <a:srgbClr val="FFFF00"/>
                </a:solidFill>
              </a:rPr>
              <a:t>prefix</a:t>
            </a:r>
            <a:r>
              <a:rPr lang="en-US" altLang="zh-CN" sz="2400" dirty="0"/>
              <a:t> - defines a domain </a:t>
            </a:r>
            <a:r>
              <a:rPr lang="en-US" altLang="zh-CN" sz="2400" dirty="0">
                <a:solidFill>
                  <a:srgbClr val="FF0000"/>
                </a:solidFill>
              </a:rPr>
              <a:t>prefix</a:t>
            </a:r>
            <a:r>
              <a:rPr lang="en-US" altLang="zh-CN" sz="2400" dirty="0"/>
              <a:t> (default for http is www)</a:t>
            </a:r>
            <a:endParaRPr lang="en-US" altLang="zh-CN" sz="2400" dirty="0"/>
          </a:p>
          <a:p>
            <a:pPr marL="0" indent="0" algn="l">
              <a:buNone/>
            </a:pPr>
            <a:r>
              <a:rPr lang="en-US" altLang="zh-CN" sz="2400" dirty="0">
                <a:solidFill>
                  <a:srgbClr val="FFFF00"/>
                </a:solidFill>
              </a:rPr>
              <a:t>domain</a:t>
            </a:r>
            <a:r>
              <a:rPr lang="en-US" altLang="zh-CN" sz="2400" dirty="0"/>
              <a:t> - defines the Internet </a:t>
            </a:r>
            <a:r>
              <a:rPr lang="en-US" altLang="zh-CN" sz="2400" dirty="0">
                <a:solidFill>
                  <a:srgbClr val="FF0000"/>
                </a:solidFill>
              </a:rPr>
              <a:t>domain name</a:t>
            </a:r>
            <a:r>
              <a:rPr lang="en-US" altLang="zh-CN" sz="2400" dirty="0"/>
              <a:t> (w3schools.com)</a:t>
            </a:r>
            <a:endParaRPr lang="en-US" altLang="zh-CN" sz="2400" dirty="0"/>
          </a:p>
          <a:p>
            <a:pPr marL="0" indent="0" algn="l">
              <a:buNone/>
            </a:pPr>
            <a:r>
              <a:rPr lang="en-US" altLang="zh-CN" sz="2400" dirty="0">
                <a:solidFill>
                  <a:srgbClr val="FFFF00"/>
                </a:solidFill>
              </a:rPr>
              <a:t>port</a:t>
            </a:r>
            <a:r>
              <a:rPr lang="en-US" altLang="zh-CN" sz="2400" dirty="0"/>
              <a:t> - defines the </a:t>
            </a:r>
            <a:r>
              <a:rPr lang="en-US" altLang="zh-CN" sz="2400" dirty="0">
                <a:solidFill>
                  <a:srgbClr val="FF0000"/>
                </a:solidFill>
              </a:rPr>
              <a:t>port number</a:t>
            </a:r>
            <a:r>
              <a:rPr lang="en-US" altLang="zh-CN" sz="2400" dirty="0"/>
              <a:t> at the host (default for http is 80)</a:t>
            </a:r>
            <a:endParaRPr lang="en-US" altLang="zh-CN" sz="2400" dirty="0"/>
          </a:p>
          <a:p>
            <a:pPr marL="0" indent="0" algn="l">
              <a:buNone/>
            </a:pPr>
            <a:r>
              <a:rPr lang="en-US" altLang="zh-CN" sz="2400" dirty="0">
                <a:solidFill>
                  <a:srgbClr val="FFFF00"/>
                </a:solidFill>
              </a:rPr>
              <a:t>path</a:t>
            </a:r>
            <a:r>
              <a:rPr lang="en-US" altLang="zh-CN" sz="2400" dirty="0"/>
              <a:t> - defines a </a:t>
            </a:r>
            <a:r>
              <a:rPr lang="en-US" altLang="zh-CN" sz="2400" dirty="0">
                <a:solidFill>
                  <a:srgbClr val="FF0000"/>
                </a:solidFill>
              </a:rPr>
              <a:t>path</a:t>
            </a:r>
            <a:r>
              <a:rPr lang="en-US" altLang="zh-CN" sz="2400" dirty="0"/>
              <a:t> at the server (If omitted: the root directory of the site)</a:t>
            </a:r>
            <a:endParaRPr lang="en-US" altLang="zh-CN" sz="2400" dirty="0"/>
          </a:p>
          <a:p>
            <a:pPr marL="0" indent="0" algn="l">
              <a:buNone/>
            </a:pPr>
            <a:r>
              <a:rPr lang="en-US" altLang="zh-CN" sz="2400" dirty="0">
                <a:solidFill>
                  <a:srgbClr val="FFFF00"/>
                </a:solidFill>
              </a:rPr>
              <a:t>filename</a:t>
            </a:r>
            <a:r>
              <a:rPr lang="en-US" altLang="zh-CN" sz="2400" dirty="0"/>
              <a:t> - defines the name of a </a:t>
            </a:r>
            <a:r>
              <a:rPr lang="en-US" altLang="zh-CN" sz="2400" dirty="0">
                <a:solidFill>
                  <a:srgbClr val="FF0000"/>
                </a:solidFill>
              </a:rPr>
              <a:t>document or resource</a:t>
            </a:r>
            <a:endParaRPr lang="en-US" altLang="zh-CN" sz="2400" dirty="0">
              <a:solidFill>
                <a:srgbClr val="FF0000"/>
              </a:solidFill>
            </a:endParaRPr>
          </a:p>
          <a:p>
            <a:pPr marL="0" indent="0" algn="l">
              <a:buNone/>
            </a:pPr>
            <a:endParaRPr lang="en-US" altLang="zh-CN" sz="2400" dirty="0">
              <a:solidFill>
                <a:srgbClr val="FF0000"/>
              </a:solidFill>
            </a:endParaRPr>
          </a:p>
          <a:p>
            <a:pPr marL="0" indent="0" algn="l">
              <a:buNone/>
            </a:pPr>
            <a:r>
              <a:rPr lang="en-US" altLang="zh-CN" sz="2000" dirty="0">
                <a:solidFill>
                  <a:srgbClr val="FFFF00"/>
                </a:solidFill>
              </a:rPr>
              <a:t>Hint:</a:t>
            </a:r>
            <a:r>
              <a:rPr lang="en-US" altLang="zh-CN" sz="2000" dirty="0">
                <a:solidFill>
                  <a:srgbClr val="FF0000"/>
                </a:solidFill>
              </a:rPr>
              <a:t>Password protected sites</a:t>
            </a:r>
            <a:r>
              <a:rPr lang="en-US" altLang="zh-CN" sz="2000" dirty="0">
                <a:solidFill>
                  <a:srgbClr val="FFFF00"/>
                </a:solidFill>
              </a:rPr>
              <a:t> might use https and/or a username and password like:</a:t>
            </a:r>
            <a:endParaRPr lang="en-US" altLang="zh-CN" sz="2000" dirty="0">
              <a:solidFill>
                <a:srgbClr val="FFFF00"/>
              </a:solidFill>
            </a:endParaRPr>
          </a:p>
          <a:p>
            <a:pPr marL="0" indent="0" algn="l">
              <a:buNone/>
            </a:pPr>
            <a:r>
              <a:rPr lang="en-US" altLang="zh-CN" sz="2000" dirty="0">
                <a:solidFill>
                  <a:srgbClr val="FFFF00"/>
                </a:solidFill>
              </a:rPr>
              <a:t>https://</a:t>
            </a:r>
            <a:r>
              <a:rPr lang="en-US" altLang="zh-CN" sz="2000" dirty="0" smtClean="0">
                <a:solidFill>
                  <a:srgbClr val="FFFF00"/>
                </a:solidFill>
              </a:rPr>
              <a:t>username:password@www.fzu.edu.cn/html/default.asp </a:t>
            </a:r>
            <a:endParaRPr lang="en-US" altLang="zh-CN" sz="2000" dirty="0">
              <a:solidFill>
                <a:srgbClr val="FFFF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Common URL Schemes</a:t>
            </a:r>
            <a:endParaRPr lang="en-US" altLang="zh-CN" dirty="0"/>
          </a:p>
        </p:txBody>
      </p:sp>
      <p:sp>
        <p:nvSpPr>
          <p:cNvPr id="3" name="内容占位符 2"/>
          <p:cNvSpPr>
            <a:spLocks noGrp="1"/>
          </p:cNvSpPr>
          <p:nvPr>
            <p:ph idx="1"/>
          </p:nvPr>
        </p:nvSpPr>
        <p:spPr>
          <a:xfrm>
            <a:off x="838200" y="1584668"/>
            <a:ext cx="10515600" cy="553051"/>
          </a:xfrm>
        </p:spPr>
        <p:txBody>
          <a:bodyPr/>
          <a:lstStyle/>
          <a:p>
            <a:pPr marL="0" indent="0">
              <a:buNone/>
            </a:pPr>
            <a:r>
              <a:rPr lang="en-US" altLang="zh-CN" dirty="0"/>
              <a:t>The table below lists some common schemes:</a:t>
            </a:r>
            <a:endParaRPr lang="en-US" altLang="zh-CN" dirty="0"/>
          </a:p>
        </p:txBody>
      </p:sp>
      <p:pic>
        <p:nvPicPr>
          <p:cNvPr id="5" name="图片 4"/>
          <p:cNvPicPr>
            <a:picLocks noChangeAspect="1"/>
          </p:cNvPicPr>
          <p:nvPr/>
        </p:nvPicPr>
        <p:blipFill>
          <a:blip r:embed="rId1"/>
          <a:srcRect r="23278"/>
          <a:stretch>
            <a:fillRect/>
          </a:stretch>
        </p:blipFill>
        <p:spPr>
          <a:xfrm>
            <a:off x="1075055" y="2673985"/>
            <a:ext cx="10041890" cy="28492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How to use URL encoding?</a:t>
            </a:r>
            <a:endParaRPr lang="zh-CN" altLang="en-US" dirty="0"/>
          </a:p>
        </p:txBody>
      </p:sp>
      <p:sp>
        <p:nvSpPr>
          <p:cNvPr id="3" name="内容占位符 2"/>
          <p:cNvSpPr>
            <a:spLocks noGrp="1"/>
          </p:cNvSpPr>
          <p:nvPr>
            <p:ph idx="1"/>
          </p:nvPr>
        </p:nvSpPr>
        <p:spPr>
          <a:xfrm>
            <a:off x="838200" y="1649181"/>
            <a:ext cx="10515600" cy="4351338"/>
          </a:xfrm>
        </p:spPr>
        <p:txBody>
          <a:bodyPr>
            <a:normAutofit/>
          </a:bodyPr>
          <a:lstStyle/>
          <a:p>
            <a:pPr marL="0" indent="0" algn="just">
              <a:buNone/>
            </a:pPr>
            <a:r>
              <a:rPr lang="en-US" altLang="zh-CN" dirty="0"/>
              <a:t>URLs can </a:t>
            </a:r>
            <a:r>
              <a:rPr lang="en-US" altLang="zh-CN" dirty="0">
                <a:solidFill>
                  <a:srgbClr val="FF0000"/>
                </a:solidFill>
              </a:rPr>
              <a:t>only</a:t>
            </a:r>
            <a:r>
              <a:rPr lang="en-US" altLang="zh-CN" dirty="0"/>
              <a:t> be sent over the Internet using the </a:t>
            </a:r>
            <a:r>
              <a:rPr lang="en-US" altLang="zh-CN" dirty="0">
                <a:solidFill>
                  <a:srgbClr val="FF0000"/>
                </a:solidFill>
              </a:rPr>
              <a:t>ASCII character-set</a:t>
            </a:r>
            <a:r>
              <a:rPr lang="en-US" altLang="zh-CN" dirty="0"/>
              <a:t>. If a URL contains characters outside the ASCII set, the URL has to be </a:t>
            </a:r>
            <a:r>
              <a:rPr lang="en-US" altLang="zh-CN" dirty="0">
                <a:solidFill>
                  <a:srgbClr val="FF0000"/>
                </a:solidFill>
              </a:rPr>
              <a:t>converted</a:t>
            </a:r>
            <a:r>
              <a:rPr lang="en-US" altLang="zh-CN" dirty="0"/>
              <a:t>.</a:t>
            </a:r>
            <a:endParaRPr lang="en-US" altLang="zh-CN" dirty="0"/>
          </a:p>
          <a:p>
            <a:pPr marL="0" indent="0" algn="just">
              <a:buNone/>
            </a:pPr>
            <a:r>
              <a:rPr lang="en-US" altLang="zh-CN" dirty="0"/>
              <a:t>URL encoding converts </a:t>
            </a:r>
            <a:r>
              <a:rPr lang="en-US" altLang="zh-CN" dirty="0">
                <a:solidFill>
                  <a:srgbClr val="FF0000"/>
                </a:solidFill>
              </a:rPr>
              <a:t>non-ASCII</a:t>
            </a:r>
            <a:r>
              <a:rPr lang="en-US" altLang="zh-CN" dirty="0"/>
              <a:t> characters into a format that can be transmitted over the Internet:</a:t>
            </a:r>
            <a:endParaRPr lang="en-US" altLang="zh-CN" dirty="0"/>
          </a:p>
          <a:p>
            <a:pPr algn="just"/>
            <a:r>
              <a:rPr lang="en-US" altLang="zh-CN" dirty="0"/>
              <a:t>URL encoding replaces non-ASCII characters with a "</a:t>
            </a:r>
            <a:r>
              <a:rPr lang="en-US" altLang="zh-CN" dirty="0">
                <a:solidFill>
                  <a:srgbClr val="FF0000"/>
                </a:solidFill>
              </a:rPr>
              <a:t>%</a:t>
            </a:r>
            <a:r>
              <a:rPr lang="en-US" altLang="zh-CN" dirty="0"/>
              <a:t>" followed by </a:t>
            </a:r>
            <a:r>
              <a:rPr lang="en-US" altLang="zh-CN" dirty="0">
                <a:solidFill>
                  <a:srgbClr val="FF0000"/>
                </a:solidFill>
              </a:rPr>
              <a:t>hexadecimal digits</a:t>
            </a:r>
            <a:r>
              <a:rPr lang="en-US" altLang="zh-CN" dirty="0"/>
              <a:t>.</a:t>
            </a:r>
            <a:endParaRPr lang="en-US" altLang="zh-CN" dirty="0"/>
          </a:p>
          <a:p>
            <a:pPr algn="just"/>
            <a:r>
              <a:rPr lang="en-US" altLang="zh-CN" dirty="0"/>
              <a:t>URLs </a:t>
            </a:r>
            <a:r>
              <a:rPr lang="en-US" altLang="zh-CN" dirty="0">
                <a:solidFill>
                  <a:srgbClr val="FF0000"/>
                </a:solidFill>
              </a:rPr>
              <a:t>cannot</a:t>
            </a:r>
            <a:r>
              <a:rPr lang="en-US" altLang="zh-CN" dirty="0"/>
              <a:t> contain spaces. </a:t>
            </a:r>
            <a:endParaRPr lang="en-US" altLang="zh-CN" dirty="0"/>
          </a:p>
          <a:p>
            <a:pPr algn="just"/>
            <a:r>
              <a:rPr lang="en-US" altLang="zh-CN" dirty="0"/>
              <a:t>URL encoding normally replaces a space with a plus (</a:t>
            </a:r>
            <a:r>
              <a:rPr lang="en-US" altLang="zh-CN" dirty="0">
                <a:solidFill>
                  <a:srgbClr val="FF0000"/>
                </a:solidFill>
              </a:rPr>
              <a:t>+</a:t>
            </a:r>
            <a:r>
              <a:rPr lang="en-US" altLang="zh-CN" dirty="0"/>
              <a:t>) sign, or </a:t>
            </a:r>
            <a:r>
              <a:rPr lang="en-US" altLang="zh-CN" dirty="0">
                <a:solidFill>
                  <a:srgbClr val="FF0000"/>
                </a:solidFill>
              </a:rPr>
              <a:t>%20</a:t>
            </a:r>
            <a:r>
              <a:rPr lang="en-US" altLang="zh-CN" dirty="0"/>
              <a:t>.</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sym typeface="+mn-ea"/>
              </a:rPr>
              <a:t>How to use URL encoding?</a:t>
            </a:r>
            <a:endParaRPr lang="zh-CN" altLang="en-US" dirty="0"/>
          </a:p>
        </p:txBody>
      </p:sp>
      <p:sp>
        <p:nvSpPr>
          <p:cNvPr id="3" name="内容占位符 2"/>
          <p:cNvSpPr>
            <a:spLocks noGrp="1"/>
          </p:cNvSpPr>
          <p:nvPr>
            <p:ph idx="1"/>
          </p:nvPr>
        </p:nvSpPr>
        <p:spPr>
          <a:xfrm>
            <a:off x="838200" y="1264423"/>
            <a:ext cx="10515600" cy="794007"/>
          </a:xfrm>
        </p:spPr>
        <p:txBody>
          <a:bodyPr>
            <a:noAutofit/>
          </a:bodyPr>
          <a:lstStyle/>
          <a:p>
            <a:r>
              <a:rPr lang="en-US" altLang="zh-CN" sz="2400" dirty="0">
                <a:solidFill>
                  <a:srgbClr val="FFFF00"/>
                </a:solidFill>
              </a:rPr>
              <a:t>Your browser will encode input, according to the character-set used in your page.</a:t>
            </a:r>
            <a:endParaRPr lang="en-US" altLang="zh-CN" sz="2400" dirty="0">
              <a:solidFill>
                <a:srgbClr val="FFFF00"/>
              </a:solidFill>
            </a:endParaRPr>
          </a:p>
          <a:p>
            <a:r>
              <a:rPr lang="en-US" altLang="zh-CN" sz="2400" dirty="0">
                <a:solidFill>
                  <a:srgbClr val="FFFF00"/>
                </a:solidFill>
              </a:rPr>
              <a:t>The default character-set in </a:t>
            </a:r>
            <a:r>
              <a:rPr lang="en-US" altLang="zh-CN" sz="2400" dirty="0">
                <a:solidFill>
                  <a:srgbClr val="FF0000"/>
                </a:solidFill>
              </a:rPr>
              <a:t>HTML5 is UTF-8</a:t>
            </a:r>
            <a:r>
              <a:rPr lang="en-US" altLang="zh-CN" sz="2400" dirty="0">
                <a:solidFill>
                  <a:srgbClr val="FFFF00"/>
                </a:solidFill>
              </a:rPr>
              <a:t>.</a:t>
            </a:r>
            <a:endParaRPr lang="en-US" altLang="zh-CN" sz="2400" dirty="0">
              <a:solidFill>
                <a:srgbClr val="FFFF00"/>
              </a:solidFill>
            </a:endParaRPr>
          </a:p>
        </p:txBody>
      </p:sp>
      <p:pic>
        <p:nvPicPr>
          <p:cNvPr id="5" name="图片 4"/>
          <p:cNvPicPr>
            <a:picLocks noChangeAspect="1"/>
          </p:cNvPicPr>
          <p:nvPr/>
        </p:nvPicPr>
        <p:blipFill>
          <a:blip r:embed="rId1"/>
          <a:srcRect r="26033"/>
          <a:stretch>
            <a:fillRect/>
          </a:stretch>
        </p:blipFill>
        <p:spPr>
          <a:xfrm>
            <a:off x="2757805" y="2237105"/>
            <a:ext cx="6677025" cy="4359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dirty="0">
                <a:solidFill>
                  <a:schemeClr val="bg1"/>
                </a:solidFill>
                <a:latin typeface="Times New Roman" panose="02020603050405020304" pitchFamily="18" charset="0"/>
                <a:cs typeface="Times New Roman" panose="02020603050405020304" pitchFamily="18" charset="0"/>
                <a:sym typeface="+mn-ea"/>
              </a:rPr>
              <a:t>HTML </a:t>
            </a:r>
            <a:r>
              <a:rPr lang="en-US" altLang="zh-CN" dirty="0">
                <a:solidFill>
                  <a:schemeClr val="bg1"/>
                </a:solidFill>
                <a:latin typeface="Times New Roman" panose="02020603050405020304" pitchFamily="18" charset="0"/>
                <a:cs typeface="Times New Roman" panose="02020603050405020304" pitchFamily="18" charset="0"/>
                <a:sym typeface="+mn-ea"/>
              </a:rPr>
              <a:t>FORMS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文本框 4"/>
          <p:cNvSpPr txBox="1"/>
          <p:nvPr/>
        </p:nvSpPr>
        <p:spPr>
          <a:xfrm>
            <a:off x="3048000" y="19633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&lt;form&gt; Element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690880" y="1186180"/>
            <a:ext cx="10918190" cy="1383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 forms are used to collect user input. 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&lt;form&gt;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defines an HTML form:</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11" name="图片 10"/>
          <p:cNvPicPr>
            <a:picLocks noChangeAspect="1"/>
          </p:cNvPicPr>
          <p:nvPr/>
        </p:nvPicPr>
        <p:blipFill>
          <a:blip r:embed="rId1"/>
          <a:stretch>
            <a:fillRect/>
          </a:stretch>
        </p:blipFill>
        <p:spPr>
          <a:xfrm>
            <a:off x="3881120" y="2557106"/>
            <a:ext cx="4429760" cy="2238414"/>
          </a:xfrm>
          <a:prstGeom prst="rect">
            <a:avLst/>
          </a:prstGeom>
        </p:spPr>
      </p:pic>
      <p:sp>
        <p:nvSpPr>
          <p:cNvPr id="13" name="文本框 12"/>
          <p:cNvSpPr txBox="1"/>
          <p:nvPr/>
        </p:nvSpPr>
        <p:spPr>
          <a:xfrm>
            <a:off x="809625" y="5151755"/>
            <a:ext cx="10680700"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 forms contain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form elements</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800" b="0" i="0" u="none" strike="noStrike" kern="1200" cap="none" spc="0" normalizeH="0" baseline="0" noProof="0" dirty="0">
                <a:ln>
                  <a:noFill/>
                </a:ln>
                <a:solidFill>
                  <a:srgbClr val="000000"/>
                </a:solidFill>
                <a:effectLst/>
                <a:uLnTx/>
                <a:uFillTx/>
                <a:latin typeface="Verdana" panose="020B0604030504040204" pitchFamily="34" charset="0"/>
                <a:ea typeface="等线" panose="02010600030101010101" pitchFamily="2" charset="-122"/>
                <a:cs typeface="+mn-cs"/>
              </a:rPr>
              <a:t> </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Form elements are different types of input elements, checkboxes, radio buttons, submit buttons, and more.</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文本框 4"/>
          <p:cNvSpPr txBox="1"/>
          <p:nvPr/>
        </p:nvSpPr>
        <p:spPr>
          <a:xfrm>
            <a:off x="3048000" y="3690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&lt;input&gt; Element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699770" y="1481455"/>
            <a:ext cx="11215370" cy="1383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is the most important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form element </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The &lt;input&gt; element has many variations, depending on  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type</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attribute . Here are the types used </a:t>
            </a: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354965" y="3294380"/>
            <a:ext cx="11482705" cy="3202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182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Text Input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926465" y="1187450"/>
            <a:ext cx="1072324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type="text"&gt;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one-line input field for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text input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023494" y="2113280"/>
            <a:ext cx="6372986" cy="3383280"/>
          </a:xfrm>
          <a:prstGeom prst="rect">
            <a:avLst/>
          </a:prstGeom>
        </p:spPr>
      </p:pic>
      <p:pic>
        <p:nvPicPr>
          <p:cNvPr id="9" name="图片 8"/>
          <p:cNvPicPr>
            <a:picLocks noChangeAspect="1"/>
          </p:cNvPicPr>
          <p:nvPr/>
        </p:nvPicPr>
        <p:blipFill>
          <a:blip r:embed="rId2"/>
          <a:stretch>
            <a:fillRect/>
          </a:stretch>
        </p:blipFill>
        <p:spPr>
          <a:xfrm>
            <a:off x="7778674" y="2804160"/>
            <a:ext cx="3389832" cy="2001520"/>
          </a:xfrm>
          <a:prstGeom prst="rect">
            <a:avLst/>
          </a:prstGeom>
        </p:spPr>
      </p:pic>
      <p:sp>
        <p:nvSpPr>
          <p:cNvPr id="11" name="文本框 10"/>
          <p:cNvSpPr txBox="1"/>
          <p:nvPr/>
        </p:nvSpPr>
        <p:spPr>
          <a:xfrm>
            <a:off x="1071245" y="5708650"/>
            <a:ext cx="10097135"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Note:</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The form itself is not visible. Also note that the default width of a text field is 20 characters.</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588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Radio Button Input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83920" y="1128395"/>
            <a:ext cx="11083290"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type="radio"&gt;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radio button</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Radio buttons let a user select ONE of a limited number of choices:</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574800" y="2367281"/>
            <a:ext cx="8229600" cy="2450068"/>
          </a:xfrm>
          <a:prstGeom prst="rect">
            <a:avLst/>
          </a:prstGeom>
        </p:spPr>
      </p:pic>
      <p:pic>
        <p:nvPicPr>
          <p:cNvPr id="9" name="图片 8"/>
          <p:cNvPicPr>
            <a:picLocks noChangeAspect="1"/>
          </p:cNvPicPr>
          <p:nvPr/>
        </p:nvPicPr>
        <p:blipFill>
          <a:blip r:embed="rId2"/>
          <a:stretch>
            <a:fillRect/>
          </a:stretch>
        </p:blipFill>
        <p:spPr>
          <a:xfrm>
            <a:off x="4556761" y="4954033"/>
            <a:ext cx="3078479" cy="15450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4873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Submit Button</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706120" y="933450"/>
            <a:ext cx="11123930" cy="18148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type="submit"&gt;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button for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submitting</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 form to a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form-handler</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The form-handler is typically a server page with a script for processing input data .The form-handler is specified in the form's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action</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attribute:</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706120" y="2899987"/>
            <a:ext cx="7467600" cy="2991135"/>
          </a:xfrm>
          <a:prstGeom prst="rect">
            <a:avLst/>
          </a:prstGeom>
        </p:spPr>
      </p:pic>
      <p:pic>
        <p:nvPicPr>
          <p:cNvPr id="9" name="图片 8"/>
          <p:cNvPicPr>
            <a:picLocks noChangeAspect="1"/>
          </p:cNvPicPr>
          <p:nvPr/>
        </p:nvPicPr>
        <p:blipFill>
          <a:blip r:embed="rId2"/>
          <a:stretch>
            <a:fillRect/>
          </a:stretch>
        </p:blipFill>
        <p:spPr>
          <a:xfrm>
            <a:off x="8444166" y="3058160"/>
            <a:ext cx="3168714" cy="26297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3697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Action Attribute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437515" y="1054100"/>
            <a:ext cx="11296015" cy="224536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action attribute</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the action to be performed when the form is submitted. The common way to submit a form to a server, is by using a submit button. Normally, the form is submitted to a web page on a web server. In the example above, a server-side script is specified to handle the submitted form:</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80365" y="3604260"/>
            <a:ext cx="11469370" cy="1593850"/>
          </a:xfrm>
          <a:prstGeom prst="rect">
            <a:avLst/>
          </a:prstGeom>
        </p:spPr>
      </p:pic>
      <p:sp>
        <p:nvSpPr>
          <p:cNvPr id="9" name="文本框 8"/>
          <p:cNvSpPr txBox="1"/>
          <p:nvPr/>
        </p:nvSpPr>
        <p:spPr>
          <a:xfrm>
            <a:off x="947420" y="5884545"/>
            <a:ext cx="1027684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If the action attribute is omitted, the action is set to the current page.</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572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Method Attribute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71855" y="1250315"/>
            <a:ext cx="10869295"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method attribute</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specifies the HTTP method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GET </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or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POST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to be used when submitting the forms: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294130" y="2503170"/>
            <a:ext cx="10248900" cy="1428115"/>
          </a:xfrm>
          <a:prstGeom prst="rect">
            <a:avLst/>
          </a:prstGeom>
        </p:spPr>
      </p:pic>
      <p:sp>
        <p:nvSpPr>
          <p:cNvPr id="9" name="文本框 8"/>
          <p:cNvSpPr txBox="1"/>
          <p:nvPr/>
        </p:nvSpPr>
        <p:spPr>
          <a:xfrm>
            <a:off x="1294130" y="4146034"/>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or:</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11" name="图片 10"/>
          <p:cNvPicPr>
            <a:picLocks noChangeAspect="1"/>
          </p:cNvPicPr>
          <p:nvPr/>
        </p:nvPicPr>
        <p:blipFill>
          <a:blip r:embed="rId2"/>
          <a:stretch>
            <a:fillRect/>
          </a:stretch>
        </p:blipFill>
        <p:spPr>
          <a:xfrm>
            <a:off x="1308100" y="4991100"/>
            <a:ext cx="10188575" cy="16300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064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When to Use GET?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36428" y="1297471"/>
            <a:ext cx="10519144"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You can use GET (the default method):If the form submission is passive (like a search engine query), and without sensitive information. When you use GET, the form data will be visible in the page address:</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305493" y="3188668"/>
            <a:ext cx="7581014" cy="969351"/>
          </a:xfrm>
          <a:prstGeom prst="rect">
            <a:avLst/>
          </a:prstGeom>
        </p:spPr>
      </p:pic>
      <p:pic>
        <p:nvPicPr>
          <p:cNvPr id="9" name="图片 8"/>
          <p:cNvPicPr>
            <a:picLocks noChangeAspect="1"/>
          </p:cNvPicPr>
          <p:nvPr/>
        </p:nvPicPr>
        <p:blipFill>
          <a:blip r:embed="rId2"/>
          <a:stretch>
            <a:fillRect/>
          </a:stretch>
        </p:blipFill>
        <p:spPr>
          <a:xfrm>
            <a:off x="2137257" y="4924227"/>
            <a:ext cx="8213397" cy="9693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747336"/>
            <a:ext cx="609600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When to Use POST?</a:t>
            </a:r>
            <a:endParaRPr kumimoji="0" lang="en-US" altLang="zh-CN" sz="40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180071" y="2169340"/>
            <a:ext cx="10033686" cy="3538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You should use POST: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Times New Roman" panose="02020603050405020304" pitchFamily="18" charset="0"/>
                <a:ea typeface="等线" panose="02010600030101010101" pitchFamily="2" charset="-122"/>
                <a:cs typeface="Times New Roman" panose="02020603050405020304" pitchFamily="18" charset="0"/>
              </a:rPr>
              <a:t>If the form is updating data, or includes sensitive information (password).</a:t>
            </a:r>
            <a:endParaRPr kumimoji="0" lang="en-US" altLang="zh-CN" sz="3200" b="0" i="0" u="none" strike="noStrike" kern="1200" cap="none" spc="0" normalizeH="0" baseline="0" noProof="0" dirty="0">
              <a:ln>
                <a:noFill/>
              </a:ln>
              <a:solidFill>
                <a:srgbClr val="FFFF00"/>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POST offers better security because the submitted data is not visible in the page address.</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5824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Name Attribute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40740" y="1416596"/>
            <a:ext cx="10510520" cy="95313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To be submitted correctly, each input field must have a name attribute. This example will only submit the "Last name"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709135" y="3058160"/>
            <a:ext cx="6736240" cy="3180080"/>
          </a:xfrm>
          <a:prstGeom prst="rect">
            <a:avLst/>
          </a:prstGeom>
        </p:spPr>
      </p:pic>
      <p:pic>
        <p:nvPicPr>
          <p:cNvPr id="9" name="图片 8"/>
          <p:cNvPicPr>
            <a:picLocks noChangeAspect="1"/>
          </p:cNvPicPr>
          <p:nvPr/>
        </p:nvPicPr>
        <p:blipFill>
          <a:blip r:embed="rId2"/>
          <a:stretch>
            <a:fillRect/>
          </a:stretch>
        </p:blipFill>
        <p:spPr>
          <a:xfrm>
            <a:off x="8228261" y="3522980"/>
            <a:ext cx="3345249" cy="225116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2824480" y="348734"/>
            <a:ext cx="654304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Grouping Form Data with &lt;</a:t>
            </a:r>
            <a:r>
              <a:rPr kumimoji="0" lang="en-US" altLang="zh-CN" sz="32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fieldset</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642551" y="1238658"/>
            <a:ext cx="11034584" cy="95313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a:t>
            </a:r>
            <a:r>
              <a:rPr kumimoji="0" lang="en-US" altLang="zh-CN" sz="2800" b="1"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fieldset</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groups related data in a form. 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&lt;legend&gt;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defines a caption for the &lt;</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fieldset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 element</a:t>
            </a:r>
            <a:r>
              <a:rPr kumimoji="0" lang="en-US" altLang="zh-CN" sz="2800" b="0" i="0" u="none" strike="noStrike" kern="1200" cap="none" spc="0" normalizeH="0" baseline="0" noProof="0" dirty="0">
                <a:ln>
                  <a:noFill/>
                </a:ln>
                <a:solidFill>
                  <a:prstClr val="white"/>
                </a:solidFill>
                <a:effectLst/>
                <a:uLnTx/>
                <a:uFillTx/>
                <a:latin typeface="Verdana" panose="020B0604030504040204" pitchFamily="34" charset="0"/>
                <a:ea typeface="等线" panose="02010600030101010101" pitchFamily="2" charset="-122"/>
                <a:cs typeface="+mn-cs"/>
              </a:rPr>
              <a: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743437" y="2252548"/>
            <a:ext cx="6481843" cy="2449300"/>
          </a:xfrm>
          <a:prstGeom prst="rect">
            <a:avLst/>
          </a:prstGeom>
        </p:spPr>
      </p:pic>
      <p:pic>
        <p:nvPicPr>
          <p:cNvPr id="11" name="图片 10"/>
          <p:cNvPicPr>
            <a:picLocks noChangeAspect="1"/>
          </p:cNvPicPr>
          <p:nvPr/>
        </p:nvPicPr>
        <p:blipFill>
          <a:blip r:embed="rId2"/>
          <a:stretch>
            <a:fillRect/>
          </a:stretch>
        </p:blipFill>
        <p:spPr>
          <a:xfrm>
            <a:off x="3048100" y="4884741"/>
            <a:ext cx="5872516" cy="183623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4604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 Form Attributes</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772160" y="1500505"/>
            <a:ext cx="10970260"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An HTML &lt;form&gt; element, with all possible attributes set, will look like this: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672465" y="2781300"/>
            <a:ext cx="11069955" cy="3744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4198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List Of &lt;Form&gt; Attributes</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1412770" y="1361440"/>
            <a:ext cx="9366460" cy="46126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dirty="0">
                <a:solidFill>
                  <a:schemeClr val="bg1"/>
                </a:solidFill>
                <a:latin typeface="Times New Roman" panose="02020603050405020304" pitchFamily="18" charset="0"/>
                <a:cs typeface="Times New Roman" panose="02020603050405020304" pitchFamily="18" charset="0"/>
                <a:sym typeface="+mn-ea"/>
              </a:rPr>
              <a:t>HTML </a:t>
            </a:r>
            <a:r>
              <a:rPr lang="en-US" altLang="zh-CN" dirty="0">
                <a:solidFill>
                  <a:schemeClr val="bg1"/>
                </a:solidFill>
                <a:latin typeface="Times New Roman" panose="02020603050405020304" pitchFamily="18" charset="0"/>
                <a:cs typeface="Times New Roman" panose="02020603050405020304" pitchFamily="18" charset="0"/>
                <a:sym typeface="+mn-ea"/>
              </a:rPr>
              <a:t>FORM ELEMENTS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文本框 4"/>
          <p:cNvSpPr txBox="1"/>
          <p:nvPr/>
        </p:nvSpPr>
        <p:spPr>
          <a:xfrm>
            <a:off x="3063240" y="606773"/>
            <a:ext cx="6096000"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rPr>
              <a:t>The &lt;input&gt; Element</a:t>
            </a:r>
            <a:endParaRPr kumimoji="0" lang="en-US" altLang="zh-CN" sz="40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endParaRPr>
          </a:p>
        </p:txBody>
      </p:sp>
      <p:sp>
        <p:nvSpPr>
          <p:cNvPr id="7" name="文本框 6"/>
          <p:cNvSpPr txBox="1"/>
          <p:nvPr/>
        </p:nvSpPr>
        <p:spPr>
          <a:xfrm>
            <a:off x="1060278" y="1737394"/>
            <a:ext cx="10101924" cy="255333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most important form element is the </a:t>
            </a: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&lt;input&gt;</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The &lt;input&gt; element can vary in many ways, depending on the </a:t>
            </a:r>
            <a:r>
              <a:rPr kumimoji="0" lang="en-US" altLang="zh-CN" sz="32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type</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attribute</a:t>
            </a:r>
            <a:r>
              <a:rPr kumimoji="0" lang="en-US" altLang="zh-CN" sz="32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We have previously discussed the &lt;input&gt; element. </a:t>
            </a: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2657527" y="386675"/>
            <a:ext cx="682752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&lt;select&gt; Element (Drop-Down List)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907378" y="1279227"/>
            <a:ext cx="688021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&lt;select&gt;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defines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drop-down</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list: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933049" y="1991712"/>
            <a:ext cx="3607852" cy="2288088"/>
          </a:xfrm>
          <a:prstGeom prst="rect">
            <a:avLst/>
          </a:prstGeom>
        </p:spPr>
      </p:pic>
      <p:pic>
        <p:nvPicPr>
          <p:cNvPr id="11" name="图片 10"/>
          <p:cNvPicPr>
            <a:picLocks noChangeAspect="1"/>
          </p:cNvPicPr>
          <p:nvPr/>
        </p:nvPicPr>
        <p:blipFill>
          <a:blip r:embed="rId2"/>
          <a:stretch>
            <a:fillRect/>
          </a:stretch>
        </p:blipFill>
        <p:spPr>
          <a:xfrm>
            <a:off x="907378" y="1995796"/>
            <a:ext cx="4545416" cy="2674482"/>
          </a:xfrm>
          <a:prstGeom prst="rect">
            <a:avLst/>
          </a:prstGeom>
        </p:spPr>
      </p:pic>
      <p:sp>
        <p:nvSpPr>
          <p:cNvPr id="13" name="文本框 12"/>
          <p:cNvSpPr txBox="1"/>
          <p:nvPr/>
        </p:nvSpPr>
        <p:spPr>
          <a:xfrm>
            <a:off x="682283" y="4755293"/>
            <a:ext cx="1106424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&lt;option&gt;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elements defines the options to select. The list will normally show the first item as selected. You can add a selected attribute to define a predefined option.</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15" name="图片 14"/>
          <p:cNvPicPr>
            <a:picLocks noChangeAspect="1"/>
          </p:cNvPicPr>
          <p:nvPr/>
        </p:nvPicPr>
        <p:blipFill>
          <a:blip r:embed="rId3"/>
          <a:stretch>
            <a:fillRect/>
          </a:stretch>
        </p:blipFill>
        <p:spPr>
          <a:xfrm>
            <a:off x="907378" y="5671306"/>
            <a:ext cx="8068882" cy="861733"/>
          </a:xfrm>
          <a:prstGeom prst="rect">
            <a:avLst/>
          </a:prstGeom>
        </p:spPr>
      </p:pic>
      <p:pic>
        <p:nvPicPr>
          <p:cNvPr id="19" name="图片 18"/>
          <p:cNvPicPr>
            <a:picLocks noChangeAspect="1"/>
          </p:cNvPicPr>
          <p:nvPr/>
        </p:nvPicPr>
        <p:blipFill>
          <a:blip r:embed="rId4"/>
          <a:stretch>
            <a:fillRect/>
          </a:stretch>
        </p:blipFill>
        <p:spPr>
          <a:xfrm>
            <a:off x="10174838" y="5671306"/>
            <a:ext cx="1667620" cy="1076818"/>
          </a:xfrm>
          <a:prstGeom prst="rect">
            <a:avLst/>
          </a:prstGeom>
        </p:spPr>
      </p:pic>
      <p:pic>
        <p:nvPicPr>
          <p:cNvPr id="4" name="图片 3"/>
          <p:cNvPicPr>
            <a:picLocks noChangeAspect="1"/>
          </p:cNvPicPr>
          <p:nvPr/>
        </p:nvPicPr>
        <p:blipFill>
          <a:blip r:embed="rId5"/>
          <a:stretch>
            <a:fillRect/>
          </a:stretch>
        </p:blipFill>
        <p:spPr>
          <a:xfrm>
            <a:off x="10021155" y="1991712"/>
            <a:ext cx="1821303" cy="22880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284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a:t>
            </a:r>
            <a:r>
              <a:rPr kumimoji="0" lang="en-US" altLang="zh-CN" sz="32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textarea</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 Element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661319" y="1026160"/>
            <a:ext cx="10860121"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a:t>
            </a:r>
            <a:r>
              <a:rPr kumimoji="0" lang="en-US" altLang="zh-CN" sz="2800" b="1"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textarea</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defines a multi-line input field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 text area</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274456" y="2410665"/>
            <a:ext cx="7395149" cy="3729882"/>
          </a:xfrm>
          <a:prstGeom prst="rect">
            <a:avLst/>
          </a:prstGeom>
        </p:spPr>
      </p:pic>
      <p:pic>
        <p:nvPicPr>
          <p:cNvPr id="11" name="图片 10"/>
          <p:cNvPicPr>
            <a:picLocks noChangeAspect="1"/>
          </p:cNvPicPr>
          <p:nvPr/>
        </p:nvPicPr>
        <p:blipFill>
          <a:blip r:embed="rId2"/>
          <a:stretch>
            <a:fillRect/>
          </a:stretch>
        </p:blipFill>
        <p:spPr>
          <a:xfrm>
            <a:off x="7989635" y="2410665"/>
            <a:ext cx="3965072" cy="34344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86174"/>
            <a:ext cx="6096000" cy="6451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&lt;button&gt; Element</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225550" y="1339850"/>
            <a:ext cx="9740900"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&lt;button&gt;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defines a clickable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button</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233045" y="2900680"/>
            <a:ext cx="8536940" cy="3375660"/>
          </a:xfrm>
          <a:prstGeom prst="rect">
            <a:avLst/>
          </a:prstGeom>
        </p:spPr>
      </p:pic>
      <p:pic>
        <p:nvPicPr>
          <p:cNvPr id="11" name="图片 10"/>
          <p:cNvPicPr>
            <a:picLocks noChangeAspect="1"/>
          </p:cNvPicPr>
          <p:nvPr/>
        </p:nvPicPr>
        <p:blipFill>
          <a:blip r:embed="rId2"/>
          <a:stretch>
            <a:fillRect/>
          </a:stretch>
        </p:blipFill>
        <p:spPr>
          <a:xfrm>
            <a:off x="9144000" y="3660140"/>
            <a:ext cx="2926715" cy="18376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40969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HTML5 Form Elements</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823085" y="1765300"/>
            <a:ext cx="806259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HTML5 added the following form elements:</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3531784" y="2736985"/>
            <a:ext cx="3291840" cy="1383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datalist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&lt;keygen&gt;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&lt;output&gt;</a:t>
            </a:r>
            <a:endParaRPr kumimoji="0" lang="zh-CN" altLang="en-US" sz="2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cs typeface="+mn-cs"/>
            </a:endParaRPr>
          </a:p>
        </p:txBody>
      </p:sp>
      <p:pic>
        <p:nvPicPr>
          <p:cNvPr id="9" name="图片 8"/>
          <p:cNvPicPr>
            <a:picLocks noChangeAspect="1"/>
          </p:cNvPicPr>
          <p:nvPr/>
        </p:nvPicPr>
        <p:blipFill>
          <a:blip r:embed="rId1"/>
          <a:stretch>
            <a:fillRect/>
          </a:stretch>
        </p:blipFill>
        <p:spPr>
          <a:xfrm>
            <a:off x="1025525" y="4884420"/>
            <a:ext cx="10859135" cy="1010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193415" y="2014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HTML5 &lt;</a:t>
            </a:r>
            <a:r>
              <a:rPr kumimoji="0" lang="en-US" altLang="zh-CN" sz="32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datalist</a:t>
            </a: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 Element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642620" y="786426"/>
            <a:ext cx="10906760" cy="2245360"/>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a:t>
            </a:r>
            <a:r>
              <a:rPr kumimoji="0" lang="en-US" altLang="zh-CN" sz="2800" b="1"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datalist</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specifies a list of pre-defined options for an &lt;input&gt; element. Users will see a drop-down list of pre-defined options as they input </a:t>
            </a: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data.</a:t>
            </a:r>
            <a:endPar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list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attribute of the &lt;input&gt; element, must refer to 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id</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attribute of the &lt;</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datalist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 element.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774700" y="3031586"/>
            <a:ext cx="5603540" cy="3721291"/>
          </a:xfrm>
          <a:prstGeom prst="rect">
            <a:avLst/>
          </a:prstGeom>
        </p:spPr>
      </p:pic>
      <p:pic>
        <p:nvPicPr>
          <p:cNvPr id="11" name="图片 10"/>
          <p:cNvPicPr>
            <a:picLocks noChangeAspect="1"/>
          </p:cNvPicPr>
          <p:nvPr/>
        </p:nvPicPr>
        <p:blipFill>
          <a:blip r:embed="rId2"/>
          <a:stretch>
            <a:fillRect/>
          </a:stretch>
        </p:blipFill>
        <p:spPr>
          <a:xfrm>
            <a:off x="6603738" y="3092989"/>
            <a:ext cx="5092962" cy="1181128"/>
          </a:xfrm>
          <a:prstGeom prst="rect">
            <a:avLst/>
          </a:prstGeom>
        </p:spPr>
      </p:pic>
      <p:pic>
        <p:nvPicPr>
          <p:cNvPr id="4" name="图片 3"/>
          <p:cNvPicPr>
            <a:picLocks noChangeAspect="1"/>
          </p:cNvPicPr>
          <p:nvPr/>
        </p:nvPicPr>
        <p:blipFill>
          <a:blip r:embed="rId3"/>
          <a:stretch>
            <a:fillRect/>
          </a:stretch>
        </p:blipFill>
        <p:spPr>
          <a:xfrm>
            <a:off x="6674428" y="4382939"/>
            <a:ext cx="2216264" cy="23051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83902" y="252640"/>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rPr>
              <a:t>HTML5 &lt;keygen&gt; Element</a:t>
            </a:r>
            <a:endPar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endParaRPr>
          </a:p>
        </p:txBody>
      </p:sp>
      <p:sp>
        <p:nvSpPr>
          <p:cNvPr id="5" name="文本框 4"/>
          <p:cNvSpPr txBox="1"/>
          <p:nvPr/>
        </p:nvSpPr>
        <p:spPr>
          <a:xfrm>
            <a:off x="709295" y="1056005"/>
            <a:ext cx="10798175" cy="19380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purpose of the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&lt;keygen&gt;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element is to provide a secure way to authenticate users. The &lt;keygen&gt; element specifies a key-pair generator field in a form. When the form is submitted, two keys are generated, one private and one public. The private key is stored locally, and the public key is sent to the server. The public key could be used to generate a client certificate to authenticate the user in the future</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等线" panose="0201060003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等线" panose="02010600030101010101" pitchFamily="2" charset="-122"/>
              <a:cs typeface="+mn-cs"/>
            </a:endParaRPr>
          </a:p>
        </p:txBody>
      </p:sp>
      <p:pic>
        <p:nvPicPr>
          <p:cNvPr id="7" name="图片 6"/>
          <p:cNvPicPr>
            <a:picLocks noChangeAspect="1"/>
          </p:cNvPicPr>
          <p:nvPr/>
        </p:nvPicPr>
        <p:blipFill>
          <a:blip r:embed="rId1"/>
          <a:stretch>
            <a:fillRect/>
          </a:stretch>
        </p:blipFill>
        <p:spPr>
          <a:xfrm>
            <a:off x="765175" y="3236595"/>
            <a:ext cx="6278880" cy="2328545"/>
          </a:xfrm>
          <a:prstGeom prst="rect">
            <a:avLst/>
          </a:prstGeom>
        </p:spPr>
      </p:pic>
      <p:pic>
        <p:nvPicPr>
          <p:cNvPr id="9" name="图片 8"/>
          <p:cNvPicPr>
            <a:picLocks noChangeAspect="1"/>
          </p:cNvPicPr>
          <p:nvPr/>
        </p:nvPicPr>
        <p:blipFill>
          <a:blip r:embed="rId2"/>
          <a:stretch>
            <a:fillRect/>
          </a:stretch>
        </p:blipFill>
        <p:spPr>
          <a:xfrm>
            <a:off x="7971155" y="3236595"/>
            <a:ext cx="3954145" cy="2329180"/>
          </a:xfrm>
          <a:prstGeom prst="rect">
            <a:avLst/>
          </a:prstGeom>
        </p:spPr>
      </p:pic>
      <p:sp>
        <p:nvSpPr>
          <p:cNvPr id="8" name="文本框 7"/>
          <p:cNvSpPr txBox="1"/>
          <p:nvPr/>
        </p:nvSpPr>
        <p:spPr>
          <a:xfrm>
            <a:off x="834411" y="5915640"/>
            <a:ext cx="10101924"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smtClean="0">
                <a:ln>
                  <a:noFill/>
                </a:ln>
                <a:solidFill>
                  <a:srgbClr val="FFFF00"/>
                </a:solidFill>
                <a:effectLst/>
                <a:uLnTx/>
                <a:uFillTx/>
                <a:latin typeface="Times New Roman" panose="02020603050405020304" pitchFamily="18" charset="0"/>
                <a:ea typeface="等线" panose="02010600030101010101" pitchFamily="2" charset="-122"/>
                <a:cs typeface="Times New Roman" panose="02020603050405020304" pitchFamily="18" charset="0"/>
              </a:rPr>
              <a:t>Hint: this element is deprecated in the new web standard. </a:t>
            </a:r>
            <a:endParaRPr kumimoji="0" lang="zh-CN" altLang="en-US" sz="2400" b="0" i="0" u="none" strike="noStrike" kern="1200" cap="none" spc="0" normalizeH="0" baseline="0" noProof="0" dirty="0">
              <a:ln>
                <a:noFill/>
              </a:ln>
              <a:solidFill>
                <a:srgbClr val="FFFF00"/>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4706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HTML5 &lt;output&gt; Element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143000" y="1297305"/>
            <a:ext cx="10703560"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&lt;output&gt; element represents the result of a calculation (like one performed by a script).</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837566" y="2700478"/>
            <a:ext cx="6578600" cy="3941712"/>
          </a:xfrm>
          <a:prstGeom prst="rect">
            <a:avLst/>
          </a:prstGeom>
        </p:spPr>
      </p:pic>
      <p:pic>
        <p:nvPicPr>
          <p:cNvPr id="9" name="图片 8"/>
          <p:cNvPicPr>
            <a:picLocks noChangeAspect="1"/>
          </p:cNvPicPr>
          <p:nvPr/>
        </p:nvPicPr>
        <p:blipFill>
          <a:blip r:embed="rId2"/>
          <a:stretch>
            <a:fillRect/>
          </a:stretch>
        </p:blipFill>
        <p:spPr>
          <a:xfrm>
            <a:off x="7786262" y="2700655"/>
            <a:ext cx="4178515" cy="1149409"/>
          </a:xfrm>
          <a:prstGeom prst="rect">
            <a:avLst/>
          </a:prstGeom>
        </p:spPr>
      </p:pic>
      <p:pic>
        <p:nvPicPr>
          <p:cNvPr id="4" name="图片 3"/>
          <p:cNvPicPr>
            <a:picLocks noChangeAspect="1"/>
          </p:cNvPicPr>
          <p:nvPr/>
        </p:nvPicPr>
        <p:blipFill>
          <a:blip r:embed="rId3"/>
          <a:stretch>
            <a:fillRect/>
          </a:stretch>
        </p:blipFill>
        <p:spPr>
          <a:xfrm>
            <a:off x="7839602" y="4885917"/>
            <a:ext cx="3616960" cy="8309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690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 Form Elements</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文本框 3"/>
          <p:cNvSpPr txBox="1"/>
          <p:nvPr/>
        </p:nvSpPr>
        <p:spPr>
          <a:xfrm>
            <a:off x="627537" y="1847771"/>
            <a:ext cx="1067003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&lt;</a:t>
            </a:r>
            <a:r>
              <a:rPr kumimoji="0" lang="en-US" altLang="zh-CN" sz="2400" b="0" i="1"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element</a:t>
            </a:r>
            <a:r>
              <a:rPr kumimoji="0" lang="en-US" altLang="zh-CN" sz="24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 </a:t>
            </a:r>
            <a:r>
              <a:rPr kumimoji="0" lang="en-US" altLang="zh-CN" sz="2400" b="0" i="0" u="none" strike="noStrike" kern="1200" cap="none" spc="0" normalizeH="0" baseline="0" noProof="0" smtClean="0">
                <a:ln>
                  <a:noFill/>
                </a:ln>
                <a:solidFill>
                  <a:prstClr val="white"/>
                </a:solidFill>
                <a:effectLst/>
                <a:uLnTx/>
                <a:uFillTx/>
                <a:latin typeface="等线" panose="02010600030101010101" pitchFamily="2" charset="-122"/>
                <a:ea typeface="等线" panose="02010600030101010101" pitchFamily="2" charset="-122"/>
                <a:cs typeface="+mn-cs"/>
              </a:rPr>
              <a:t> oninput</a:t>
            </a:r>
            <a:r>
              <a:rPr kumimoji="0" lang="en-US" altLang="zh-CN" sz="24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en-US" altLang="zh-CN" sz="2400" b="0" i="1"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script</a:t>
            </a:r>
            <a:r>
              <a:rPr kumimoji="0" lang="en-US" altLang="zh-CN" sz="24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"&gt;</a:t>
            </a:r>
            <a:endParaRPr kumimoji="0" lang="en-US" altLang="zh-CN" sz="2400" b="0" i="0" u="none" strike="noStrike" kern="1200" cap="none" spc="0" normalizeH="0" baseline="0" noProof="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1" u="none" strike="noStrike" kern="1200" cap="none" spc="0" normalizeH="0" baseline="0" noProof="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oninput: </a:t>
            </a:r>
            <a:r>
              <a:rPr kumimoji="0" lang="en-US" altLang="zh-CN" sz="2400" b="0" i="1"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The oninput attribute fires when an element gets user </a:t>
            </a:r>
            <a:r>
              <a:rPr kumimoji="0" lang="en-US" altLang="zh-CN" sz="2400" b="0" i="1" u="none" strike="noStrike" kern="1200" cap="none" spc="0" normalizeH="0" baseline="0" noProof="0" smtClean="0">
                <a:ln>
                  <a:noFill/>
                </a:ln>
                <a:solidFill>
                  <a:prstClr val="white"/>
                </a:solidFill>
                <a:effectLst/>
                <a:uLnTx/>
                <a:uFillTx/>
                <a:latin typeface="等线" panose="02010600030101010101" pitchFamily="2" charset="-122"/>
                <a:ea typeface="等线" panose="02010600030101010101" pitchFamily="2" charset="-122"/>
                <a:cs typeface="+mn-cs"/>
              </a:rPr>
              <a:t>input, and run the script.</a:t>
            </a:r>
            <a:endParaRPr kumimoji="0" lang="en-US" altLang="zh-CN" sz="2400" b="0" i="1" u="none" strike="noStrike" kern="1200" cap="none" spc="0" normalizeH="0" baseline="0" noProof="0" smtClean="0">
              <a:ln>
                <a:noFill/>
              </a:ln>
              <a:solidFill>
                <a:prstClr val="white"/>
              </a:solidFill>
              <a:effectLst/>
              <a:uLnTx/>
              <a:uFillTx/>
              <a:latin typeface="等线" panose="02010600030101010101" pitchFamily="2" charset="-122"/>
              <a:ea typeface="等线" panose="02010600030101010101" pitchFamily="2" charset="-122"/>
              <a:cs typeface="+mn-cs"/>
            </a:endParaRPr>
          </a:p>
        </p:txBody>
      </p:sp>
      <p:pic>
        <p:nvPicPr>
          <p:cNvPr id="2" name="图片 1"/>
          <p:cNvPicPr>
            <a:picLocks noChangeAspect="1"/>
          </p:cNvPicPr>
          <p:nvPr/>
        </p:nvPicPr>
        <p:blipFill>
          <a:blip r:embed="rId1"/>
          <a:stretch>
            <a:fillRect/>
          </a:stretch>
        </p:blipFill>
        <p:spPr>
          <a:xfrm>
            <a:off x="296285" y="3792718"/>
            <a:ext cx="11771428" cy="9238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690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 Form Elements</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1811868" y="1135621"/>
            <a:ext cx="8568264" cy="54378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b="1" dirty="0">
                <a:solidFill>
                  <a:schemeClr val="bg1"/>
                </a:solidFill>
                <a:latin typeface="Times New Roman" panose="02020603050405020304" pitchFamily="18" charset="0"/>
                <a:cs typeface="Times New Roman" panose="02020603050405020304" pitchFamily="18" charset="0"/>
                <a:sym typeface="+mn-ea"/>
              </a:rPr>
              <a:t>HTML </a:t>
            </a:r>
            <a:r>
              <a:rPr lang="en-US" altLang="zh-CN" dirty="0">
                <a:solidFill>
                  <a:schemeClr val="bg1"/>
                </a:solidFill>
                <a:latin typeface="Times New Roman" panose="02020603050405020304" pitchFamily="18" charset="0"/>
                <a:cs typeface="Times New Roman" panose="02020603050405020304" pitchFamily="18" charset="0"/>
                <a:sym typeface="+mn-ea"/>
              </a:rPr>
              <a:t>INPUT TYPES</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文本框 4"/>
          <p:cNvSpPr txBox="1"/>
          <p:nvPr/>
        </p:nvSpPr>
        <p:spPr>
          <a:xfrm>
            <a:off x="3048000" y="3690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text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1971040" y="1165275"/>
            <a:ext cx="824992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type="text"&gt;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one-line input field for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text input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1971040" y="2255520"/>
            <a:ext cx="5344159" cy="3220720"/>
          </a:xfrm>
          <a:prstGeom prst="rect">
            <a:avLst/>
          </a:prstGeom>
        </p:spPr>
      </p:pic>
      <p:pic>
        <p:nvPicPr>
          <p:cNvPr id="11" name="图片 10"/>
          <p:cNvPicPr>
            <a:picLocks noChangeAspect="1"/>
          </p:cNvPicPr>
          <p:nvPr/>
        </p:nvPicPr>
        <p:blipFill>
          <a:blip r:embed="rId2"/>
          <a:stretch>
            <a:fillRect/>
          </a:stretch>
        </p:blipFill>
        <p:spPr>
          <a:xfrm>
            <a:off x="7960244" y="2844800"/>
            <a:ext cx="3002396" cy="14935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284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password</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2032000" y="1094155"/>
            <a:ext cx="722376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type="password"&gt;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password field</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430713" y="2306320"/>
            <a:ext cx="5994400" cy="3169920"/>
          </a:xfrm>
          <a:prstGeom prst="rect">
            <a:avLst/>
          </a:prstGeom>
        </p:spPr>
      </p:pic>
      <p:pic>
        <p:nvPicPr>
          <p:cNvPr id="4" name="图片 3"/>
          <p:cNvPicPr>
            <a:picLocks noChangeAspect="1"/>
          </p:cNvPicPr>
          <p:nvPr/>
        </p:nvPicPr>
        <p:blipFill>
          <a:blip r:embed="rId2"/>
          <a:stretch>
            <a:fillRect/>
          </a:stretch>
        </p:blipFill>
        <p:spPr>
          <a:xfrm>
            <a:off x="8277804" y="3078480"/>
            <a:ext cx="2390196" cy="1300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4096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submit</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929640" y="1119277"/>
            <a:ext cx="1033272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type="submit"&gt;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button for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submitting</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form input to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form-handler</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The form-handler is typically a server page with a script for processing input data. The form-handler is specified in the form's action attribute:</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038704" y="2926080"/>
            <a:ext cx="6428896" cy="2895600"/>
          </a:xfrm>
          <a:prstGeom prst="rect">
            <a:avLst/>
          </a:prstGeom>
        </p:spPr>
      </p:pic>
      <p:pic>
        <p:nvPicPr>
          <p:cNvPr id="9" name="图片 8"/>
          <p:cNvPicPr>
            <a:picLocks noChangeAspect="1"/>
          </p:cNvPicPr>
          <p:nvPr/>
        </p:nvPicPr>
        <p:blipFill>
          <a:blip r:embed="rId2"/>
          <a:stretch>
            <a:fillRect/>
          </a:stretch>
        </p:blipFill>
        <p:spPr>
          <a:xfrm>
            <a:off x="8004116" y="3205480"/>
            <a:ext cx="3258244" cy="19659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9953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radio</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584960" y="1250295"/>
            <a:ext cx="90220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type="radio"&gt;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radio button</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Radio buttons let a user select ONLY ONE of a limited number of choices:</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097280" y="2682240"/>
            <a:ext cx="7203440" cy="2722880"/>
          </a:xfrm>
          <a:prstGeom prst="rect">
            <a:avLst/>
          </a:prstGeom>
        </p:spPr>
      </p:pic>
      <p:pic>
        <p:nvPicPr>
          <p:cNvPr id="9" name="图片 8"/>
          <p:cNvPicPr>
            <a:picLocks noChangeAspect="1"/>
          </p:cNvPicPr>
          <p:nvPr/>
        </p:nvPicPr>
        <p:blipFill>
          <a:blip r:embed="rId2"/>
          <a:stretch>
            <a:fillRect/>
          </a:stretch>
        </p:blipFill>
        <p:spPr>
          <a:xfrm>
            <a:off x="8556568" y="3037840"/>
            <a:ext cx="2446712" cy="203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284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checkbox</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275080" y="1158855"/>
            <a:ext cx="964184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type="checkbox"&gt;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checkbox</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Checkboxes let a user select ZERO or MORE options of a limited number of choices.</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014550" y="2814320"/>
            <a:ext cx="7103289" cy="2519680"/>
          </a:xfrm>
          <a:prstGeom prst="rect">
            <a:avLst/>
          </a:prstGeom>
        </p:spPr>
      </p:pic>
      <p:pic>
        <p:nvPicPr>
          <p:cNvPr id="9" name="图片 8"/>
          <p:cNvPicPr>
            <a:picLocks noChangeAspect="1"/>
          </p:cNvPicPr>
          <p:nvPr/>
        </p:nvPicPr>
        <p:blipFill>
          <a:blip r:embed="rId2"/>
          <a:stretch>
            <a:fillRect/>
          </a:stretch>
        </p:blipFill>
        <p:spPr>
          <a:xfrm>
            <a:off x="8421948" y="3027680"/>
            <a:ext cx="2755502" cy="1625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182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button</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815634" y="1397009"/>
            <a:ext cx="61976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type="button"&gt;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defines a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button</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466616" y="2733040"/>
            <a:ext cx="6895635" cy="1656080"/>
          </a:xfrm>
          <a:prstGeom prst="rect">
            <a:avLst/>
          </a:prstGeom>
        </p:spPr>
      </p:pic>
      <p:pic>
        <p:nvPicPr>
          <p:cNvPr id="9" name="图片 8"/>
          <p:cNvPicPr>
            <a:picLocks noChangeAspect="1"/>
          </p:cNvPicPr>
          <p:nvPr/>
        </p:nvPicPr>
        <p:blipFill>
          <a:blip r:embed="rId2"/>
          <a:stretch>
            <a:fillRect/>
          </a:stretch>
        </p:blipFill>
        <p:spPr>
          <a:xfrm>
            <a:off x="8588338" y="3362960"/>
            <a:ext cx="1693582" cy="7156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320635"/>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HTML5 Input Types</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 name="文本框 6"/>
          <p:cNvSpPr txBox="1"/>
          <p:nvPr/>
        </p:nvSpPr>
        <p:spPr>
          <a:xfrm>
            <a:off x="2372994" y="2237775"/>
            <a:ext cx="2726544"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color </a:t>
            </a:r>
            <a:endPar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date</a:t>
            </a:r>
            <a:endPar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err="1"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datetime</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datetime-local</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email</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month</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2316724" y="5757468"/>
            <a:ext cx="7606853" cy="590580"/>
          </a:xfrm>
          <a:prstGeom prst="rect">
            <a:avLst/>
          </a:prstGeom>
        </p:spPr>
      </p:pic>
      <p:sp>
        <p:nvSpPr>
          <p:cNvPr id="2" name="矩形 1"/>
          <p:cNvSpPr/>
          <p:nvPr/>
        </p:nvSpPr>
        <p:spPr>
          <a:xfrm>
            <a:off x="6944750" y="2189674"/>
            <a:ext cx="2761957" cy="3108543"/>
          </a:xfrm>
          <a:prstGeom prst="rect">
            <a:avLst/>
          </a:prstGeom>
        </p:spPr>
        <p:txBody>
          <a:bodyPr wrap="square">
            <a:spAutoFit/>
          </a:bodyPr>
          <a:lstStyle/>
          <a:p>
            <a:pPr lvl="0">
              <a:buFont typeface="Arial" panose="020B0604020202020204" pitchFamily="34" charset="0"/>
              <a:buChar char="•"/>
              <a:defRPr/>
            </a:pPr>
            <a:r>
              <a:rPr lang="en-US" altLang="zh-CN" sz="2800" dirty="0">
                <a:solidFill>
                  <a:prstClr val="white"/>
                </a:solidFill>
                <a:latin typeface="Times New Roman" panose="02020603050405020304" pitchFamily="18" charset="0"/>
                <a:cs typeface="Times New Roman" panose="02020603050405020304" pitchFamily="18" charset="0"/>
              </a:rPr>
              <a:t>number</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a:solidFill>
                  <a:prstClr val="white"/>
                </a:solidFill>
                <a:latin typeface="Times New Roman" panose="02020603050405020304" pitchFamily="18" charset="0"/>
                <a:cs typeface="Times New Roman" panose="02020603050405020304" pitchFamily="18" charset="0"/>
              </a:rPr>
              <a:t>range</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a:solidFill>
                  <a:prstClr val="white"/>
                </a:solidFill>
                <a:latin typeface="Times New Roman" panose="02020603050405020304" pitchFamily="18" charset="0"/>
                <a:cs typeface="Times New Roman" panose="02020603050405020304" pitchFamily="18" charset="0"/>
              </a:rPr>
              <a:t>search</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err="1">
                <a:solidFill>
                  <a:prstClr val="white"/>
                </a:solidFill>
                <a:latin typeface="Times New Roman" panose="02020603050405020304" pitchFamily="18" charset="0"/>
                <a:cs typeface="Times New Roman" panose="02020603050405020304" pitchFamily="18" charset="0"/>
              </a:rPr>
              <a:t>tel</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a:solidFill>
                  <a:prstClr val="white"/>
                </a:solidFill>
                <a:latin typeface="Times New Roman" panose="02020603050405020304" pitchFamily="18" charset="0"/>
                <a:cs typeface="Times New Roman" panose="02020603050405020304" pitchFamily="18" charset="0"/>
              </a:rPr>
              <a:t>time</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err="1">
                <a:solidFill>
                  <a:prstClr val="white"/>
                </a:solidFill>
                <a:latin typeface="Times New Roman" panose="02020603050405020304" pitchFamily="18" charset="0"/>
                <a:cs typeface="Times New Roman" panose="02020603050405020304" pitchFamily="18" charset="0"/>
              </a:rPr>
              <a:t>url</a:t>
            </a:r>
            <a:endParaRPr lang="en-US" altLang="zh-CN" sz="2800" dirty="0">
              <a:solidFill>
                <a:prstClr val="white"/>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defRPr/>
            </a:pPr>
            <a:r>
              <a:rPr lang="en-US" altLang="zh-CN" sz="2800" dirty="0">
                <a:solidFill>
                  <a:prstClr val="white"/>
                </a:solidFill>
                <a:latin typeface="Times New Roman" panose="02020603050405020304" pitchFamily="18" charset="0"/>
                <a:cs typeface="Times New Roman" panose="02020603050405020304" pitchFamily="18" charset="0"/>
              </a:rPr>
              <a:t>week</a:t>
            </a:r>
            <a:endParaRPr lang="en-US" altLang="zh-CN" sz="2800" dirty="0">
              <a:solidFill>
                <a:prstClr val="white"/>
              </a:solidFill>
              <a:latin typeface="Times New Roman" panose="02020603050405020304" pitchFamily="18" charset="0"/>
              <a:cs typeface="Times New Roman" panose="02020603050405020304" pitchFamily="18" charset="0"/>
            </a:endParaRPr>
          </a:p>
        </p:txBody>
      </p:sp>
      <p:sp>
        <p:nvSpPr>
          <p:cNvPr id="4" name="矩形 3"/>
          <p:cNvSpPr/>
          <p:nvPr/>
        </p:nvSpPr>
        <p:spPr>
          <a:xfrm>
            <a:off x="2316724" y="1255304"/>
            <a:ext cx="5892960" cy="523220"/>
          </a:xfrm>
          <a:prstGeom prst="rect">
            <a:avLst/>
          </a:prstGeom>
        </p:spPr>
        <p:txBody>
          <a:bodyPr wrap="none">
            <a:spAutoFit/>
          </a:bodyPr>
          <a:lstStyle/>
          <a:p>
            <a:pPr lvl="0">
              <a:defRPr/>
            </a:pPr>
            <a:r>
              <a:rPr lang="en-US" altLang="zh-CN" sz="2800" dirty="0">
                <a:solidFill>
                  <a:prstClr val="white"/>
                </a:solidFill>
                <a:latin typeface="Times New Roman" panose="02020603050405020304" pitchFamily="18" charset="0"/>
                <a:cs typeface="Times New Roman" panose="02020603050405020304" pitchFamily="18" charset="0"/>
              </a:rPr>
              <a:t>HTML5 added several new input types:</a:t>
            </a:r>
            <a:endParaRPr lang="en-US" altLang="zh-CN" sz="2800" dirty="0">
              <a:solidFill>
                <a:prstClr val="white"/>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674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number</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1357486" y="1112378"/>
            <a:ext cx="9798192" cy="1200329"/>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4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type="number"&gt;</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 numeric value. You can set restrictions on the numbers</a:t>
            </a:r>
            <a:r>
              <a:rPr kumimoji="0" lang="en-US" altLang="zh-CN" sz="2400" b="0" i="0" u="none" strike="noStrike" kern="1200" cap="none" spc="0" normalizeH="0" baseline="0" noProof="0" dirty="0" smtClean="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Depending </a:t>
            </a:r>
            <a:r>
              <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on browser support, the restrictions can apply to the input field.</a:t>
            </a:r>
            <a:endParaRPr kumimoji="0" lang="en-US" altLang="zh-CN" sz="24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357486" y="3039965"/>
            <a:ext cx="5886594" cy="2103120"/>
          </a:xfrm>
          <a:prstGeom prst="rect">
            <a:avLst/>
          </a:prstGeom>
        </p:spPr>
      </p:pic>
      <p:pic>
        <p:nvPicPr>
          <p:cNvPr id="9" name="图片 8"/>
          <p:cNvPicPr>
            <a:picLocks noChangeAspect="1"/>
          </p:cNvPicPr>
          <p:nvPr/>
        </p:nvPicPr>
        <p:blipFill>
          <a:blip r:embed="rId2"/>
          <a:stretch>
            <a:fillRect/>
          </a:stretch>
        </p:blipFill>
        <p:spPr>
          <a:xfrm>
            <a:off x="7497989" y="3373120"/>
            <a:ext cx="3657689" cy="632875"/>
          </a:xfrm>
          <a:prstGeom prst="rect">
            <a:avLst/>
          </a:prstGeom>
        </p:spPr>
      </p:pic>
      <p:pic>
        <p:nvPicPr>
          <p:cNvPr id="4" name="图片 3"/>
          <p:cNvPicPr>
            <a:picLocks noChangeAspect="1"/>
          </p:cNvPicPr>
          <p:nvPr/>
        </p:nvPicPr>
        <p:blipFill>
          <a:blip r:embed="rId3"/>
          <a:stretch>
            <a:fillRect/>
          </a:stretch>
        </p:blipFill>
        <p:spPr>
          <a:xfrm>
            <a:off x="7497990" y="4447124"/>
            <a:ext cx="3657689" cy="5725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166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rPr>
              <a:t>Input Restrictions</a:t>
            </a:r>
            <a:endPar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endParaRPr>
          </a:p>
        </p:txBody>
      </p:sp>
      <p:pic>
        <p:nvPicPr>
          <p:cNvPr id="5" name="图片 4"/>
          <p:cNvPicPr>
            <a:picLocks noChangeAspect="1"/>
          </p:cNvPicPr>
          <p:nvPr/>
        </p:nvPicPr>
        <p:blipFill>
          <a:blip r:embed="rId1"/>
          <a:stretch>
            <a:fillRect/>
          </a:stretch>
        </p:blipFill>
        <p:spPr>
          <a:xfrm>
            <a:off x="1422400" y="1111130"/>
            <a:ext cx="10092382" cy="5535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5729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date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92518" y="947556"/>
            <a:ext cx="10474178"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type="date"&gt;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 date. Depending on browser support, a date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892517" y="2520626"/>
            <a:ext cx="5913120" cy="2413724"/>
          </a:xfrm>
          <a:prstGeom prst="rect">
            <a:avLst/>
          </a:prstGeom>
        </p:spPr>
      </p:pic>
      <p:pic>
        <p:nvPicPr>
          <p:cNvPr id="11" name="图片 10"/>
          <p:cNvPicPr>
            <a:picLocks noChangeAspect="1"/>
          </p:cNvPicPr>
          <p:nvPr/>
        </p:nvPicPr>
        <p:blipFill>
          <a:blip r:embed="rId2"/>
          <a:stretch>
            <a:fillRect/>
          </a:stretch>
        </p:blipFill>
        <p:spPr>
          <a:xfrm>
            <a:off x="1905967" y="5192764"/>
            <a:ext cx="3070294" cy="1478280"/>
          </a:xfrm>
          <a:prstGeom prst="rect">
            <a:avLst/>
          </a:prstGeom>
        </p:spPr>
      </p:pic>
      <p:pic>
        <p:nvPicPr>
          <p:cNvPr id="4" name="图片 3"/>
          <p:cNvPicPr>
            <a:picLocks noChangeAspect="1"/>
          </p:cNvPicPr>
          <p:nvPr/>
        </p:nvPicPr>
        <p:blipFill>
          <a:blip r:embed="rId3"/>
          <a:stretch>
            <a:fillRect/>
          </a:stretch>
        </p:blipFill>
        <p:spPr>
          <a:xfrm>
            <a:off x="8060872" y="2520625"/>
            <a:ext cx="3308240" cy="401381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9793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color</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443132" y="1162596"/>
            <a:ext cx="11394831"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type="color"&gt;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 color. Depending on browser support, a color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60728" y="3068985"/>
            <a:ext cx="7095397" cy="3324354"/>
          </a:xfrm>
          <a:prstGeom prst="rect">
            <a:avLst/>
          </a:prstGeom>
        </p:spPr>
      </p:pic>
      <p:pic>
        <p:nvPicPr>
          <p:cNvPr id="9" name="图片 8"/>
          <p:cNvPicPr>
            <a:picLocks noChangeAspect="1"/>
          </p:cNvPicPr>
          <p:nvPr/>
        </p:nvPicPr>
        <p:blipFill>
          <a:blip r:embed="rId2"/>
          <a:stretch>
            <a:fillRect/>
          </a:stretch>
        </p:blipFill>
        <p:spPr>
          <a:xfrm>
            <a:off x="7533833" y="3656347"/>
            <a:ext cx="4419827" cy="2736991"/>
          </a:xfrm>
          <a:prstGeom prst="rect">
            <a:avLst/>
          </a:prstGeom>
        </p:spPr>
      </p:pic>
      <p:pic>
        <p:nvPicPr>
          <p:cNvPr id="4" name="图片 3"/>
          <p:cNvPicPr>
            <a:picLocks noChangeAspect="1"/>
          </p:cNvPicPr>
          <p:nvPr/>
        </p:nvPicPr>
        <p:blipFill>
          <a:blip r:embed="rId3"/>
          <a:stretch>
            <a:fillRect/>
          </a:stretch>
        </p:blipFill>
        <p:spPr>
          <a:xfrm>
            <a:off x="7533833" y="3068984"/>
            <a:ext cx="2470277" cy="3619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674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range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464233" y="1091476"/>
            <a:ext cx="11275255"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type="range"&gt;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 value within a range. Depending on browser support, the input field can be displayed as a slider control.</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66541" y="3246511"/>
            <a:ext cx="7838720" cy="2929206"/>
          </a:xfrm>
          <a:prstGeom prst="rect">
            <a:avLst/>
          </a:prstGeom>
        </p:spPr>
      </p:pic>
      <p:pic>
        <p:nvPicPr>
          <p:cNvPr id="9" name="图片 8"/>
          <p:cNvPicPr>
            <a:picLocks noChangeAspect="1"/>
          </p:cNvPicPr>
          <p:nvPr/>
        </p:nvPicPr>
        <p:blipFill>
          <a:blip r:embed="rId2"/>
          <a:stretch>
            <a:fillRect/>
          </a:stretch>
        </p:blipFill>
        <p:spPr>
          <a:xfrm>
            <a:off x="8627647" y="3627119"/>
            <a:ext cx="3276928" cy="90971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674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rPr>
              <a:t>Input Type: month</a:t>
            </a:r>
            <a:endParaRPr kumimoji="0" lang="en-US" altLang="zh-CN" sz="3200" b="0" i="0" u="none" strike="noStrike" kern="1200" cap="none" spc="0" normalizeH="0" baseline="0" noProof="0" dirty="0">
              <a:ln>
                <a:noFill/>
              </a:ln>
              <a:solidFill>
                <a:prstClr val="white"/>
              </a:solidFill>
              <a:effectLst/>
              <a:uLnTx/>
              <a:uFillTx/>
              <a:latin typeface="Segoe UI" panose="020B0502040204020203" pitchFamily="34" charset="0"/>
              <a:ea typeface="等线" panose="02010600030101010101" pitchFamily="2" charset="-122"/>
              <a:cs typeface="+mn-cs"/>
            </a:endParaRPr>
          </a:p>
        </p:txBody>
      </p:sp>
      <p:sp>
        <p:nvSpPr>
          <p:cNvPr id="5" name="文本框 4"/>
          <p:cNvSpPr txBox="1"/>
          <p:nvPr/>
        </p:nvSpPr>
        <p:spPr>
          <a:xfrm>
            <a:off x="815927" y="1213396"/>
            <a:ext cx="10768818"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type="month"&gt;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allows the user to select a month and year. Depending on browser support, a date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815927" y="3187895"/>
            <a:ext cx="5433233" cy="2973754"/>
          </a:xfrm>
          <a:prstGeom prst="rect">
            <a:avLst/>
          </a:prstGeom>
        </p:spPr>
      </p:pic>
      <p:pic>
        <p:nvPicPr>
          <p:cNvPr id="9" name="图片 8"/>
          <p:cNvPicPr>
            <a:picLocks noChangeAspect="1"/>
          </p:cNvPicPr>
          <p:nvPr/>
        </p:nvPicPr>
        <p:blipFill>
          <a:blip r:embed="rId2"/>
          <a:stretch>
            <a:fillRect/>
          </a:stretch>
        </p:blipFill>
        <p:spPr>
          <a:xfrm>
            <a:off x="7275108" y="3005291"/>
            <a:ext cx="4093932" cy="843279"/>
          </a:xfrm>
          <a:prstGeom prst="rect">
            <a:avLst/>
          </a:prstGeom>
        </p:spPr>
      </p:pic>
      <p:pic>
        <p:nvPicPr>
          <p:cNvPr id="4" name="图片 3"/>
          <p:cNvPicPr>
            <a:picLocks noChangeAspect="1"/>
          </p:cNvPicPr>
          <p:nvPr/>
        </p:nvPicPr>
        <p:blipFill>
          <a:blip r:embed="rId3"/>
          <a:stretch>
            <a:fillRect/>
          </a:stretch>
        </p:blipFill>
        <p:spPr>
          <a:xfrm>
            <a:off x="7275108" y="4255471"/>
            <a:ext cx="4426177" cy="20257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3697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week</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506437" y="1036351"/>
            <a:ext cx="11240086"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type="week"&gt;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allows the user to select a week and year. Depending on browser support, a date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577556" y="2897944"/>
            <a:ext cx="5783567" cy="2658795"/>
          </a:xfrm>
          <a:prstGeom prst="rect">
            <a:avLst/>
          </a:prstGeom>
        </p:spPr>
      </p:pic>
      <p:pic>
        <p:nvPicPr>
          <p:cNvPr id="11" name="图片 10"/>
          <p:cNvPicPr>
            <a:picLocks noChangeAspect="1"/>
          </p:cNvPicPr>
          <p:nvPr/>
        </p:nvPicPr>
        <p:blipFill>
          <a:blip r:embed="rId2"/>
          <a:stretch>
            <a:fillRect/>
          </a:stretch>
        </p:blipFill>
        <p:spPr>
          <a:xfrm>
            <a:off x="7081490" y="2486464"/>
            <a:ext cx="3829247" cy="640079"/>
          </a:xfrm>
          <a:prstGeom prst="rect">
            <a:avLst/>
          </a:prstGeom>
        </p:spPr>
      </p:pic>
      <p:pic>
        <p:nvPicPr>
          <p:cNvPr id="4" name="图片 3"/>
          <p:cNvPicPr>
            <a:picLocks noChangeAspect="1"/>
          </p:cNvPicPr>
          <p:nvPr/>
        </p:nvPicPr>
        <p:blipFill>
          <a:blip r:embed="rId3"/>
          <a:stretch>
            <a:fillRect/>
          </a:stretch>
        </p:blipFill>
        <p:spPr>
          <a:xfrm>
            <a:off x="7081491" y="3393831"/>
            <a:ext cx="3829247" cy="300370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9633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time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745589" y="1111796"/>
            <a:ext cx="10916528"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type="time"&gt;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allows the user to select a time (no time zone). Depending on browser support, a time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813972" y="3022922"/>
            <a:ext cx="6076770" cy="2941780"/>
          </a:xfrm>
          <a:prstGeom prst="rect">
            <a:avLst/>
          </a:prstGeom>
        </p:spPr>
      </p:pic>
      <p:pic>
        <p:nvPicPr>
          <p:cNvPr id="9" name="图片 8"/>
          <p:cNvPicPr>
            <a:picLocks noChangeAspect="1"/>
          </p:cNvPicPr>
          <p:nvPr/>
        </p:nvPicPr>
        <p:blipFill>
          <a:blip r:embed="rId2"/>
          <a:stretch>
            <a:fillRect/>
          </a:stretch>
        </p:blipFill>
        <p:spPr>
          <a:xfrm>
            <a:off x="8070827" y="2251611"/>
            <a:ext cx="2855466" cy="771311"/>
          </a:xfrm>
          <a:prstGeom prst="rect">
            <a:avLst/>
          </a:prstGeom>
        </p:spPr>
      </p:pic>
      <p:pic>
        <p:nvPicPr>
          <p:cNvPr id="4" name="图片 3"/>
          <p:cNvPicPr>
            <a:picLocks noChangeAspect="1"/>
          </p:cNvPicPr>
          <p:nvPr/>
        </p:nvPicPr>
        <p:blipFill>
          <a:blip r:embed="rId3"/>
          <a:stretch>
            <a:fillRect/>
          </a:stretch>
        </p:blipFill>
        <p:spPr>
          <a:xfrm>
            <a:off x="8070827" y="3200910"/>
            <a:ext cx="2824021" cy="351641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7601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datetime</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907367" y="1134795"/>
            <a:ext cx="10860258"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type="datetime"&gt;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allows the user to select a date and time (with time zone).</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023909" y="2804160"/>
            <a:ext cx="5838168" cy="2865120"/>
          </a:xfrm>
          <a:prstGeom prst="rect">
            <a:avLst/>
          </a:prstGeom>
        </p:spPr>
      </p:pic>
      <p:pic>
        <p:nvPicPr>
          <p:cNvPr id="9" name="图片 8"/>
          <p:cNvPicPr>
            <a:picLocks noChangeAspect="1"/>
          </p:cNvPicPr>
          <p:nvPr/>
        </p:nvPicPr>
        <p:blipFill>
          <a:blip r:embed="rId2"/>
          <a:stretch>
            <a:fillRect/>
          </a:stretch>
        </p:blipFill>
        <p:spPr>
          <a:xfrm>
            <a:off x="7631827" y="3541932"/>
            <a:ext cx="3530781" cy="5689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16654"/>
            <a:ext cx="6096000"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datetime-local</a:t>
            </a:r>
            <a:endParaRPr kumimoji="0" lang="en-US" altLang="zh-CN" sz="3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36812" y="957609"/>
            <a:ext cx="10708256" cy="138499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type="datetime-local"&gt;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allows the user to select a date and time (no time zone). Depending on browser support, a date picker can show up in the input field.</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572651" y="3479349"/>
            <a:ext cx="5523349" cy="2211031"/>
          </a:xfrm>
          <a:prstGeom prst="rect">
            <a:avLst/>
          </a:prstGeom>
        </p:spPr>
      </p:pic>
      <p:pic>
        <p:nvPicPr>
          <p:cNvPr id="9" name="图片 8"/>
          <p:cNvPicPr>
            <a:picLocks noChangeAspect="1"/>
          </p:cNvPicPr>
          <p:nvPr/>
        </p:nvPicPr>
        <p:blipFill>
          <a:blip r:embed="rId2"/>
          <a:stretch>
            <a:fillRect/>
          </a:stretch>
        </p:blipFill>
        <p:spPr>
          <a:xfrm>
            <a:off x="6424837" y="2624544"/>
            <a:ext cx="3709763" cy="522516"/>
          </a:xfrm>
          <a:prstGeom prst="rect">
            <a:avLst/>
          </a:prstGeom>
        </p:spPr>
      </p:pic>
      <p:pic>
        <p:nvPicPr>
          <p:cNvPr id="4" name="图片 3"/>
          <p:cNvPicPr>
            <a:picLocks noChangeAspect="1"/>
          </p:cNvPicPr>
          <p:nvPr/>
        </p:nvPicPr>
        <p:blipFill>
          <a:blip r:embed="rId3"/>
          <a:stretch>
            <a:fillRect/>
          </a:stretch>
        </p:blipFill>
        <p:spPr>
          <a:xfrm>
            <a:off x="6356851" y="3429000"/>
            <a:ext cx="5188217" cy="30164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17601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email</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949569" y="1129437"/>
            <a:ext cx="10670345" cy="181588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type="email"&gt;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an e-mail address. Depending on browser support, the e-mail address can be automatically validated when submitted. Some smartphones recognize the email type, and adds ".com" to the keyboard to match email input</a:t>
            </a:r>
            <a:r>
              <a:rPr kumimoji="0" lang="en-US" altLang="zh-CN" sz="2800" b="0" i="0" u="none" strike="noStrike" kern="1200" cap="none" spc="0" normalizeH="0" baseline="0" noProof="0" dirty="0">
                <a:ln>
                  <a:noFill/>
                </a:ln>
                <a:solidFill>
                  <a:srgbClr val="000000"/>
                </a:solidFill>
                <a:effectLst/>
                <a:uLnTx/>
                <a:uFillTx/>
                <a:latin typeface="Verdana" panose="020B0604030504040204" pitchFamily="34" charset="0"/>
                <a:ea typeface="等线" panose="02010600030101010101" pitchFamily="2" charset="-122"/>
              </a:rPr>
              <a:t>.</a:t>
            </a:r>
            <a:endParaRPr kumimoji="0" lang="en-US" altLang="zh-CN" sz="2800" b="0" i="0" u="none" strike="noStrike" kern="1200" cap="none" spc="0" normalizeH="0" baseline="0" noProof="0" dirty="0">
              <a:ln>
                <a:noFill/>
              </a:ln>
              <a:solidFill>
                <a:srgbClr val="000000"/>
              </a:solidFill>
              <a:effectLst/>
              <a:uLnTx/>
              <a:uFillTx/>
              <a:latin typeface="Verdana" panose="020B0604030504040204" pitchFamily="34" charset="0"/>
              <a:ea typeface="等线" panose="02010600030101010101" pitchFamily="2" charset="-122"/>
            </a:endParaRPr>
          </a:p>
        </p:txBody>
      </p:sp>
      <p:pic>
        <p:nvPicPr>
          <p:cNvPr id="7" name="图片 6"/>
          <p:cNvPicPr>
            <a:picLocks noChangeAspect="1"/>
          </p:cNvPicPr>
          <p:nvPr/>
        </p:nvPicPr>
        <p:blipFill>
          <a:blip r:embed="rId1"/>
          <a:stretch>
            <a:fillRect/>
          </a:stretch>
        </p:blipFill>
        <p:spPr>
          <a:xfrm>
            <a:off x="949569" y="3803403"/>
            <a:ext cx="5850576" cy="2379111"/>
          </a:xfrm>
          <a:prstGeom prst="rect">
            <a:avLst/>
          </a:prstGeom>
        </p:spPr>
      </p:pic>
      <p:pic>
        <p:nvPicPr>
          <p:cNvPr id="9" name="图片 8"/>
          <p:cNvPicPr>
            <a:picLocks noChangeAspect="1"/>
          </p:cNvPicPr>
          <p:nvPr/>
        </p:nvPicPr>
        <p:blipFill>
          <a:blip r:embed="rId2"/>
          <a:stretch>
            <a:fillRect/>
          </a:stretch>
        </p:blipFill>
        <p:spPr>
          <a:xfrm>
            <a:off x="7091242" y="4218218"/>
            <a:ext cx="4749355" cy="9938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0649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search</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822961" y="1169015"/>
            <a:ext cx="10684412"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type="search"&gt;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search fields (a search field behaves like a regular text field).</a:t>
            </a:r>
            <a:endPar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928466" y="3067538"/>
            <a:ext cx="6068481" cy="2608775"/>
          </a:xfrm>
          <a:prstGeom prst="rect">
            <a:avLst/>
          </a:prstGeom>
        </p:spPr>
      </p:pic>
      <p:pic>
        <p:nvPicPr>
          <p:cNvPr id="9" name="图片 8"/>
          <p:cNvPicPr>
            <a:picLocks noChangeAspect="1"/>
          </p:cNvPicPr>
          <p:nvPr/>
        </p:nvPicPr>
        <p:blipFill>
          <a:blip r:embed="rId2"/>
          <a:stretch>
            <a:fillRect/>
          </a:stretch>
        </p:blipFill>
        <p:spPr>
          <a:xfrm>
            <a:off x="7587578" y="3486443"/>
            <a:ext cx="4155149" cy="6916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文本框 2"/>
          <p:cNvSpPr txBox="1"/>
          <p:nvPr/>
        </p:nvSpPr>
        <p:spPr>
          <a:xfrm>
            <a:off x="3048000" y="216654"/>
            <a:ext cx="60960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 Type: </a:t>
            </a:r>
            <a:r>
              <a:rPr kumimoji="0" lang="en-US" altLang="zh-CN" sz="36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url</a:t>
            </a:r>
            <a:endParaRPr kumimoji="0" lang="en-US" altLang="zh-CN" sz="36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p:cNvSpPr txBox="1"/>
          <p:nvPr/>
        </p:nvSpPr>
        <p:spPr>
          <a:xfrm>
            <a:off x="576776" y="1037997"/>
            <a:ext cx="11134578" cy="181588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The </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&lt;input type="</a:t>
            </a:r>
            <a:r>
              <a:rPr kumimoji="0" lang="en-US" altLang="zh-CN" sz="2800" b="1"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url</a:t>
            </a:r>
            <a:r>
              <a:rPr kumimoji="0" lang="en-US" altLang="zh-CN" sz="2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is used for input fields that should contain a URL address. Depending on browser support, the </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url</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field can be automatically validated when submitted. Some smartphones recognize the </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url</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type, and adds ".com" to the keyboard to match </a:t>
            </a:r>
            <a:r>
              <a:rPr kumimoji="0" lang="en-US" altLang="zh-CN" sz="2800" b="0" i="0" u="none" strike="noStrike" kern="1200" cap="none" spc="0" normalizeH="0" baseline="0" noProof="0" dirty="0" err="1">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url</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rPr>
              <a:t> input.</a:t>
            </a:r>
            <a:endPar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673685" y="3495820"/>
            <a:ext cx="6234713" cy="2778369"/>
          </a:xfrm>
          <a:prstGeom prst="rect">
            <a:avLst/>
          </a:prstGeom>
        </p:spPr>
      </p:pic>
      <p:pic>
        <p:nvPicPr>
          <p:cNvPr id="9" name="图片 8"/>
          <p:cNvPicPr>
            <a:picLocks noChangeAspect="1"/>
          </p:cNvPicPr>
          <p:nvPr/>
        </p:nvPicPr>
        <p:blipFill>
          <a:blip r:embed="rId2"/>
          <a:stretch>
            <a:fillRect/>
          </a:stretch>
        </p:blipFill>
        <p:spPr>
          <a:xfrm>
            <a:off x="7577797" y="4105421"/>
            <a:ext cx="3982720" cy="65023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zh-CN" b="0" dirty="0">
                <a:latin typeface="Times New Roman" panose="02020603050405020304" pitchFamily="18" charset="0"/>
                <a:cs typeface="Times New Roman" panose="02020603050405020304" pitchFamily="18" charset="0"/>
              </a:rPr>
              <a:t>HTML Input Attributes</a:t>
            </a:r>
            <a:endParaRPr lang="zh-CN" altLang="zh-CN" b="0" dirty="0">
              <a:latin typeface="Times New Roman" panose="02020603050405020304" pitchFamily="18" charset="0"/>
              <a:cs typeface="Times New Roman" panose="02020603050405020304" pitchFamily="18" charset="0"/>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value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Times New Roman" panose="02020603050405020304" pitchFamily="18" charset="0"/>
                <a:cs typeface="Times New Roman" panose="02020603050405020304" pitchFamily="18" charset="0"/>
              </a:rPr>
              <a:t>The </a:t>
            </a:r>
            <a:r>
              <a:rPr lang="zh-CN" altLang="en-US" sz="2800" b="1" dirty="0">
                <a:solidFill>
                  <a:schemeClr val="bg1"/>
                </a:solidFill>
                <a:latin typeface="Times New Roman" panose="02020603050405020304" pitchFamily="18" charset="0"/>
                <a:cs typeface="Times New Roman" panose="02020603050405020304" pitchFamily="18" charset="0"/>
              </a:rPr>
              <a:t>value</a:t>
            </a:r>
            <a:r>
              <a:rPr lang="zh-CN" altLang="en-US" sz="2800" dirty="0">
                <a:solidFill>
                  <a:schemeClr val="bg1"/>
                </a:solidFill>
                <a:latin typeface="Times New Roman" panose="02020603050405020304" pitchFamily="18" charset="0"/>
                <a:cs typeface="Times New Roman" panose="02020603050405020304" pitchFamily="18" charset="0"/>
              </a:rPr>
              <a:t> attribute specifies the initial value for an input field:</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custDataLst>
              <p:tags r:id="rId3"/>
            </p:custDataLst>
          </p:nvPr>
        </p:nvPicPr>
        <p:blipFill>
          <a:blip r:embed="rId4"/>
          <a:stretch>
            <a:fillRect/>
          </a:stretch>
        </p:blipFill>
        <p:spPr>
          <a:xfrm>
            <a:off x="661514" y="3354093"/>
            <a:ext cx="5688330" cy="1949450"/>
          </a:xfrm>
          <a:prstGeom prst="rect">
            <a:avLst/>
          </a:prstGeom>
        </p:spPr>
      </p:pic>
      <p:pic>
        <p:nvPicPr>
          <p:cNvPr id="6" name="图片 5"/>
          <p:cNvPicPr>
            <a:picLocks noChangeAspect="1"/>
          </p:cNvPicPr>
          <p:nvPr/>
        </p:nvPicPr>
        <p:blipFill>
          <a:blip r:embed="rId5"/>
          <a:stretch>
            <a:fillRect/>
          </a:stretch>
        </p:blipFill>
        <p:spPr>
          <a:xfrm>
            <a:off x="7755842" y="3631571"/>
            <a:ext cx="4076190" cy="1085714"/>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92300"/>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sym typeface="+mn-ea"/>
              </a:rPr>
              <a:t>The readonly Attribute</a:t>
            </a:r>
            <a:endParaRPr lang="zh-CN" altLang="en-US" sz="4400" b="0" dirty="0">
              <a:latin typeface="Times New Roman" panose="02020603050405020304" pitchFamily="18" charset="0"/>
              <a:cs typeface="Times New Roman" panose="02020603050405020304" pitchFamily="18" charset="0"/>
              <a:sym typeface="+mn-ea"/>
            </a:endParaRPr>
          </a:p>
        </p:txBody>
      </p:sp>
      <p:sp>
        <p:nvSpPr>
          <p:cNvPr id="2" name="内容占位符 1"/>
          <p:cNvSpPr>
            <a:spLocks noGrp="1"/>
          </p:cNvSpPr>
          <p:nvPr>
            <p:ph idx="1"/>
            <p:custDataLst>
              <p:tags r:id="rId2"/>
            </p:custDataLst>
          </p:nvPr>
        </p:nvSpPr>
        <p:spPr/>
        <p:txBody>
          <a:bodyPr>
            <a:noAutofit/>
          </a:bodyPr>
          <a:lstStyle/>
          <a:p>
            <a:r>
              <a:rPr lang="zh-CN" altLang="en-US" sz="2800" dirty="0">
                <a:solidFill>
                  <a:schemeClr val="bg1"/>
                </a:solidFill>
                <a:latin typeface="Times New Roman" panose="02020603050405020304" pitchFamily="18" charset="0"/>
                <a:cs typeface="Times New Roman" panose="02020603050405020304" pitchFamily="18" charset="0"/>
              </a:rPr>
              <a:t>The readonly attribute specifies that the input field is read only (cannot be changed):</a:t>
            </a:r>
            <a:endParaRPr lang="zh-CN" altLang="en-US" sz="2800" dirty="0">
              <a:solidFill>
                <a:schemeClr val="bg1"/>
              </a:solidFill>
              <a:latin typeface="Times New Roman" panose="02020603050405020304" pitchFamily="18" charset="0"/>
              <a:cs typeface="Times New Roman" panose="02020603050405020304" pitchFamily="18" charset="0"/>
            </a:endParaRPr>
          </a:p>
          <a:p>
            <a:endParaRPr lang="zh-CN" altLang="en-US" sz="2800" dirty="0">
              <a:solidFill>
                <a:schemeClr val="bg1"/>
              </a:solidFill>
              <a:latin typeface="Times New Roman" panose="02020603050405020304" pitchFamily="18" charset="0"/>
              <a:cs typeface="Times New Roman" panose="02020603050405020304" pitchFamily="18" charset="0"/>
            </a:endParaRPr>
          </a:p>
          <a:p>
            <a:endParaRPr lang="zh-CN" altLang="en-US" sz="2800" dirty="0">
              <a:solidFill>
                <a:schemeClr val="bg1"/>
              </a:solidFill>
              <a:latin typeface="Times New Roman" panose="02020603050405020304" pitchFamily="18" charset="0"/>
              <a:cs typeface="Times New Roman" panose="02020603050405020304" pitchFamily="18" charset="0"/>
            </a:endParaRPr>
          </a:p>
          <a:p>
            <a:endParaRPr lang="zh-CN" altLang="en-US" sz="2800" dirty="0">
              <a:solidFill>
                <a:schemeClr val="bg1"/>
              </a:solidFill>
              <a:latin typeface="Times New Roman" panose="02020603050405020304" pitchFamily="18" charset="0"/>
              <a:cs typeface="Times New Roman" panose="02020603050405020304" pitchFamily="18" charset="0"/>
            </a:endParaRPr>
          </a:p>
          <a:p>
            <a:r>
              <a:rPr lang="zh-CN" altLang="en-US" sz="2800" dirty="0" smtClean="0">
                <a:solidFill>
                  <a:schemeClr val="bg1"/>
                </a:solidFill>
                <a:latin typeface="Times New Roman" panose="02020603050405020304" pitchFamily="18" charset="0"/>
                <a:cs typeface="Times New Roman" panose="02020603050405020304" pitchFamily="18" charset="0"/>
              </a:rPr>
              <a:t>The </a:t>
            </a:r>
            <a:r>
              <a:rPr lang="zh-CN" altLang="en-US" sz="2800" dirty="0">
                <a:solidFill>
                  <a:schemeClr val="bg1"/>
                </a:solidFill>
                <a:latin typeface="Times New Roman" panose="02020603050405020304" pitchFamily="18" charset="0"/>
                <a:cs typeface="Times New Roman" panose="02020603050405020304" pitchFamily="18" charset="0"/>
              </a:rPr>
              <a:t>readonly attribute does not need a value. It is the same as writing readonly="readonly". </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688590" y="2921635"/>
            <a:ext cx="6403340" cy="1896745"/>
          </a:xfrm>
          <a:prstGeom prst="rect">
            <a:avLst/>
          </a:prstGeom>
        </p:spPr>
      </p:pic>
      <p:pic>
        <p:nvPicPr>
          <p:cNvPr id="6" name="图片 5"/>
          <p:cNvPicPr>
            <a:picLocks noChangeAspect="1"/>
          </p:cNvPicPr>
          <p:nvPr/>
        </p:nvPicPr>
        <p:blipFill>
          <a:blip r:embed="rId4"/>
          <a:stretch>
            <a:fillRect/>
          </a:stretch>
        </p:blipFill>
        <p:spPr>
          <a:xfrm>
            <a:off x="6777644" y="5518290"/>
            <a:ext cx="2314286" cy="112381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252730" y="1695108"/>
            <a:ext cx="5949950" cy="47593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spcBef>
                <a:spcPts val="0"/>
              </a:spcBef>
              <a:spcAft>
                <a:spcPts val="100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disabled attribute specifies that the input field is disabled.</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914400" rtl="0" eaLnBrk="1" fontAlgn="auto" latinLnBrk="0" hangingPunct="1">
              <a:spcBef>
                <a:spcPts val="0"/>
              </a:spcBef>
              <a:spcAft>
                <a:spcPts val="100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 disabled element is un-usable and un-clickable.</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914400" rtl="0" eaLnBrk="1" fontAlgn="auto" latinLnBrk="0" hangingPunct="1">
              <a:spcBef>
                <a:spcPts val="0"/>
              </a:spcBef>
              <a:spcAft>
                <a:spcPts val="100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Disabled elements will not be submitted.</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914400" rtl="0" eaLnBrk="1" fontAlgn="auto" latinLnBrk="0" hangingPunct="1">
              <a:spcBef>
                <a:spcPts val="0"/>
              </a:spcBef>
              <a:spcAft>
                <a:spcPts val="100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disabled attribute does not need a value. It is the same as writing disabled="disabled". </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8" name="文本框 17"/>
          <p:cNvSpPr txBox="1"/>
          <p:nvPr>
            <p:custDataLst>
              <p:tags r:id="rId2"/>
            </p:custDataLst>
          </p:nvPr>
        </p:nvSpPr>
        <p:spPr>
          <a:xfrm>
            <a:off x="2815590" y="103505"/>
            <a:ext cx="6561455" cy="1047750"/>
          </a:xfrm>
          <a:prstGeom prst="rect">
            <a:avLst/>
          </a:prstGeom>
          <a:noFill/>
        </p:spPr>
        <p:txBody>
          <a:bodyPr wrap="square" rtlCol="0" anchor="b" anchorCtr="0">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20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disabled Attribute</a:t>
            </a:r>
            <a:endParaRPr kumimoji="0" lang="en-US" altLang="zh-CN" sz="4400" b="0" i="0" u="none" strike="noStrike" kern="1200" cap="none" spc="20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pic>
        <p:nvPicPr>
          <p:cNvPr id="2" name="图片 1"/>
          <p:cNvPicPr>
            <a:picLocks noChangeAspect="1"/>
          </p:cNvPicPr>
          <p:nvPr/>
        </p:nvPicPr>
        <p:blipFill>
          <a:blip r:embed="rId3"/>
          <a:stretch>
            <a:fillRect/>
          </a:stretch>
        </p:blipFill>
        <p:spPr>
          <a:xfrm>
            <a:off x="6202680" y="1884192"/>
            <a:ext cx="5761355" cy="2400935"/>
          </a:xfrm>
          <a:prstGeom prst="rect">
            <a:avLst/>
          </a:prstGeom>
        </p:spPr>
      </p:pic>
      <p:pic>
        <p:nvPicPr>
          <p:cNvPr id="5" name="图片 4"/>
          <p:cNvPicPr>
            <a:picLocks noChangeAspect="1"/>
          </p:cNvPicPr>
          <p:nvPr/>
        </p:nvPicPr>
        <p:blipFill>
          <a:blip r:embed="rId4"/>
          <a:stretch>
            <a:fillRect/>
          </a:stretch>
        </p:blipFill>
        <p:spPr>
          <a:xfrm>
            <a:off x="6231399" y="4914880"/>
            <a:ext cx="2380952" cy="1019048"/>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07628"/>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size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Times New Roman" panose="02020603050405020304" pitchFamily="18" charset="0"/>
                <a:cs typeface="Times New Roman" panose="02020603050405020304" pitchFamily="18" charset="0"/>
              </a:rPr>
              <a:t>The size attribute specifies the </a:t>
            </a:r>
            <a:r>
              <a:rPr lang="en-US" altLang="zh-CN" sz="2800" dirty="0" smtClean="0">
                <a:solidFill>
                  <a:schemeClr val="bg1"/>
                </a:solidFill>
                <a:latin typeface="Times New Roman" panose="02020603050405020304" pitchFamily="18" charset="0"/>
                <a:cs typeface="Times New Roman" panose="02020603050405020304" pitchFamily="18" charset="0"/>
              </a:rPr>
              <a:t>width</a:t>
            </a:r>
            <a:r>
              <a:rPr lang="zh-CN" altLang="en-US" sz="2800" dirty="0" smtClean="0">
                <a:solidFill>
                  <a:schemeClr val="bg1"/>
                </a:solidFill>
                <a:latin typeface="Times New Roman" panose="02020603050405020304" pitchFamily="18" charset="0"/>
                <a:cs typeface="Times New Roman" panose="02020603050405020304" pitchFamily="18" charset="0"/>
              </a:rPr>
              <a:t> (</a:t>
            </a:r>
            <a:r>
              <a:rPr lang="zh-CN" altLang="en-US" sz="2800" dirty="0">
                <a:solidFill>
                  <a:schemeClr val="bg1"/>
                </a:solidFill>
                <a:latin typeface="Times New Roman" panose="02020603050405020304" pitchFamily="18" charset="0"/>
                <a:cs typeface="Times New Roman" panose="02020603050405020304" pitchFamily="18" charset="0"/>
              </a:rPr>
              <a:t>in characters) for the input fiel</a:t>
            </a:r>
            <a:r>
              <a:rPr lang="zh-CN" altLang="en-US" sz="2800" dirty="0" smtClean="0">
                <a:solidFill>
                  <a:schemeClr val="bg1"/>
                </a:solidFill>
                <a:latin typeface="Times New Roman" panose="02020603050405020304" pitchFamily="18" charset="0"/>
                <a:cs typeface="Times New Roman" panose="02020603050405020304" pitchFamily="18" charset="0"/>
              </a:rPr>
              <a:t>d</a:t>
            </a:r>
            <a:endParaRPr lang="en-US" altLang="zh-CN" sz="2800" dirty="0" smtClean="0">
              <a:solidFill>
                <a:schemeClr val="bg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3"/>
          <a:stretch>
            <a:fillRect/>
          </a:stretch>
        </p:blipFill>
        <p:spPr>
          <a:xfrm>
            <a:off x="2807437" y="5493439"/>
            <a:ext cx="6123809" cy="1133333"/>
          </a:xfrm>
          <a:prstGeom prst="rect">
            <a:avLst/>
          </a:prstGeom>
        </p:spPr>
      </p:pic>
      <p:pic>
        <p:nvPicPr>
          <p:cNvPr id="9" name="图片 8"/>
          <p:cNvPicPr>
            <a:picLocks noChangeAspect="1"/>
          </p:cNvPicPr>
          <p:nvPr/>
        </p:nvPicPr>
        <p:blipFill>
          <a:blip r:embed="rId4"/>
          <a:stretch>
            <a:fillRect/>
          </a:stretch>
        </p:blipFill>
        <p:spPr>
          <a:xfrm>
            <a:off x="2607436" y="2608970"/>
            <a:ext cx="6523809" cy="2638095"/>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287090"/>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maxlength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490399"/>
            <a:ext cx="11102954" cy="5248025"/>
          </a:xfrm>
        </p:spPr>
        <p:txBody>
          <a:bodyPr>
            <a:normAutofit fontScale="97500" lnSpcReduction="10000"/>
          </a:bodyPr>
          <a:lstStyle/>
          <a:p>
            <a:pPr>
              <a:spcAft>
                <a:spcPts val="600"/>
              </a:spcAft>
            </a:pPr>
            <a:r>
              <a:rPr lang="zh-CN" altLang="en-US" sz="2700" dirty="0">
                <a:solidFill>
                  <a:schemeClr val="bg1"/>
                </a:solidFill>
                <a:latin typeface="Times New Roman" panose="02020603050405020304" pitchFamily="18" charset="0"/>
                <a:cs typeface="Times New Roman" panose="02020603050405020304" pitchFamily="18" charset="0"/>
              </a:rPr>
              <a:t>The maxlength attribute specifies the maximum allowed length for the input field:</a:t>
            </a:r>
            <a:endParaRPr lang="zh-CN" altLang="en-US" sz="2700" dirty="0">
              <a:solidFill>
                <a:schemeClr val="bg1"/>
              </a:solidFill>
              <a:latin typeface="Times New Roman" panose="02020603050405020304" pitchFamily="18" charset="0"/>
              <a:cs typeface="Times New Roman" panose="02020603050405020304" pitchFamily="18" charset="0"/>
            </a:endParaRPr>
          </a:p>
          <a:p>
            <a:pPr>
              <a:spcAft>
                <a:spcPts val="600"/>
              </a:spcAft>
            </a:pPr>
            <a:endParaRPr lang="zh-CN" altLang="en-US" sz="2400" dirty="0">
              <a:solidFill>
                <a:schemeClr val="bg1"/>
              </a:solidFill>
              <a:latin typeface="Times New Roman" panose="02020603050405020304" pitchFamily="18" charset="0"/>
              <a:cs typeface="Times New Roman" panose="02020603050405020304" pitchFamily="18" charset="0"/>
            </a:endParaRPr>
          </a:p>
          <a:p>
            <a:pPr>
              <a:spcAft>
                <a:spcPts val="600"/>
              </a:spcAft>
            </a:pPr>
            <a:endParaRPr lang="zh-CN" altLang="en-US" sz="2400" dirty="0">
              <a:solidFill>
                <a:schemeClr val="bg1"/>
              </a:solidFill>
              <a:latin typeface="Times New Roman" panose="02020603050405020304" pitchFamily="18" charset="0"/>
              <a:cs typeface="Times New Roman" panose="02020603050405020304" pitchFamily="18" charset="0"/>
            </a:endParaRPr>
          </a:p>
          <a:p>
            <a:pPr>
              <a:spcAft>
                <a:spcPts val="600"/>
              </a:spcAft>
            </a:pPr>
            <a:endParaRPr lang="zh-CN" altLang="en-US" sz="2400" dirty="0">
              <a:solidFill>
                <a:schemeClr val="bg1"/>
              </a:solidFill>
              <a:latin typeface="Times New Roman" panose="02020603050405020304" pitchFamily="18" charset="0"/>
              <a:cs typeface="Times New Roman" panose="02020603050405020304" pitchFamily="18" charset="0"/>
            </a:endParaRPr>
          </a:p>
          <a:p>
            <a:pPr>
              <a:spcAft>
                <a:spcPts val="600"/>
              </a:spcAft>
            </a:pPr>
            <a:endParaRPr lang="zh-CN" altLang="en-US" sz="2400" dirty="0">
              <a:solidFill>
                <a:schemeClr val="bg1"/>
              </a:solidFill>
              <a:latin typeface="Times New Roman" panose="02020603050405020304" pitchFamily="18" charset="0"/>
              <a:cs typeface="Times New Roman" panose="02020603050405020304" pitchFamily="18" charset="0"/>
            </a:endParaRPr>
          </a:p>
          <a:p>
            <a:pPr>
              <a:spcAft>
                <a:spcPts val="600"/>
              </a:spcAft>
            </a:pPr>
            <a:r>
              <a:rPr lang="zh-CN" altLang="en-US" sz="2700" dirty="0">
                <a:solidFill>
                  <a:schemeClr val="bg1"/>
                </a:solidFill>
                <a:latin typeface="Times New Roman" panose="02020603050405020304" pitchFamily="18" charset="0"/>
                <a:cs typeface="Times New Roman" panose="02020603050405020304" pitchFamily="18" charset="0"/>
              </a:rPr>
              <a:t>With a maxlength attribute, the input control will not accept more than the allowed number of characters.</a:t>
            </a:r>
            <a:endParaRPr lang="zh-CN" altLang="en-US" sz="2700" dirty="0">
              <a:solidFill>
                <a:schemeClr val="bg1"/>
              </a:solidFill>
              <a:latin typeface="Times New Roman" panose="02020603050405020304" pitchFamily="18" charset="0"/>
              <a:cs typeface="Times New Roman" panose="02020603050405020304" pitchFamily="18" charset="0"/>
            </a:endParaRPr>
          </a:p>
          <a:p>
            <a:pPr>
              <a:spcAft>
                <a:spcPts val="600"/>
              </a:spcAft>
            </a:pPr>
            <a:r>
              <a:rPr lang="zh-CN" altLang="en-US" sz="2700" dirty="0">
                <a:solidFill>
                  <a:schemeClr val="bg1"/>
                </a:solidFill>
                <a:latin typeface="Times New Roman" panose="02020603050405020304" pitchFamily="18" charset="0"/>
                <a:cs typeface="Times New Roman" panose="02020603050405020304" pitchFamily="18" charset="0"/>
              </a:rPr>
              <a:t>The attribute does not provide any feedback. If you want to alert the user, you must write JavaScript code.</a:t>
            </a:r>
            <a:endParaRPr lang="zh-CN" altLang="en-US" sz="2700" dirty="0">
              <a:solidFill>
                <a:schemeClr val="bg1"/>
              </a:solidFill>
              <a:latin typeface="Times New Roman" panose="02020603050405020304" pitchFamily="18" charset="0"/>
              <a:cs typeface="Times New Roman" panose="02020603050405020304" pitchFamily="18" charset="0"/>
            </a:endParaRPr>
          </a:p>
          <a:p>
            <a:pPr>
              <a:spcAft>
                <a:spcPts val="600"/>
              </a:spcAft>
            </a:pP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3076575" y="2374265"/>
            <a:ext cx="6031865" cy="178816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531028" y="369249"/>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HTML5 Attributes</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1016363" y="1806923"/>
            <a:ext cx="3527502" cy="4759200"/>
          </a:xfrm>
        </p:spPr>
        <p:txBody>
          <a:bodyPr>
            <a:normAutofit lnSpcReduction="10000"/>
          </a:bodyPr>
          <a:lstStyle/>
          <a:p>
            <a:pPr algn="l">
              <a:buClrTx/>
              <a:buSzTx/>
              <a:buFont typeface="Wingdings" panose="05000000000000000000" charset="0"/>
              <a:buChar char="Ø"/>
            </a:pPr>
            <a:r>
              <a:rPr lang="en-US" altLang="zh-CN" sz="2400" dirty="0" smtClean="0">
                <a:solidFill>
                  <a:schemeClr val="bg1"/>
                </a:solidFill>
                <a:latin typeface="Times New Roman" panose="02020603050405020304" pitchFamily="18" charset="0"/>
                <a:cs typeface="Times New Roman" panose="02020603050405020304" pitchFamily="18" charset="0"/>
              </a:rPr>
              <a:t>autocomplete</a:t>
            </a:r>
            <a:endParaRPr lang="en-US" altLang="zh-CN" sz="2400" dirty="0">
              <a:solidFill>
                <a:schemeClr val="bg1"/>
              </a:solidFill>
              <a:latin typeface="Times New Roman" panose="02020603050405020304" pitchFamily="18" charset="0"/>
              <a:cs typeface="Times New Roman" panose="02020603050405020304" pitchFamily="18" charset="0"/>
            </a:endParaRPr>
          </a:p>
          <a:p>
            <a:pPr algn="l">
              <a:buClrTx/>
              <a:buSzTx/>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autofocus</a:t>
            </a:r>
            <a:endParaRPr lang="en-US" altLang="zh-CN" sz="2400" dirty="0">
              <a:solidFill>
                <a:schemeClr val="bg1"/>
              </a:solidFill>
              <a:latin typeface="Times New Roman" panose="02020603050405020304" pitchFamily="18" charset="0"/>
              <a:cs typeface="Times New Roman" panose="02020603050405020304" pitchFamily="18" charset="0"/>
            </a:endParaRPr>
          </a:p>
          <a:p>
            <a:pPr algn="l">
              <a:buClrTx/>
              <a:buSzTx/>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a:t>
            </a:r>
            <a:endParaRPr lang="en-US" altLang="zh-CN" sz="24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formaction</a:t>
            </a:r>
            <a:endParaRPr lang="en-US" altLang="zh-CN" sz="24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formenctype</a:t>
            </a:r>
            <a:endParaRPr lang="en-US" altLang="zh-CN" sz="2400" dirty="0">
              <a:solidFill>
                <a:schemeClr val="bg1"/>
              </a:solidFill>
              <a:latin typeface="Times New Roman" panose="02020603050405020304" pitchFamily="18" charset="0"/>
              <a:cs typeface="Times New Roman" panose="02020603050405020304" pitchFamily="18" charset="0"/>
            </a:endParaRPr>
          </a:p>
          <a:p>
            <a:pPr algn="l">
              <a:buClrTx/>
              <a:buSzTx/>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formmethod</a:t>
            </a:r>
            <a:endParaRPr lang="en-US" altLang="zh-CN" sz="24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formnovalidate</a:t>
            </a:r>
            <a:endParaRPr lang="en-US" altLang="zh-CN" sz="24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zh-CN" sz="2400" dirty="0">
                <a:solidFill>
                  <a:schemeClr val="bg1"/>
                </a:solidFill>
                <a:latin typeface="Times New Roman" panose="02020603050405020304" pitchFamily="18" charset="0"/>
                <a:cs typeface="Times New Roman" panose="02020603050405020304" pitchFamily="18" charset="0"/>
              </a:rPr>
              <a:t>formtarget</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7566403" y="1806923"/>
            <a:ext cx="3933825" cy="4225925"/>
          </a:xfrm>
          <a:prstGeom prst="rect">
            <a:avLst/>
          </a:prstGeom>
          <a:noFill/>
        </p:spPr>
        <p:txBody>
          <a:bodyPr wrap="square" rtlCol="0">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height and width</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list</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min and max</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multiple</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pattern (regexp)</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placeholder</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required</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charset="0"/>
              <a:buChar char="Ø"/>
              <a:defRPr/>
            </a:pPr>
            <a:r>
              <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step</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1112746" y="1256220"/>
            <a:ext cx="7604967" cy="523220"/>
          </a:xfrm>
          <a:prstGeom prst="rect">
            <a:avLst/>
          </a:prstGeom>
        </p:spPr>
        <p:txBody>
          <a:bodyPr wrap="none">
            <a:spAutoFit/>
          </a:bodyPr>
          <a:lstStyle/>
          <a:p>
            <a:r>
              <a:rPr lang="zh-CN" altLang="en-US" sz="2800" dirty="0">
                <a:solidFill>
                  <a:schemeClr val="bg1"/>
                </a:solidFill>
                <a:latin typeface="Times New Roman" panose="02020603050405020304" pitchFamily="18" charset="0"/>
                <a:cs typeface="Times New Roman" panose="02020603050405020304" pitchFamily="18" charset="0"/>
              </a:rPr>
              <a:t>HTML5 added the following attributes for &lt;input&gt;:</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a:latin typeface="Times New Roman" panose="02020603050405020304" pitchFamily="18" charset="0"/>
                <a:cs typeface="Times New Roman" panose="02020603050405020304" pitchFamily="18" charset="0"/>
              </a:rPr>
              <a:t>HTML5 Attributes</a:t>
            </a:r>
            <a:endParaRPr lang="zh-CN" altLang="en-US" sz="4400" b="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1695156" y="1863194"/>
            <a:ext cx="9347871" cy="3693545"/>
          </a:xfrm>
        </p:spPr>
        <p:txBody>
          <a:bodyPr>
            <a:normAutofit/>
          </a:bodyPr>
          <a:lstStyle/>
          <a:p>
            <a:pPr marL="0" indent="0">
              <a:buNone/>
            </a:pPr>
            <a:r>
              <a:rPr lang="zh-CN" altLang="en-US" sz="3200" dirty="0" smtClean="0">
                <a:solidFill>
                  <a:schemeClr val="bg1"/>
                </a:solidFill>
                <a:latin typeface="Times New Roman" panose="02020603050405020304" pitchFamily="18" charset="0"/>
                <a:cs typeface="Times New Roman" panose="02020603050405020304" pitchFamily="18" charset="0"/>
              </a:rPr>
              <a:t>the </a:t>
            </a:r>
            <a:r>
              <a:rPr lang="zh-CN" altLang="en-US" sz="3200" dirty="0">
                <a:solidFill>
                  <a:schemeClr val="bg1"/>
                </a:solidFill>
                <a:latin typeface="Times New Roman" panose="02020603050405020304" pitchFamily="18" charset="0"/>
                <a:cs typeface="Times New Roman" panose="02020603050405020304" pitchFamily="18" charset="0"/>
              </a:rPr>
              <a:t>following attributes for &lt;form&gt;:</a:t>
            </a:r>
            <a:endParaRPr lang="zh-CN" altLang="en-US" sz="32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zh-CN" altLang="en-US" sz="3200" dirty="0">
                <a:solidFill>
                  <a:schemeClr val="bg1"/>
                </a:solidFill>
                <a:latin typeface="Times New Roman" panose="02020603050405020304" pitchFamily="18" charset="0"/>
                <a:cs typeface="Times New Roman" panose="02020603050405020304" pitchFamily="18" charset="0"/>
              </a:rPr>
              <a:t>    autocomplete</a:t>
            </a:r>
            <a:endParaRPr lang="zh-CN" altLang="en-US" sz="32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charset="0"/>
              <a:buChar char="Ø"/>
            </a:pPr>
            <a:r>
              <a:rPr lang="zh-CN" altLang="en-US" sz="3200" dirty="0">
                <a:solidFill>
                  <a:schemeClr val="bg1"/>
                </a:solidFill>
                <a:latin typeface="Times New Roman" panose="02020603050405020304" pitchFamily="18" charset="0"/>
                <a:cs typeface="Times New Roman" panose="02020603050405020304" pitchFamily="18" charset="0"/>
              </a:rPr>
              <a:t>    novalidate</a:t>
            </a:r>
            <a:endParaRPr lang="zh-CN" altLang="en-US" sz="3200" dirty="0">
              <a:solidFill>
                <a:schemeClr val="bg1"/>
              </a:solidFill>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53656"/>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autocomplete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p:txBody>
          <a:bodyPr>
            <a:noAutofit/>
          </a:bodyPr>
          <a:lstStyle/>
          <a:p>
            <a:pPr>
              <a:lnSpc>
                <a:spcPct val="15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autocomplete attribute specifies whether a form or input field should have autocomplete on or off.</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5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When autocomplete is on, the browser automatically complete values based on values that the user has entered before.</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5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autocomplete attribute works with &lt;form&gt; and the following &lt;input&gt; types: text, search, url, tel, email, password, datepickers, range, and color.</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43800"/>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sym typeface="+mn-ea"/>
              </a:rPr>
              <a:t>The autocomplete Attribute</a:t>
            </a:r>
            <a:endParaRPr lang="zh-CN" altLang="en-US" sz="4400" b="0" dirty="0">
              <a:latin typeface="Times New Roman" panose="02020603050405020304" pitchFamily="18" charset="0"/>
              <a:cs typeface="Times New Roman" panose="02020603050405020304" pitchFamily="18" charset="0"/>
              <a:sym typeface="+mn-ea"/>
            </a:endParaRPr>
          </a:p>
        </p:txBody>
      </p:sp>
      <p:sp>
        <p:nvSpPr>
          <p:cNvPr id="2" name="内容占位符 1"/>
          <p:cNvSpPr>
            <a:spLocks noGrp="1"/>
          </p:cNvSpPr>
          <p:nvPr>
            <p:ph idx="1"/>
            <p:custDataLst>
              <p:tags r:id="rId2"/>
            </p:custDataLst>
          </p:nvPr>
        </p:nvSpPr>
        <p:spPr>
          <a:xfrm>
            <a:off x="657637" y="1321587"/>
            <a:ext cx="10969200" cy="4759200"/>
          </a:xfrm>
        </p:spPr>
        <p:txBody>
          <a:bodyPr/>
          <a:lstStyle/>
          <a:p>
            <a:pPr algn="just">
              <a:spcAft>
                <a:spcPts val="600"/>
              </a:spcAft>
            </a:pPr>
            <a:r>
              <a:rPr lang="zh-CN" altLang="en-US" sz="2400" dirty="0">
                <a:solidFill>
                  <a:schemeClr val="bg1"/>
                </a:solidFill>
                <a:latin typeface="Times New Roman" panose="02020603050405020304" pitchFamily="18" charset="0"/>
                <a:cs typeface="Times New Roman" panose="02020603050405020304" pitchFamily="18" charset="0"/>
              </a:rPr>
              <a:t>Tip: It is possible to have autocomplete "on" for the form, and "off" for specific input fields, or vice versa.</a:t>
            </a:r>
            <a:endParaRPr lang="zh-CN" altLang="en-US" sz="2400" dirty="0">
              <a:solidFill>
                <a:schemeClr val="bg1"/>
              </a:solidFill>
              <a:latin typeface="Times New Roman" panose="02020603050405020304" pitchFamily="18" charset="0"/>
              <a:cs typeface="Times New Roman" panose="02020603050405020304" pitchFamily="18" charset="0"/>
            </a:endParaRPr>
          </a:p>
          <a:p>
            <a:pPr algn="just">
              <a:spcAft>
                <a:spcPts val="600"/>
              </a:spcAft>
            </a:pPr>
            <a:r>
              <a:rPr lang="zh-CN" altLang="en-US" sz="2400" dirty="0">
                <a:solidFill>
                  <a:schemeClr val="bg1"/>
                </a:solidFill>
                <a:latin typeface="Times New Roman" panose="02020603050405020304" pitchFamily="18" charset="0"/>
                <a:cs typeface="Times New Roman" panose="02020603050405020304" pitchFamily="18" charset="0"/>
              </a:rPr>
              <a:t>Tip: In some browsers you may need to activate the autocomplete function for this to work.</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235375" y="3687126"/>
            <a:ext cx="7715250" cy="1671955"/>
          </a:xfrm>
          <a:prstGeom prst="rect">
            <a:avLst/>
          </a:prstGeom>
        </p:spPr>
      </p:pic>
      <p:pic>
        <p:nvPicPr>
          <p:cNvPr id="6" name="图片 5"/>
          <p:cNvPicPr>
            <a:picLocks noChangeAspect="1"/>
          </p:cNvPicPr>
          <p:nvPr/>
        </p:nvPicPr>
        <p:blipFill>
          <a:blip r:embed="rId4"/>
          <a:stretch>
            <a:fillRect/>
          </a:stretch>
        </p:blipFill>
        <p:spPr>
          <a:xfrm>
            <a:off x="2788238" y="5631268"/>
            <a:ext cx="6609524" cy="1095238"/>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novalidate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p:txBody>
          <a:bodyPr>
            <a:normAutofit/>
          </a:bodyPr>
          <a:lstStyle/>
          <a:p>
            <a:r>
              <a:rPr lang="zh-CN" altLang="en-US" sz="2800" dirty="0">
                <a:solidFill>
                  <a:schemeClr val="bg1"/>
                </a:solidFill>
                <a:latin typeface="Times New Roman" panose="02020603050405020304" pitchFamily="18" charset="0"/>
                <a:cs typeface="Times New Roman" panose="02020603050405020304" pitchFamily="18" charset="0"/>
              </a:rPr>
              <a:t>The novalidate attribute is a &lt;form&gt; attribute.</a:t>
            </a:r>
            <a:endParaRPr lang="zh-CN" altLang="en-US" sz="2800" dirty="0">
              <a:solidFill>
                <a:schemeClr val="bg1"/>
              </a:solidFill>
              <a:latin typeface="Times New Roman" panose="02020603050405020304" pitchFamily="18" charset="0"/>
              <a:cs typeface="Times New Roman" panose="02020603050405020304" pitchFamily="18" charset="0"/>
            </a:endParaRPr>
          </a:p>
          <a:p>
            <a:r>
              <a:rPr lang="zh-CN" altLang="en-US" sz="2800" dirty="0">
                <a:solidFill>
                  <a:schemeClr val="bg1"/>
                </a:solidFill>
                <a:latin typeface="Times New Roman" panose="02020603050405020304" pitchFamily="18" charset="0"/>
                <a:cs typeface="Times New Roman" panose="02020603050405020304" pitchFamily="18" charset="0"/>
              </a:rPr>
              <a:t>When present, novalidate specifies that form data should not be validated when submitted.</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564277" y="3900755"/>
            <a:ext cx="7756704" cy="2668857"/>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62392"/>
            <a:ext cx="10969200" cy="705600"/>
          </a:xfrm>
        </p:spPr>
        <p:txBody>
          <a:bodyPr>
            <a:noAutofit/>
          </a:bodyPr>
          <a:lstStyle/>
          <a:p>
            <a:pPr algn="ctr"/>
            <a:r>
              <a:rPr lang="zh-CN" altLang="en-US" sz="4400" b="0" dirty="0">
                <a:solidFill>
                  <a:schemeClr val="bg1"/>
                </a:solidFill>
                <a:latin typeface="Times New Roman" panose="02020603050405020304" pitchFamily="18" charset="0"/>
                <a:cs typeface="Times New Roman" panose="02020603050405020304" pitchFamily="18" charset="0"/>
              </a:rPr>
              <a:t>The autofocus Attribute</a:t>
            </a:r>
            <a:endParaRPr lang="zh-CN" altLang="en-US" sz="4400" b="0" dirty="0">
              <a:solidFill>
                <a:schemeClr val="bg1"/>
              </a:solidFill>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232259" y="1169463"/>
            <a:ext cx="11570535" cy="1222046"/>
          </a:xfrm>
        </p:spPr>
        <p:txBody>
          <a:bodyPr>
            <a:normAutofit/>
          </a:bodyPr>
          <a:lstStyle/>
          <a:p>
            <a:pPr algn="just"/>
            <a:r>
              <a:rPr lang="zh-CN" altLang="en-US" sz="2800" dirty="0">
                <a:solidFill>
                  <a:schemeClr val="bg1"/>
                </a:solidFill>
                <a:latin typeface="Times New Roman" panose="02020603050405020304" pitchFamily="18" charset="0"/>
                <a:cs typeface="Times New Roman" panose="02020603050405020304" pitchFamily="18" charset="0"/>
              </a:rPr>
              <a:t>The autofocus attribute is a boolean attribute</a:t>
            </a:r>
            <a:r>
              <a:rPr lang="zh-CN" altLang="en-US" sz="2800" dirty="0" smtClean="0">
                <a:solidFill>
                  <a:schemeClr val="bg1"/>
                </a:solidFill>
                <a:latin typeface="Times New Roman" panose="02020603050405020304" pitchFamily="18" charset="0"/>
                <a:cs typeface="Times New Roman" panose="02020603050405020304" pitchFamily="18" charset="0"/>
              </a:rPr>
              <a:t>. </a:t>
            </a:r>
            <a:r>
              <a:rPr lang="en-US" altLang="zh-CN" sz="2800" dirty="0" smtClean="0">
                <a:solidFill>
                  <a:schemeClr val="bg1"/>
                </a:solidFill>
                <a:latin typeface="Times New Roman" panose="02020603050405020304" pitchFamily="18" charset="0"/>
                <a:cs typeface="Times New Roman" panose="02020603050405020304" pitchFamily="18" charset="0"/>
              </a:rPr>
              <a:t>It </a:t>
            </a:r>
            <a:r>
              <a:rPr lang="zh-CN" altLang="en-US" sz="2800" dirty="0" smtClean="0">
                <a:solidFill>
                  <a:schemeClr val="bg1"/>
                </a:solidFill>
                <a:latin typeface="Times New Roman" panose="02020603050405020304" pitchFamily="18" charset="0"/>
                <a:cs typeface="Times New Roman" panose="02020603050405020304" pitchFamily="18" charset="0"/>
              </a:rPr>
              <a:t>specifies </a:t>
            </a:r>
            <a:r>
              <a:rPr lang="zh-CN" altLang="en-US" sz="2800" dirty="0">
                <a:solidFill>
                  <a:schemeClr val="bg1"/>
                </a:solidFill>
                <a:latin typeface="Times New Roman" panose="02020603050405020304" pitchFamily="18" charset="0"/>
                <a:cs typeface="Times New Roman" panose="02020603050405020304" pitchFamily="18" charset="0"/>
              </a:rPr>
              <a:t>that an &lt;input&gt; element should automatically get focus when the page loads.</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3232146" y="5741103"/>
            <a:ext cx="5997167" cy="905882"/>
          </a:xfrm>
          <a:prstGeom prst="rect">
            <a:avLst/>
          </a:prstGeom>
        </p:spPr>
      </p:pic>
      <p:pic>
        <p:nvPicPr>
          <p:cNvPr id="6" name="图片 5"/>
          <p:cNvPicPr>
            <a:picLocks noChangeAspect="1"/>
          </p:cNvPicPr>
          <p:nvPr/>
        </p:nvPicPr>
        <p:blipFill>
          <a:blip r:embed="rId4"/>
          <a:stretch>
            <a:fillRect/>
          </a:stretch>
        </p:blipFill>
        <p:spPr>
          <a:xfrm>
            <a:off x="1458687" y="2492980"/>
            <a:ext cx="9895270" cy="3022359"/>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06559"/>
            <a:ext cx="10969200" cy="705600"/>
          </a:xfrm>
        </p:spPr>
        <p:txBody>
          <a:bodyPr>
            <a:noAutofit/>
          </a:bodyPr>
          <a:lstStyle/>
          <a:p>
            <a:pPr algn="ctr"/>
            <a:r>
              <a:rPr lang="zh-CN" altLang="en-US" sz="4400" b="0">
                <a:latin typeface="Times New Roman" panose="02020603050405020304" pitchFamily="18" charset="0"/>
                <a:cs typeface="Times New Roman" panose="02020603050405020304" pitchFamily="18" charset="0"/>
              </a:rPr>
              <a:t>The form Attribute</a:t>
            </a:r>
            <a:endParaRPr lang="zh-CN" altLang="en-US" sz="4400" b="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450166" y="1296813"/>
            <a:ext cx="11198455" cy="2177907"/>
          </a:xfrm>
        </p:spPr>
        <p:txBody>
          <a:bodyPr>
            <a:normAutofit/>
          </a:bodyPr>
          <a:lstStyle/>
          <a:p>
            <a:pPr algn="just">
              <a:lnSpc>
                <a:spcPct val="100000"/>
              </a:lnSpc>
            </a:pPr>
            <a:r>
              <a:rPr lang="zh-CN" altLang="en-US" sz="2400" dirty="0">
                <a:solidFill>
                  <a:schemeClr val="bg1"/>
                </a:solidFill>
                <a:latin typeface="Times New Roman" panose="02020603050405020304" pitchFamily="18" charset="0"/>
                <a:cs typeface="Times New Roman" panose="02020603050405020304" pitchFamily="18" charset="0"/>
              </a:rPr>
              <a:t>The form attribute specifies one or more forms an &lt;input&gt; element belongs to</a:t>
            </a:r>
            <a:r>
              <a:rPr lang="zh-CN" altLang="en-US" sz="2400" dirty="0" smtClean="0">
                <a:solidFill>
                  <a:schemeClr val="bg1"/>
                </a:solidFill>
                <a:latin typeface="Times New Roman" panose="02020603050405020304" pitchFamily="18" charset="0"/>
                <a:cs typeface="Times New Roman" panose="02020603050405020304" pitchFamily="18" charset="0"/>
              </a:rPr>
              <a:t>. To </a:t>
            </a:r>
            <a:r>
              <a:rPr lang="zh-CN" altLang="en-US" sz="2400" dirty="0">
                <a:solidFill>
                  <a:schemeClr val="bg1"/>
                </a:solidFill>
                <a:latin typeface="Times New Roman" panose="02020603050405020304" pitchFamily="18" charset="0"/>
                <a:cs typeface="Times New Roman" panose="02020603050405020304" pitchFamily="18" charset="0"/>
              </a:rPr>
              <a:t>refer to more than one form, use a space-separated list of form ids</a:t>
            </a:r>
            <a:r>
              <a:rPr lang="zh-CN" altLang="en-US" sz="2400" dirty="0" smtClean="0">
                <a:solidFill>
                  <a:schemeClr val="bg1"/>
                </a:solidFill>
                <a:latin typeface="Times New Roman" panose="02020603050405020304" pitchFamily="18" charset="0"/>
                <a:cs typeface="Times New Roman" panose="02020603050405020304" pitchFamily="18" charset="0"/>
              </a:rPr>
              <a:t>.</a:t>
            </a:r>
            <a:endParaRPr lang="en-US" altLang="zh-CN" sz="2400" dirty="0" smtClean="0">
              <a:solidFill>
                <a:schemeClr val="bg1"/>
              </a:solidFill>
              <a:latin typeface="Times New Roman" panose="02020603050405020304" pitchFamily="18" charset="0"/>
              <a:cs typeface="Times New Roman" panose="02020603050405020304" pitchFamily="18" charset="0"/>
            </a:endParaRPr>
          </a:p>
          <a:p>
            <a:pPr marL="0" indent="0" algn="just">
              <a:lnSpc>
                <a:spcPct val="100000"/>
              </a:lnSpc>
              <a:buNone/>
            </a:pPr>
            <a:r>
              <a:rPr lang="en-US" altLang="zh-CN" sz="2400" dirty="0" smtClean="0">
                <a:solidFill>
                  <a:schemeClr val="bg1"/>
                </a:solidFill>
                <a:latin typeface="Times New Roman" panose="02020603050405020304" pitchFamily="18" charset="0"/>
                <a:cs typeface="Times New Roman" panose="02020603050405020304" pitchFamily="18" charset="0"/>
              </a:rPr>
              <a:t>Example: </a:t>
            </a:r>
            <a:r>
              <a:rPr lang="zh-CN" altLang="en-US" sz="2400" dirty="0" smtClean="0">
                <a:solidFill>
                  <a:schemeClr val="bg1"/>
                </a:solidFill>
                <a:latin typeface="Times New Roman" panose="02020603050405020304" pitchFamily="18" charset="0"/>
                <a:cs typeface="Times New Roman" panose="02020603050405020304" pitchFamily="18" charset="0"/>
              </a:rPr>
              <a:t>A</a:t>
            </a:r>
            <a:r>
              <a:rPr lang="zh-CN" altLang="en-US" sz="2400" dirty="0">
                <a:solidFill>
                  <a:schemeClr val="bg1"/>
                </a:solidFill>
                <a:latin typeface="Times New Roman" panose="02020603050405020304" pitchFamily="18" charset="0"/>
                <a:cs typeface="Times New Roman" panose="02020603050405020304" pitchFamily="18" charset="0"/>
              </a:rPr>
              <a:t>n input field located outside the HTML form (but still a part of the form):</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99593" y="3919146"/>
            <a:ext cx="7670131" cy="2101825"/>
          </a:xfrm>
          <a:prstGeom prst="rect">
            <a:avLst/>
          </a:prstGeom>
        </p:spPr>
      </p:pic>
      <p:pic>
        <p:nvPicPr>
          <p:cNvPr id="6" name="图片 5"/>
          <p:cNvPicPr>
            <a:picLocks noChangeAspect="1"/>
          </p:cNvPicPr>
          <p:nvPr/>
        </p:nvPicPr>
        <p:blipFill>
          <a:blip r:embed="rId4"/>
          <a:stretch>
            <a:fillRect/>
          </a:stretch>
        </p:blipFill>
        <p:spPr>
          <a:xfrm>
            <a:off x="8391441" y="4256772"/>
            <a:ext cx="3457143" cy="971429"/>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284556"/>
            <a:ext cx="10969200" cy="705600"/>
          </a:xfrm>
        </p:spPr>
        <p:txBody>
          <a:bodyPr>
            <a:noAutofit/>
          </a:bodyPr>
          <a:lstStyle/>
          <a:p>
            <a:pPr algn="ctr"/>
            <a:r>
              <a:rPr lang="zh-CN" altLang="en-US" sz="4400" b="0">
                <a:latin typeface="Times New Roman" panose="02020603050405020304" pitchFamily="18" charset="0"/>
                <a:cs typeface="Times New Roman" panose="02020603050405020304" pitchFamily="18" charset="0"/>
              </a:rPr>
              <a:t>The formaction Attribute</a:t>
            </a:r>
            <a:endParaRPr lang="zh-CN" altLang="en-US" sz="4400" b="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315712"/>
            <a:ext cx="11032615" cy="2542913"/>
          </a:xfrm>
        </p:spPr>
        <p:txBody>
          <a:bodyPr>
            <a:noAutofit/>
          </a:bodyPr>
          <a:lstStyle/>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formaction attribute specifies the URL of a file that will process the input control when the form is submitted.</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formaction attribute overrides the action attribute of the &lt;form&gt;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formaction attribute is used with type="submit</a:t>
            </a:r>
            <a:r>
              <a:rPr lang="zh-CN" altLang="en-US" sz="2800" dirty="0" smtClean="0">
                <a:solidFill>
                  <a:schemeClr val="bg1"/>
                </a:solidFill>
                <a:latin typeface="Times New Roman" panose="02020603050405020304" pitchFamily="18" charset="0"/>
                <a:cs typeface="Times New Roman" panose="02020603050405020304" pitchFamily="18" charset="0"/>
              </a:rPr>
              <a:t>"</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545095" y="4624404"/>
            <a:ext cx="6106593" cy="2001479"/>
          </a:xfrm>
          <a:prstGeom prst="rect">
            <a:avLst/>
          </a:prstGeom>
        </p:spPr>
      </p:pic>
      <p:sp>
        <p:nvSpPr>
          <p:cNvPr id="5" name="矩形 4"/>
          <p:cNvSpPr/>
          <p:nvPr/>
        </p:nvSpPr>
        <p:spPr>
          <a:xfrm>
            <a:off x="671704" y="4053624"/>
            <a:ext cx="9851254"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An </a:t>
            </a:r>
            <a:r>
              <a:rPr kumimoji="0"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HTML form with two submit buttons, with different actions:</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6886722" y="4751013"/>
            <a:ext cx="4994046" cy="1157418"/>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221538" y="1501200"/>
            <a:ext cx="5525114" cy="4444751"/>
          </a:xfrm>
        </p:spPr>
        <p:txBody>
          <a:bodyPr>
            <a:noAutofit/>
          </a:bodyPr>
          <a:lstStyle/>
          <a:p>
            <a:pPr algn="just">
              <a:lnSpc>
                <a:spcPct val="100000"/>
              </a:lnSpc>
              <a:spcAft>
                <a:spcPts val="600"/>
              </a:spcAft>
            </a:pPr>
            <a:r>
              <a:rPr lang="zh-CN" altLang="en-US" sz="2400" dirty="0">
                <a:solidFill>
                  <a:schemeClr val="bg1"/>
                </a:solidFill>
                <a:latin typeface="Times New Roman" panose="02020603050405020304" pitchFamily="18" charset="0"/>
                <a:cs typeface="Times New Roman" panose="02020603050405020304" pitchFamily="18" charset="0"/>
              </a:rPr>
              <a:t>The formenctype attribute specifies how the form-data should be encoded when submitting it to the server (only for forms with method="post").</a:t>
            </a:r>
            <a:endParaRPr lang="zh-CN" altLang="en-US" sz="24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400" dirty="0">
                <a:solidFill>
                  <a:schemeClr val="bg1"/>
                </a:solidFill>
                <a:latin typeface="Times New Roman" panose="02020603050405020304" pitchFamily="18" charset="0"/>
                <a:cs typeface="Times New Roman" panose="02020603050405020304" pitchFamily="18" charset="0"/>
              </a:rPr>
              <a:t>The formenctype attribute overrides the enctype attribute of the &lt;form&gt; element.</a:t>
            </a:r>
            <a:endParaRPr lang="zh-CN" altLang="en-US" sz="24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400" dirty="0">
                <a:solidFill>
                  <a:schemeClr val="bg1"/>
                </a:solidFill>
                <a:latin typeface="Times New Roman" panose="02020603050405020304" pitchFamily="18" charset="0"/>
                <a:cs typeface="Times New Roman" panose="02020603050405020304" pitchFamily="18" charset="0"/>
              </a:rPr>
              <a:t>The formenctype attribute is used with type="submit" and type="image".</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4" name="内容占位符 3"/>
          <p:cNvSpPr>
            <a:spLocks noGrp="1"/>
          </p:cNvSpPr>
          <p:nvPr>
            <p:ph sz="half" idx="2"/>
            <p:custDataLst>
              <p:tags r:id="rId2"/>
            </p:custDataLst>
          </p:nvPr>
        </p:nvSpPr>
        <p:spPr>
          <a:xfrm>
            <a:off x="6411600" y="1501200"/>
            <a:ext cx="5489668" cy="1649963"/>
          </a:xfrm>
        </p:spPr>
        <p:txBody>
          <a:bodyPr>
            <a:noAutofit/>
          </a:bodyPr>
          <a:lstStyle/>
          <a:p>
            <a:pPr algn="just"/>
            <a:r>
              <a:rPr lang="zh-CN" altLang="en-US" sz="2000" dirty="0" smtClean="0">
                <a:solidFill>
                  <a:schemeClr val="bg1"/>
                </a:solidFill>
                <a:latin typeface="Times New Roman" panose="02020603050405020304" pitchFamily="18" charset="0"/>
                <a:cs typeface="Times New Roman" panose="02020603050405020304" pitchFamily="18" charset="0"/>
              </a:rPr>
              <a:t>Send form</a:t>
            </a:r>
            <a:r>
              <a:rPr lang="zh-CN" altLang="en-US" sz="2000" dirty="0">
                <a:solidFill>
                  <a:schemeClr val="bg1"/>
                </a:solidFill>
                <a:latin typeface="Times New Roman" panose="02020603050405020304" pitchFamily="18" charset="0"/>
                <a:cs typeface="Times New Roman" panose="02020603050405020304" pitchFamily="18" charset="0"/>
              </a:rPr>
              <a:t>-data that is default encoded (the first submit button), and encoded as "multipart/form-data" (the second submit button):</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5" name="标题 4"/>
          <p:cNvSpPr>
            <a:spLocks noGrp="1"/>
          </p:cNvSpPr>
          <p:nvPr>
            <p:ph type="title"/>
            <p:custDataLst>
              <p:tags r:id="rId3"/>
            </p:custDataLst>
          </p:nvPr>
        </p:nvSpPr>
        <p:spPr>
          <a:xfrm>
            <a:off x="608400" y="488363"/>
            <a:ext cx="10969200" cy="705600"/>
          </a:xfrm>
        </p:spPr>
        <p:txBody>
          <a:bodyPr>
            <a:noAutofit/>
          </a:bodyPr>
          <a:lstStyle/>
          <a:p>
            <a:pPr algn="ctr"/>
            <a:r>
              <a:rPr lang="zh-CN" altLang="en-US" sz="4400" b="0">
                <a:latin typeface="Times New Roman" panose="02020603050405020304" pitchFamily="18" charset="0"/>
                <a:cs typeface="Times New Roman" panose="02020603050405020304" pitchFamily="18" charset="0"/>
              </a:rPr>
              <a:t>The formenctype Attribute</a:t>
            </a:r>
            <a:endParaRPr lang="zh-CN" altLang="en-US" sz="4400" b="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4"/>
          <a:stretch>
            <a:fillRect/>
          </a:stretch>
        </p:blipFill>
        <p:spPr>
          <a:xfrm>
            <a:off x="6183630" y="3548380"/>
            <a:ext cx="5633085" cy="1537970"/>
          </a:xfrm>
          <a:prstGeom prst="rect">
            <a:avLst/>
          </a:prstGeom>
        </p:spPr>
      </p:pic>
      <p:pic>
        <p:nvPicPr>
          <p:cNvPr id="6" name="图片 5"/>
          <p:cNvPicPr>
            <a:picLocks noChangeAspect="1"/>
          </p:cNvPicPr>
          <p:nvPr/>
        </p:nvPicPr>
        <p:blipFill>
          <a:blip r:embed="rId5"/>
          <a:stretch>
            <a:fillRect/>
          </a:stretch>
        </p:blipFill>
        <p:spPr>
          <a:xfrm>
            <a:off x="6183285" y="5700824"/>
            <a:ext cx="3514286" cy="590476"/>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33192"/>
            <a:ext cx="10969200" cy="705600"/>
          </a:xfrm>
        </p:spPr>
        <p:txBody>
          <a:bodyPr>
            <a:noAutofit/>
          </a:bodyPr>
          <a:lstStyle/>
          <a:p>
            <a:pPr algn="ctr"/>
            <a:r>
              <a:rPr lang="zh-CN" altLang="en-US" sz="4400" b="0">
                <a:latin typeface="Times New Roman" panose="02020603050405020304" pitchFamily="18" charset="0"/>
                <a:cs typeface="Times New Roman" panose="02020603050405020304" pitchFamily="18" charset="0"/>
              </a:rPr>
              <a:t>The formmethod Attribute</a:t>
            </a:r>
            <a:endParaRPr lang="zh-CN" altLang="en-US" sz="4400" b="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97177" y="1161926"/>
            <a:ext cx="10969200" cy="4759200"/>
          </a:xfrm>
        </p:spPr>
        <p:txBody>
          <a:bodyPr>
            <a:normAutofit/>
          </a:bodyPr>
          <a:lstStyle/>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formmethod attribute defines the HTTP method for sending form-data to the action URL.</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formmethod attribute overrides the method attribute of the &lt;form&gt;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formmethod attribute can be used with type="submit" and type="image".</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697177" y="5100227"/>
            <a:ext cx="6065520" cy="1493520"/>
          </a:xfrm>
          <a:prstGeom prst="rect">
            <a:avLst/>
          </a:prstGeom>
        </p:spPr>
      </p:pic>
      <p:pic>
        <p:nvPicPr>
          <p:cNvPr id="5" name="图片 4"/>
          <p:cNvPicPr>
            <a:picLocks noChangeAspect="1"/>
          </p:cNvPicPr>
          <p:nvPr/>
        </p:nvPicPr>
        <p:blipFill>
          <a:blip r:embed="rId4"/>
          <a:stretch>
            <a:fillRect/>
          </a:stretch>
        </p:blipFill>
        <p:spPr>
          <a:xfrm>
            <a:off x="7307522" y="5668069"/>
            <a:ext cx="3771429" cy="752381"/>
          </a:xfrm>
          <a:prstGeom prst="rect">
            <a:avLst/>
          </a:prstGeom>
        </p:spPr>
      </p:pic>
      <p:sp>
        <p:nvSpPr>
          <p:cNvPr id="6" name="矩形 5"/>
          <p:cNvSpPr/>
          <p:nvPr/>
        </p:nvSpPr>
        <p:spPr>
          <a:xfrm>
            <a:off x="760482" y="4022986"/>
            <a:ext cx="10905895"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The </a:t>
            </a:r>
            <a:r>
              <a:rPr kumimoji="0" lang="en-US" altLang="zh-CN"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second submit button overrides the HTTP method of the form:</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501868" y="349902"/>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formnovalidate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267438"/>
            <a:ext cx="10969200" cy="2688809"/>
          </a:xfrm>
        </p:spPr>
        <p:txBody>
          <a:bodyPr>
            <a:noAutofit/>
          </a:bodyPr>
          <a:lstStyle/>
          <a:p>
            <a:pPr>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novalidate attribute is a boolean attribute.</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When present, it specifies that the &lt;input&gt; element should not be validated when submitted.</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formnovalidate attribute overrides the novalidate attribute of the &lt;form&gt;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formnovalidate attribute can be used with type="submit".</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sp>
        <p:nvSpPr>
          <p:cNvPr id="4" name="矩形 3"/>
          <p:cNvSpPr/>
          <p:nvPr/>
        </p:nvSpPr>
        <p:spPr>
          <a:xfrm>
            <a:off x="657637" y="4327396"/>
            <a:ext cx="106094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t>
            </a:r>
            <a:r>
              <a:rPr kumimoji="0" lang="zh-CN" altLang="en-US"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a:t>
            </a: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form with two submit buttons (with and without validation):</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380585" y="5284372"/>
            <a:ext cx="7855585" cy="1315720"/>
          </a:xfrm>
          <a:prstGeom prst="rect">
            <a:avLst/>
          </a:prstGeom>
        </p:spPr>
      </p:pic>
      <p:pic>
        <p:nvPicPr>
          <p:cNvPr id="6" name="图片 5"/>
          <p:cNvPicPr>
            <a:picLocks noChangeAspect="1"/>
          </p:cNvPicPr>
          <p:nvPr/>
        </p:nvPicPr>
        <p:blipFill>
          <a:blip r:embed="rId4"/>
          <a:stretch>
            <a:fillRect/>
          </a:stretch>
        </p:blipFill>
        <p:spPr>
          <a:xfrm>
            <a:off x="8463985" y="5621876"/>
            <a:ext cx="3552381" cy="809524"/>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244416"/>
            <a:ext cx="10969200" cy="705600"/>
          </a:xfrm>
        </p:spPr>
        <p:txBody>
          <a:bodyPr>
            <a:noAutofit/>
          </a:bodyPr>
          <a:lstStyle/>
          <a:p>
            <a:pPr algn="ctr"/>
            <a:r>
              <a:rPr lang="zh-CN" altLang="en-US" sz="4400" b="0" dirty="0">
                <a:solidFill>
                  <a:schemeClr val="bg1"/>
                </a:solidFill>
                <a:latin typeface="Times New Roman" panose="02020603050405020304" pitchFamily="18" charset="0"/>
                <a:cs typeface="Times New Roman" panose="02020603050405020304" pitchFamily="18" charset="0"/>
              </a:rPr>
              <a:t>The formtarget Attribute</a:t>
            </a:r>
            <a:endParaRPr lang="zh-CN" altLang="en-US" sz="4400" b="0" dirty="0">
              <a:solidFill>
                <a:schemeClr val="bg1"/>
              </a:solidFill>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478301" y="1259581"/>
            <a:ext cx="11458135" cy="3038099"/>
          </a:xfrm>
        </p:spPr>
        <p:txBody>
          <a:bodyPr>
            <a:noAutofit/>
          </a:bodyPr>
          <a:lstStyle/>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formtarget attribute specifies a name or a keyword that indicates where to display the response that is received after submitting the form.</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formtarget attribute overrides the target attribute of the &lt;form&gt;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formtarget attribute can be used with type="submit" and type="image".</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697176" y="4895891"/>
            <a:ext cx="5681980" cy="1845310"/>
          </a:xfrm>
          <a:prstGeom prst="rect">
            <a:avLst/>
          </a:prstGeom>
        </p:spPr>
      </p:pic>
      <p:pic>
        <p:nvPicPr>
          <p:cNvPr id="6" name="图片 5"/>
          <p:cNvPicPr>
            <a:picLocks noChangeAspect="1"/>
          </p:cNvPicPr>
          <p:nvPr/>
        </p:nvPicPr>
        <p:blipFill>
          <a:blip r:embed="rId4"/>
          <a:stretch>
            <a:fillRect/>
          </a:stretch>
        </p:blipFill>
        <p:spPr>
          <a:xfrm>
            <a:off x="7489658" y="5607080"/>
            <a:ext cx="3419048" cy="752381"/>
          </a:xfrm>
          <a:prstGeom prst="rect">
            <a:avLst/>
          </a:prstGeom>
        </p:spPr>
      </p:pic>
      <p:sp>
        <p:nvSpPr>
          <p:cNvPr id="7" name="内容占位符 1"/>
          <p:cNvSpPr txBox="1"/>
          <p:nvPr>
            <p:custDataLst>
              <p:tags r:id="rId5"/>
            </p:custDataLst>
          </p:nvPr>
        </p:nvSpPr>
        <p:spPr>
          <a:xfrm>
            <a:off x="608400" y="4311614"/>
            <a:ext cx="10969200" cy="427177"/>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Lst>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bg1">
                    <a:lumMod val="8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a:pPr>
            <a:r>
              <a:rPr kumimoji="0" lang="en-US" altLang="zh-CN" sz="2400" b="0" i="0" u="none" strike="noStrike" kern="1200" cap="none" spc="15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Example: </a:t>
            </a:r>
            <a:r>
              <a:rPr kumimoji="0" lang="zh-CN" altLang="en-US" sz="2400" b="0" i="0" u="none" strike="noStrike" kern="1200" cap="none" spc="15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A form with two submit buttons, with different target windows:</a:t>
            </a:r>
            <a:endParaRPr kumimoji="0" lang="zh-CN" altLang="en-US" sz="2400" b="0" i="0" u="none" strike="noStrike" kern="1200" cap="none" spc="15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88299" y="164516"/>
            <a:ext cx="10969200" cy="705600"/>
          </a:xfrm>
        </p:spPr>
        <p:txBody>
          <a:bodyPr>
            <a:noAutofit/>
          </a:bodyPr>
          <a:lstStyle/>
          <a:p>
            <a:pPr algn="ctr"/>
            <a:r>
              <a:rPr lang="zh-CN" altLang="en-US" sz="4000" b="0" dirty="0">
                <a:latin typeface="Times New Roman" panose="02020603050405020304" pitchFamily="18" charset="0"/>
                <a:cs typeface="Times New Roman" panose="02020603050405020304" pitchFamily="18" charset="0"/>
              </a:rPr>
              <a:t>The height and width Attributes</a:t>
            </a:r>
            <a:endParaRPr lang="zh-CN" altLang="en-US" sz="40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88299" y="1025897"/>
            <a:ext cx="10969200" cy="2001935"/>
          </a:xfrm>
        </p:spPr>
        <p:txBody>
          <a:bodyPr/>
          <a:lstStyle/>
          <a:p>
            <a:pPr>
              <a:lnSpc>
                <a:spcPct val="100000"/>
              </a:lnSpc>
              <a:spcAft>
                <a:spcPts val="0"/>
              </a:spcAft>
            </a:pPr>
            <a:r>
              <a:rPr lang="zh-CN" altLang="en-US" sz="2400" dirty="0">
                <a:solidFill>
                  <a:schemeClr val="bg1"/>
                </a:solidFill>
                <a:latin typeface="Times New Roman" panose="02020603050405020304" pitchFamily="18" charset="0"/>
                <a:cs typeface="Times New Roman" panose="02020603050405020304" pitchFamily="18" charset="0"/>
              </a:rPr>
              <a:t>The height and width attributes specify the height and width of an &lt;input&gt; element.</a:t>
            </a:r>
            <a:endParaRPr lang="zh-CN" altLang="en-US" sz="2400" dirty="0">
              <a:solidFill>
                <a:schemeClr val="bg1"/>
              </a:solidFill>
              <a:latin typeface="Times New Roman" panose="02020603050405020304" pitchFamily="18" charset="0"/>
              <a:cs typeface="Times New Roman" panose="02020603050405020304" pitchFamily="18" charset="0"/>
            </a:endParaRPr>
          </a:p>
          <a:p>
            <a:pPr>
              <a:lnSpc>
                <a:spcPct val="100000"/>
              </a:lnSpc>
              <a:spcAft>
                <a:spcPts val="0"/>
              </a:spcAft>
            </a:pPr>
            <a:r>
              <a:rPr lang="zh-CN" altLang="en-US" sz="2400" dirty="0">
                <a:solidFill>
                  <a:schemeClr val="bg1"/>
                </a:solidFill>
                <a:latin typeface="Times New Roman" panose="02020603050405020304" pitchFamily="18" charset="0"/>
                <a:cs typeface="Times New Roman" panose="02020603050405020304" pitchFamily="18" charset="0"/>
              </a:rPr>
              <a:t>The height and width attributes are only used with &lt;input type="image"&gt;.</a:t>
            </a:r>
            <a:endParaRPr lang="zh-CN" altLang="en-US" sz="2400" dirty="0">
              <a:solidFill>
                <a:schemeClr val="bg1"/>
              </a:solidFill>
              <a:latin typeface="Times New Roman" panose="02020603050405020304" pitchFamily="18" charset="0"/>
              <a:cs typeface="Times New Roman" panose="02020603050405020304" pitchFamily="18" charset="0"/>
            </a:endParaRPr>
          </a:p>
          <a:p>
            <a:pPr>
              <a:lnSpc>
                <a:spcPct val="100000"/>
              </a:lnSpc>
              <a:spcAft>
                <a:spcPts val="0"/>
              </a:spcAft>
            </a:pPr>
            <a:r>
              <a:rPr lang="zh-CN" altLang="en-US" sz="2400" dirty="0">
                <a:solidFill>
                  <a:schemeClr val="bg1"/>
                </a:solidFill>
                <a:latin typeface="Times New Roman" panose="02020603050405020304" pitchFamily="18" charset="0"/>
                <a:cs typeface="Times New Roman" panose="02020603050405020304" pitchFamily="18" charset="0"/>
              </a:rPr>
              <a:t>Always specify the size of images. If the browser does not know the size, the page will flicker while images load.</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sp>
        <p:nvSpPr>
          <p:cNvPr id="6" name="矩形 5"/>
          <p:cNvSpPr/>
          <p:nvPr/>
        </p:nvSpPr>
        <p:spPr>
          <a:xfrm>
            <a:off x="5104381" y="5923198"/>
            <a:ext cx="6096000" cy="707886"/>
          </a:xfrm>
          <a:prstGeom prst="rect">
            <a:avLst/>
          </a:prstGeom>
        </p:spPr>
        <p:txBody>
          <a:bodyPr>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Note:</a:t>
            </a:r>
            <a:r>
              <a:rPr kumimoji="0" lang="en-US" altLang="zh-CN" sz="20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The input type="image" sends the X and Y coordinates of the click that activated the image button.</a:t>
            </a:r>
            <a:endParaRPr kumimoji="0" lang="zh-CN" altLang="en-US" sz="20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3"/>
          <a:stretch>
            <a:fillRect/>
          </a:stretch>
        </p:blipFill>
        <p:spPr>
          <a:xfrm>
            <a:off x="508321" y="5512386"/>
            <a:ext cx="3419048" cy="1057143"/>
          </a:xfrm>
          <a:prstGeom prst="rect">
            <a:avLst/>
          </a:prstGeom>
        </p:spPr>
      </p:pic>
      <p:pic>
        <p:nvPicPr>
          <p:cNvPr id="8" name="图片 7"/>
          <p:cNvPicPr>
            <a:picLocks noChangeAspect="1"/>
          </p:cNvPicPr>
          <p:nvPr/>
        </p:nvPicPr>
        <p:blipFill>
          <a:blip r:embed="rId4"/>
          <a:stretch>
            <a:fillRect/>
          </a:stretch>
        </p:blipFill>
        <p:spPr>
          <a:xfrm>
            <a:off x="4624649" y="3349626"/>
            <a:ext cx="7314286" cy="2257143"/>
          </a:xfrm>
          <a:prstGeom prst="rect">
            <a:avLst/>
          </a:prstGeom>
        </p:spPr>
      </p:pic>
      <p:sp>
        <p:nvSpPr>
          <p:cNvPr id="9" name="矩形 8"/>
          <p:cNvSpPr/>
          <p:nvPr/>
        </p:nvSpPr>
        <p:spPr>
          <a:xfrm>
            <a:off x="384699" y="3640573"/>
            <a:ext cx="3938727" cy="120032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err="1"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Example:Define</a:t>
            </a:r>
            <a:r>
              <a:rPr kumimoji="0" lang="en-US" altLang="zh-CN" sz="24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an image as the submit button, with height and width attributes:</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137883"/>
            <a:ext cx="10969200" cy="705600"/>
          </a:xfrm>
        </p:spPr>
        <p:txBody>
          <a:bodyPr>
            <a:noAutofit/>
          </a:bodyPr>
          <a:lstStyle/>
          <a:p>
            <a:pPr algn="ctr"/>
            <a:r>
              <a:rPr lang="zh-CN" altLang="en-US" sz="4000" b="0" spc="150" dirty="0">
                <a:latin typeface="Times New Roman" panose="02020603050405020304" pitchFamily="18" charset="0"/>
                <a:cs typeface="Times New Roman" panose="02020603050405020304" pitchFamily="18" charset="0"/>
              </a:rPr>
              <a:t>The min and max Attributes</a:t>
            </a:r>
            <a:endParaRPr lang="zh-CN" altLang="en-US" sz="4000" b="0" spc="15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084007"/>
            <a:ext cx="10969200" cy="2247099"/>
          </a:xfrm>
        </p:spPr>
        <p:txBody>
          <a:bodyPr>
            <a:noAutofit/>
          </a:bodyPr>
          <a:lstStyle/>
          <a:p>
            <a:pPr>
              <a:lnSpc>
                <a:spcPct val="100000"/>
              </a:lnSpc>
            </a:pPr>
            <a:r>
              <a:rPr lang="zh-CN" altLang="en-US" sz="2800" dirty="0">
                <a:solidFill>
                  <a:schemeClr val="bg1"/>
                </a:solidFill>
                <a:latin typeface="Times New Roman" panose="02020603050405020304" pitchFamily="18" charset="0"/>
                <a:cs typeface="Times New Roman" panose="02020603050405020304" pitchFamily="18" charset="0"/>
              </a:rPr>
              <a:t>The min and max attributes specify the minimum and maximum value for an &lt;input&gt;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nSpc>
                <a:spcPct val="100000"/>
              </a:lnSpc>
            </a:pPr>
            <a:r>
              <a:rPr lang="zh-CN" altLang="en-US" sz="2800" dirty="0">
                <a:solidFill>
                  <a:schemeClr val="bg1"/>
                </a:solidFill>
                <a:latin typeface="Times New Roman" panose="02020603050405020304" pitchFamily="18" charset="0"/>
                <a:cs typeface="Times New Roman" panose="02020603050405020304" pitchFamily="18" charset="0"/>
              </a:rPr>
              <a:t>The min and max attributes work with the following input types: number, range, date, datetime, datetime-local, month, time and week.</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813030" y="4444497"/>
            <a:ext cx="5410200" cy="1991995"/>
          </a:xfrm>
          <a:prstGeom prst="rect">
            <a:avLst/>
          </a:prstGeom>
        </p:spPr>
      </p:pic>
      <p:pic>
        <p:nvPicPr>
          <p:cNvPr id="5" name="图片 4"/>
          <p:cNvPicPr>
            <a:picLocks noChangeAspect="1"/>
          </p:cNvPicPr>
          <p:nvPr/>
        </p:nvPicPr>
        <p:blipFill>
          <a:blip r:embed="rId4"/>
          <a:stretch>
            <a:fillRect/>
          </a:stretch>
        </p:blipFill>
        <p:spPr>
          <a:xfrm>
            <a:off x="7053554" y="4789155"/>
            <a:ext cx="4314286" cy="1076190"/>
          </a:xfrm>
          <a:prstGeom prst="rect">
            <a:avLst/>
          </a:prstGeom>
        </p:spPr>
      </p:pic>
      <p:sp>
        <p:nvSpPr>
          <p:cNvPr id="6" name="矩形 5"/>
          <p:cNvSpPr/>
          <p:nvPr/>
        </p:nvSpPr>
        <p:spPr>
          <a:xfrm>
            <a:off x="742600" y="3656969"/>
            <a:ext cx="676018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Example:&lt;input</a:t>
            </a:r>
            <a:r>
              <a:rPr kumimoji="0"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elements with min and max values:</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22070"/>
            <a:ext cx="10969200" cy="705600"/>
          </a:xfrm>
        </p:spPr>
        <p:txBody>
          <a:bodyPr>
            <a:noAutofit/>
          </a:bodyPr>
          <a:lstStyle/>
          <a:p>
            <a:pPr algn="ctr"/>
            <a:r>
              <a:rPr lang="zh-CN" altLang="en-US" sz="4400" b="0">
                <a:latin typeface="Times New Roman" panose="02020603050405020304" pitchFamily="18" charset="0"/>
                <a:cs typeface="Times New Roman" panose="02020603050405020304" pitchFamily="18" charset="0"/>
              </a:rPr>
              <a:t>The multiple Attribute</a:t>
            </a:r>
            <a:endParaRPr lang="zh-CN" altLang="en-US" sz="4400" b="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241825"/>
            <a:ext cx="10969200" cy="2113934"/>
          </a:xfrm>
        </p:spPr>
        <p:txBody>
          <a:bodyPr>
            <a:noAutofit/>
          </a:bodyPr>
          <a:lstStyle/>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multiple attribute is a boolean attribute</a:t>
            </a:r>
            <a:r>
              <a:rPr lang="zh-CN" altLang="en-US" sz="2800" dirty="0" smtClean="0">
                <a:solidFill>
                  <a:schemeClr val="bg1"/>
                </a:solidFill>
                <a:latin typeface="Times New Roman" panose="02020603050405020304" pitchFamily="18" charset="0"/>
                <a:cs typeface="Times New Roman" panose="02020603050405020304" pitchFamily="18" charset="0"/>
              </a:rPr>
              <a:t>. </a:t>
            </a:r>
            <a:r>
              <a:rPr lang="en-US" altLang="zh-CN" sz="2800" dirty="0">
                <a:solidFill>
                  <a:schemeClr val="bg1"/>
                </a:solidFill>
                <a:latin typeface="Times New Roman" panose="02020603050405020304" pitchFamily="18" charset="0"/>
                <a:cs typeface="Times New Roman" panose="02020603050405020304" pitchFamily="18" charset="0"/>
              </a:rPr>
              <a:t>I</a:t>
            </a:r>
            <a:r>
              <a:rPr lang="zh-CN" altLang="en-US" sz="2800" dirty="0" smtClean="0">
                <a:solidFill>
                  <a:schemeClr val="bg1"/>
                </a:solidFill>
                <a:latin typeface="Times New Roman" panose="02020603050405020304" pitchFamily="18" charset="0"/>
                <a:cs typeface="Times New Roman" panose="02020603050405020304" pitchFamily="18" charset="0"/>
              </a:rPr>
              <a:t>t </a:t>
            </a:r>
            <a:r>
              <a:rPr lang="zh-CN" altLang="en-US" sz="2800" dirty="0">
                <a:solidFill>
                  <a:schemeClr val="bg1"/>
                </a:solidFill>
                <a:latin typeface="Times New Roman" panose="02020603050405020304" pitchFamily="18" charset="0"/>
                <a:cs typeface="Times New Roman" panose="02020603050405020304" pitchFamily="18" charset="0"/>
              </a:rPr>
              <a:t>specifies that the user is allowed to enter more than one value in the &lt;input&gt; element.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600"/>
              </a:spcAft>
            </a:pPr>
            <a:r>
              <a:rPr lang="zh-CN" altLang="en-US" sz="2800" dirty="0">
                <a:solidFill>
                  <a:schemeClr val="bg1"/>
                </a:solidFill>
                <a:latin typeface="Times New Roman" panose="02020603050405020304" pitchFamily="18" charset="0"/>
                <a:cs typeface="Times New Roman" panose="02020603050405020304" pitchFamily="18" charset="0"/>
              </a:rPr>
              <a:t>The multiple attribute works with the following input types: email, and file</a:t>
            </a:r>
            <a:r>
              <a:rPr lang="zh-CN" altLang="en-US" sz="280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303780" y="4692015"/>
            <a:ext cx="7578090" cy="389255"/>
          </a:xfrm>
          <a:prstGeom prst="rect">
            <a:avLst/>
          </a:prstGeom>
        </p:spPr>
      </p:pic>
      <p:sp>
        <p:nvSpPr>
          <p:cNvPr id="5" name="矩形 4"/>
          <p:cNvSpPr/>
          <p:nvPr/>
        </p:nvSpPr>
        <p:spPr>
          <a:xfrm>
            <a:off x="763145" y="3788241"/>
            <a:ext cx="7231147"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 </a:t>
            </a:r>
            <a:r>
              <a:rPr kumimoji="0"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file upload field that accepts multiple values:</a:t>
            </a:r>
            <a:endParaRPr kumimoji="0" lang="zh-CN" altLang="en-US" sz="24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2303780" y="5457624"/>
            <a:ext cx="4400000" cy="409524"/>
          </a:xfrm>
          <a:prstGeom prst="rect">
            <a:avLst/>
          </a:prstGeom>
        </p:spPr>
      </p:pic>
      <p:sp>
        <p:nvSpPr>
          <p:cNvPr id="7" name="矩形 6"/>
          <p:cNvSpPr/>
          <p:nvPr/>
        </p:nvSpPr>
        <p:spPr>
          <a:xfrm>
            <a:off x="2253315" y="6232860"/>
            <a:ext cx="63064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smtClean="0">
                <a:ln>
                  <a:noFill/>
                </a:ln>
                <a:solidFill>
                  <a:srgbClr val="FFFF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Tip: the user can select </a:t>
            </a:r>
            <a:r>
              <a:rPr kumimoji="0" lang="en-US" altLang="zh-CN" sz="1800" b="0" i="0" u="none" strike="noStrike" kern="1200" cap="none" spc="0" normalizeH="0" baseline="0" noProof="0">
                <a:ln>
                  <a:noFill/>
                </a:ln>
                <a:solidFill>
                  <a:srgbClr val="FFFF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more than one file when browsing for files</a:t>
            </a:r>
            <a:endParaRPr kumimoji="0" lang="zh-CN" altLang="en-US" sz="1800" b="0" i="0" u="none" strike="noStrike" kern="1200" cap="none" spc="0" normalizeH="0" baseline="0" noProof="0">
              <a:ln>
                <a:noFill/>
              </a:ln>
              <a:solidFill>
                <a:srgbClr val="FFFF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319160" y="1390651"/>
            <a:ext cx="11532871" cy="2808488"/>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0"/>
              </a:spcBef>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pattern attribute specifies a regular expression that the &lt;input&gt; element's value is checked against.</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914400" rtl="0" eaLnBrk="1" fontAlgn="auto" latinLnBrk="0" hangingPunct="1">
              <a:lnSpc>
                <a:spcPct val="100000"/>
              </a:lnSpc>
              <a:spcBef>
                <a:spcPts val="0"/>
              </a:spcBef>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pattern attribute works with the following input types: text, search, url, tel, email, and password.</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914400" rtl="0" eaLnBrk="1" fontAlgn="auto" latinLnBrk="0" hangingPunct="1">
              <a:lnSpc>
                <a:spcPct val="100000"/>
              </a:lnSpc>
              <a:spcBef>
                <a:spcPts val="0"/>
              </a:spcBef>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Tip: Use the global title attribute to describe the pattern to help the user.</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914400" rtl="0" eaLnBrk="1" fontAlgn="auto" latinLnBrk="0" hangingPunct="1">
              <a:lnSpc>
                <a:spcPct val="100000"/>
              </a:lnSpc>
              <a:spcBef>
                <a:spcPts val="0"/>
              </a:spcBef>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Tip: Learn more about regular expressions in our JavaScript tutorial.</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8" name="文本框 17"/>
          <p:cNvSpPr txBox="1"/>
          <p:nvPr>
            <p:custDataLst>
              <p:tags r:id="rId2"/>
            </p:custDataLst>
          </p:nvPr>
        </p:nvSpPr>
        <p:spPr>
          <a:xfrm>
            <a:off x="2268855" y="-397510"/>
            <a:ext cx="7654290" cy="1502410"/>
          </a:xfrm>
          <a:prstGeom prst="rect">
            <a:avLst/>
          </a:prstGeom>
          <a:noFill/>
        </p:spPr>
        <p:txBody>
          <a:bodyPr wrap="square" rtlCol="0" anchor="b" anchorCtr="0">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20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pattern Attribute</a:t>
            </a:r>
            <a:endParaRPr kumimoji="0" lang="en-US" altLang="zh-CN" sz="4400" b="0" i="0" u="none" strike="noStrike" kern="1200" cap="none" spc="20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pic>
        <p:nvPicPr>
          <p:cNvPr id="5" name="图片 4"/>
          <p:cNvPicPr>
            <a:picLocks noChangeAspect="1"/>
          </p:cNvPicPr>
          <p:nvPr/>
        </p:nvPicPr>
        <p:blipFill>
          <a:blip r:embed="rId3"/>
          <a:stretch>
            <a:fillRect/>
          </a:stretch>
        </p:blipFill>
        <p:spPr>
          <a:xfrm>
            <a:off x="319160" y="5428355"/>
            <a:ext cx="11692097" cy="479724"/>
          </a:xfrm>
          <a:prstGeom prst="rect">
            <a:avLst/>
          </a:prstGeom>
        </p:spPr>
      </p:pic>
      <p:sp>
        <p:nvSpPr>
          <p:cNvPr id="2" name="矩形 1"/>
          <p:cNvSpPr/>
          <p:nvPr/>
        </p:nvSpPr>
        <p:spPr>
          <a:xfrm>
            <a:off x="319160" y="4315451"/>
            <a:ext cx="11692097" cy="954107"/>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An </a:t>
            </a:r>
            <a:r>
              <a:rPr kumimoji="0" lang="en-US" altLang="zh-CN"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input field that can contain only three letters (no numbers or special characters):</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3255767" y="6178918"/>
            <a:ext cx="5964763" cy="524539"/>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295025"/>
            <a:ext cx="10969200" cy="705600"/>
          </a:xfrm>
        </p:spPr>
        <p:txBody>
          <a:bodyPr>
            <a:noAutofit/>
          </a:bodyPr>
          <a:lstStyle/>
          <a:p>
            <a:pPr algn="ctr"/>
            <a:r>
              <a:rPr lang="zh-CN" altLang="en-US" sz="4400" b="0">
                <a:solidFill>
                  <a:schemeClr val="bg1"/>
                </a:solidFill>
                <a:latin typeface="Times New Roman" panose="02020603050405020304" pitchFamily="18" charset="0"/>
                <a:cs typeface="Times New Roman" panose="02020603050405020304" pitchFamily="18" charset="0"/>
              </a:rPr>
              <a:t>The placeholder Attribute</a:t>
            </a:r>
            <a:endParaRPr lang="zh-CN" altLang="en-US" sz="4400" b="0">
              <a:solidFill>
                <a:schemeClr val="bg1"/>
              </a:solidFill>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523992" y="1180910"/>
            <a:ext cx="11447613" cy="2891687"/>
          </a:xfrm>
        </p:spPr>
        <p:txBody>
          <a:bodyPr>
            <a:normAutofit/>
          </a:bodyPr>
          <a:lstStyle/>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placeholder attribute specifies a hint that describes the expected value of an input field (a sample value or a short description of the format).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hint is displayed in the input field before the user enters a value.</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placeholder attribute works with the following input types: text, search, url, tel, email, and password.</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1033048" y="4649645"/>
            <a:ext cx="10470827" cy="562435"/>
          </a:xfrm>
          <a:prstGeom prst="rect">
            <a:avLst/>
          </a:prstGeom>
        </p:spPr>
      </p:pic>
      <p:sp>
        <p:nvSpPr>
          <p:cNvPr id="5" name="矩形 4"/>
          <p:cNvSpPr/>
          <p:nvPr/>
        </p:nvSpPr>
        <p:spPr>
          <a:xfrm>
            <a:off x="608400" y="3926586"/>
            <a:ext cx="7006470"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An </a:t>
            </a:r>
            <a:r>
              <a:rPr kumimoji="0" lang="en-US" altLang="zh-CN"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input field with a placeholder text</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4045381" y="5327513"/>
            <a:ext cx="3782394" cy="138981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460500"/>
            <a:ext cx="10969200" cy="705600"/>
          </a:xfrm>
        </p:spPr>
        <p:txBody>
          <a:bodyPr>
            <a:noAutofit/>
          </a:bodyPr>
          <a:lstStyle/>
          <a:p>
            <a:pPr algn="ctr"/>
            <a:r>
              <a:rPr lang="zh-CN" altLang="en-US" sz="4400" b="0" dirty="0">
                <a:latin typeface="Times New Roman" panose="02020603050405020304" pitchFamily="18" charset="0"/>
                <a:cs typeface="Times New Roman" panose="02020603050405020304" pitchFamily="18" charset="0"/>
              </a:rPr>
              <a:t>The required Attribute</a:t>
            </a:r>
            <a:endParaRPr lang="zh-CN" altLang="en-US" sz="4400" b="0" dirty="0">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608400" y="1363791"/>
            <a:ext cx="11138123" cy="2297444"/>
          </a:xfrm>
        </p:spPr>
        <p:txBody>
          <a:bodyPr>
            <a:noAutofit/>
          </a:bodyPr>
          <a:lstStyle/>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required attribute is a boolean attribute</a:t>
            </a:r>
            <a:r>
              <a:rPr lang="zh-CN" altLang="en-US" sz="2800" dirty="0" smtClean="0">
                <a:solidFill>
                  <a:schemeClr val="bg1"/>
                </a:solidFill>
                <a:latin typeface="Times New Roman" panose="02020603050405020304" pitchFamily="18" charset="0"/>
                <a:cs typeface="Times New Roman" panose="02020603050405020304" pitchFamily="18" charset="0"/>
              </a:rPr>
              <a:t>.</a:t>
            </a:r>
            <a:r>
              <a:rPr lang="en-US" altLang="zh-CN" sz="2800" dirty="0" smtClean="0">
                <a:solidFill>
                  <a:schemeClr val="bg1"/>
                </a:solidFill>
                <a:latin typeface="Times New Roman" panose="02020603050405020304" pitchFamily="18" charset="0"/>
                <a:cs typeface="Times New Roman" panose="02020603050405020304" pitchFamily="18" charset="0"/>
              </a:rPr>
              <a:t>I</a:t>
            </a:r>
            <a:r>
              <a:rPr lang="zh-CN" altLang="en-US" sz="2800" dirty="0" smtClean="0">
                <a:solidFill>
                  <a:schemeClr val="bg1"/>
                </a:solidFill>
                <a:latin typeface="Times New Roman" panose="02020603050405020304" pitchFamily="18" charset="0"/>
                <a:cs typeface="Times New Roman" panose="02020603050405020304" pitchFamily="18" charset="0"/>
              </a:rPr>
              <a:t>t </a:t>
            </a:r>
            <a:r>
              <a:rPr lang="zh-CN" altLang="en-US" sz="2800" dirty="0">
                <a:solidFill>
                  <a:schemeClr val="bg1"/>
                </a:solidFill>
                <a:latin typeface="Times New Roman" panose="02020603050405020304" pitchFamily="18" charset="0"/>
                <a:cs typeface="Times New Roman" panose="02020603050405020304" pitchFamily="18" charset="0"/>
              </a:rPr>
              <a:t>specifies that an input field must be filled out before submitting the form.</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lnSpc>
                <a:spcPct val="100000"/>
              </a:lnSpc>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required attribute works with the following input types: text, search, url, tel, email, password, date pickers, number, checkbox, radio, and </a:t>
            </a:r>
            <a:r>
              <a:rPr lang="zh-CN" altLang="en-US" sz="2800" dirty="0" smtClean="0">
                <a:solidFill>
                  <a:schemeClr val="bg1"/>
                </a:solidFill>
                <a:latin typeface="Times New Roman" panose="02020603050405020304" pitchFamily="18" charset="0"/>
                <a:cs typeface="Times New Roman" panose="02020603050405020304" pitchFamily="18" charset="0"/>
              </a:rPr>
              <a:t>file.</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608400" y="4604110"/>
            <a:ext cx="11276827" cy="565767"/>
          </a:xfrm>
          <a:prstGeom prst="rect">
            <a:avLst/>
          </a:prstGeom>
        </p:spPr>
      </p:pic>
      <p:pic>
        <p:nvPicPr>
          <p:cNvPr id="5" name="图片 4"/>
          <p:cNvPicPr>
            <a:picLocks noChangeAspect="1"/>
          </p:cNvPicPr>
          <p:nvPr/>
        </p:nvPicPr>
        <p:blipFill>
          <a:blip r:embed="rId4"/>
          <a:stretch>
            <a:fillRect/>
          </a:stretch>
        </p:blipFill>
        <p:spPr>
          <a:xfrm>
            <a:off x="2260557" y="5744090"/>
            <a:ext cx="7664886" cy="867723"/>
          </a:xfrm>
          <a:prstGeom prst="rect">
            <a:avLst/>
          </a:prstGeom>
        </p:spPr>
      </p:pic>
      <p:sp>
        <p:nvSpPr>
          <p:cNvPr id="6" name="矩形 5"/>
          <p:cNvSpPr/>
          <p:nvPr/>
        </p:nvSpPr>
        <p:spPr>
          <a:xfrm>
            <a:off x="797355" y="3797895"/>
            <a:ext cx="4827412"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smtClean="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Example: </a:t>
            </a:r>
            <a:r>
              <a:rPr kumimoji="0" lang="en-US" altLang="zh-CN"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required input field:</a:t>
            </a:r>
            <a:endParaRPr kumimoji="0" lang="zh-CN" altLang="en-US" sz="2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334080"/>
            <a:ext cx="10969200" cy="705600"/>
          </a:xfrm>
        </p:spPr>
        <p:txBody>
          <a:bodyPr>
            <a:noAutofit/>
          </a:bodyPr>
          <a:lstStyle/>
          <a:p>
            <a:pPr algn="ctr"/>
            <a:r>
              <a:rPr lang="zh-CN" altLang="en-US" sz="4400" b="0" dirty="0">
                <a:solidFill>
                  <a:schemeClr val="bg1"/>
                </a:solidFill>
                <a:latin typeface="Times New Roman" panose="02020603050405020304" pitchFamily="18" charset="0"/>
                <a:cs typeface="Times New Roman" panose="02020603050405020304" pitchFamily="18" charset="0"/>
              </a:rPr>
              <a:t>The step Attribute</a:t>
            </a:r>
            <a:endParaRPr lang="zh-CN" altLang="en-US" sz="4400" b="0" dirty="0">
              <a:solidFill>
                <a:schemeClr val="bg1"/>
              </a:solidFill>
              <a:latin typeface="Times New Roman" panose="02020603050405020304" pitchFamily="18" charset="0"/>
              <a:cs typeface="Times New Roman" panose="02020603050405020304" pitchFamily="18" charset="0"/>
            </a:endParaRPr>
          </a:p>
        </p:txBody>
      </p:sp>
      <p:sp>
        <p:nvSpPr>
          <p:cNvPr id="2" name="内容占位符 1"/>
          <p:cNvSpPr>
            <a:spLocks noGrp="1"/>
          </p:cNvSpPr>
          <p:nvPr>
            <p:ph idx="1"/>
            <p:custDataLst>
              <p:tags r:id="rId2"/>
            </p:custDataLst>
          </p:nvPr>
        </p:nvSpPr>
        <p:spPr>
          <a:xfrm>
            <a:off x="407963" y="1039681"/>
            <a:ext cx="11282179" cy="2864104"/>
          </a:xfrm>
        </p:spPr>
        <p:txBody>
          <a:bodyPr>
            <a:noAutofit/>
          </a:bodyPr>
          <a:lstStyle/>
          <a:p>
            <a:pPr algn="just">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The step attribute specifies the legal number intervals for an &lt;input&gt; element</a:t>
            </a:r>
            <a:r>
              <a:rPr lang="zh-CN" altLang="en-US" sz="2800" dirty="0">
                <a:solidFill>
                  <a:schemeClr val="bg1"/>
                </a:solidFill>
                <a:latin typeface="Times New Roman" panose="02020603050405020304" pitchFamily="18" charset="0"/>
                <a:cs typeface="Times New Roman" panose="02020603050405020304" pitchFamily="18" charset="0"/>
              </a:rPr>
              <a:t>. The step attribute works with the following input types: number, range, date, datetime, datetime-local, month, time and week</a:t>
            </a:r>
            <a:r>
              <a:rPr lang="zh-CN" altLang="en-US" sz="2800" dirty="0" smtClean="0">
                <a:solidFill>
                  <a:schemeClr val="bg1"/>
                </a:solidFill>
                <a:latin typeface="Times New Roman" panose="02020603050405020304" pitchFamily="18" charset="0"/>
                <a:cs typeface="Times New Roman" panose="02020603050405020304" pitchFamily="18" charset="0"/>
              </a:rPr>
              <a:t>.</a:t>
            </a:r>
            <a:endParaRPr lang="zh-CN" altLang="en-US" sz="2800" dirty="0">
              <a:solidFill>
                <a:schemeClr val="bg1"/>
              </a:solidFill>
              <a:latin typeface="Times New Roman" panose="02020603050405020304" pitchFamily="18" charset="0"/>
              <a:cs typeface="Times New Roman" panose="02020603050405020304" pitchFamily="18" charset="0"/>
            </a:endParaRPr>
          </a:p>
          <a:p>
            <a:pPr algn="just">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Example: if step="3", legal numbers could be -3, 0, 3, 6, etc</a:t>
            </a:r>
            <a:r>
              <a:rPr lang="zh-CN" altLang="en-US" sz="2800" dirty="0" smtClean="0">
                <a:solidFill>
                  <a:schemeClr val="bg1"/>
                </a:solidFill>
                <a:latin typeface="Times New Roman" panose="02020603050405020304" pitchFamily="18" charset="0"/>
                <a:cs typeface="Times New Roman" panose="02020603050405020304" pitchFamily="18" charset="0"/>
              </a:rPr>
              <a:t>.</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1006230" y="3988192"/>
            <a:ext cx="9544539" cy="567030"/>
          </a:xfrm>
          <a:prstGeom prst="rect">
            <a:avLst/>
          </a:prstGeom>
        </p:spPr>
      </p:pic>
      <p:pic>
        <p:nvPicPr>
          <p:cNvPr id="5" name="图片 4"/>
          <p:cNvPicPr>
            <a:picLocks noChangeAspect="1"/>
          </p:cNvPicPr>
          <p:nvPr/>
        </p:nvPicPr>
        <p:blipFill>
          <a:blip r:embed="rId4"/>
          <a:stretch>
            <a:fillRect/>
          </a:stretch>
        </p:blipFill>
        <p:spPr>
          <a:xfrm>
            <a:off x="3615787" y="4765031"/>
            <a:ext cx="4039054" cy="683075"/>
          </a:xfrm>
          <a:prstGeom prst="rect">
            <a:avLst/>
          </a:prstGeom>
        </p:spPr>
      </p:pic>
      <p:sp>
        <p:nvSpPr>
          <p:cNvPr id="6" name="矩形 5"/>
          <p:cNvSpPr/>
          <p:nvPr/>
        </p:nvSpPr>
        <p:spPr>
          <a:xfrm>
            <a:off x="520894" y="5448106"/>
            <a:ext cx="11056705" cy="954107"/>
          </a:xfrm>
          <a:prstGeom prst="rect">
            <a:avLst/>
          </a:prstGeom>
        </p:spPr>
        <p:txBody>
          <a:bodyPr wrap="square">
            <a:spAutoFit/>
          </a:bodyPr>
          <a:lstStyle/>
          <a:p>
            <a:pPr algn="just">
              <a:spcAft>
                <a:spcPts val="0"/>
              </a:spcAft>
            </a:pPr>
            <a:r>
              <a:rPr lang="zh-CN" altLang="en-US" sz="2800" dirty="0">
                <a:solidFill>
                  <a:schemeClr val="bg1"/>
                </a:solidFill>
                <a:latin typeface="Times New Roman" panose="02020603050405020304" pitchFamily="18" charset="0"/>
                <a:cs typeface="Times New Roman" panose="02020603050405020304" pitchFamily="18" charset="0"/>
              </a:rPr>
              <a:t>Tip: The step attribute can be used together with the max and min attributes to create a range of legal values.</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5"/>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5_1*a*1"/>
  <p:tag name="KSO_WM_TEMPLATE_CATEGORY" val="custom"/>
  <p:tag name="KSO_WM_TEMPLATE_INDEX" val="20205175"/>
  <p:tag name="KSO_WM_UNIT_LAYERLEVEL" val="1"/>
  <p:tag name="KSO_WM_TAG_VERSION" val="1.0"/>
  <p:tag name="KSO_WM_BEAUTIFY_FLAG" val="#wm#"/>
</p:tagLst>
</file>

<file path=ppt/tags/tag63.xml><?xml version="1.0" encoding="utf-8"?>
<p:tagLst xmlns:p="http://schemas.openxmlformats.org/presentationml/2006/main">
  <p:tag name="KSO_WM_SLIDE_ID" val="custom20205175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5"/>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6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66.xml><?xml version="1.0" encoding="utf-8"?>
<p:tagLst xmlns:p="http://schemas.openxmlformats.org/presentationml/2006/main">
  <p:tag name="KSO_WM_UNIT_PLACING_PICTURE_USER_VIEWPORT" val="{&quot;height&quot;:2328,&quot;width&quot;:6792}"/>
</p:tagLst>
</file>

<file path=ppt/tags/tag6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6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6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f*1"/>
  <p:tag name="KSO_WM_TEMPLATE_CATEGORY" val="custom"/>
  <p:tag name="KSO_WM_TEMPLATE_INDEX" val="20205175"/>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a*1"/>
  <p:tag name="KSO_WM_TEMPLATE_CATEGORY" val="custom"/>
  <p:tag name="KSO_WM_TEMPLATE_INDEX" val="20205175"/>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73.xml><?xml version="1.0" encoding="utf-8"?>
<p:tagLst xmlns:p="http://schemas.openxmlformats.org/presentationml/2006/main">
  <p:tag name="KSO_WM_BEAUTIFY_FLAG" val="#wm#"/>
  <p:tag name="KSO_WM_TEMPLATE_CATEGORY" val="custom"/>
  <p:tag name="KSO_WM_TEMPLATE_INDEX" val="20205175"/>
  <p:tag name="KSO_WM_SLIDE_ID" val="custom20205175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7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7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8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9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0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4.xml><?xml version="1.0" encoding="utf-8"?>
<p:tagLst xmlns:p="http://schemas.openxmlformats.org/presentationml/2006/main">
  <p:tag name="KSO_WM_UNIT_PRESET_TEXT" val="单击此处添加正文"/>
  <p:tag name="KSO_WM_UNIT_NOCLEAR" val="0"/>
  <p:tag name="KSO_WM_UNIT_SHOW_EDIT_AREA_INDICATION" val="1"/>
  <p:tag name="KSO_WM_UNIT_VALUE" val="336"/>
  <p:tag name="KSO_WM_UNIT_HIGHLIGHT" val="0"/>
  <p:tag name="KSO_WM_UNIT_COMPATIBLE" val="0"/>
  <p:tag name="KSO_WM_UNIT_DIAGRAM_ISNUMVISUAL" val="0"/>
  <p:tag name="KSO_WM_UNIT_DIAGRAM_ISREFERUNIT" val="0"/>
  <p:tag name="KSO_WM_UNIT_TYPE" val="f"/>
  <p:tag name="KSO_WM_UNIT_INDEX" val="1"/>
  <p:tag name="KSO_WM_UNIT_ID" val="custom20205175_15*f*1"/>
  <p:tag name="KSO_WM_TEMPLATE_CATEGORY" val="custom"/>
  <p:tag name="KSO_WM_TEMPLATE_INDEX" val="20205175"/>
  <p:tag name="KSO_WM_UNIT_LAYERLEVEL" val="1"/>
  <p:tag name="KSO_WM_TAG_VERSION" val="1.0"/>
  <p:tag name="KSO_WM_BEAUTIFY_FLAG" val="#wm#"/>
</p:tagLst>
</file>

<file path=ppt/tags/tag105.xml><?xml version="1.0" encoding="utf-8"?>
<p:tagLst xmlns:p="http://schemas.openxmlformats.org/presentationml/2006/main">
  <p:tag name="KSO_WM_UNIT_PRESET_TEXT" val="单击此处添加正文"/>
  <p:tag name="KSO_WM_UNIT_NOCLEAR" val="0"/>
  <p:tag name="KSO_WM_UNIT_SHOW_EDIT_AREA_INDICATION" val="1"/>
  <p:tag name="KSO_WM_UNIT_VALUE" val="336"/>
  <p:tag name="KSO_WM_UNIT_HIGHLIGHT" val="0"/>
  <p:tag name="KSO_WM_UNIT_COMPATIBLE" val="0"/>
  <p:tag name="KSO_WM_UNIT_DIAGRAM_ISNUMVISUAL" val="0"/>
  <p:tag name="KSO_WM_UNIT_DIAGRAM_ISREFERUNIT" val="0"/>
  <p:tag name="KSO_WM_UNIT_TYPE" val="f"/>
  <p:tag name="KSO_WM_UNIT_INDEX" val="2"/>
  <p:tag name="KSO_WM_UNIT_ID" val="custom20205175_15*f*2"/>
  <p:tag name="KSO_WM_TEMPLATE_CATEGORY" val="custom"/>
  <p:tag name="KSO_WM_TEMPLATE_INDEX" val="20205175"/>
  <p:tag name="KSO_WM_UNIT_LAYERLEVEL" val="1"/>
  <p:tag name="KSO_WM_TAG_VERSION" val="1.0"/>
  <p:tag name="KSO_WM_BEAUTIFY_FLAG" val="#wm#"/>
</p:tagLst>
</file>

<file path=ppt/tags/tag10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5*a*1"/>
  <p:tag name="KSO_WM_TEMPLATE_CATEGORY" val="custom"/>
  <p:tag name="KSO_WM_TEMPLATE_INDEX" val="20205175"/>
  <p:tag name="KSO_WM_UNIT_LAYERLEVEL" val="1"/>
  <p:tag name="KSO_WM_TAG_VERSION" val="1.0"/>
  <p:tag name="KSO_WM_BEAUTIFY_FLAG" val="#wm#"/>
  <p:tag name="KSO_WM_UNIT_ISNUMDGMTITLE" val="0"/>
</p:tagLst>
</file>

<file path=ppt/tags/tag107.xml><?xml version="1.0" encoding="utf-8"?>
<p:tagLst xmlns:p="http://schemas.openxmlformats.org/presentationml/2006/main">
  <p:tag name="KSO_WM_BEAUTIFY_FLAG" val="#wm#"/>
  <p:tag name="KSO_WM_TEMPLATE_CATEGORY" val="custom"/>
  <p:tag name="KSO_WM_TEMPLATE_INDEX" val="20205175"/>
  <p:tag name="KSO_WM_SLIDE_ID" val="custom20205175_15"/>
  <p:tag name="KSO_WM_TEMPLATE_SUBCATEGORY" val="19"/>
  <p:tag name="KSO_WM_TEMPLATE_MASTER_TYPE" val="0"/>
  <p:tag name="KSO_WM_TEMPLATE_COLOR_TYPE" val="1"/>
  <p:tag name="KSO_WM_SLIDE_ITEM_CNT" val="0"/>
  <p:tag name="KSO_WM_SLIDE_INDEX" val="15"/>
  <p:tag name="KSO_WM_TAG_VERSION" val="1.0"/>
  <p:tag name="KSO_WM_SLIDE_TYPE" val="text"/>
  <p:tag name="KSO_WM_SLIDE_SUBTYPE" val="pureTxt"/>
  <p:tag name="KSO_WM_SLIDE_SIZE" val="864*444"/>
  <p:tag name="KSO_WM_SLIDE_POSITION" val="47*47"/>
  <p:tag name="KSO_WM_SLIDE_LAYOUT" val="a_f"/>
  <p:tag name="KSO_WM_SLIDE_LAYOUT_CNT" val="1_2"/>
  <p:tag name="KSO_WM_UNIT_SHOW_EDIT_AREA_INDICATION" val="1"/>
</p:tagLst>
</file>

<file path=ppt/tags/tag10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0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1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1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1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1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2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2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f*1"/>
  <p:tag name="KSO_WM_TEMPLATE_CATEGORY" val="custom"/>
  <p:tag name="KSO_WM_TEMPLATE_INDEX" val="20205175"/>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5175_14*a*1"/>
  <p:tag name="KSO_WM_TEMPLATE_CATEGORY" val="custom"/>
  <p:tag name="KSO_WM_TEMPLATE_INDEX" val="20205175"/>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129.xml><?xml version="1.0" encoding="utf-8"?>
<p:tagLst xmlns:p="http://schemas.openxmlformats.org/presentationml/2006/main">
  <p:tag name="KSO_WM_BEAUTIFY_FLAG" val="#wm#"/>
  <p:tag name="KSO_WM_TEMPLATE_CATEGORY" val="custom"/>
  <p:tag name="KSO_WM_TEMPLATE_INDEX" val="20205175"/>
  <p:tag name="KSO_WM_SLIDE_ID" val="custom20205175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13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3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3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5_13*a*1"/>
  <p:tag name="KSO_WM_TEMPLATE_CATEGORY" val="custom"/>
  <p:tag name="KSO_WM_TEMPLATE_INDEX" val="20205175"/>
  <p:tag name="KSO_WM_UNIT_LAYERLEVEL" val="1"/>
  <p:tag name="KSO_WM_TAG_VERSION" val="1.0"/>
  <p:tag name="KSO_WM_BEAUTIFY_FLAG" val="#wm#"/>
  <p:tag name="KSO_WM_UNIT_ISNUMDGMTITLE" val="0"/>
</p:tagLst>
</file>

<file path=ppt/tags/tag13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5_13*f*1"/>
  <p:tag name="KSO_WM_TEMPLATE_CATEGORY" val="custom"/>
  <p:tag name="KSO_WM_TEMPLATE_INDEX" val="20205175"/>
  <p:tag name="KSO_WM_UNIT_LAYERLEVEL" val="1"/>
  <p:tag name="KSO_WM_TAG_VERSION" val="1.0"/>
  <p:tag name="KSO_WM_BEAUTIFY_FLAG" val="#wm#"/>
</p:tagLst>
</file>

<file path=ppt/tags/tag138.xml><?xml version="1.0" encoding="utf-8"?>
<p:tagLst xmlns:p="http://schemas.openxmlformats.org/presentationml/2006/main">
  <p:tag name="KSO_WM_BEAUTIFY_FLAG" val="#wm#"/>
  <p:tag name="KSO_WM_TEMPLATE_CATEGORY" val="custom"/>
  <p:tag name="KSO_WM_TEMPLATE_INDEX" val="20205175"/>
  <p:tag name="KSO_WM_SLIDE_ID" val="custom20205175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9.xml><?xml version="1.0" encoding="utf-8"?>
<p:tagLst xmlns:p="http://schemas.openxmlformats.org/presentationml/2006/main">
  <p:tag name="commondata" val="eyJoZGlkIjoiNTRkOGIzNjk2ODJjYjgwMzk0ODkwYjk3ZGE3MTA4Y2MifQ=="/>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20036</Words>
  <Application>WPS 演示</Application>
  <PresentationFormat>宽屏</PresentationFormat>
  <Paragraphs>536</Paragraphs>
  <Slides>90</Slides>
  <Notes>2</Notes>
  <HiddenSlides>0</HiddenSlides>
  <MMClips>0</MMClips>
  <ScaleCrop>false</ScaleCrop>
  <HeadingPairs>
    <vt:vector size="6" baseType="variant">
      <vt:variant>
        <vt:lpstr>已用的字体</vt:lpstr>
      </vt:variant>
      <vt:variant>
        <vt:i4>14</vt:i4>
      </vt:variant>
      <vt:variant>
        <vt:lpstr>主题</vt:lpstr>
      </vt:variant>
      <vt:variant>
        <vt:i4>4</vt:i4>
      </vt:variant>
      <vt:variant>
        <vt:lpstr>幻灯片标题</vt:lpstr>
      </vt:variant>
      <vt:variant>
        <vt:i4>90</vt:i4>
      </vt:variant>
    </vt:vector>
  </HeadingPairs>
  <TitlesOfParts>
    <vt:vector size="108" baseType="lpstr">
      <vt:lpstr>Arial</vt:lpstr>
      <vt:lpstr>宋体</vt:lpstr>
      <vt:lpstr>Wingdings</vt:lpstr>
      <vt:lpstr>Calibri</vt:lpstr>
      <vt:lpstr>等线</vt:lpstr>
      <vt:lpstr>微软雅黑</vt:lpstr>
      <vt:lpstr>Wingdings</vt:lpstr>
      <vt:lpstr>Calibri Light</vt:lpstr>
      <vt:lpstr>Arial Unicode MS</vt:lpstr>
      <vt:lpstr>等线 Light</vt:lpstr>
      <vt:lpstr>Times New Roman</vt:lpstr>
      <vt:lpstr>Verdana</vt:lpstr>
      <vt:lpstr>Segoe UI</vt:lpstr>
      <vt:lpstr>Calibri</vt:lpstr>
      <vt:lpstr>Office Theme</vt:lpstr>
      <vt:lpstr>2_Office Theme</vt:lpstr>
      <vt:lpstr>Office 主题​​</vt:lpstr>
      <vt:lpstr>1_Office 主题​​</vt:lpstr>
      <vt:lpstr>HTML ENTITIES</vt:lpstr>
      <vt:lpstr>HTML Entities</vt:lpstr>
      <vt:lpstr>HTML Entities</vt:lpstr>
      <vt:lpstr>Non-breaking Space</vt:lpstr>
      <vt:lpstr>Some Other Useful HTML Character Entities</vt:lpstr>
      <vt:lpstr>How to use these symbols</vt:lpstr>
      <vt:lpstr>HTML Encoding (Character Sets)</vt:lpstr>
      <vt:lpstr>What is Character Encoding?</vt:lpstr>
      <vt:lpstr>How to use the HTML charset？</vt:lpstr>
      <vt:lpstr>About the ASCII Character Set</vt:lpstr>
      <vt:lpstr>About the ISO-8859-1 Character Set</vt:lpstr>
      <vt:lpstr>About the UTF-8 Character Set</vt:lpstr>
      <vt:lpstr>HTML Uniform Resource Locators</vt:lpstr>
      <vt:lpstr>What is URL?</vt:lpstr>
      <vt:lpstr>What is URL?</vt:lpstr>
      <vt:lpstr>What is URL?</vt:lpstr>
      <vt:lpstr>Common URL Schemes</vt:lpstr>
      <vt:lpstr>How to use URL encoding?</vt:lpstr>
      <vt:lpstr>How to use URL encoding?</vt:lpstr>
      <vt:lpstr>HTML FORMS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HTML FORM ELEMENTS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HTML INPUT TYPES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HTML Input Attributes</vt:lpstr>
      <vt:lpstr>The value Attribute</vt:lpstr>
      <vt:lpstr>The readonly Attribute</vt:lpstr>
      <vt:lpstr>PowerPoint 演示文稿</vt:lpstr>
      <vt:lpstr>The size Attribute</vt:lpstr>
      <vt:lpstr>The maxlength Attribute</vt:lpstr>
      <vt:lpstr>HTML5 Attributes</vt:lpstr>
      <vt:lpstr>HTML5 Attributes</vt:lpstr>
      <vt:lpstr>The autocomplete Attribute</vt:lpstr>
      <vt:lpstr>The autocomplete Attribute</vt:lpstr>
      <vt:lpstr>The novalidate Attribute</vt:lpstr>
      <vt:lpstr>The autofocus Attribute</vt:lpstr>
      <vt:lpstr>The form Attribute</vt:lpstr>
      <vt:lpstr>The formaction Attribute</vt:lpstr>
      <vt:lpstr>The formenctype Attribute</vt:lpstr>
      <vt:lpstr>The formmethod Attribute</vt:lpstr>
      <vt:lpstr>The formnovalidate Attribute</vt:lpstr>
      <vt:lpstr>The formtarget Attribute</vt:lpstr>
      <vt:lpstr>The height and width Attributes</vt:lpstr>
      <vt:lpstr>The min and max Attributes</vt:lpstr>
      <vt:lpstr>The multiple Attribute</vt:lpstr>
      <vt:lpstr>PowerPoint 演示文稿</vt:lpstr>
      <vt:lpstr>The placeholder Attribute</vt:lpstr>
      <vt:lpstr>The required Attribute</vt:lpstr>
      <vt:lpstr>The step Attribute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 Kyrie</dc:creator>
  <cp:lastModifiedBy>陈羽中</cp:lastModifiedBy>
  <cp:revision>159</cp:revision>
  <dcterms:created xsi:type="dcterms:W3CDTF">2021-02-19T12:31:00Z</dcterms:created>
  <dcterms:modified xsi:type="dcterms:W3CDTF">2025-03-19T13:28:27Z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E6E1698C91554C4B83F2392AFB579516_12</vt:lpwstr>
  </property>
</Properties>
</file>