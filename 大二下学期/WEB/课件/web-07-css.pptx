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Lst>
  <p:notesMasterIdLst>
    <p:notesMasterId r:id="rId53"/>
  </p:notesMasterIdLst>
  <p:sldIdLst>
    <p:sldId id="379" r:id="rId9"/>
    <p:sldId id="380" r:id="rId10"/>
    <p:sldId id="382" r:id="rId11"/>
    <p:sldId id="383" r:id="rId12"/>
    <p:sldId id="384" r:id="rId13"/>
    <p:sldId id="385" r:id="rId14"/>
    <p:sldId id="386" r:id="rId15"/>
    <p:sldId id="390" r:id="rId16"/>
    <p:sldId id="391" r:id="rId17"/>
    <p:sldId id="392" r:id="rId18"/>
    <p:sldId id="393" r:id="rId19"/>
    <p:sldId id="394" r:id="rId20"/>
    <p:sldId id="395" r:id="rId21"/>
    <p:sldId id="402" r:id="rId22"/>
    <p:sldId id="403" r:id="rId23"/>
    <p:sldId id="407" r:id="rId24"/>
    <p:sldId id="408" r:id="rId25"/>
    <p:sldId id="410" r:id="rId26"/>
    <p:sldId id="412" r:id="rId27"/>
    <p:sldId id="414" r:id="rId28"/>
    <p:sldId id="415" r:id="rId29"/>
    <p:sldId id="417" r:id="rId30"/>
    <p:sldId id="427" r:id="rId31"/>
    <p:sldId id="428" r:id="rId32"/>
    <p:sldId id="430" r:id="rId33"/>
    <p:sldId id="431" r:id="rId34"/>
    <p:sldId id="434" r:id="rId35"/>
    <p:sldId id="435" r:id="rId36"/>
    <p:sldId id="436" r:id="rId37"/>
    <p:sldId id="437" r:id="rId38"/>
    <p:sldId id="438" r:id="rId39"/>
    <p:sldId id="439" r:id="rId40"/>
    <p:sldId id="448" r:id="rId41"/>
    <p:sldId id="449" r:id="rId42"/>
    <p:sldId id="451" r:id="rId43"/>
    <p:sldId id="452" r:id="rId44"/>
    <p:sldId id="454" r:id="rId45"/>
    <p:sldId id="456" r:id="rId46"/>
    <p:sldId id="461" r:id="rId47"/>
    <p:sldId id="463" r:id="rId48"/>
    <p:sldId id="464" r:id="rId49"/>
    <p:sldId id="465" r:id="rId50"/>
    <p:sldId id="466" r:id="rId51"/>
    <p:sldId id="502" r:id="rId52"/>
    <p:sldId id="467" r:id="rId54"/>
    <p:sldId id="468" r:id="rId55"/>
    <p:sldId id="469" r:id="rId56"/>
    <p:sldId id="470" r:id="rId57"/>
    <p:sldId id="478" r:id="rId58"/>
    <p:sldId id="479" r:id="rId59"/>
    <p:sldId id="480" r:id="rId60"/>
    <p:sldId id="481" r:id="rId61"/>
    <p:sldId id="483" r:id="rId62"/>
    <p:sldId id="484" r:id="rId63"/>
    <p:sldId id="485" r:id="rId64"/>
    <p:sldId id="486" r:id="rId65"/>
    <p:sldId id="487" r:id="rId66"/>
    <p:sldId id="488" r:id="rId67"/>
    <p:sldId id="489" r:id="rId68"/>
    <p:sldId id="491" r:id="rId69"/>
    <p:sldId id="492" r:id="rId70"/>
    <p:sldId id="493" r:id="rId71"/>
    <p:sldId id="494" r:id="rId72"/>
  </p:sldIdLst>
  <p:sldSz cx="12192000" cy="6858000"/>
  <p:notesSz cx="6858000" cy="9144000"/>
  <p:custDataLst>
    <p:tags r:id="rId7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4" autoAdjust="0"/>
    <p:restoredTop sz="72235" autoAdjust="0"/>
  </p:normalViewPr>
  <p:slideViewPr>
    <p:cSldViewPr snapToGrid="0">
      <p:cViewPr varScale="1">
        <p:scale>
          <a:sx n="116" d="100"/>
          <a:sy n="116" d="100"/>
        </p:scale>
        <p:origin x="43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6" Type="http://schemas.openxmlformats.org/officeDocument/2006/relationships/tags" Target="tags/tag3.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slide" Target="slides/slide63.xml"/><Relationship Id="rId71" Type="http://schemas.openxmlformats.org/officeDocument/2006/relationships/slide" Target="slides/slide62.xml"/><Relationship Id="rId70" Type="http://schemas.openxmlformats.org/officeDocument/2006/relationships/slide" Target="slides/slide61.xml"/><Relationship Id="rId7" Type="http://schemas.openxmlformats.org/officeDocument/2006/relationships/slideMaster" Target="slideMasters/slideMaster6.xml"/><Relationship Id="rId69" Type="http://schemas.openxmlformats.org/officeDocument/2006/relationships/slide" Target="slides/slide60.xml"/><Relationship Id="rId68" Type="http://schemas.openxmlformats.org/officeDocument/2006/relationships/slide" Target="slides/slide59.xml"/><Relationship Id="rId67" Type="http://schemas.openxmlformats.org/officeDocument/2006/relationships/slide" Target="slides/slide58.xml"/><Relationship Id="rId66" Type="http://schemas.openxmlformats.org/officeDocument/2006/relationships/slide" Target="slides/slide57.xml"/><Relationship Id="rId65" Type="http://schemas.openxmlformats.org/officeDocument/2006/relationships/slide" Target="slides/slide56.xml"/><Relationship Id="rId64" Type="http://schemas.openxmlformats.org/officeDocument/2006/relationships/slide" Target="slides/slide55.xml"/><Relationship Id="rId63" Type="http://schemas.openxmlformats.org/officeDocument/2006/relationships/slide" Target="slides/slide54.xml"/><Relationship Id="rId62" Type="http://schemas.openxmlformats.org/officeDocument/2006/relationships/slide" Target="slides/slide53.xml"/><Relationship Id="rId61" Type="http://schemas.openxmlformats.org/officeDocument/2006/relationships/slide" Target="slides/slide52.xml"/><Relationship Id="rId60" Type="http://schemas.openxmlformats.org/officeDocument/2006/relationships/slide" Target="slides/slide51.xml"/><Relationship Id="rId6" Type="http://schemas.openxmlformats.org/officeDocument/2006/relationships/slideMaster" Target="slideMasters/slideMaster5.xml"/><Relationship Id="rId59" Type="http://schemas.openxmlformats.org/officeDocument/2006/relationships/slide" Target="slides/slide50.xml"/><Relationship Id="rId58" Type="http://schemas.openxmlformats.org/officeDocument/2006/relationships/slide" Target="slides/slide49.xml"/><Relationship Id="rId57" Type="http://schemas.openxmlformats.org/officeDocument/2006/relationships/slide" Target="slides/slide48.xml"/><Relationship Id="rId56" Type="http://schemas.openxmlformats.org/officeDocument/2006/relationships/slide" Target="slides/slide47.xml"/><Relationship Id="rId55" Type="http://schemas.openxmlformats.org/officeDocument/2006/relationships/slide" Target="slides/slide46.xml"/><Relationship Id="rId54" Type="http://schemas.openxmlformats.org/officeDocument/2006/relationships/slide" Target="slides/slide45.xml"/><Relationship Id="rId53" Type="http://schemas.openxmlformats.org/officeDocument/2006/relationships/notesMaster" Target="notesMasters/notesMaster1.xml"/><Relationship Id="rId52" Type="http://schemas.openxmlformats.org/officeDocument/2006/relationships/slide" Target="slides/slide44.xml"/><Relationship Id="rId51" Type="http://schemas.openxmlformats.org/officeDocument/2006/relationships/slide" Target="slides/slide43.xml"/><Relationship Id="rId50" Type="http://schemas.openxmlformats.org/officeDocument/2006/relationships/slide" Target="slides/slide42.xml"/><Relationship Id="rId5" Type="http://schemas.openxmlformats.org/officeDocument/2006/relationships/slideMaster" Target="slideMasters/slideMaster4.xml"/><Relationship Id="rId49" Type="http://schemas.openxmlformats.org/officeDocument/2006/relationships/slide" Target="slides/slide41.xml"/><Relationship Id="rId48" Type="http://schemas.openxmlformats.org/officeDocument/2006/relationships/slide" Target="slides/slide40.xml"/><Relationship Id="rId47" Type="http://schemas.openxmlformats.org/officeDocument/2006/relationships/slide" Target="slides/slide39.xml"/><Relationship Id="rId46" Type="http://schemas.openxmlformats.org/officeDocument/2006/relationships/slide" Target="slides/slide38.xml"/><Relationship Id="rId45" Type="http://schemas.openxmlformats.org/officeDocument/2006/relationships/slide" Target="slides/slide37.xml"/><Relationship Id="rId44" Type="http://schemas.openxmlformats.org/officeDocument/2006/relationships/slide" Target="slides/slide36.xml"/><Relationship Id="rId43" Type="http://schemas.openxmlformats.org/officeDocument/2006/relationships/slide" Target="slides/slide35.xml"/><Relationship Id="rId42" Type="http://schemas.openxmlformats.org/officeDocument/2006/relationships/slide" Target="slides/slide34.xml"/><Relationship Id="rId41" Type="http://schemas.openxmlformats.org/officeDocument/2006/relationships/slide" Target="slides/slide33.xml"/><Relationship Id="rId40" Type="http://schemas.openxmlformats.org/officeDocument/2006/relationships/slide" Target="slides/slide32.xml"/><Relationship Id="rId4" Type="http://schemas.openxmlformats.org/officeDocument/2006/relationships/slideMaster" Target="slideMasters/slideMaster3.xml"/><Relationship Id="rId39" Type="http://schemas.openxmlformats.org/officeDocument/2006/relationships/slide" Target="slides/slide31.xml"/><Relationship Id="rId38" Type="http://schemas.openxmlformats.org/officeDocument/2006/relationships/slide" Target="slides/slide30.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AADFDB-4AB8-4D99-8D25-189D71A761C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A8546E-9AEE-4434-9B61-999B4AE261E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Inside</a:t>
            </a:r>
            <a:r>
              <a:rPr lang="zh-CN" altLang="en-US" sz="1200" b="0" i="0" kern="1200" dirty="0">
                <a:solidFill>
                  <a:schemeClr val="tx1"/>
                </a:solidFill>
                <a:effectLst/>
                <a:latin typeface="+mn-lt"/>
                <a:ea typeface="+mn-ea"/>
                <a:cs typeface="+mn-cs"/>
              </a:rPr>
              <a:t>：列表项目标记放置在文本以内，且环绕文本根据标记对齐。</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Outside</a:t>
            </a:r>
            <a:r>
              <a:rPr lang="zh-CN" altLang="en-US" sz="1200" b="0" i="0" kern="1200" dirty="0">
                <a:solidFill>
                  <a:schemeClr val="tx1"/>
                </a:solidFill>
                <a:effectLst/>
                <a:latin typeface="+mn-lt"/>
                <a:ea typeface="+mn-ea"/>
                <a:cs typeface="+mn-cs"/>
              </a:rPr>
              <a:t>：默认值。保持标记位于文本的左侧。列表项目标记放置在文本以外，且环绕文本不根据标记对齐。</a:t>
            </a:r>
            <a:endParaRPr lang="zh-CN" altLang="en-US" dirty="0"/>
          </a:p>
        </p:txBody>
      </p:sp>
      <p:sp>
        <p:nvSpPr>
          <p:cNvPr id="4" name="灯片编号占位符 3"/>
          <p:cNvSpPr>
            <a:spLocks noGrp="1"/>
          </p:cNvSpPr>
          <p:nvPr>
            <p:ph type="sldNum" sz="quarter" idx="10"/>
          </p:nvPr>
        </p:nvSpPr>
        <p:spPr/>
        <p:txBody>
          <a:bodyPr/>
          <a:lstStyle/>
          <a:p>
            <a:fld id="{1AA8546E-9AEE-4434-9B61-999B4AE261E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2" Type="http://schemas.openxmlformats.org/officeDocument/2006/relationships/theme" Target="../theme/theme6.xml"/><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2" Type="http://schemas.openxmlformats.org/officeDocument/2006/relationships/theme" Target="../theme/theme7.xml"/><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FB3DC9-4C5B-4D9F-84D5-E67E87066088}" type="slidenum">
              <a:rPr lang="zh-CN" altLang="en-US" smtClean="0"/>
            </a:fld>
            <a:endParaRPr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0.pn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2.png"/><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4.png"/><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6.png"/><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8.png"/><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20.png"/><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22.png"/><Relationship Id="rId1"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image" Target="../media/image24.png"/><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46.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46.xml"/><Relationship Id="rId3" Type="http://schemas.openxmlformats.org/officeDocument/2006/relationships/image" Target="../media/image33.png"/><Relationship Id="rId2" Type="http://schemas.openxmlformats.org/officeDocument/2006/relationships/tags" Target="../tags/tag2.xml"/><Relationship Id="rId1"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image" Target="../media/image35.png"/><Relationship Id="rId1"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57.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57.xml"/><Relationship Id="rId2" Type="http://schemas.openxmlformats.org/officeDocument/2006/relationships/image" Target="../media/image41.png"/><Relationship Id="rId1"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57.xml"/><Relationship Id="rId2" Type="http://schemas.openxmlformats.org/officeDocument/2006/relationships/image" Target="../media/image43.png"/><Relationship Id="rId1" Type="http://schemas.openxmlformats.org/officeDocument/2006/relationships/image" Target="../media/image42.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7.xml"/><Relationship Id="rId2" Type="http://schemas.openxmlformats.org/officeDocument/2006/relationships/image" Target="../media/image45.png"/><Relationship Id="rId1" Type="http://schemas.openxmlformats.org/officeDocument/2006/relationships/image" Target="../media/image44.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57.xml"/><Relationship Id="rId2" Type="http://schemas.openxmlformats.org/officeDocument/2006/relationships/image" Target="../media/image47.png"/><Relationship Id="rId1" Type="http://schemas.openxmlformats.org/officeDocument/2006/relationships/image" Target="../media/image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57.xml"/><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68.xml"/><Relationship Id="rId1" Type="http://schemas.openxmlformats.org/officeDocument/2006/relationships/image" Target="../media/image51.pn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68.xml"/><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68.xml"/><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68.xml"/><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68.xml"/><Relationship Id="rId2" Type="http://schemas.openxmlformats.org/officeDocument/2006/relationships/image" Target="../media/image62.png"/><Relationship Id="rId1" Type="http://schemas.openxmlformats.org/officeDocument/2006/relationships/image" Target="../media/image61.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68.xml"/><Relationship Id="rId2" Type="http://schemas.openxmlformats.org/officeDocument/2006/relationships/image" Target="../media/image64.png"/><Relationship Id="rId1" Type="http://schemas.openxmlformats.org/officeDocument/2006/relationships/image" Target="../media/image63.pn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68.xml"/><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68.xml"/><Relationship Id="rId1" Type="http://schemas.openxmlformats.org/officeDocument/2006/relationships/image" Target="../media/image6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68.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68.xml"/><Relationship Id="rId2" Type="http://schemas.openxmlformats.org/officeDocument/2006/relationships/image" Target="../media/image73.png"/><Relationship Id="rId1" Type="http://schemas.openxmlformats.org/officeDocument/2006/relationships/image" Target="../media/image72.png"/></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68.xml"/><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image" Target="../media/image74.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68.xml"/><Relationship Id="rId2" Type="http://schemas.openxmlformats.org/officeDocument/2006/relationships/image" Target="../media/image78.png"/><Relationship Id="rId1" Type="http://schemas.openxmlformats.org/officeDocument/2006/relationships/image" Target="../media/image77.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68.xml"/><Relationship Id="rId2" Type="http://schemas.openxmlformats.org/officeDocument/2006/relationships/image" Target="../media/image80.png"/><Relationship Id="rId1"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CSS PADDING</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1334" y="401279"/>
            <a:ext cx="10515600" cy="950728"/>
          </a:xfrm>
        </p:spPr>
        <p:txBody>
          <a:bodyPr/>
          <a:lstStyle/>
          <a:p>
            <a:pPr algn="ctr"/>
            <a:r>
              <a:rPr lang="en-US" altLang="zh-CN" dirty="0"/>
              <a:t>CSS Padding Properties</a:t>
            </a:r>
            <a:endParaRPr lang="en-US" altLang="zh-CN" dirty="0"/>
          </a:p>
        </p:txBody>
      </p:sp>
      <p:sp>
        <p:nvSpPr>
          <p:cNvPr id="3" name="内容占位符 2"/>
          <p:cNvSpPr>
            <a:spLocks noGrp="1"/>
          </p:cNvSpPr>
          <p:nvPr>
            <p:ph idx="1"/>
          </p:nvPr>
        </p:nvSpPr>
        <p:spPr>
          <a:xfrm>
            <a:off x="871334" y="1700244"/>
            <a:ext cx="10515600" cy="2924008"/>
          </a:xfrm>
        </p:spPr>
        <p:txBody>
          <a:bodyPr>
            <a:normAutofit/>
          </a:bodyPr>
          <a:lstStyle/>
          <a:p>
            <a:pPr algn="just"/>
            <a:r>
              <a:rPr lang="en-US" altLang="zh-CN" sz="3600" dirty="0"/>
              <a:t>The CSS </a:t>
            </a:r>
            <a:r>
              <a:rPr lang="en-US" altLang="zh-CN" sz="3600" dirty="0">
                <a:solidFill>
                  <a:srgbClr val="FF0000"/>
                </a:solidFill>
              </a:rPr>
              <a:t>padding </a:t>
            </a:r>
            <a:r>
              <a:rPr lang="en-US" altLang="zh-CN" sz="3600" dirty="0"/>
              <a:t> properties are used to generate space around content.</a:t>
            </a:r>
            <a:endParaRPr lang="en-US" altLang="zh-CN" sz="3600" dirty="0"/>
          </a:p>
          <a:p>
            <a:pPr algn="just"/>
            <a:r>
              <a:rPr lang="en-US" altLang="zh-CN" sz="3600" dirty="0"/>
              <a:t>The padding properties set the size of the white space between the element content and the element border.</a:t>
            </a:r>
            <a:endParaRPr lang="en-US" altLang="zh-CN"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1334" y="413953"/>
            <a:ext cx="10515600" cy="840082"/>
          </a:xfrm>
        </p:spPr>
        <p:txBody>
          <a:bodyPr/>
          <a:lstStyle/>
          <a:p>
            <a:pPr algn="ctr"/>
            <a:r>
              <a:rPr lang="en-US" altLang="zh-CN" dirty="0"/>
              <a:t>Padding - Individual Sides</a:t>
            </a:r>
            <a:endParaRPr lang="en-US" altLang="zh-CN" dirty="0"/>
          </a:p>
        </p:txBody>
      </p:sp>
      <p:sp>
        <p:nvSpPr>
          <p:cNvPr id="3" name="内容占位符 2"/>
          <p:cNvSpPr>
            <a:spLocks noGrp="1"/>
          </p:cNvSpPr>
          <p:nvPr>
            <p:ph idx="1"/>
          </p:nvPr>
        </p:nvSpPr>
        <p:spPr>
          <a:xfrm>
            <a:off x="1034619" y="1333683"/>
            <a:ext cx="10676232" cy="5315311"/>
          </a:xfrm>
        </p:spPr>
        <p:txBody>
          <a:bodyPr>
            <a:normAutofit/>
          </a:bodyPr>
          <a:lstStyle/>
          <a:p>
            <a:r>
              <a:rPr lang="en-US" altLang="zh-CN" sz="3200" dirty="0"/>
              <a:t>CSS has properties for specifying the padding for each side of an element:</a:t>
            </a:r>
            <a:endParaRPr lang="en-US" altLang="zh-CN" sz="3200" dirty="0"/>
          </a:p>
          <a:p>
            <a:pPr lvl="1"/>
            <a:r>
              <a:rPr lang="en-US" altLang="zh-CN" sz="2800" dirty="0">
                <a:solidFill>
                  <a:srgbClr val="FF0000"/>
                </a:solidFill>
              </a:rPr>
              <a:t>padding-top</a:t>
            </a:r>
            <a:endParaRPr lang="en-US" altLang="zh-CN" sz="2800" dirty="0">
              <a:solidFill>
                <a:srgbClr val="FF0000"/>
              </a:solidFill>
            </a:endParaRPr>
          </a:p>
          <a:p>
            <a:pPr lvl="1"/>
            <a:r>
              <a:rPr lang="en-US" altLang="zh-CN" sz="2800" dirty="0">
                <a:solidFill>
                  <a:srgbClr val="FF0000"/>
                </a:solidFill>
              </a:rPr>
              <a:t>padding-right</a:t>
            </a:r>
            <a:endParaRPr lang="en-US" altLang="zh-CN" sz="2800" dirty="0">
              <a:solidFill>
                <a:srgbClr val="FF0000"/>
              </a:solidFill>
            </a:endParaRPr>
          </a:p>
          <a:p>
            <a:pPr lvl="1"/>
            <a:r>
              <a:rPr lang="en-US" altLang="zh-CN" sz="2800" dirty="0">
                <a:solidFill>
                  <a:srgbClr val="FF0000"/>
                </a:solidFill>
              </a:rPr>
              <a:t>padding-bottom</a:t>
            </a:r>
            <a:endParaRPr lang="en-US" altLang="zh-CN" sz="2800" dirty="0">
              <a:solidFill>
                <a:srgbClr val="FF0000"/>
              </a:solidFill>
            </a:endParaRPr>
          </a:p>
          <a:p>
            <a:pPr lvl="1"/>
            <a:r>
              <a:rPr lang="en-US" altLang="zh-CN" sz="2800" dirty="0">
                <a:solidFill>
                  <a:srgbClr val="FF0000"/>
                </a:solidFill>
              </a:rPr>
              <a:t>padding-left</a:t>
            </a:r>
            <a:endParaRPr lang="en-US" altLang="zh-CN" sz="4000" dirty="0">
              <a:solidFill>
                <a:srgbClr val="FF0000"/>
              </a:solidFill>
            </a:endParaRPr>
          </a:p>
          <a:p>
            <a:r>
              <a:rPr lang="en-US" altLang="zh-CN" sz="3200" dirty="0"/>
              <a:t>All the padding properties can have the following values:</a:t>
            </a:r>
            <a:endParaRPr lang="en-US" altLang="zh-CN" sz="3200" dirty="0"/>
          </a:p>
          <a:p>
            <a:pPr lvl="1"/>
            <a:r>
              <a:rPr lang="en-US" altLang="zh-CN" sz="2800" i="1" dirty="0"/>
              <a:t>length</a:t>
            </a:r>
            <a:r>
              <a:rPr lang="en-US" altLang="zh-CN" sz="2800" dirty="0"/>
              <a:t> - specifies a padding in </a:t>
            </a:r>
            <a:r>
              <a:rPr lang="en-US" altLang="zh-CN" sz="2800" dirty="0" err="1"/>
              <a:t>px</a:t>
            </a:r>
            <a:r>
              <a:rPr lang="en-US" altLang="zh-CN" sz="2800" dirty="0"/>
              <a:t>, </a:t>
            </a:r>
            <a:r>
              <a:rPr lang="en-US" altLang="zh-CN" sz="2800" dirty="0" err="1"/>
              <a:t>pt</a:t>
            </a:r>
            <a:r>
              <a:rPr lang="en-US" altLang="zh-CN" sz="2800" dirty="0"/>
              <a:t>, cm, etc.</a:t>
            </a:r>
            <a:endParaRPr lang="en-US" altLang="zh-CN" sz="2800" dirty="0"/>
          </a:p>
          <a:p>
            <a:pPr lvl="1"/>
            <a:r>
              <a:rPr lang="en-US" altLang="zh-CN" sz="2800" i="1" dirty="0"/>
              <a:t>%</a:t>
            </a:r>
            <a:r>
              <a:rPr lang="en-US" altLang="zh-CN" sz="2800" dirty="0"/>
              <a:t> - specifies a padding in % of the width of the containing element</a:t>
            </a:r>
            <a:endParaRPr lang="en-US" altLang="zh-CN" sz="2800" dirty="0"/>
          </a:p>
          <a:p>
            <a:pPr lvl="1"/>
            <a:r>
              <a:rPr lang="en-US" altLang="zh-CN" sz="2800" dirty="0"/>
              <a:t>inherit - specifies that the padding should be inherited from the parent element</a:t>
            </a:r>
            <a:endParaRPr lang="en-US" altLang="zh-C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1334" y="234882"/>
            <a:ext cx="10515600" cy="833551"/>
          </a:xfrm>
        </p:spPr>
        <p:txBody>
          <a:bodyPr/>
          <a:lstStyle/>
          <a:p>
            <a:pPr algn="ctr"/>
            <a:r>
              <a:rPr lang="en-US" altLang="zh-CN" dirty="0"/>
              <a:t>Padding - Individual Sides</a:t>
            </a:r>
            <a:endParaRPr lang="en-US" altLang="zh-CN" dirty="0"/>
          </a:p>
        </p:txBody>
      </p:sp>
      <p:sp>
        <p:nvSpPr>
          <p:cNvPr id="3" name="内容占位符 2"/>
          <p:cNvSpPr>
            <a:spLocks noGrp="1"/>
          </p:cNvSpPr>
          <p:nvPr>
            <p:ph idx="1"/>
          </p:nvPr>
        </p:nvSpPr>
        <p:spPr>
          <a:xfrm>
            <a:off x="487680" y="1247775"/>
            <a:ext cx="11370310" cy="882015"/>
          </a:xfrm>
        </p:spPr>
        <p:txBody>
          <a:bodyPr>
            <a:normAutofit lnSpcReduction="10000"/>
          </a:bodyPr>
          <a:lstStyle/>
          <a:p>
            <a:pPr algn="just"/>
            <a:r>
              <a:rPr lang="en-US" altLang="zh-CN" dirty="0"/>
              <a:t>The following example sets different padding for all four sides of a &lt;p&gt; element: </a:t>
            </a:r>
            <a:endParaRPr lang="en-US" altLang="zh-CN" sz="4000" dirty="0"/>
          </a:p>
        </p:txBody>
      </p:sp>
      <p:pic>
        <p:nvPicPr>
          <p:cNvPr id="4" name="图片 3"/>
          <p:cNvPicPr>
            <a:picLocks noChangeAspect="1"/>
          </p:cNvPicPr>
          <p:nvPr/>
        </p:nvPicPr>
        <p:blipFill>
          <a:blip r:embed="rId1"/>
          <a:stretch>
            <a:fillRect/>
          </a:stretch>
        </p:blipFill>
        <p:spPr>
          <a:xfrm>
            <a:off x="1826160" y="2308860"/>
            <a:ext cx="8947386" cy="4382589"/>
          </a:xfrm>
          <a:prstGeom prst="rect">
            <a:avLst/>
          </a:prstGeom>
        </p:spPr>
      </p:pic>
      <p:sp>
        <p:nvSpPr>
          <p:cNvPr id="5" name="文本框 4"/>
          <p:cNvSpPr txBox="1"/>
          <p:nvPr/>
        </p:nvSpPr>
        <p:spPr>
          <a:xfrm>
            <a:off x="3556000" y="3014027"/>
            <a:ext cx="5080000" cy="829945"/>
          </a:xfrm>
          <a:prstGeom prst="rect">
            <a:avLst/>
          </a:prstGeom>
        </p:spPr>
        <p:txBody>
          <a:bodyPr>
            <a:spAutoFit/>
          </a:bodyPr>
          <a:p>
            <a:pPr>
              <a:buFont typeface="Arial" panose="020B0604020202020204"/>
              <a:buChar char="•"/>
            </a:pPr>
            <a:r>
              <a:rPr lang="en-US" altLang="zh-CN" sz="1600"/>
              <a:t> CSS </a:t>
            </a:r>
            <a:r>
              <a:rPr lang="zh-CN" altLang="en-US" sz="1600"/>
              <a:t>的 </a:t>
            </a:r>
            <a:r>
              <a:rPr lang="en-US" altLang="zh-CN" sz="1600"/>
              <a:t>`padding` </a:t>
            </a:r>
            <a:r>
              <a:rPr lang="zh-CN" altLang="en-US" sz="1600"/>
              <a:t>属性用于在内容周围生成空间。</a:t>
            </a:r>
            <a:r>
              <a:rPr lang="en-US" altLang="zh-CN" sz="1600"/>
              <a:t>`padding` </a:t>
            </a:r>
            <a:r>
              <a:rPr lang="zh-CN" altLang="en-US" sz="1600"/>
              <a:t>属性设置的是元素内容与元素边框之间的空白区域大小。</a:t>
            </a:r>
            <a:endParaRPr lang="zh-CN" altLang="en-US"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4225" y="281305"/>
            <a:ext cx="10515600" cy="967105"/>
          </a:xfrm>
        </p:spPr>
        <p:txBody>
          <a:bodyPr/>
          <a:lstStyle/>
          <a:p>
            <a:pPr algn="ctr"/>
            <a:r>
              <a:rPr lang="en-US" altLang="zh-CN" dirty="0"/>
              <a:t>Padding - Individual Sides</a:t>
            </a:r>
            <a:endParaRPr lang="en-US" altLang="zh-CN" dirty="0"/>
          </a:p>
        </p:txBody>
      </p:sp>
      <p:pic>
        <p:nvPicPr>
          <p:cNvPr id="4" name="图片 3"/>
          <p:cNvPicPr>
            <a:picLocks noChangeAspect="1"/>
          </p:cNvPicPr>
          <p:nvPr/>
        </p:nvPicPr>
        <p:blipFill>
          <a:blip r:embed="rId1"/>
          <a:stretch>
            <a:fillRect/>
          </a:stretch>
        </p:blipFill>
        <p:spPr>
          <a:xfrm>
            <a:off x="168910" y="1976120"/>
            <a:ext cx="11746230" cy="29057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1334" y="288334"/>
            <a:ext cx="10515600" cy="1325563"/>
          </a:xfrm>
        </p:spPr>
        <p:txBody>
          <a:bodyPr/>
          <a:lstStyle/>
          <a:p>
            <a:pPr algn="ctr"/>
            <a:r>
              <a:rPr lang="en-US" altLang="zh-CN" dirty="0"/>
              <a:t>Padding - Shorthand Property</a:t>
            </a:r>
            <a:endParaRPr lang="en-US" altLang="zh-CN" dirty="0"/>
          </a:p>
        </p:txBody>
      </p:sp>
      <p:sp>
        <p:nvSpPr>
          <p:cNvPr id="3" name="内容占位符 2"/>
          <p:cNvSpPr>
            <a:spLocks noGrp="1"/>
          </p:cNvSpPr>
          <p:nvPr>
            <p:ph idx="1"/>
          </p:nvPr>
        </p:nvSpPr>
        <p:spPr>
          <a:xfrm>
            <a:off x="871334" y="1731122"/>
            <a:ext cx="10904832" cy="4578238"/>
          </a:xfrm>
        </p:spPr>
        <p:txBody>
          <a:bodyPr>
            <a:noAutofit/>
          </a:bodyPr>
          <a:lstStyle/>
          <a:p>
            <a:pPr algn="just"/>
            <a:r>
              <a:rPr lang="en-US" altLang="zh-CN" sz="3600" dirty="0"/>
              <a:t>The </a:t>
            </a:r>
            <a:r>
              <a:rPr lang="en-US" altLang="zh-CN" sz="3600" dirty="0">
                <a:solidFill>
                  <a:srgbClr val="FF0000"/>
                </a:solidFill>
              </a:rPr>
              <a:t>padding</a:t>
            </a:r>
            <a:r>
              <a:rPr lang="en-US" altLang="zh-CN" sz="3600" dirty="0"/>
              <a:t>  property is a shorthand property for the following individual padding properties:</a:t>
            </a:r>
            <a:endParaRPr lang="en-US" altLang="zh-CN" sz="3600" dirty="0"/>
          </a:p>
          <a:p>
            <a:pPr lvl="1" algn="just"/>
            <a:r>
              <a:rPr lang="en-US" altLang="zh-CN" sz="3200" dirty="0">
                <a:solidFill>
                  <a:srgbClr val="FF0000"/>
                </a:solidFill>
              </a:rPr>
              <a:t>padding-top</a:t>
            </a:r>
            <a:endParaRPr lang="en-US" altLang="zh-CN" sz="3200" dirty="0">
              <a:solidFill>
                <a:srgbClr val="FF0000"/>
              </a:solidFill>
            </a:endParaRPr>
          </a:p>
          <a:p>
            <a:pPr lvl="1" algn="just"/>
            <a:r>
              <a:rPr lang="en-US" altLang="zh-CN" sz="3200" dirty="0">
                <a:solidFill>
                  <a:srgbClr val="FF0000"/>
                </a:solidFill>
              </a:rPr>
              <a:t>padding-right</a:t>
            </a:r>
            <a:endParaRPr lang="en-US" altLang="zh-CN" sz="3200" dirty="0">
              <a:solidFill>
                <a:srgbClr val="FF0000"/>
              </a:solidFill>
            </a:endParaRPr>
          </a:p>
          <a:p>
            <a:pPr lvl="1" algn="just"/>
            <a:r>
              <a:rPr lang="en-US" altLang="zh-CN" sz="3200" dirty="0">
                <a:solidFill>
                  <a:srgbClr val="FF0000"/>
                </a:solidFill>
              </a:rPr>
              <a:t>padding-bottom</a:t>
            </a:r>
            <a:endParaRPr lang="en-US" altLang="zh-CN" sz="3200" dirty="0">
              <a:solidFill>
                <a:srgbClr val="FF0000"/>
              </a:solidFill>
            </a:endParaRPr>
          </a:p>
          <a:p>
            <a:pPr lvl="1" algn="just"/>
            <a:r>
              <a:rPr lang="en-US" altLang="zh-CN" sz="3200" dirty="0">
                <a:solidFill>
                  <a:srgbClr val="FF0000"/>
                </a:solidFill>
              </a:rPr>
              <a:t>padding-left</a:t>
            </a:r>
            <a:endParaRPr lang="en-US" altLang="zh-CN" sz="4400"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1334" y="195327"/>
            <a:ext cx="10515600" cy="888459"/>
          </a:xfrm>
        </p:spPr>
        <p:txBody>
          <a:bodyPr/>
          <a:lstStyle/>
          <a:p>
            <a:pPr algn="ctr"/>
            <a:r>
              <a:rPr lang="en-US" altLang="zh-CN" dirty="0"/>
              <a:t>Padding - Shorthand Property</a:t>
            </a:r>
            <a:endParaRPr lang="en-US" altLang="zh-CN" dirty="0"/>
          </a:p>
        </p:txBody>
      </p:sp>
      <p:sp>
        <p:nvSpPr>
          <p:cNvPr id="3" name="内容占位符 2"/>
          <p:cNvSpPr>
            <a:spLocks noGrp="1"/>
          </p:cNvSpPr>
          <p:nvPr>
            <p:ph idx="1"/>
          </p:nvPr>
        </p:nvSpPr>
        <p:spPr>
          <a:xfrm>
            <a:off x="401071" y="963252"/>
            <a:ext cx="1702049" cy="491237"/>
          </a:xfrm>
        </p:spPr>
        <p:txBody>
          <a:bodyPr>
            <a:normAutofit/>
          </a:bodyPr>
          <a:lstStyle/>
          <a:p>
            <a:r>
              <a:rPr lang="en-US" altLang="zh-CN" dirty="0"/>
              <a:t>Example:</a:t>
            </a:r>
            <a:endParaRPr lang="en-US" altLang="zh-CN" dirty="0"/>
          </a:p>
          <a:p>
            <a:endParaRPr lang="en-US" altLang="zh-CN" dirty="0"/>
          </a:p>
        </p:txBody>
      </p:sp>
      <p:pic>
        <p:nvPicPr>
          <p:cNvPr id="5" name="图片 4"/>
          <p:cNvPicPr>
            <a:picLocks noChangeAspect="1"/>
          </p:cNvPicPr>
          <p:nvPr/>
        </p:nvPicPr>
        <p:blipFill>
          <a:blip r:embed="rId1"/>
          <a:stretch>
            <a:fillRect/>
          </a:stretch>
        </p:blipFill>
        <p:spPr>
          <a:xfrm>
            <a:off x="2345691" y="4978922"/>
            <a:ext cx="8027351" cy="1861041"/>
          </a:xfrm>
          <a:prstGeom prst="rect">
            <a:avLst/>
          </a:prstGeom>
        </p:spPr>
      </p:pic>
      <p:pic>
        <p:nvPicPr>
          <p:cNvPr id="4" name="图片 3"/>
          <p:cNvPicPr>
            <a:picLocks noChangeAspect="1"/>
          </p:cNvPicPr>
          <p:nvPr/>
        </p:nvPicPr>
        <p:blipFill>
          <a:blip r:embed="rId2"/>
          <a:stretch>
            <a:fillRect/>
          </a:stretch>
        </p:blipFill>
        <p:spPr>
          <a:xfrm>
            <a:off x="2345691" y="1359617"/>
            <a:ext cx="7974156" cy="34540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99060" y="1122680"/>
            <a:ext cx="11683365" cy="1886585"/>
          </a:xfrm>
        </p:spPr>
        <p:txBody>
          <a:bodyPr/>
          <a:lstStyle/>
          <a:p>
            <a:r>
              <a:rPr lang="en-US" altLang="zh-CN" dirty="0"/>
              <a:t>CSS Height and Width Dimensions</a:t>
            </a:r>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What is CSS Dimension Properties?</a:t>
            </a:r>
            <a:endParaRPr lang="zh-CN" altLang="en-US" dirty="0"/>
          </a:p>
        </p:txBody>
      </p:sp>
      <p:sp>
        <p:nvSpPr>
          <p:cNvPr id="3" name="内容占位符 2"/>
          <p:cNvSpPr>
            <a:spLocks noGrp="1"/>
          </p:cNvSpPr>
          <p:nvPr>
            <p:ph idx="1"/>
          </p:nvPr>
        </p:nvSpPr>
        <p:spPr/>
        <p:txBody>
          <a:bodyPr>
            <a:normAutofit/>
          </a:bodyPr>
          <a:lstStyle/>
          <a:p>
            <a:r>
              <a:rPr lang="en-US" altLang="zh-CN" sz="3200" dirty="0"/>
              <a:t>The CSS dimension properties allow you to control the </a:t>
            </a:r>
            <a:r>
              <a:rPr lang="en-US" altLang="zh-CN" sz="3200" dirty="0">
                <a:solidFill>
                  <a:srgbClr val="FF0000"/>
                </a:solidFill>
              </a:rPr>
              <a:t>height and width</a:t>
            </a:r>
            <a:r>
              <a:rPr lang="en-US" altLang="zh-CN" sz="3200" dirty="0"/>
              <a:t> of an </a:t>
            </a:r>
            <a:r>
              <a:rPr lang="en-US" altLang="zh-CN" sz="3200" dirty="0">
                <a:solidFill>
                  <a:srgbClr val="FF0000"/>
                </a:solidFill>
              </a:rPr>
              <a:t>element</a:t>
            </a:r>
            <a:r>
              <a:rPr lang="en-US" altLang="zh-CN" sz="3200" dirty="0"/>
              <a:t>.</a:t>
            </a:r>
            <a:endParaRPr lang="en-US" altLang="zh-CN" sz="3200" dirty="0"/>
          </a:p>
          <a:p>
            <a:r>
              <a:rPr lang="en-US" altLang="zh-CN" sz="3200" dirty="0"/>
              <a:t>This element has a width of </a:t>
            </a:r>
            <a:r>
              <a:rPr lang="en-US" altLang="zh-CN" sz="3200" dirty="0">
                <a:solidFill>
                  <a:srgbClr val="FF0000"/>
                </a:solidFill>
              </a:rPr>
              <a:t>100%</a:t>
            </a:r>
            <a:r>
              <a:rPr lang="en-US" altLang="zh-CN" sz="3200" dirty="0"/>
              <a:t>.</a:t>
            </a:r>
            <a:endParaRPr lang="en-US" altLang="zh-CN"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sym typeface="+mn-ea"/>
              </a:rPr>
              <a:t>How to set Height and Width</a:t>
            </a:r>
            <a:r>
              <a:rPr lang="zh-CN" altLang="en-US" dirty="0">
                <a:sym typeface="+mn-ea"/>
              </a:rPr>
              <a:t>？</a:t>
            </a:r>
            <a:endParaRPr lang="zh-CN" altLang="en-US" dirty="0">
              <a:sym typeface="+mn-ea"/>
            </a:endParaRPr>
          </a:p>
        </p:txBody>
      </p:sp>
      <p:sp>
        <p:nvSpPr>
          <p:cNvPr id="3" name="内容占位符 2"/>
          <p:cNvSpPr>
            <a:spLocks noGrp="1"/>
          </p:cNvSpPr>
          <p:nvPr>
            <p:ph idx="1"/>
          </p:nvPr>
        </p:nvSpPr>
        <p:spPr>
          <a:xfrm>
            <a:off x="659027" y="1584960"/>
            <a:ext cx="11022227" cy="4412186"/>
          </a:xfrm>
        </p:spPr>
        <p:txBody>
          <a:bodyPr>
            <a:normAutofit/>
          </a:bodyPr>
          <a:lstStyle/>
          <a:p>
            <a:pPr algn="just"/>
            <a:r>
              <a:rPr lang="en-US" altLang="zh-CN" sz="3600" dirty="0"/>
              <a:t>The height and width can be set to auto (this is </a:t>
            </a:r>
            <a:r>
              <a:rPr lang="en-US" altLang="zh-CN" sz="3600" dirty="0">
                <a:solidFill>
                  <a:srgbClr val="FF0000"/>
                </a:solidFill>
              </a:rPr>
              <a:t>default</a:t>
            </a:r>
            <a:r>
              <a:rPr lang="en-US" altLang="zh-CN" sz="3600" dirty="0"/>
              <a:t>. Means that the browser calculates the height and width), or be specified in </a:t>
            </a:r>
            <a:r>
              <a:rPr lang="en-US" altLang="zh-CN" sz="3600" dirty="0">
                <a:solidFill>
                  <a:srgbClr val="FF0000"/>
                </a:solidFill>
              </a:rPr>
              <a:t>length values</a:t>
            </a:r>
            <a:r>
              <a:rPr lang="en-US" altLang="zh-CN" sz="3600" dirty="0"/>
              <a:t>, like px, cm, etc., or in </a:t>
            </a:r>
            <a:r>
              <a:rPr lang="en-US" altLang="zh-CN" sz="3600" dirty="0">
                <a:solidFill>
                  <a:srgbClr val="FF0000"/>
                </a:solidFill>
              </a:rPr>
              <a:t>percent</a:t>
            </a:r>
            <a:r>
              <a:rPr lang="en-US" altLang="zh-CN" sz="3600" dirty="0"/>
              <a:t> (%) of the containing block.</a:t>
            </a:r>
            <a:endParaRPr lang="en-US" altLang="zh-CN" sz="3600" dirty="0"/>
          </a:p>
          <a:p>
            <a:pPr algn="just"/>
            <a:r>
              <a:rPr kumimoji="0" lang="en-US" altLang="zh-CN" sz="36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The </a:t>
            </a:r>
            <a:r>
              <a:rPr kumimoji="0" lang="en-US" altLang="zh-CN" sz="36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height and width</a:t>
            </a:r>
            <a:r>
              <a:rPr kumimoji="0" lang="en-US" altLang="zh-CN" sz="36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 properties </a:t>
            </a:r>
            <a:r>
              <a:rPr kumimoji="0" lang="en-US" altLang="zh-CN" sz="36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do not include</a:t>
            </a:r>
            <a:r>
              <a:rPr kumimoji="0" lang="en-US" altLang="zh-CN" sz="36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 padding, borders, or margins; they </a:t>
            </a:r>
            <a:r>
              <a:rPr kumimoji="0" lang="en-US" altLang="zh-CN" sz="36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set</a:t>
            </a:r>
            <a:r>
              <a:rPr kumimoji="0" lang="en-US" altLang="zh-CN" sz="36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 the height/width of the area inside the padding, border, and margin of the element!</a:t>
            </a:r>
            <a:endParaRPr kumimoji="0" lang="en-US" altLang="zh-CN" sz="36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sym typeface="+mn-ea"/>
              </a:rPr>
              <a:t>How to set Height and Width</a:t>
            </a:r>
            <a:r>
              <a:rPr lang="zh-CN" altLang="en-US" dirty="0">
                <a:sym typeface="+mn-ea"/>
              </a:rPr>
              <a:t>？</a:t>
            </a:r>
            <a:endParaRPr lang="zh-CN" altLang="en-US" dirty="0">
              <a:sym typeface="+mn-ea"/>
            </a:endParaRPr>
          </a:p>
        </p:txBody>
      </p:sp>
      <p:sp>
        <p:nvSpPr>
          <p:cNvPr id="3" name="内容占位符 2"/>
          <p:cNvSpPr>
            <a:spLocks noGrp="1"/>
          </p:cNvSpPr>
          <p:nvPr>
            <p:ph idx="1"/>
          </p:nvPr>
        </p:nvSpPr>
        <p:spPr>
          <a:xfrm>
            <a:off x="556260" y="1584960"/>
            <a:ext cx="1950085" cy="539750"/>
          </a:xfrm>
        </p:spPr>
        <p:txBody>
          <a:bodyPr>
            <a:normAutofit/>
          </a:bodyPr>
          <a:lstStyle/>
          <a:p>
            <a:pPr marL="0" indent="0">
              <a:buNone/>
            </a:pPr>
            <a:r>
              <a:rPr lang="en-US" altLang="zh-CN" dirty="0"/>
              <a:t>Example:</a:t>
            </a:r>
            <a:endParaRPr lang="en-US" altLang="zh-CN" dirty="0"/>
          </a:p>
        </p:txBody>
      </p:sp>
      <p:sp>
        <p:nvSpPr>
          <p:cNvPr id="7" name="文本框 6"/>
          <p:cNvSpPr txBox="1"/>
          <p:nvPr/>
        </p:nvSpPr>
        <p:spPr>
          <a:xfrm>
            <a:off x="6043295" y="1584960"/>
            <a:ext cx="1169035"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rPr>
              <a:t>Result:</a:t>
            </a:r>
            <a:endParaRPr kumimoji="0" lang="en-US" altLang="zh-CN" sz="2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pic>
        <p:nvPicPr>
          <p:cNvPr id="8" name="图片 7"/>
          <p:cNvPicPr>
            <a:picLocks noChangeAspect="1"/>
          </p:cNvPicPr>
          <p:nvPr>
            <p:custDataLst>
              <p:tags r:id="rId1"/>
            </p:custDataLst>
          </p:nvPr>
        </p:nvPicPr>
        <p:blipFill>
          <a:blip r:embed="rId2"/>
          <a:stretch>
            <a:fillRect/>
          </a:stretch>
        </p:blipFill>
        <p:spPr>
          <a:xfrm>
            <a:off x="6043295" y="3242945"/>
            <a:ext cx="5937250" cy="1960245"/>
          </a:xfrm>
          <a:prstGeom prst="rect">
            <a:avLst/>
          </a:prstGeom>
        </p:spPr>
      </p:pic>
      <p:pic>
        <p:nvPicPr>
          <p:cNvPr id="9" name="图片 8"/>
          <p:cNvPicPr>
            <a:picLocks noChangeAspect="1"/>
          </p:cNvPicPr>
          <p:nvPr/>
        </p:nvPicPr>
        <p:blipFill>
          <a:blip r:embed="rId3"/>
          <a:stretch>
            <a:fillRect/>
          </a:stretch>
        </p:blipFill>
        <p:spPr>
          <a:xfrm>
            <a:off x="556260" y="2124710"/>
            <a:ext cx="5365115" cy="41967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Setting Max-width</a:t>
            </a:r>
            <a:endParaRPr lang="en-US" altLang="zh-CN" dirty="0"/>
          </a:p>
        </p:txBody>
      </p:sp>
      <p:sp>
        <p:nvSpPr>
          <p:cNvPr id="3" name="内容占位符 2"/>
          <p:cNvSpPr>
            <a:spLocks noGrp="1"/>
          </p:cNvSpPr>
          <p:nvPr>
            <p:ph idx="1"/>
          </p:nvPr>
        </p:nvSpPr>
        <p:spPr>
          <a:xfrm>
            <a:off x="436605" y="1479550"/>
            <a:ext cx="11219935" cy="4921250"/>
          </a:xfrm>
        </p:spPr>
        <p:txBody>
          <a:bodyPr>
            <a:normAutofit fontScale="97500"/>
          </a:bodyPr>
          <a:lstStyle/>
          <a:p>
            <a:pPr algn="just"/>
            <a:r>
              <a:rPr lang="en-US" altLang="zh-CN" sz="3200" dirty="0"/>
              <a:t>The </a:t>
            </a:r>
            <a:r>
              <a:rPr lang="en-US" altLang="zh-CN" sz="3200" dirty="0">
                <a:solidFill>
                  <a:srgbClr val="FF0000"/>
                </a:solidFill>
              </a:rPr>
              <a:t>max-width</a:t>
            </a:r>
            <a:r>
              <a:rPr lang="en-US" altLang="zh-CN" sz="3200" dirty="0"/>
              <a:t> property is used to set the maximum width of an element.</a:t>
            </a:r>
            <a:endParaRPr lang="en-US" altLang="zh-CN" sz="3200" dirty="0"/>
          </a:p>
          <a:p>
            <a:pPr algn="just"/>
            <a:r>
              <a:rPr lang="en-US" altLang="zh-CN" sz="3200" dirty="0"/>
              <a:t>The max-width can be specified in </a:t>
            </a:r>
            <a:r>
              <a:rPr lang="en-US" altLang="zh-CN" sz="3200" dirty="0">
                <a:solidFill>
                  <a:srgbClr val="FF0000"/>
                </a:solidFill>
              </a:rPr>
              <a:t>length values</a:t>
            </a:r>
            <a:r>
              <a:rPr lang="en-US" altLang="zh-CN" sz="3200" dirty="0"/>
              <a:t>, like px, cm, etc., or in </a:t>
            </a:r>
            <a:r>
              <a:rPr lang="en-US" altLang="zh-CN" sz="3200" dirty="0">
                <a:solidFill>
                  <a:srgbClr val="FF0000"/>
                </a:solidFill>
              </a:rPr>
              <a:t>percent</a:t>
            </a:r>
            <a:r>
              <a:rPr lang="en-US" altLang="zh-CN" sz="3200" dirty="0"/>
              <a:t> (%) of the containing block, or set to </a:t>
            </a:r>
            <a:r>
              <a:rPr lang="en-US" altLang="zh-CN" sz="3200" dirty="0">
                <a:solidFill>
                  <a:srgbClr val="FF0000"/>
                </a:solidFill>
              </a:rPr>
              <a:t>none</a:t>
            </a:r>
            <a:r>
              <a:rPr lang="en-US" altLang="zh-CN" sz="3200" dirty="0"/>
              <a:t> (this is default. Means that there is no maximum width).</a:t>
            </a:r>
            <a:endParaRPr lang="en-US" altLang="zh-CN" sz="3200" dirty="0"/>
          </a:p>
          <a:p>
            <a:pPr algn="just"/>
            <a:r>
              <a:rPr lang="en-US" altLang="zh-CN" sz="3200" dirty="0"/>
              <a:t>The problem with the </a:t>
            </a:r>
            <a:r>
              <a:rPr lang="en-US" altLang="zh-CN" sz="3200" dirty="0">
                <a:solidFill>
                  <a:srgbClr val="FF0000"/>
                </a:solidFill>
              </a:rPr>
              <a:t>&lt;div&gt;</a:t>
            </a:r>
            <a:r>
              <a:rPr lang="en-US" altLang="zh-CN" sz="3200" dirty="0"/>
              <a:t> above occurs when the browser window is smaller than the width of the element (500px). The browser then adds a horizontal scrollbar to the page.</a:t>
            </a:r>
            <a:endParaRPr lang="en-US" altLang="zh-CN" sz="3200" dirty="0"/>
          </a:p>
          <a:p>
            <a:pPr algn="just"/>
            <a:r>
              <a:rPr lang="en-US" altLang="zh-CN" sz="3200" dirty="0"/>
              <a:t>Using max-width instead, in this situation,will</a:t>
            </a:r>
            <a:r>
              <a:rPr lang="en-US" altLang="zh-CN" sz="3200" dirty="0">
                <a:solidFill>
                  <a:srgbClr val="FFC000"/>
                </a:solidFill>
              </a:rPr>
              <a:t> improve the browser's handling of small windows.</a:t>
            </a:r>
            <a:endParaRPr lang="en-US" altLang="zh-CN" sz="3200" dirty="0">
              <a:solidFill>
                <a:srgbClr val="FFC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sym typeface="+mn-ea"/>
              </a:rPr>
              <a:t>How to set Height and Width</a:t>
            </a:r>
            <a:r>
              <a:rPr lang="zh-CN" altLang="en-US" dirty="0">
                <a:sym typeface="+mn-ea"/>
              </a:rPr>
              <a:t>？</a:t>
            </a:r>
            <a:endParaRPr lang="zh-CN" altLang="en-US" dirty="0">
              <a:sym typeface="+mn-ea"/>
            </a:endParaRPr>
          </a:p>
        </p:txBody>
      </p:sp>
      <p:sp>
        <p:nvSpPr>
          <p:cNvPr id="3" name="内容占位符 2"/>
          <p:cNvSpPr>
            <a:spLocks noGrp="1"/>
          </p:cNvSpPr>
          <p:nvPr>
            <p:ph idx="1"/>
          </p:nvPr>
        </p:nvSpPr>
        <p:spPr>
          <a:xfrm>
            <a:off x="556260" y="1584960"/>
            <a:ext cx="1950085" cy="539750"/>
          </a:xfrm>
        </p:spPr>
        <p:txBody>
          <a:bodyPr>
            <a:normAutofit/>
          </a:bodyPr>
          <a:lstStyle/>
          <a:p>
            <a:pPr marL="0" indent="0">
              <a:buNone/>
            </a:pPr>
            <a:r>
              <a:rPr lang="en-US" altLang="zh-CN" dirty="0"/>
              <a:t>Example:</a:t>
            </a:r>
            <a:endParaRPr lang="en-US" altLang="zh-CN" dirty="0"/>
          </a:p>
        </p:txBody>
      </p:sp>
      <p:sp>
        <p:nvSpPr>
          <p:cNvPr id="7" name="文本框 6"/>
          <p:cNvSpPr txBox="1"/>
          <p:nvPr/>
        </p:nvSpPr>
        <p:spPr>
          <a:xfrm>
            <a:off x="6255385" y="1584960"/>
            <a:ext cx="1169035"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rPr>
              <a:t>Result:</a:t>
            </a:r>
            <a:endParaRPr kumimoji="0" lang="en-US" altLang="zh-CN" sz="2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pic>
        <p:nvPicPr>
          <p:cNvPr id="10" name="图片 9"/>
          <p:cNvPicPr>
            <a:picLocks noChangeAspect="1"/>
          </p:cNvPicPr>
          <p:nvPr/>
        </p:nvPicPr>
        <p:blipFill>
          <a:blip r:embed="rId1"/>
          <a:stretch>
            <a:fillRect/>
          </a:stretch>
        </p:blipFill>
        <p:spPr>
          <a:xfrm>
            <a:off x="6156960" y="3141345"/>
            <a:ext cx="5629910" cy="1775460"/>
          </a:xfrm>
          <a:prstGeom prst="rect">
            <a:avLst/>
          </a:prstGeom>
        </p:spPr>
      </p:pic>
      <p:sp>
        <p:nvSpPr>
          <p:cNvPr id="11" name="文本框 10"/>
          <p:cNvSpPr txBox="1"/>
          <p:nvPr/>
        </p:nvSpPr>
        <p:spPr>
          <a:xfrm>
            <a:off x="556260" y="6307455"/>
            <a:ext cx="7559675"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FFC000"/>
                </a:solidFill>
                <a:effectLst/>
                <a:uLnTx/>
                <a:uFillTx/>
                <a:latin typeface="Calibri" panose="020F0502020204030204"/>
                <a:ea typeface="等线" panose="02010600030101010101" pitchFamily="2" charset="-122"/>
                <a:cs typeface="+mn-cs"/>
              </a:rPr>
              <a:t>Note: The value of the max-width property overrides width.</a:t>
            </a:r>
            <a:endParaRPr kumimoji="0" lang="en-US" altLang="zh-CN" sz="2400" b="0" i="0" u="none" strike="noStrike" kern="1200" cap="none" spc="0" normalizeH="0" baseline="0" noProof="0">
              <a:ln>
                <a:noFill/>
              </a:ln>
              <a:solidFill>
                <a:srgbClr val="FFC000"/>
              </a:solidFill>
              <a:effectLst/>
              <a:uLnTx/>
              <a:uFillTx/>
              <a:latin typeface="Calibri" panose="020F0502020204030204"/>
              <a:ea typeface="等线" panose="02010600030101010101" pitchFamily="2" charset="-122"/>
              <a:cs typeface="+mn-cs"/>
            </a:endParaRPr>
          </a:p>
        </p:txBody>
      </p:sp>
      <p:pic>
        <p:nvPicPr>
          <p:cNvPr id="4" name="图片 3"/>
          <p:cNvPicPr>
            <a:picLocks noChangeAspect="1"/>
          </p:cNvPicPr>
          <p:nvPr/>
        </p:nvPicPr>
        <p:blipFill>
          <a:blip r:embed="rId2"/>
          <a:stretch>
            <a:fillRect/>
          </a:stretch>
        </p:blipFill>
        <p:spPr>
          <a:xfrm>
            <a:off x="358775" y="1993900"/>
            <a:ext cx="5588635" cy="43135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CSS Text</a:t>
            </a:r>
            <a:endParaRPr lang="en-US"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What is CSS text formatting</a:t>
            </a:r>
            <a:r>
              <a:rPr lang="zh-CN" altLang="en-US" dirty="0"/>
              <a:t>？</a:t>
            </a:r>
            <a:endParaRPr lang="zh-CN" altLang="en-US" dirty="0"/>
          </a:p>
        </p:txBody>
      </p:sp>
      <p:sp>
        <p:nvSpPr>
          <p:cNvPr id="6" name="文本框 5"/>
          <p:cNvSpPr txBox="1"/>
          <p:nvPr/>
        </p:nvSpPr>
        <p:spPr>
          <a:xfrm>
            <a:off x="477795" y="1910351"/>
            <a:ext cx="11030581" cy="3416320"/>
          </a:xfrm>
          <a:prstGeom prst="rect">
            <a:avLst/>
          </a:prstGeom>
          <a:noFill/>
        </p:spPr>
        <p:txBody>
          <a:bodyPr wrap="square" rtlCol="0">
            <a:spAutoFit/>
          </a:bodyPr>
          <a:lstStyle/>
          <a:p>
            <a:pPr marL="457200" marR="0" lvl="0" indent="-457200" algn="just"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36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This text is styled with some of the text formatting properties. </a:t>
            </a:r>
            <a:endParaRPr kumimoji="0" lang="zh-CN" altLang="en-US" sz="36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endParaRPr>
          </a:p>
          <a:p>
            <a:pPr marL="457200" marR="0" lvl="0" indent="-457200" algn="just"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36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The heading uses the </a:t>
            </a:r>
            <a:r>
              <a:rPr kumimoji="0" lang="zh-CN" altLang="en-US" sz="3600" b="0" i="0" u="none" strike="noStrike" kern="1200" cap="none" spc="0" normalizeH="0" baseline="0" noProof="0" dirty="0">
                <a:ln>
                  <a:noFill/>
                </a:ln>
                <a:solidFill>
                  <a:srgbClr val="FFFF00"/>
                </a:solidFill>
                <a:effectLst/>
                <a:uLnTx/>
                <a:uFillTx/>
                <a:latin typeface="Calibri" panose="020F0502020204030204" pitchFamily="34" charset="0"/>
                <a:ea typeface="等线" panose="02010600030101010101" pitchFamily="2" charset="-122"/>
                <a:cs typeface="Calibri" panose="020F0502020204030204" pitchFamily="34" charset="0"/>
              </a:rPr>
              <a:t>text-align, text-transform, and color properties</a:t>
            </a:r>
            <a:r>
              <a:rPr kumimoji="0" lang="zh-CN" altLang="en-US" sz="36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 </a:t>
            </a:r>
            <a:endParaRPr kumimoji="0" lang="en-US" altLang="zh-CN" sz="36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endParaRPr>
          </a:p>
          <a:p>
            <a:pPr marL="457200" marR="0" lvl="0" indent="-457200" algn="just"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zh-CN" altLang="en-US" sz="36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The paragraph is </a:t>
            </a:r>
            <a:r>
              <a:rPr kumimoji="0" lang="zh-CN" altLang="en-US" sz="3600" b="0" i="0" u="none" strike="noStrike" kern="1200" cap="none" spc="0" normalizeH="0" baseline="0" noProof="0" dirty="0">
                <a:ln>
                  <a:noFill/>
                </a:ln>
                <a:solidFill>
                  <a:srgbClr val="FFFF00"/>
                </a:solidFill>
                <a:effectLst/>
                <a:uLnTx/>
                <a:uFillTx/>
                <a:latin typeface="Calibri" panose="020F0502020204030204" pitchFamily="34" charset="0"/>
                <a:ea typeface="等线" panose="02010600030101010101" pitchFamily="2" charset="-122"/>
                <a:cs typeface="Calibri" panose="020F0502020204030204" pitchFamily="34" charset="0"/>
              </a:rPr>
              <a:t>indented, aligned</a:t>
            </a:r>
            <a:r>
              <a:rPr kumimoji="0" lang="zh-CN" altLang="en-US" sz="36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 and the </a:t>
            </a:r>
            <a:r>
              <a:rPr kumimoji="0" lang="zh-CN" altLang="en-US" sz="3600" b="0" i="0" u="none" strike="noStrike" kern="1200" cap="none" spc="0" normalizeH="0" baseline="0" noProof="0" dirty="0">
                <a:ln>
                  <a:noFill/>
                </a:ln>
                <a:solidFill>
                  <a:srgbClr val="FFFF00"/>
                </a:solidFill>
                <a:effectLst/>
                <a:uLnTx/>
                <a:uFillTx/>
                <a:latin typeface="Calibri" panose="020F0502020204030204" pitchFamily="34" charset="0"/>
                <a:ea typeface="等线" panose="02010600030101010101" pitchFamily="2" charset="-122"/>
                <a:cs typeface="Calibri" panose="020F0502020204030204" pitchFamily="34" charset="0"/>
              </a:rPr>
              <a:t>space</a:t>
            </a:r>
            <a:r>
              <a:rPr kumimoji="0" lang="zh-CN" altLang="en-US" sz="36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 between characters is specified.</a:t>
            </a:r>
            <a:endParaRPr kumimoji="0" lang="zh-CN" altLang="en-US" sz="36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sym typeface="+mn-ea"/>
              </a:rPr>
              <a:t>How to use CSS text alignment</a:t>
            </a:r>
            <a:r>
              <a:rPr lang="en-US" altLang="zh-CN" dirty="0"/>
              <a:t> ?</a:t>
            </a:r>
            <a:endParaRPr lang="zh-CN" altLang="en-US" dirty="0"/>
          </a:p>
        </p:txBody>
      </p:sp>
      <p:sp>
        <p:nvSpPr>
          <p:cNvPr id="9" name="文本框 8"/>
          <p:cNvSpPr txBox="1"/>
          <p:nvPr/>
        </p:nvSpPr>
        <p:spPr>
          <a:xfrm>
            <a:off x="477794" y="1875155"/>
            <a:ext cx="11121081" cy="2554545"/>
          </a:xfrm>
          <a:prstGeom prst="rect">
            <a:avLst/>
          </a:prstGeom>
          <a:noFill/>
        </p:spPr>
        <p:txBody>
          <a:bodyPr wrap="square" rtlCol="0">
            <a:spAutoFit/>
          </a:bodyPr>
          <a:lstStyle/>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The </a:t>
            </a:r>
            <a:r>
              <a:rPr kumimoji="0" lang="en-US" sz="4000" b="0" i="0" u="none" strike="noStrike" kern="1200" cap="none" spc="0" normalizeH="0" baseline="0" noProof="0" dirty="0">
                <a:ln>
                  <a:noFill/>
                </a:ln>
                <a:solidFill>
                  <a:srgbClr val="FF0000"/>
                </a:solidFill>
                <a:effectLst/>
                <a:uLnTx/>
                <a:uFillTx/>
                <a:latin typeface="Calibri" panose="020F0502020204030204"/>
                <a:ea typeface="+mn-ea"/>
                <a:cs typeface="+mn-cs"/>
              </a:rPr>
              <a:t>text-align </a:t>
            </a: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property is used to set the horizontal alignment of a text.</a:t>
            </a:r>
            <a:endPar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A text can be left or right aligned, centered, or justified.</a:t>
            </a:r>
            <a:endPar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sym typeface="+mn-ea"/>
              </a:rPr>
              <a:t>How to use CSS text alignment</a:t>
            </a:r>
            <a:r>
              <a:rPr lang="en-US" altLang="zh-CN" dirty="0"/>
              <a:t> ?</a:t>
            </a:r>
            <a:endParaRPr lang="zh-CN" altLang="en-US" dirty="0"/>
          </a:p>
        </p:txBody>
      </p:sp>
      <p:sp>
        <p:nvSpPr>
          <p:cNvPr id="9" name="文本框 8"/>
          <p:cNvSpPr txBox="1"/>
          <p:nvPr/>
        </p:nvSpPr>
        <p:spPr>
          <a:xfrm>
            <a:off x="477794" y="1251283"/>
            <a:ext cx="11409406" cy="156966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rPr>
              <a:t>The following example shows </a:t>
            </a:r>
            <a:r>
              <a:rPr kumimoji="0" lang="en-US" sz="3200" b="0" i="0" u="none" strike="noStrike" kern="1200" cap="none" spc="0" normalizeH="0" baseline="0" noProof="0" dirty="0">
                <a:ln>
                  <a:noFill/>
                </a:ln>
                <a:solidFill>
                  <a:srgbClr val="FF0000"/>
                </a:solidFill>
                <a:effectLst/>
                <a:uLnTx/>
                <a:uFillTx/>
                <a:latin typeface="Calibri" panose="020F0502020204030204"/>
                <a:ea typeface="+mn-ea"/>
                <a:cs typeface="+mn-cs"/>
              </a:rPr>
              <a:t>center aligned</a:t>
            </a:r>
            <a:r>
              <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rPr>
              <a:t>, and</a:t>
            </a:r>
            <a:r>
              <a:rPr kumimoji="0" lang="en-US" sz="3200" b="0" i="0" u="none" strike="noStrike" kern="1200" cap="none" spc="0" normalizeH="0" baseline="0" noProof="0" dirty="0">
                <a:ln>
                  <a:noFill/>
                </a:ln>
                <a:solidFill>
                  <a:srgbClr val="FF0000"/>
                </a:solidFill>
                <a:effectLst/>
                <a:uLnTx/>
                <a:uFillTx/>
                <a:latin typeface="Calibri" panose="020F0502020204030204"/>
                <a:ea typeface="+mn-ea"/>
                <a:cs typeface="+mn-cs"/>
              </a:rPr>
              <a:t> left and right aligned</a:t>
            </a:r>
            <a:r>
              <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rPr>
              <a:t> text (left alignment is default if text direction is left-to-right, and right alignment is default if text direction is right-to-left):</a:t>
            </a:r>
            <a:endPar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3" name="图片 2"/>
          <p:cNvPicPr>
            <a:picLocks noChangeAspect="1"/>
          </p:cNvPicPr>
          <p:nvPr/>
        </p:nvPicPr>
        <p:blipFill>
          <a:blip r:embed="rId1"/>
          <a:stretch>
            <a:fillRect/>
          </a:stretch>
        </p:blipFill>
        <p:spPr>
          <a:xfrm>
            <a:off x="6985363" y="4139189"/>
            <a:ext cx="4901837" cy="1385635"/>
          </a:xfrm>
          <a:prstGeom prst="rect">
            <a:avLst/>
          </a:prstGeom>
        </p:spPr>
      </p:pic>
      <p:pic>
        <p:nvPicPr>
          <p:cNvPr id="4" name="图片 3"/>
          <p:cNvPicPr>
            <a:picLocks noChangeAspect="1"/>
          </p:cNvPicPr>
          <p:nvPr/>
        </p:nvPicPr>
        <p:blipFill>
          <a:blip r:embed="rId2"/>
          <a:stretch>
            <a:fillRect/>
          </a:stretch>
        </p:blipFill>
        <p:spPr>
          <a:xfrm>
            <a:off x="131806" y="3065120"/>
            <a:ext cx="6706235" cy="35337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80976"/>
            <a:ext cx="10515600" cy="1001284"/>
          </a:xfrm>
        </p:spPr>
        <p:txBody>
          <a:bodyPr/>
          <a:lstStyle/>
          <a:p>
            <a:pPr algn="ctr"/>
            <a:r>
              <a:rPr lang="en-US" altLang="zh-CN" dirty="0">
                <a:sym typeface="+mn-ea"/>
              </a:rPr>
              <a:t>How to use CSS text alignment</a:t>
            </a:r>
            <a:r>
              <a:rPr lang="en-US" altLang="zh-CN" dirty="0"/>
              <a:t> ?</a:t>
            </a:r>
            <a:endParaRPr lang="zh-CN" altLang="en-US" dirty="0"/>
          </a:p>
        </p:txBody>
      </p:sp>
      <p:sp>
        <p:nvSpPr>
          <p:cNvPr id="9" name="文本框 8"/>
          <p:cNvSpPr txBox="1"/>
          <p:nvPr/>
        </p:nvSpPr>
        <p:spPr>
          <a:xfrm>
            <a:off x="387178" y="1085072"/>
            <a:ext cx="11607114" cy="95410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When the text-align property is set to "</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mn-cs"/>
              </a:rPr>
              <a:t>justify</a:t>
            </a: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 each line is stretched so that every line has equal width, and the left and right margins are</a:t>
            </a:r>
            <a:endPar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3" name="图片 2"/>
          <p:cNvPicPr>
            <a:picLocks noChangeAspect="1"/>
          </p:cNvPicPr>
          <p:nvPr/>
        </p:nvPicPr>
        <p:blipFill>
          <a:blip r:embed="rId1"/>
          <a:stretch>
            <a:fillRect/>
          </a:stretch>
        </p:blipFill>
        <p:spPr>
          <a:xfrm>
            <a:off x="7626521" y="2331571"/>
            <a:ext cx="4367771" cy="4423456"/>
          </a:xfrm>
          <a:prstGeom prst="rect">
            <a:avLst/>
          </a:prstGeom>
        </p:spPr>
      </p:pic>
      <p:pic>
        <p:nvPicPr>
          <p:cNvPr id="4" name="图片 3"/>
          <p:cNvPicPr>
            <a:picLocks noChangeAspect="1"/>
          </p:cNvPicPr>
          <p:nvPr/>
        </p:nvPicPr>
        <p:blipFill>
          <a:blip r:embed="rId2"/>
          <a:stretch>
            <a:fillRect/>
          </a:stretch>
        </p:blipFill>
        <p:spPr>
          <a:xfrm>
            <a:off x="168875" y="2165673"/>
            <a:ext cx="6636867" cy="458935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sym typeface="+mn-ea"/>
              </a:rPr>
              <a:t>How to use CSS text decoration</a:t>
            </a:r>
            <a:r>
              <a:rPr lang="en-US" altLang="zh-CN" dirty="0"/>
              <a:t> ?</a:t>
            </a:r>
            <a:endParaRPr lang="zh-CN" altLang="en-US" dirty="0"/>
          </a:p>
        </p:txBody>
      </p:sp>
      <p:sp>
        <p:nvSpPr>
          <p:cNvPr id="9" name="文本框 8"/>
          <p:cNvSpPr txBox="1"/>
          <p:nvPr/>
        </p:nvSpPr>
        <p:spPr>
          <a:xfrm>
            <a:off x="1081949" y="1914343"/>
            <a:ext cx="10165171" cy="2062103"/>
          </a:xfrm>
          <a:prstGeom prst="rect">
            <a:avLst/>
          </a:prstGeom>
          <a:noFill/>
        </p:spPr>
        <p:txBody>
          <a:bodyPr wrap="square" rtlCol="0">
            <a:spAutoFit/>
          </a:bodyPr>
          <a:lstStyle/>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rPr>
              <a:t>The </a:t>
            </a:r>
            <a:r>
              <a:rPr kumimoji="0" lang="en-US" sz="3200" b="0" i="0" u="none" strike="noStrike" kern="1200" cap="none" spc="0" normalizeH="0" baseline="0" noProof="0" dirty="0">
                <a:ln>
                  <a:noFill/>
                </a:ln>
                <a:solidFill>
                  <a:srgbClr val="FF0000"/>
                </a:solidFill>
                <a:effectLst/>
                <a:uLnTx/>
                <a:uFillTx/>
                <a:latin typeface="Calibri" panose="020F0502020204030204"/>
                <a:ea typeface="+mn-ea"/>
                <a:cs typeface="+mn-cs"/>
              </a:rPr>
              <a:t>text-decoration </a:t>
            </a:r>
            <a:r>
              <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rPr>
              <a:t>property is used to set or remove decorations from text.</a:t>
            </a:r>
            <a:endPar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rPr>
              <a:t>The value </a:t>
            </a:r>
            <a:r>
              <a:rPr kumimoji="0" lang="en-US" sz="3200" b="0" i="0" u="none" strike="noStrike" kern="1200" cap="none" spc="0" normalizeH="0" baseline="0" noProof="0" dirty="0">
                <a:ln>
                  <a:noFill/>
                </a:ln>
                <a:solidFill>
                  <a:srgbClr val="FF0000"/>
                </a:solidFill>
                <a:effectLst/>
                <a:uLnTx/>
                <a:uFillTx/>
                <a:latin typeface="Calibri" panose="020F0502020204030204"/>
                <a:ea typeface="+mn-ea"/>
                <a:cs typeface="+mn-cs"/>
              </a:rPr>
              <a:t>text-decoration: none;</a:t>
            </a:r>
            <a:r>
              <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rPr>
              <a:t> is often used to remove underlines from links.</a:t>
            </a:r>
            <a:endPar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838175"/>
          </a:xfrm>
        </p:spPr>
        <p:txBody>
          <a:bodyPr/>
          <a:lstStyle/>
          <a:p>
            <a:pPr algn="ctr"/>
            <a:r>
              <a:rPr lang="en-US" altLang="zh-CN" dirty="0">
                <a:sym typeface="+mn-ea"/>
              </a:rPr>
              <a:t>How to use CSS text alignment</a:t>
            </a:r>
            <a:r>
              <a:rPr lang="en-US" altLang="zh-CN" dirty="0"/>
              <a:t> ?</a:t>
            </a:r>
            <a:endParaRPr lang="zh-CN" altLang="en-US" dirty="0"/>
          </a:p>
        </p:txBody>
      </p:sp>
      <p:sp>
        <p:nvSpPr>
          <p:cNvPr id="9" name="文本框 8"/>
          <p:cNvSpPr txBox="1"/>
          <p:nvPr/>
        </p:nvSpPr>
        <p:spPr>
          <a:xfrm>
            <a:off x="5412259" y="1516367"/>
            <a:ext cx="6115265"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The other </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mn-cs"/>
              </a:rPr>
              <a:t>text-decoration</a:t>
            </a: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 values are used to decorate text:</a:t>
            </a:r>
            <a:endPar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8" name="图片 7"/>
          <p:cNvPicPr>
            <a:picLocks noChangeAspect="1"/>
          </p:cNvPicPr>
          <p:nvPr/>
        </p:nvPicPr>
        <p:blipFill>
          <a:blip r:embed="rId1"/>
          <a:stretch>
            <a:fillRect/>
          </a:stretch>
        </p:blipFill>
        <p:spPr>
          <a:xfrm>
            <a:off x="5957424" y="2889562"/>
            <a:ext cx="5304320" cy="3156473"/>
          </a:xfrm>
          <a:prstGeom prst="rect">
            <a:avLst/>
          </a:prstGeom>
        </p:spPr>
      </p:pic>
      <p:pic>
        <p:nvPicPr>
          <p:cNvPr id="3" name="图片 2"/>
          <p:cNvPicPr>
            <a:picLocks noChangeAspect="1"/>
          </p:cNvPicPr>
          <p:nvPr/>
        </p:nvPicPr>
        <p:blipFill>
          <a:blip r:embed="rId2"/>
          <a:stretch>
            <a:fillRect/>
          </a:stretch>
        </p:blipFill>
        <p:spPr>
          <a:xfrm>
            <a:off x="664476" y="1631796"/>
            <a:ext cx="3693340" cy="511502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6"/>
            <a:ext cx="10515600" cy="993046"/>
          </a:xfrm>
        </p:spPr>
        <p:txBody>
          <a:bodyPr/>
          <a:lstStyle/>
          <a:p>
            <a:pPr algn="ctr"/>
            <a:r>
              <a:rPr lang="en-US" altLang="zh-CN" dirty="0">
                <a:sym typeface="+mn-ea"/>
              </a:rPr>
              <a:t>How to use CSS text transformation</a:t>
            </a:r>
            <a:r>
              <a:rPr lang="en-US" altLang="zh-CN" dirty="0"/>
              <a:t> ?</a:t>
            </a:r>
            <a:endParaRPr lang="zh-CN" altLang="en-US" dirty="0"/>
          </a:p>
        </p:txBody>
      </p:sp>
      <p:sp>
        <p:nvSpPr>
          <p:cNvPr id="9" name="文本框 8"/>
          <p:cNvSpPr txBox="1"/>
          <p:nvPr/>
        </p:nvSpPr>
        <p:spPr>
          <a:xfrm>
            <a:off x="5840627" y="1320473"/>
            <a:ext cx="6137188" cy="267765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rgbClr val="FFFF00"/>
                </a:solidFill>
                <a:effectLst/>
                <a:uLnTx/>
                <a:uFillTx/>
                <a:latin typeface="Calibri" panose="020F0502020204030204"/>
                <a:ea typeface="+mn-ea"/>
                <a:cs typeface="+mn-cs"/>
              </a:rPr>
              <a:t>The </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mn-cs"/>
              </a:rPr>
              <a:t>text-transform</a:t>
            </a:r>
            <a:r>
              <a:rPr kumimoji="0" lang="en-US" sz="2800" b="0" i="0" u="none" strike="noStrike" kern="1200" cap="none" spc="0" normalizeH="0" baseline="0" noProof="0" dirty="0">
                <a:ln>
                  <a:noFill/>
                </a:ln>
                <a:solidFill>
                  <a:srgbClr val="FFFF00"/>
                </a:solidFill>
                <a:effectLst/>
                <a:uLnTx/>
                <a:uFillTx/>
                <a:latin typeface="Calibri" panose="020F0502020204030204"/>
                <a:ea typeface="+mn-ea"/>
                <a:cs typeface="+mn-cs"/>
              </a:rPr>
              <a:t> property is used to specify uppercase and lowercase letters in a text. </a:t>
            </a: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It can be used to </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mn-cs"/>
              </a:rPr>
              <a:t>turn</a:t>
            </a: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 everything into uppercase or lowercase letters, or capitalize the first letter of each word</a:t>
            </a:r>
            <a:endPar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3" name="图片 2"/>
          <p:cNvPicPr>
            <a:picLocks noChangeAspect="1"/>
          </p:cNvPicPr>
          <p:nvPr/>
        </p:nvPicPr>
        <p:blipFill>
          <a:blip r:embed="rId1"/>
          <a:stretch>
            <a:fillRect/>
          </a:stretch>
        </p:blipFill>
        <p:spPr>
          <a:xfrm>
            <a:off x="6864139" y="4295929"/>
            <a:ext cx="4166854" cy="2500287"/>
          </a:xfrm>
          <a:prstGeom prst="rect">
            <a:avLst/>
          </a:prstGeom>
        </p:spPr>
      </p:pic>
      <p:pic>
        <p:nvPicPr>
          <p:cNvPr id="4" name="图片 3"/>
          <p:cNvPicPr>
            <a:picLocks noChangeAspect="1"/>
          </p:cNvPicPr>
          <p:nvPr/>
        </p:nvPicPr>
        <p:blipFill>
          <a:blip r:embed="rId2"/>
          <a:stretch>
            <a:fillRect/>
          </a:stretch>
        </p:blipFill>
        <p:spPr>
          <a:xfrm>
            <a:off x="273767" y="1400999"/>
            <a:ext cx="5054096" cy="539521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903489"/>
          </a:xfrm>
        </p:spPr>
        <p:txBody>
          <a:bodyPr/>
          <a:lstStyle/>
          <a:p>
            <a:pPr algn="ctr"/>
            <a:r>
              <a:rPr lang="en-US" altLang="zh-CN" dirty="0">
                <a:sym typeface="+mn-ea"/>
              </a:rPr>
              <a:t>How to use CSS text indentation</a:t>
            </a:r>
            <a:r>
              <a:rPr lang="en-US" altLang="zh-CN" dirty="0"/>
              <a:t> ?</a:t>
            </a:r>
            <a:endParaRPr lang="zh-CN" altLang="en-US" dirty="0"/>
          </a:p>
        </p:txBody>
      </p:sp>
      <p:sp>
        <p:nvSpPr>
          <p:cNvPr id="9" name="文本框 8"/>
          <p:cNvSpPr txBox="1"/>
          <p:nvPr/>
        </p:nvSpPr>
        <p:spPr>
          <a:xfrm>
            <a:off x="666206" y="1330960"/>
            <a:ext cx="1081604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The</a:t>
            </a: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 text-indent </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property is used to specify the </a:t>
            </a: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indentation</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of the first line of a text.</a:t>
            </a:r>
            <a:endParaRPr kumimoji="0" lang="zh-CN" altLang="en-US" sz="24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pic>
        <p:nvPicPr>
          <p:cNvPr id="8" name="图片 7"/>
          <p:cNvPicPr>
            <a:picLocks noChangeAspect="1"/>
          </p:cNvPicPr>
          <p:nvPr/>
        </p:nvPicPr>
        <p:blipFill>
          <a:blip r:embed="rId1"/>
          <a:stretch>
            <a:fillRect/>
          </a:stretch>
        </p:blipFill>
        <p:spPr>
          <a:xfrm>
            <a:off x="2175329" y="5642519"/>
            <a:ext cx="8627745" cy="1078230"/>
          </a:xfrm>
          <a:prstGeom prst="rect">
            <a:avLst/>
          </a:prstGeom>
        </p:spPr>
      </p:pic>
      <p:pic>
        <p:nvPicPr>
          <p:cNvPr id="3" name="图片 2"/>
          <p:cNvPicPr>
            <a:picLocks noChangeAspect="1"/>
          </p:cNvPicPr>
          <p:nvPr/>
        </p:nvPicPr>
        <p:blipFill>
          <a:blip r:embed="rId2"/>
          <a:stretch>
            <a:fillRect/>
          </a:stretch>
        </p:blipFill>
        <p:spPr>
          <a:xfrm>
            <a:off x="2645410" y="2160905"/>
            <a:ext cx="7334250" cy="325691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zh-CN" altLang="en-US" dirty="0"/>
              <a:t>CSS Fonts</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41558"/>
            <a:ext cx="10515600" cy="937310"/>
          </a:xfrm>
        </p:spPr>
        <p:txBody>
          <a:bodyPr/>
          <a:lstStyle/>
          <a:p>
            <a:pPr algn="ctr"/>
            <a:r>
              <a:rPr lang="en-US" altLang="zh-CN" dirty="0"/>
              <a:t>What is CSS fonts?</a:t>
            </a:r>
            <a:endParaRPr lang="zh-CN" altLang="en-US" dirty="0"/>
          </a:p>
        </p:txBody>
      </p:sp>
      <p:sp>
        <p:nvSpPr>
          <p:cNvPr id="3" name="内容占位符 2"/>
          <p:cNvSpPr>
            <a:spLocks noGrp="1"/>
          </p:cNvSpPr>
          <p:nvPr>
            <p:ph idx="1"/>
          </p:nvPr>
        </p:nvSpPr>
        <p:spPr>
          <a:xfrm>
            <a:off x="558112" y="1303414"/>
            <a:ext cx="11337325" cy="1453152"/>
          </a:xfrm>
        </p:spPr>
        <p:txBody>
          <a:bodyPr>
            <a:normAutofit lnSpcReduction="20000"/>
          </a:bodyPr>
          <a:lstStyle/>
          <a:p>
            <a:pPr marL="0" indent="0" algn="just" fontAlgn="auto">
              <a:lnSpc>
                <a:spcPct val="150000"/>
              </a:lnSpc>
              <a:buNone/>
            </a:pPr>
            <a:r>
              <a:rPr lang="en-US" altLang="zh-CN" sz="3200" dirty="0"/>
              <a:t>The CSS font properties define</a:t>
            </a:r>
            <a:r>
              <a:rPr lang="en-US" altLang="zh-CN" sz="3200" dirty="0">
                <a:solidFill>
                  <a:srgbClr val="FF0000"/>
                </a:solidFill>
              </a:rPr>
              <a:t> the font family</a:t>
            </a:r>
            <a:r>
              <a:rPr lang="en-US" altLang="zh-CN" sz="3200" dirty="0"/>
              <a:t>, </a:t>
            </a:r>
            <a:r>
              <a:rPr lang="en-US" altLang="zh-CN" sz="3200" dirty="0">
                <a:solidFill>
                  <a:srgbClr val="FF0000"/>
                </a:solidFill>
              </a:rPr>
              <a:t>boldness</a:t>
            </a:r>
            <a:r>
              <a:rPr lang="en-US" altLang="zh-CN" sz="3200" dirty="0"/>
              <a:t>, </a:t>
            </a:r>
            <a:r>
              <a:rPr lang="en-US" altLang="zh-CN" sz="3200" dirty="0">
                <a:solidFill>
                  <a:srgbClr val="FF0000"/>
                </a:solidFill>
              </a:rPr>
              <a:t>size</a:t>
            </a:r>
            <a:r>
              <a:rPr lang="en-US" altLang="zh-CN" sz="3200" dirty="0"/>
              <a:t>, and </a:t>
            </a:r>
            <a:r>
              <a:rPr lang="en-US" altLang="zh-CN" sz="3200" dirty="0">
                <a:solidFill>
                  <a:srgbClr val="FF0000"/>
                </a:solidFill>
              </a:rPr>
              <a:t>the style</a:t>
            </a:r>
            <a:r>
              <a:rPr lang="en-US" altLang="zh-CN" sz="3200" dirty="0"/>
              <a:t> of a text, In CSS, there are two types of font family names:</a:t>
            </a:r>
            <a:endParaRPr lang="en-US" altLang="zh-CN" sz="3200" dirty="0"/>
          </a:p>
        </p:txBody>
      </p:sp>
      <p:sp>
        <p:nvSpPr>
          <p:cNvPr id="4" name="内容占位符 2"/>
          <p:cNvSpPr txBox="1"/>
          <p:nvPr/>
        </p:nvSpPr>
        <p:spPr>
          <a:xfrm>
            <a:off x="558165" y="2881630"/>
            <a:ext cx="11213465" cy="30016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00000"/>
              </a:lnSpc>
              <a:spcBef>
                <a:spcPts val="0"/>
              </a:spcBef>
            </a:pPr>
            <a:r>
              <a:rPr lang="en-US" altLang="zh-CN" sz="3100" dirty="0">
                <a:solidFill>
                  <a:srgbClr val="FF0000"/>
                </a:solidFill>
              </a:rPr>
              <a:t>generic family</a:t>
            </a:r>
            <a:r>
              <a:rPr lang="en-US" altLang="zh-CN" sz="3100" dirty="0"/>
              <a:t> - a group of font families with a </a:t>
            </a:r>
            <a:r>
              <a:rPr lang="en-US" altLang="zh-CN" sz="3100" dirty="0">
                <a:solidFill>
                  <a:srgbClr val="FF0000"/>
                </a:solidFill>
              </a:rPr>
              <a:t>similar</a:t>
            </a:r>
            <a:r>
              <a:rPr lang="en-US" altLang="zh-CN" sz="3100" dirty="0"/>
              <a:t> look (like "Serif" or "Monospace")</a:t>
            </a:r>
            <a:endParaRPr lang="en-US" altLang="zh-CN" sz="3100" dirty="0"/>
          </a:p>
          <a:p>
            <a:pPr algn="just" fontAlgn="auto">
              <a:lnSpc>
                <a:spcPct val="100000"/>
              </a:lnSpc>
              <a:spcBef>
                <a:spcPts val="0"/>
              </a:spcBef>
            </a:pPr>
            <a:r>
              <a:rPr lang="en-US" altLang="zh-CN" sz="3100" dirty="0">
                <a:solidFill>
                  <a:srgbClr val="FF0000"/>
                </a:solidFill>
              </a:rPr>
              <a:t>font family</a:t>
            </a:r>
            <a:r>
              <a:rPr lang="en-US" altLang="zh-CN" sz="3100" dirty="0"/>
              <a:t> - a specific font family (like "Times New Roman" or "Arial")</a:t>
            </a:r>
            <a:endParaRPr lang="en-US" altLang="zh-CN" sz="3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6"/>
            <a:ext cx="10515600" cy="1154496"/>
          </a:xfrm>
        </p:spPr>
        <p:txBody>
          <a:bodyPr/>
          <a:lstStyle/>
          <a:p>
            <a:pPr algn="ctr"/>
            <a:r>
              <a:rPr lang="en-US" altLang="zh-CN" dirty="0">
                <a:sym typeface="+mn-ea"/>
              </a:rPr>
              <a:t>How to set Font Family</a:t>
            </a:r>
            <a:endParaRPr lang="zh-CN" altLang="en-US" dirty="0">
              <a:sym typeface="+mn-ea"/>
            </a:endParaRPr>
          </a:p>
        </p:txBody>
      </p:sp>
      <p:sp>
        <p:nvSpPr>
          <p:cNvPr id="3" name="内容占位符 2"/>
          <p:cNvSpPr>
            <a:spLocks noGrp="1"/>
          </p:cNvSpPr>
          <p:nvPr>
            <p:ph idx="1"/>
          </p:nvPr>
        </p:nvSpPr>
        <p:spPr>
          <a:xfrm>
            <a:off x="576648" y="1584960"/>
            <a:ext cx="11228173" cy="4502802"/>
          </a:xfrm>
        </p:spPr>
        <p:txBody>
          <a:bodyPr>
            <a:noAutofit/>
          </a:bodyPr>
          <a:lstStyle/>
          <a:p>
            <a:pPr algn="just"/>
            <a:r>
              <a:rPr lang="en-US" altLang="zh-CN" dirty="0"/>
              <a:t>The font family of a text is set with the </a:t>
            </a:r>
            <a:r>
              <a:rPr lang="en-US" altLang="zh-CN" dirty="0">
                <a:solidFill>
                  <a:srgbClr val="FF0000"/>
                </a:solidFill>
              </a:rPr>
              <a:t>font-family</a:t>
            </a:r>
            <a:r>
              <a:rPr lang="en-US" altLang="zh-CN" dirty="0"/>
              <a:t> property.</a:t>
            </a:r>
            <a:endParaRPr lang="en-US" altLang="zh-CN" dirty="0"/>
          </a:p>
          <a:p>
            <a:pPr algn="just"/>
            <a:r>
              <a:rPr lang="en-US" altLang="zh-CN" dirty="0"/>
              <a:t>The font-family property should hold several font names as a </a:t>
            </a:r>
            <a:r>
              <a:rPr lang="en-US" altLang="zh-CN" dirty="0">
                <a:solidFill>
                  <a:srgbClr val="FF0000"/>
                </a:solidFill>
              </a:rPr>
              <a:t>"fallback" system</a:t>
            </a:r>
            <a:r>
              <a:rPr lang="en-US" altLang="zh-CN" dirty="0"/>
              <a:t>. If the browser does not support the first font, it tries the next font, and so on.</a:t>
            </a:r>
            <a:endParaRPr lang="en-US" altLang="zh-CN" dirty="0"/>
          </a:p>
          <a:p>
            <a:pPr algn="just"/>
            <a:r>
              <a:rPr lang="en-US" altLang="zh-CN" dirty="0">
                <a:solidFill>
                  <a:srgbClr val="FF0000"/>
                </a:solidFill>
              </a:rPr>
              <a:t>Start</a:t>
            </a:r>
            <a:r>
              <a:rPr lang="en-US" altLang="zh-CN" dirty="0"/>
              <a:t> with the font </a:t>
            </a:r>
            <a:r>
              <a:rPr lang="en-US" altLang="zh-CN" dirty="0">
                <a:solidFill>
                  <a:srgbClr val="FF0000"/>
                </a:solidFill>
              </a:rPr>
              <a:t>you want</a:t>
            </a:r>
            <a:r>
              <a:rPr lang="en-US" altLang="zh-CN" dirty="0"/>
              <a:t>, and </a:t>
            </a:r>
            <a:r>
              <a:rPr lang="en-US" altLang="zh-CN" dirty="0">
                <a:solidFill>
                  <a:srgbClr val="FF0000"/>
                </a:solidFill>
              </a:rPr>
              <a:t>end</a:t>
            </a:r>
            <a:r>
              <a:rPr lang="en-US" altLang="zh-CN" dirty="0"/>
              <a:t> with a </a:t>
            </a:r>
            <a:r>
              <a:rPr lang="en-US" altLang="zh-CN" dirty="0">
                <a:solidFill>
                  <a:srgbClr val="FF0000"/>
                </a:solidFill>
              </a:rPr>
              <a:t>generic family</a:t>
            </a:r>
            <a:r>
              <a:rPr lang="en-US" altLang="zh-CN" dirty="0"/>
              <a:t>, to let the browser pick a similar font in the generic family, if no other fonts are available. </a:t>
            </a:r>
            <a:endParaRPr lang="en-US" altLang="zh-CN" dirty="0"/>
          </a:p>
          <a:p>
            <a:pPr algn="just"/>
            <a:r>
              <a:rPr kumimoji="0" lang="en-US" altLang="zh-CN" sz="28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Note: If the name of a font family is more than one word, it must be in </a:t>
            </a:r>
            <a:r>
              <a:rPr kumimoji="0" lang="en-US" altLang="zh-CN"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quotation marks</a:t>
            </a:r>
            <a:r>
              <a:rPr kumimoji="0" lang="en-US" altLang="zh-CN" sz="28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 like: "Times New Roman".</a:t>
            </a:r>
            <a:endParaRPr kumimoji="0" lang="en-US" altLang="zh-CN" sz="28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897865"/>
          </a:xfrm>
        </p:spPr>
        <p:txBody>
          <a:bodyPr/>
          <a:lstStyle/>
          <a:p>
            <a:pPr algn="ctr"/>
            <a:r>
              <a:rPr lang="en-US" altLang="zh-CN" dirty="0">
                <a:sym typeface="+mn-ea"/>
              </a:rPr>
              <a:t>How to set Font Family</a:t>
            </a:r>
            <a:endParaRPr lang="zh-CN" altLang="en-US" dirty="0">
              <a:sym typeface="+mn-ea"/>
            </a:endParaRPr>
          </a:p>
        </p:txBody>
      </p:sp>
      <p:sp>
        <p:nvSpPr>
          <p:cNvPr id="5" name="文本框 4"/>
          <p:cNvSpPr txBox="1"/>
          <p:nvPr/>
        </p:nvSpPr>
        <p:spPr>
          <a:xfrm>
            <a:off x="1223545" y="1523754"/>
            <a:ext cx="9486174"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More than one font family is specified in a comma-separated list:</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pic>
        <p:nvPicPr>
          <p:cNvPr id="11" name="图片 10"/>
          <p:cNvPicPr>
            <a:picLocks noChangeAspect="1"/>
          </p:cNvPicPr>
          <p:nvPr/>
        </p:nvPicPr>
        <p:blipFill>
          <a:blip r:embed="rId1"/>
          <a:stretch>
            <a:fillRect/>
          </a:stretch>
        </p:blipFill>
        <p:spPr>
          <a:xfrm>
            <a:off x="7536709" y="3765756"/>
            <a:ext cx="4655820" cy="995680"/>
          </a:xfrm>
          <a:prstGeom prst="rect">
            <a:avLst/>
          </a:prstGeom>
        </p:spPr>
      </p:pic>
      <p:pic>
        <p:nvPicPr>
          <p:cNvPr id="4" name="图片 3"/>
          <p:cNvPicPr>
            <a:picLocks noChangeAspect="1"/>
          </p:cNvPicPr>
          <p:nvPr/>
        </p:nvPicPr>
        <p:blipFill>
          <a:blip r:embed="rId2"/>
          <a:stretch>
            <a:fillRect/>
          </a:stretch>
        </p:blipFill>
        <p:spPr>
          <a:xfrm>
            <a:off x="74141" y="2567689"/>
            <a:ext cx="7337425" cy="39211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877717"/>
          </a:xfrm>
        </p:spPr>
        <p:txBody>
          <a:bodyPr/>
          <a:lstStyle/>
          <a:p>
            <a:pPr algn="ctr"/>
            <a:r>
              <a:rPr lang="en-US" altLang="zh-CN" dirty="0">
                <a:sym typeface="+mn-ea"/>
              </a:rPr>
              <a:t>How to set Font Style</a:t>
            </a:r>
            <a:endParaRPr lang="zh-CN" altLang="en-US" dirty="0">
              <a:sym typeface="+mn-ea"/>
            </a:endParaRPr>
          </a:p>
        </p:txBody>
      </p:sp>
      <p:pic>
        <p:nvPicPr>
          <p:cNvPr id="6" name="图片 5"/>
          <p:cNvPicPr>
            <a:picLocks noChangeAspect="1"/>
          </p:cNvPicPr>
          <p:nvPr/>
        </p:nvPicPr>
        <p:blipFill>
          <a:blip r:embed="rId1"/>
          <a:stretch>
            <a:fillRect/>
          </a:stretch>
        </p:blipFill>
        <p:spPr>
          <a:xfrm>
            <a:off x="7241059" y="4856944"/>
            <a:ext cx="4288164" cy="1715374"/>
          </a:xfrm>
          <a:prstGeom prst="rect">
            <a:avLst/>
          </a:prstGeom>
        </p:spPr>
      </p:pic>
      <p:pic>
        <p:nvPicPr>
          <p:cNvPr id="5" name="图片 4"/>
          <p:cNvPicPr>
            <a:picLocks noChangeAspect="1"/>
          </p:cNvPicPr>
          <p:nvPr/>
        </p:nvPicPr>
        <p:blipFill>
          <a:blip r:embed="rId2"/>
          <a:stretch>
            <a:fillRect/>
          </a:stretch>
        </p:blipFill>
        <p:spPr>
          <a:xfrm>
            <a:off x="53237" y="1706313"/>
            <a:ext cx="6320790" cy="4998720"/>
          </a:xfrm>
          <a:prstGeom prst="rect">
            <a:avLst/>
          </a:prstGeom>
        </p:spPr>
      </p:pic>
      <p:sp>
        <p:nvSpPr>
          <p:cNvPr id="3" name="内容占位符 2"/>
          <p:cNvSpPr>
            <a:spLocks noGrp="1"/>
          </p:cNvSpPr>
          <p:nvPr>
            <p:ph idx="1"/>
          </p:nvPr>
        </p:nvSpPr>
        <p:spPr>
          <a:xfrm>
            <a:off x="6557317" y="1091873"/>
            <a:ext cx="5478164" cy="3888260"/>
          </a:xfrm>
        </p:spPr>
        <p:txBody>
          <a:bodyPr>
            <a:noAutofit/>
          </a:bodyPr>
          <a:lstStyle/>
          <a:p>
            <a:pPr marL="0" indent="0">
              <a:buNone/>
            </a:pPr>
            <a:r>
              <a:rPr lang="en-US" altLang="zh-CN" dirty="0"/>
              <a:t>The </a:t>
            </a:r>
            <a:r>
              <a:rPr lang="en-US" altLang="zh-CN" dirty="0">
                <a:solidFill>
                  <a:srgbClr val="FF0000"/>
                </a:solidFill>
              </a:rPr>
              <a:t>font-style</a:t>
            </a:r>
            <a:r>
              <a:rPr lang="en-US" altLang="zh-CN" dirty="0"/>
              <a:t> property is mostly used to specify</a:t>
            </a:r>
            <a:r>
              <a:rPr lang="en-US" altLang="zh-CN" dirty="0">
                <a:solidFill>
                  <a:srgbClr val="FF0000"/>
                </a:solidFill>
              </a:rPr>
              <a:t> italic text. </a:t>
            </a:r>
            <a:endParaRPr lang="en-US" altLang="zh-CN" dirty="0"/>
          </a:p>
          <a:p>
            <a:r>
              <a:rPr lang="en-US" altLang="zh-CN" dirty="0">
                <a:solidFill>
                  <a:srgbClr val="FF0000"/>
                </a:solidFill>
              </a:rPr>
              <a:t>normal</a:t>
            </a:r>
            <a:r>
              <a:rPr lang="en-US" altLang="zh-CN" dirty="0"/>
              <a:t> - The text is shown normally</a:t>
            </a:r>
            <a:endParaRPr lang="en-US" altLang="zh-CN" dirty="0"/>
          </a:p>
          <a:p>
            <a:r>
              <a:rPr lang="en-US" altLang="zh-CN" dirty="0">
                <a:solidFill>
                  <a:srgbClr val="FF0000"/>
                </a:solidFill>
              </a:rPr>
              <a:t>italic</a:t>
            </a:r>
            <a:r>
              <a:rPr lang="en-US" altLang="zh-CN" dirty="0"/>
              <a:t> - The text is shown in italics</a:t>
            </a:r>
            <a:endParaRPr lang="en-US" altLang="zh-CN" dirty="0"/>
          </a:p>
          <a:p>
            <a:r>
              <a:rPr lang="en-US" altLang="zh-CN" dirty="0">
                <a:solidFill>
                  <a:srgbClr val="FF0000"/>
                </a:solidFill>
              </a:rPr>
              <a:t>oblique</a:t>
            </a:r>
            <a:r>
              <a:rPr lang="en-US" altLang="zh-CN" dirty="0"/>
              <a:t> - The text is "leaning" (oblique is very similar to italic, but less supported) </a:t>
            </a: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sym typeface="+mn-ea"/>
              </a:rPr>
              <a:t>How to set Font Size</a:t>
            </a:r>
            <a:endParaRPr lang="zh-CN" altLang="en-US" dirty="0">
              <a:sym typeface="+mn-ea"/>
            </a:endParaRPr>
          </a:p>
        </p:txBody>
      </p:sp>
      <p:sp>
        <p:nvSpPr>
          <p:cNvPr id="3" name="内容占位符 2"/>
          <p:cNvSpPr>
            <a:spLocks noGrp="1"/>
          </p:cNvSpPr>
          <p:nvPr>
            <p:ph idx="1"/>
          </p:nvPr>
        </p:nvSpPr>
        <p:spPr>
          <a:xfrm>
            <a:off x="471170" y="1584960"/>
            <a:ext cx="11297920" cy="3535680"/>
          </a:xfrm>
        </p:spPr>
        <p:txBody>
          <a:bodyPr>
            <a:noAutofit/>
          </a:bodyPr>
          <a:lstStyle/>
          <a:p>
            <a:pPr algn="just"/>
            <a:r>
              <a:rPr lang="en-US" altLang="zh-CN" dirty="0"/>
              <a:t>The </a:t>
            </a:r>
            <a:r>
              <a:rPr lang="en-US" altLang="zh-CN" dirty="0">
                <a:solidFill>
                  <a:srgbClr val="FF0000"/>
                </a:solidFill>
              </a:rPr>
              <a:t>font-size</a:t>
            </a:r>
            <a:r>
              <a:rPr lang="en-US" altLang="zh-CN" dirty="0"/>
              <a:t> property sets the size of the text.</a:t>
            </a:r>
            <a:endParaRPr lang="en-US" altLang="zh-CN" dirty="0"/>
          </a:p>
          <a:p>
            <a:pPr algn="just"/>
            <a:r>
              <a:rPr lang="en-US" altLang="zh-CN" dirty="0"/>
              <a:t>Being able to manage the text size is important in web design. However, you should not use font size adjustments to make paragraphs look like headings, or headings look like paragraphs.</a:t>
            </a:r>
            <a:endParaRPr lang="en-US" altLang="zh-CN" dirty="0"/>
          </a:p>
          <a:p>
            <a:pPr algn="just"/>
            <a:r>
              <a:rPr lang="en-US" altLang="zh-CN" dirty="0"/>
              <a:t>Always use the proper HTML tags, like </a:t>
            </a:r>
            <a:r>
              <a:rPr lang="en-US" altLang="zh-CN" dirty="0">
                <a:solidFill>
                  <a:srgbClr val="FF0000"/>
                </a:solidFill>
              </a:rPr>
              <a:t>&lt;h1&gt; - &lt;h6&gt;</a:t>
            </a:r>
            <a:r>
              <a:rPr lang="en-US" altLang="zh-CN" dirty="0"/>
              <a:t> for headings and </a:t>
            </a:r>
            <a:r>
              <a:rPr lang="en-US" altLang="zh-CN" dirty="0">
                <a:solidFill>
                  <a:srgbClr val="FF0000"/>
                </a:solidFill>
              </a:rPr>
              <a:t>&lt;p&gt;</a:t>
            </a:r>
            <a:r>
              <a:rPr lang="en-US" altLang="zh-CN" dirty="0"/>
              <a:t> for paragraphs.</a:t>
            </a:r>
            <a:endParaRPr lang="en-US" altLang="zh-CN" dirty="0"/>
          </a:p>
          <a:p>
            <a:pPr algn="just"/>
            <a:r>
              <a:rPr lang="en-US" altLang="zh-CN" dirty="0"/>
              <a:t>The font-size value can be an </a:t>
            </a:r>
            <a:r>
              <a:rPr lang="en-US" altLang="zh-CN" dirty="0">
                <a:solidFill>
                  <a:srgbClr val="FF0000"/>
                </a:solidFill>
              </a:rPr>
              <a:t>absolute</a:t>
            </a:r>
            <a:r>
              <a:rPr lang="en-US" altLang="zh-CN" dirty="0"/>
              <a:t>, or </a:t>
            </a:r>
            <a:r>
              <a:rPr lang="en-US" altLang="zh-CN" dirty="0">
                <a:solidFill>
                  <a:srgbClr val="FF0000"/>
                </a:solidFill>
              </a:rPr>
              <a:t>relative size</a:t>
            </a:r>
            <a:r>
              <a:rPr lang="en-US" altLang="zh-CN" dirty="0"/>
              <a:t>.</a:t>
            </a:r>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6"/>
            <a:ext cx="10515600" cy="768622"/>
          </a:xfrm>
        </p:spPr>
        <p:txBody>
          <a:bodyPr/>
          <a:lstStyle/>
          <a:p>
            <a:pPr algn="ctr"/>
            <a:r>
              <a:rPr lang="en-US" altLang="zh-CN" dirty="0">
                <a:sym typeface="+mn-ea"/>
              </a:rPr>
              <a:t>How to set Font Size</a:t>
            </a:r>
            <a:endParaRPr lang="zh-CN" altLang="en-US" dirty="0">
              <a:sym typeface="+mn-ea"/>
            </a:endParaRPr>
          </a:p>
        </p:txBody>
      </p:sp>
      <p:sp>
        <p:nvSpPr>
          <p:cNvPr id="3" name="内容占位符 2"/>
          <p:cNvSpPr>
            <a:spLocks noGrp="1"/>
          </p:cNvSpPr>
          <p:nvPr>
            <p:ph idx="1"/>
          </p:nvPr>
        </p:nvSpPr>
        <p:spPr>
          <a:xfrm>
            <a:off x="692150" y="1099185"/>
            <a:ext cx="11101070" cy="4552950"/>
          </a:xfrm>
        </p:spPr>
        <p:txBody>
          <a:bodyPr>
            <a:noAutofit/>
          </a:bodyPr>
          <a:lstStyle/>
          <a:p>
            <a:pPr marL="0" indent="0">
              <a:buNone/>
            </a:pPr>
            <a:r>
              <a:rPr lang="en-US" altLang="zh-CN" dirty="0"/>
              <a:t>Absolute size:</a:t>
            </a:r>
            <a:endParaRPr lang="en-US" altLang="zh-CN" dirty="0"/>
          </a:p>
          <a:p>
            <a:r>
              <a:rPr lang="en-US" altLang="zh-CN" dirty="0"/>
              <a:t>Sets the text to a specified size</a:t>
            </a:r>
            <a:endParaRPr lang="en-US" altLang="zh-CN" dirty="0"/>
          </a:p>
          <a:p>
            <a:r>
              <a:rPr lang="en-US" altLang="zh-CN" dirty="0">
                <a:solidFill>
                  <a:srgbClr val="FF0000"/>
                </a:solidFill>
              </a:rPr>
              <a:t>Does not allow</a:t>
            </a:r>
            <a:r>
              <a:rPr lang="en-US" altLang="zh-CN" dirty="0"/>
              <a:t> a user to change the text size in all browsers (bad for accessibility reasons)</a:t>
            </a:r>
            <a:endParaRPr lang="en-US" altLang="zh-CN" dirty="0"/>
          </a:p>
          <a:p>
            <a:r>
              <a:rPr lang="en-US" altLang="zh-CN" dirty="0"/>
              <a:t>Absolute size is useful when the </a:t>
            </a:r>
            <a:r>
              <a:rPr lang="en-US" altLang="zh-CN" dirty="0">
                <a:solidFill>
                  <a:srgbClr val="FF0000"/>
                </a:solidFill>
              </a:rPr>
              <a:t>physical size</a:t>
            </a:r>
            <a:r>
              <a:rPr lang="en-US" altLang="zh-CN" dirty="0"/>
              <a:t> of the output is known</a:t>
            </a:r>
            <a:endParaRPr lang="en-US" altLang="zh-CN" dirty="0"/>
          </a:p>
          <a:p>
            <a:pPr marL="0" indent="0">
              <a:buNone/>
            </a:pPr>
            <a:endParaRPr lang="en-US" altLang="zh-CN" dirty="0"/>
          </a:p>
          <a:p>
            <a:pPr marL="0" indent="0">
              <a:buNone/>
            </a:pPr>
            <a:r>
              <a:rPr lang="en-US" altLang="zh-CN" dirty="0"/>
              <a:t>Relative size:</a:t>
            </a:r>
            <a:endParaRPr lang="en-US" altLang="zh-CN" dirty="0"/>
          </a:p>
          <a:p>
            <a:r>
              <a:rPr lang="en-US" altLang="zh-CN" dirty="0"/>
              <a:t>Sets the size relative to </a:t>
            </a:r>
            <a:r>
              <a:rPr lang="en-US" altLang="zh-CN" dirty="0">
                <a:solidFill>
                  <a:srgbClr val="FF0000"/>
                </a:solidFill>
              </a:rPr>
              <a:t>surrounding elements</a:t>
            </a:r>
            <a:endParaRPr lang="en-US" altLang="zh-CN" dirty="0"/>
          </a:p>
          <a:p>
            <a:r>
              <a:rPr lang="en-US" altLang="zh-CN" dirty="0">
                <a:solidFill>
                  <a:srgbClr val="FF0000"/>
                </a:solidFill>
              </a:rPr>
              <a:t>Allows </a:t>
            </a:r>
            <a:r>
              <a:rPr lang="en-US" altLang="zh-CN" dirty="0"/>
              <a:t>a user to change the text size in browsers</a:t>
            </a:r>
            <a:endParaRPr lang="en-US" altLang="zh-CN" dirty="0"/>
          </a:p>
        </p:txBody>
      </p:sp>
      <p:sp>
        <p:nvSpPr>
          <p:cNvPr id="4" name="文本框 3"/>
          <p:cNvSpPr txBox="1"/>
          <p:nvPr/>
        </p:nvSpPr>
        <p:spPr>
          <a:xfrm>
            <a:off x="988423" y="5768950"/>
            <a:ext cx="1051623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Note: If you do not specify a font size, the </a:t>
            </a:r>
            <a:r>
              <a:rPr kumimoji="0" lang="zh-CN" altLang="en-US" sz="24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default size</a:t>
            </a:r>
            <a:r>
              <a:rPr kumimoji="0" lang="zh-CN" altLang="en-US" sz="24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 for normal text, like paragraphs, is 16px (16px=1em).</a:t>
            </a:r>
            <a:endParaRPr kumimoji="0" lang="zh-CN" altLang="en-US" sz="24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897865"/>
          </a:xfrm>
        </p:spPr>
        <p:txBody>
          <a:bodyPr/>
          <a:lstStyle/>
          <a:p>
            <a:pPr algn="ctr"/>
            <a:r>
              <a:rPr lang="en-US" altLang="zh-CN" dirty="0">
                <a:sym typeface="+mn-ea"/>
              </a:rPr>
              <a:t>How to set Font Size with Pixels</a:t>
            </a:r>
            <a:endParaRPr lang="zh-CN" altLang="en-US" dirty="0">
              <a:sym typeface="+mn-ea"/>
            </a:endParaRPr>
          </a:p>
        </p:txBody>
      </p:sp>
      <p:sp>
        <p:nvSpPr>
          <p:cNvPr id="5" name="文本框 4"/>
          <p:cNvSpPr txBox="1"/>
          <p:nvPr/>
        </p:nvSpPr>
        <p:spPr>
          <a:xfrm>
            <a:off x="748665" y="1122680"/>
            <a:ext cx="1120203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Setting the text size with pixels gives you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full control</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over the text size:</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12" name="文本框 11"/>
          <p:cNvSpPr txBox="1"/>
          <p:nvPr/>
        </p:nvSpPr>
        <p:spPr>
          <a:xfrm>
            <a:off x="748665" y="6293485"/>
            <a:ext cx="10695305"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a:ln>
                  <a:noFill/>
                </a:ln>
                <a:solidFill>
                  <a:srgbClr val="FFC000"/>
                </a:solidFill>
                <a:effectLst/>
                <a:uLnTx/>
                <a:uFillTx/>
                <a:latin typeface="Calibri" panose="020F0502020204030204"/>
                <a:ea typeface="+mn-ea"/>
                <a:cs typeface="+mn-cs"/>
              </a:rPr>
              <a:t>Hint</a:t>
            </a:r>
            <a:r>
              <a:rPr kumimoji="0" sz="2400" b="0" i="0" u="none" strike="noStrike" kern="1200" cap="none" spc="0" normalizeH="0" baseline="0" noProof="0">
                <a:ln>
                  <a:noFill/>
                </a:ln>
                <a:solidFill>
                  <a:srgbClr val="FFC000"/>
                </a:solidFill>
                <a:effectLst/>
                <a:uLnTx/>
                <a:uFillTx/>
                <a:latin typeface="Calibri" panose="020F0502020204030204"/>
                <a:ea typeface="+mn-ea"/>
                <a:cs typeface="+mn-cs"/>
              </a:rPr>
              <a:t>: If you use pixels, you can </a:t>
            </a:r>
            <a:r>
              <a:rPr kumimoji="0" sz="2400" b="0" i="0" u="none" strike="noStrike" kern="1200" cap="none" spc="0" normalizeH="0" baseline="0" noProof="0">
                <a:ln>
                  <a:noFill/>
                </a:ln>
                <a:solidFill>
                  <a:srgbClr val="FF0000"/>
                </a:solidFill>
                <a:effectLst/>
                <a:uLnTx/>
                <a:uFillTx/>
                <a:latin typeface="Calibri" panose="020F0502020204030204"/>
                <a:ea typeface="+mn-ea"/>
                <a:cs typeface="+mn-cs"/>
              </a:rPr>
              <a:t>still use the zoom tool</a:t>
            </a:r>
            <a:r>
              <a:rPr kumimoji="0" sz="2400" b="0" i="0" u="none" strike="noStrike" kern="1200" cap="none" spc="0" normalizeH="0" baseline="0" noProof="0">
                <a:ln>
                  <a:noFill/>
                </a:ln>
                <a:solidFill>
                  <a:srgbClr val="FFC000"/>
                </a:solidFill>
                <a:effectLst/>
                <a:uLnTx/>
                <a:uFillTx/>
                <a:latin typeface="Calibri" panose="020F0502020204030204"/>
                <a:ea typeface="+mn-ea"/>
                <a:cs typeface="+mn-cs"/>
              </a:rPr>
              <a:t> to resize the entire page.</a:t>
            </a:r>
            <a:endParaRPr kumimoji="0" sz="2400" b="0" i="0" u="none" strike="noStrike" kern="1200" cap="none" spc="0" normalizeH="0" baseline="0" noProof="0">
              <a:ln>
                <a:noFill/>
              </a:ln>
              <a:solidFill>
                <a:srgbClr val="FFC000"/>
              </a:solidFill>
              <a:effectLst/>
              <a:uLnTx/>
              <a:uFillTx/>
              <a:latin typeface="Calibri" panose="020F0502020204030204"/>
              <a:ea typeface="+mn-ea"/>
              <a:cs typeface="+mn-cs"/>
            </a:endParaRPr>
          </a:p>
        </p:txBody>
      </p:sp>
      <p:pic>
        <p:nvPicPr>
          <p:cNvPr id="6" name="图片 5"/>
          <p:cNvPicPr>
            <a:picLocks noChangeAspect="1"/>
          </p:cNvPicPr>
          <p:nvPr/>
        </p:nvPicPr>
        <p:blipFill>
          <a:blip r:embed="rId1"/>
          <a:stretch>
            <a:fillRect/>
          </a:stretch>
        </p:blipFill>
        <p:spPr>
          <a:xfrm>
            <a:off x="6166485" y="3021965"/>
            <a:ext cx="3835400" cy="2315210"/>
          </a:xfrm>
          <a:prstGeom prst="rect">
            <a:avLst/>
          </a:prstGeom>
        </p:spPr>
      </p:pic>
      <p:pic>
        <p:nvPicPr>
          <p:cNvPr id="8" name="图片 7"/>
          <p:cNvPicPr>
            <a:picLocks noChangeAspect="1"/>
          </p:cNvPicPr>
          <p:nvPr/>
        </p:nvPicPr>
        <p:blipFill>
          <a:blip r:embed="rId2"/>
          <a:stretch>
            <a:fillRect/>
          </a:stretch>
        </p:blipFill>
        <p:spPr>
          <a:xfrm>
            <a:off x="1935661" y="1718310"/>
            <a:ext cx="3042285" cy="450151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sym typeface="+mn-ea"/>
              </a:rPr>
              <a:t>How to set Font Size with </a:t>
            </a:r>
            <a:r>
              <a:rPr lang="en-US" altLang="zh-CN" dirty="0" err="1">
                <a:sym typeface="+mn-ea"/>
              </a:rPr>
              <a:t>Em</a:t>
            </a:r>
            <a:endParaRPr lang="zh-CN" altLang="en-US" dirty="0">
              <a:sym typeface="+mn-ea"/>
            </a:endParaRPr>
          </a:p>
        </p:txBody>
      </p:sp>
      <p:sp>
        <p:nvSpPr>
          <p:cNvPr id="3" name="内容占位符 2"/>
          <p:cNvSpPr>
            <a:spLocks noGrp="1"/>
          </p:cNvSpPr>
          <p:nvPr>
            <p:ph idx="1"/>
          </p:nvPr>
        </p:nvSpPr>
        <p:spPr>
          <a:xfrm>
            <a:off x="838200" y="1430020"/>
            <a:ext cx="10515600" cy="4079875"/>
          </a:xfrm>
        </p:spPr>
        <p:txBody>
          <a:bodyPr>
            <a:noAutofit/>
          </a:bodyPr>
          <a:lstStyle/>
          <a:p>
            <a:pPr algn="just"/>
            <a:r>
              <a:rPr lang="en-US" altLang="zh-CN" dirty="0"/>
              <a:t>To allow users to resize the text (in the browser menu), many developers use </a:t>
            </a:r>
            <a:r>
              <a:rPr lang="en-US" altLang="zh-CN" dirty="0">
                <a:solidFill>
                  <a:srgbClr val="FF0000"/>
                </a:solidFill>
              </a:rPr>
              <a:t>em</a:t>
            </a:r>
            <a:r>
              <a:rPr lang="en-US" altLang="zh-CN" dirty="0"/>
              <a:t> instead of pixels.</a:t>
            </a:r>
            <a:endParaRPr lang="en-US" altLang="zh-CN" dirty="0"/>
          </a:p>
          <a:p>
            <a:pPr algn="just"/>
            <a:r>
              <a:rPr lang="en-US" altLang="zh-CN" dirty="0"/>
              <a:t>The em size unit is recommended by the </a:t>
            </a:r>
            <a:r>
              <a:rPr lang="en-US" altLang="zh-CN" dirty="0">
                <a:solidFill>
                  <a:srgbClr val="FFFF00"/>
                </a:solidFill>
              </a:rPr>
              <a:t>W3C</a:t>
            </a:r>
            <a:r>
              <a:rPr lang="en-US" altLang="zh-CN" dirty="0"/>
              <a:t>.</a:t>
            </a:r>
            <a:endParaRPr lang="en-US" altLang="zh-CN" dirty="0"/>
          </a:p>
          <a:p>
            <a:pPr algn="just"/>
            <a:r>
              <a:rPr lang="en-US" altLang="zh-CN" dirty="0"/>
              <a:t>1em is equal to the current font size. The default text size in browsers is 16px. So, the </a:t>
            </a:r>
            <a:r>
              <a:rPr lang="en-US" altLang="zh-CN" dirty="0">
                <a:solidFill>
                  <a:srgbClr val="FF0000"/>
                </a:solidFill>
              </a:rPr>
              <a:t>default size</a:t>
            </a:r>
            <a:r>
              <a:rPr lang="en-US" altLang="zh-CN" dirty="0"/>
              <a:t> of 1em is 16px.</a:t>
            </a:r>
            <a:endParaRPr lang="en-US" altLang="zh-CN" dirty="0"/>
          </a:p>
          <a:p>
            <a:pPr algn="just"/>
            <a:r>
              <a:rPr lang="en-US" altLang="zh-CN" dirty="0"/>
              <a:t>The size can be calculated from pixels to em using this formula: </a:t>
            </a:r>
            <a:r>
              <a:rPr lang="en-US" altLang="zh-CN" dirty="0">
                <a:solidFill>
                  <a:srgbClr val="FF0000"/>
                </a:solidFill>
              </a:rPr>
              <a:t>pixels/16=em</a:t>
            </a:r>
            <a:r>
              <a:rPr lang="en-US" altLang="zh-CN" dirty="0"/>
              <a:t> </a:t>
            </a:r>
            <a:endParaRPr lang="en-US" altLang="zh-CN" dirty="0"/>
          </a:p>
          <a:p>
            <a:pPr algn="just"/>
            <a:r>
              <a:rPr lang="zh-CN" altLang="en-US" noProof="0" dirty="0">
                <a:ln>
                  <a:noFill/>
                </a:ln>
                <a:solidFill>
                  <a:prstClr val="white"/>
                </a:solidFill>
                <a:effectLst/>
                <a:uLnTx/>
                <a:uFillTx/>
                <a:latin typeface="Calibri" panose="020F0502020204030204"/>
                <a:ea typeface="等线" panose="02010600030101010101" pitchFamily="2" charset="-122"/>
                <a:sym typeface="+mn-ea"/>
              </a:rPr>
              <a:t>with the em size, it is possible to adjust the text size </a:t>
            </a:r>
            <a:r>
              <a:rPr lang="zh-CN" altLang="en-US" noProof="0" dirty="0">
                <a:ln>
                  <a:noFill/>
                </a:ln>
                <a:solidFill>
                  <a:srgbClr val="FF0000"/>
                </a:solidFill>
                <a:effectLst/>
                <a:uLnTx/>
                <a:uFillTx/>
                <a:latin typeface="Calibri" panose="020F0502020204030204"/>
                <a:ea typeface="等线" panose="02010600030101010101" pitchFamily="2" charset="-122"/>
                <a:sym typeface="+mn-ea"/>
              </a:rPr>
              <a:t>in all browsers</a:t>
            </a:r>
            <a:r>
              <a:rPr lang="zh-CN" altLang="en-US" noProof="0" dirty="0">
                <a:ln>
                  <a:noFill/>
                </a:ln>
                <a:solidFill>
                  <a:prstClr val="white"/>
                </a:solidFill>
                <a:effectLst/>
                <a:uLnTx/>
                <a:uFillTx/>
                <a:latin typeface="Calibri" panose="020F0502020204030204"/>
                <a:ea typeface="等线" panose="02010600030101010101" pitchFamily="2" charset="-122"/>
                <a:sym typeface="+mn-ea"/>
              </a:rPr>
              <a:t>.</a:t>
            </a:r>
            <a:endParaRPr kumimoji="0" lang="zh-CN" altLang="en-US"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algn="just"/>
            <a:endParaRPr lang="en-US"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sym typeface="+mn-ea"/>
              </a:rPr>
              <a:t>How to set Font Size with </a:t>
            </a:r>
            <a:r>
              <a:rPr lang="en-US" altLang="zh-CN" dirty="0" err="1">
                <a:sym typeface="+mn-ea"/>
              </a:rPr>
              <a:t>Em</a:t>
            </a:r>
            <a:endParaRPr lang="zh-CN" altLang="en-US" dirty="0">
              <a:sym typeface="+mn-ea"/>
            </a:endParaRPr>
          </a:p>
        </p:txBody>
      </p:sp>
      <p:pic>
        <p:nvPicPr>
          <p:cNvPr id="8" name="图片 7"/>
          <p:cNvPicPr>
            <a:picLocks noChangeAspect="1"/>
          </p:cNvPicPr>
          <p:nvPr/>
        </p:nvPicPr>
        <p:blipFill>
          <a:blip r:embed="rId1"/>
          <a:stretch>
            <a:fillRect/>
          </a:stretch>
        </p:blipFill>
        <p:spPr>
          <a:xfrm>
            <a:off x="5922100" y="2427968"/>
            <a:ext cx="6151880" cy="1818640"/>
          </a:xfrm>
          <a:prstGeom prst="rect">
            <a:avLst/>
          </a:prstGeom>
        </p:spPr>
      </p:pic>
      <p:pic>
        <p:nvPicPr>
          <p:cNvPr id="4" name="图片 3"/>
          <p:cNvPicPr>
            <a:picLocks noChangeAspect="1"/>
          </p:cNvPicPr>
          <p:nvPr/>
        </p:nvPicPr>
        <p:blipFill>
          <a:blip r:embed="rId2"/>
          <a:stretch>
            <a:fillRect/>
          </a:stretch>
        </p:blipFill>
        <p:spPr>
          <a:xfrm>
            <a:off x="697865" y="5111860"/>
            <a:ext cx="7321476" cy="1654699"/>
          </a:xfrm>
          <a:prstGeom prst="rect">
            <a:avLst/>
          </a:prstGeom>
        </p:spPr>
      </p:pic>
      <p:pic>
        <p:nvPicPr>
          <p:cNvPr id="6" name="图片 5"/>
          <p:cNvPicPr>
            <a:picLocks noChangeAspect="1"/>
          </p:cNvPicPr>
          <p:nvPr/>
        </p:nvPicPr>
        <p:blipFill>
          <a:blip r:embed="rId3"/>
          <a:stretch>
            <a:fillRect/>
          </a:stretch>
        </p:blipFill>
        <p:spPr>
          <a:xfrm>
            <a:off x="697865" y="1448616"/>
            <a:ext cx="4939964" cy="351527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zh-CN" altLang="en-US" dirty="0"/>
              <a:t>CSS Links</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What is CSS Links?</a:t>
            </a:r>
            <a:endParaRPr lang="zh-CN" altLang="en-US" dirty="0"/>
          </a:p>
        </p:txBody>
      </p:sp>
      <p:sp>
        <p:nvSpPr>
          <p:cNvPr id="3" name="内容占位符 2"/>
          <p:cNvSpPr>
            <a:spLocks noGrp="1"/>
          </p:cNvSpPr>
          <p:nvPr>
            <p:ph idx="1"/>
          </p:nvPr>
        </p:nvSpPr>
        <p:spPr>
          <a:xfrm>
            <a:off x="838200" y="1825625"/>
            <a:ext cx="10732135" cy="1727835"/>
          </a:xfrm>
        </p:spPr>
        <p:txBody>
          <a:bodyPr>
            <a:noAutofit/>
          </a:bodyPr>
          <a:lstStyle/>
          <a:p>
            <a:pPr marL="0" indent="0" algn="l">
              <a:buNone/>
            </a:pPr>
            <a:r>
              <a:rPr lang="en-US" altLang="zh-CN" sz="3200" dirty="0"/>
              <a:t>With CSS, </a:t>
            </a:r>
            <a:r>
              <a:rPr lang="en-US" altLang="zh-CN" sz="3200" dirty="0">
                <a:solidFill>
                  <a:srgbClr val="FF0000"/>
                </a:solidFill>
              </a:rPr>
              <a:t>links</a:t>
            </a:r>
            <a:r>
              <a:rPr lang="en-US" altLang="zh-CN" sz="3200" dirty="0"/>
              <a:t> can be </a:t>
            </a:r>
            <a:r>
              <a:rPr lang="en-US" altLang="zh-CN" sz="3200" dirty="0">
                <a:solidFill>
                  <a:srgbClr val="FF0000"/>
                </a:solidFill>
              </a:rPr>
              <a:t>styled</a:t>
            </a:r>
            <a:r>
              <a:rPr lang="en-US" altLang="zh-CN" sz="3200" dirty="0"/>
              <a:t> in different ways.</a:t>
            </a:r>
            <a:endParaRPr lang="en-US" altLang="zh-CN" sz="3200" dirty="0"/>
          </a:p>
          <a:p>
            <a:pPr marL="0" indent="0" algn="l">
              <a:buNone/>
            </a:pPr>
            <a:r>
              <a:rPr lang="en-US" altLang="zh-CN" sz="3200" dirty="0">
                <a:sym typeface="+mn-ea"/>
              </a:rPr>
              <a:t>Links can be styled with </a:t>
            </a:r>
            <a:r>
              <a:rPr lang="en-US" altLang="zh-CN" sz="3200" dirty="0">
                <a:solidFill>
                  <a:srgbClr val="FF0000"/>
                </a:solidFill>
                <a:sym typeface="+mn-ea"/>
              </a:rPr>
              <a:t>any CSS property</a:t>
            </a:r>
            <a:r>
              <a:rPr lang="en-US" altLang="zh-CN" sz="3200" dirty="0">
                <a:sym typeface="+mn-ea"/>
              </a:rPr>
              <a:t> (e.g. color, font-family, background, etc.).</a:t>
            </a:r>
            <a:endParaRPr lang="en-US" altLang="zh-CN" sz="3200" dirty="0"/>
          </a:p>
          <a:p>
            <a:pPr marL="0" indent="0" algn="l">
              <a:buNone/>
            </a:pPr>
            <a:endParaRPr lang="en-US" altLang="zh-CN" sz="3200" dirty="0"/>
          </a:p>
        </p:txBody>
      </p:sp>
      <p:pic>
        <p:nvPicPr>
          <p:cNvPr id="4" name="图片 3"/>
          <p:cNvPicPr>
            <a:picLocks noChangeAspect="1"/>
          </p:cNvPicPr>
          <p:nvPr/>
        </p:nvPicPr>
        <p:blipFill>
          <a:blip r:embed="rId1"/>
          <a:stretch>
            <a:fillRect/>
          </a:stretch>
        </p:blipFill>
        <p:spPr>
          <a:xfrm>
            <a:off x="1903730" y="4554855"/>
            <a:ext cx="8385175" cy="111696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066775"/>
          </a:xfrm>
        </p:spPr>
        <p:txBody>
          <a:bodyPr/>
          <a:lstStyle/>
          <a:p>
            <a:pPr algn="ctr"/>
            <a:r>
              <a:rPr lang="en-US" altLang="zh-CN" dirty="0">
                <a:sym typeface="+mn-ea"/>
              </a:rPr>
              <a:t>How to Style Links</a:t>
            </a:r>
            <a:endParaRPr lang="zh-CN" altLang="en-US" dirty="0">
              <a:sym typeface="+mn-ea"/>
            </a:endParaRPr>
          </a:p>
        </p:txBody>
      </p:sp>
      <p:sp>
        <p:nvSpPr>
          <p:cNvPr id="3" name="内容占位符 2"/>
          <p:cNvSpPr>
            <a:spLocks noGrp="1"/>
          </p:cNvSpPr>
          <p:nvPr>
            <p:ph idx="1"/>
          </p:nvPr>
        </p:nvSpPr>
        <p:spPr>
          <a:xfrm>
            <a:off x="838200" y="1584960"/>
            <a:ext cx="10515600" cy="3727450"/>
          </a:xfrm>
        </p:spPr>
        <p:txBody>
          <a:bodyPr>
            <a:noAutofit/>
          </a:bodyPr>
          <a:lstStyle/>
          <a:p>
            <a:pPr marL="0" indent="0" algn="just">
              <a:buNone/>
            </a:pPr>
            <a:r>
              <a:rPr lang="en-US" altLang="zh-CN" sz="3200" dirty="0"/>
              <a:t>links can be styled differently depending on what </a:t>
            </a:r>
            <a:r>
              <a:rPr lang="en-US" altLang="zh-CN" sz="3200" dirty="0">
                <a:solidFill>
                  <a:srgbClr val="FF0000"/>
                </a:solidFill>
              </a:rPr>
              <a:t>state</a:t>
            </a:r>
            <a:r>
              <a:rPr lang="en-US" altLang="zh-CN" sz="3200" dirty="0"/>
              <a:t> they are in. The four links states are: </a:t>
            </a:r>
            <a:endParaRPr lang="en-US" altLang="zh-CN" sz="3200" dirty="0"/>
          </a:p>
          <a:p>
            <a:pPr algn="just"/>
            <a:r>
              <a:rPr lang="en-US" altLang="zh-CN" sz="3200" dirty="0">
                <a:solidFill>
                  <a:srgbClr val="FF0000"/>
                </a:solidFill>
              </a:rPr>
              <a:t>a:link</a:t>
            </a:r>
            <a:r>
              <a:rPr lang="en-US" altLang="zh-CN" sz="3200" dirty="0"/>
              <a:t> - a normal, unvisited link</a:t>
            </a:r>
            <a:endParaRPr lang="en-US" altLang="zh-CN" sz="3200" dirty="0"/>
          </a:p>
          <a:p>
            <a:pPr algn="just"/>
            <a:r>
              <a:rPr lang="en-US" altLang="zh-CN" sz="3200" dirty="0">
                <a:solidFill>
                  <a:srgbClr val="FF0000"/>
                </a:solidFill>
              </a:rPr>
              <a:t>a:visited</a:t>
            </a:r>
            <a:r>
              <a:rPr lang="en-US" altLang="zh-CN" sz="3200" dirty="0"/>
              <a:t> - a link the user has visited</a:t>
            </a:r>
            <a:endParaRPr lang="en-US" altLang="zh-CN" sz="3200" dirty="0"/>
          </a:p>
          <a:p>
            <a:pPr algn="just"/>
            <a:r>
              <a:rPr lang="en-US" altLang="zh-CN" sz="3200" dirty="0">
                <a:solidFill>
                  <a:srgbClr val="FF0000"/>
                </a:solidFill>
              </a:rPr>
              <a:t>a:hover</a:t>
            </a:r>
            <a:r>
              <a:rPr lang="en-US" altLang="zh-CN" sz="3200" dirty="0"/>
              <a:t> - a link when the user mouses over it</a:t>
            </a:r>
            <a:endParaRPr lang="en-US" altLang="zh-CN" sz="3200" dirty="0"/>
          </a:p>
          <a:p>
            <a:pPr algn="just"/>
            <a:r>
              <a:rPr lang="en-US" altLang="zh-CN" sz="3200" dirty="0">
                <a:solidFill>
                  <a:srgbClr val="FF0000"/>
                </a:solidFill>
              </a:rPr>
              <a:t>a:active</a:t>
            </a:r>
            <a:r>
              <a:rPr lang="en-US" altLang="zh-CN" sz="3200" dirty="0"/>
              <a:t> - a link the moment it is clicked</a:t>
            </a:r>
            <a:endParaRPr lang="en-US" altLang="zh-CN" sz="3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066775"/>
          </a:xfrm>
        </p:spPr>
        <p:txBody>
          <a:bodyPr/>
          <a:lstStyle/>
          <a:p>
            <a:pPr algn="ctr"/>
            <a:r>
              <a:rPr lang="en-US" altLang="zh-CN" dirty="0">
                <a:sym typeface="+mn-ea"/>
              </a:rPr>
              <a:t>How to Style Links</a:t>
            </a:r>
            <a:endParaRPr lang="zh-CN" altLang="en-US" dirty="0">
              <a:sym typeface="+mn-ea"/>
            </a:endParaRPr>
          </a:p>
        </p:txBody>
      </p:sp>
      <p:sp>
        <p:nvSpPr>
          <p:cNvPr id="4" name="文本框 3"/>
          <p:cNvSpPr txBox="1"/>
          <p:nvPr/>
        </p:nvSpPr>
        <p:spPr>
          <a:xfrm>
            <a:off x="1177290" y="1249045"/>
            <a:ext cx="1498600"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Example:</a:t>
            </a: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p:cNvSpPr txBox="1"/>
          <p:nvPr/>
        </p:nvSpPr>
        <p:spPr>
          <a:xfrm>
            <a:off x="3752850" y="3831590"/>
            <a:ext cx="1169035"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rPr>
              <a:t>Result:</a:t>
            </a:r>
            <a:endParaRPr kumimoji="0" lang="en-US" altLang="zh-CN" sz="2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pic>
        <p:nvPicPr>
          <p:cNvPr id="11" name="图片 10"/>
          <p:cNvPicPr>
            <a:picLocks noChangeAspect="1"/>
          </p:cNvPicPr>
          <p:nvPr/>
        </p:nvPicPr>
        <p:blipFill>
          <a:blip r:embed="rId1"/>
          <a:stretch>
            <a:fillRect/>
          </a:stretch>
        </p:blipFill>
        <p:spPr>
          <a:xfrm>
            <a:off x="3752850" y="4493260"/>
            <a:ext cx="7778115" cy="1890395"/>
          </a:xfrm>
          <a:prstGeom prst="rect">
            <a:avLst/>
          </a:prstGeom>
        </p:spPr>
      </p:pic>
      <p:pic>
        <p:nvPicPr>
          <p:cNvPr id="3" name="图片 2"/>
          <p:cNvPicPr>
            <a:picLocks noChangeAspect="1"/>
          </p:cNvPicPr>
          <p:nvPr/>
        </p:nvPicPr>
        <p:blipFill>
          <a:blip r:embed="rId2"/>
          <a:stretch>
            <a:fillRect/>
          </a:stretch>
        </p:blipFill>
        <p:spPr>
          <a:xfrm>
            <a:off x="3752850" y="1882775"/>
            <a:ext cx="7853680" cy="1680210"/>
          </a:xfrm>
          <a:prstGeom prst="rect">
            <a:avLst/>
          </a:prstGeom>
        </p:spPr>
      </p:pic>
      <p:pic>
        <p:nvPicPr>
          <p:cNvPr id="5" name="图片 4"/>
          <p:cNvPicPr>
            <a:picLocks noChangeAspect="1"/>
          </p:cNvPicPr>
          <p:nvPr/>
        </p:nvPicPr>
        <p:blipFill>
          <a:blip r:embed="rId3"/>
          <a:stretch>
            <a:fillRect/>
          </a:stretch>
        </p:blipFill>
        <p:spPr>
          <a:xfrm>
            <a:off x="585470" y="1767016"/>
            <a:ext cx="2189480" cy="491426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838175"/>
          </a:xfrm>
        </p:spPr>
        <p:txBody>
          <a:bodyPr/>
          <a:lstStyle/>
          <a:p>
            <a:pPr algn="ctr"/>
            <a:r>
              <a:rPr lang="en-US" altLang="zh-CN" dirty="0">
                <a:sym typeface="+mn-ea"/>
              </a:rPr>
              <a:t>How to set Text Decoration</a:t>
            </a:r>
            <a:endParaRPr lang="zh-CN" altLang="en-US" dirty="0">
              <a:sym typeface="+mn-ea"/>
            </a:endParaRPr>
          </a:p>
        </p:txBody>
      </p:sp>
      <p:sp>
        <p:nvSpPr>
          <p:cNvPr id="5" name="文本框 4"/>
          <p:cNvSpPr txBox="1"/>
          <p:nvPr/>
        </p:nvSpPr>
        <p:spPr>
          <a:xfrm>
            <a:off x="598351" y="1053971"/>
            <a:ext cx="11202035" cy="13836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The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text-decoration</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property is mostly used to remove underlines from links:</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defRPr/>
            </a:pPr>
            <a:r>
              <a:rPr lang="zh-CN" altLang="en-US" sz="2800" noProof="0" dirty="0">
                <a:ln>
                  <a:noFill/>
                </a:ln>
                <a:solidFill>
                  <a:prstClr val="white"/>
                </a:solidFill>
                <a:effectLst/>
                <a:uLnTx/>
                <a:uFillTx/>
                <a:latin typeface="Calibri" panose="020F0502020204030204"/>
                <a:ea typeface="等线" panose="02010600030101010101" pitchFamily="2" charset="-122"/>
                <a:sym typeface="+mn-ea"/>
              </a:rPr>
              <a:t>The </a:t>
            </a:r>
            <a:r>
              <a:rPr lang="zh-CN" altLang="en-US" sz="2800" noProof="0" dirty="0">
                <a:ln>
                  <a:noFill/>
                </a:ln>
                <a:solidFill>
                  <a:srgbClr val="FF0000"/>
                </a:solidFill>
                <a:effectLst/>
                <a:uLnTx/>
                <a:uFillTx/>
                <a:latin typeface="Calibri" panose="020F0502020204030204"/>
                <a:ea typeface="等线" panose="02010600030101010101" pitchFamily="2" charset="-122"/>
                <a:sym typeface="+mn-ea"/>
              </a:rPr>
              <a:t>background-color</a:t>
            </a:r>
            <a:r>
              <a:rPr lang="zh-CN" altLang="en-US" sz="2800" noProof="0" dirty="0">
                <a:ln>
                  <a:noFill/>
                </a:ln>
                <a:solidFill>
                  <a:prstClr val="white"/>
                </a:solidFill>
                <a:effectLst/>
                <a:uLnTx/>
                <a:uFillTx/>
                <a:latin typeface="Calibri" panose="020F0502020204030204"/>
                <a:ea typeface="等线" panose="02010600030101010101" pitchFamily="2" charset="-122"/>
                <a:sym typeface="+mn-ea"/>
              </a:rPr>
              <a:t> property can be used to specify a background color for links:</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pic>
        <p:nvPicPr>
          <p:cNvPr id="6" name="图片 5"/>
          <p:cNvPicPr>
            <a:picLocks noChangeAspect="1"/>
          </p:cNvPicPr>
          <p:nvPr/>
        </p:nvPicPr>
        <p:blipFill>
          <a:blip r:embed="rId1"/>
          <a:srcRect r="59124" b="30438"/>
          <a:stretch>
            <a:fillRect/>
          </a:stretch>
        </p:blipFill>
        <p:spPr>
          <a:xfrm>
            <a:off x="2402840" y="2362200"/>
            <a:ext cx="3502025" cy="4403090"/>
          </a:xfrm>
          <a:prstGeom prst="rect">
            <a:avLst/>
          </a:prstGeom>
        </p:spPr>
      </p:pic>
      <p:pic>
        <p:nvPicPr>
          <p:cNvPr id="3" name="图片 2"/>
          <p:cNvPicPr>
            <a:picLocks noChangeAspect="1"/>
          </p:cNvPicPr>
          <p:nvPr>
            <p:custDataLst>
              <p:tags r:id="rId2"/>
            </p:custDataLst>
          </p:nvPr>
        </p:nvPicPr>
        <p:blipFill>
          <a:blip r:embed="rId3"/>
          <a:stretch>
            <a:fillRect/>
          </a:stretch>
        </p:blipFill>
        <p:spPr>
          <a:xfrm>
            <a:off x="7068185" y="2362200"/>
            <a:ext cx="3541395" cy="43383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910021"/>
          </a:xfrm>
        </p:spPr>
        <p:txBody>
          <a:bodyPr>
            <a:normAutofit/>
          </a:bodyPr>
          <a:lstStyle/>
          <a:p>
            <a:pPr algn="ctr"/>
            <a:r>
              <a:rPr lang="en-US" altLang="zh-CN" dirty="0">
                <a:sym typeface="+mn-ea"/>
              </a:rPr>
              <a:t>Advanced - How to set Link Buttons</a:t>
            </a:r>
            <a:endParaRPr lang="zh-CN" altLang="en-US" dirty="0">
              <a:sym typeface="+mn-ea"/>
            </a:endParaRPr>
          </a:p>
        </p:txBody>
      </p:sp>
      <p:sp>
        <p:nvSpPr>
          <p:cNvPr id="5" name="文本框 4"/>
          <p:cNvSpPr txBox="1"/>
          <p:nvPr/>
        </p:nvSpPr>
        <p:spPr>
          <a:xfrm>
            <a:off x="631008" y="1169126"/>
            <a:ext cx="11202035"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This example demonstrates a more advanced example where we combine several CSS properties to display links as</a:t>
            </a:r>
            <a:r>
              <a:rPr kumimoji="0" lang="zh-CN" altLang="en-US" sz="2800" b="0" i="0" u="none" strike="noStrike" kern="1200" cap="none" spc="0" normalizeH="0" baseline="0" noProof="0" dirty="0">
                <a:ln>
                  <a:noFill/>
                </a:ln>
                <a:solidFill>
                  <a:srgbClr val="FF0000"/>
                </a:solidFill>
                <a:effectLst/>
                <a:uLnTx/>
                <a:uFillTx/>
                <a:latin typeface="Calibri" panose="020F0502020204030204" pitchFamily="34" charset="0"/>
                <a:ea typeface="等线" panose="02010600030101010101" pitchFamily="2" charset="-122"/>
                <a:cs typeface="Calibri" panose="020F0502020204030204" pitchFamily="34" charset="0"/>
              </a:rPr>
              <a:t> boxes/buttons</a:t>
            </a:r>
            <a:r>
              <a:rPr lang="en-US" altLang="zh-CN" sz="2800" dirty="0">
                <a:solidFill>
                  <a:prstClr val="white"/>
                </a:solidFill>
                <a:latin typeface="Calibri" panose="020F0502020204030204" pitchFamily="34" charset="0"/>
                <a:ea typeface="等线" panose="02010600030101010101" pitchFamily="2" charset="-122"/>
                <a:cs typeface="Calibri" panose="020F0502020204030204" pitchFamily="34" charset="0"/>
              </a:rPr>
              <a:t>.</a:t>
            </a:r>
            <a:r>
              <a:rPr lang="zh-CN" altLang="en-US" sz="2800" dirty="0">
                <a:solidFill>
                  <a:prstClr val="white"/>
                </a:solidFill>
                <a:latin typeface="Calibri" panose="020F0502020204030204" pitchFamily="34" charset="0"/>
                <a:ea typeface="等线" panose="02010600030101010101" pitchFamily="2" charset="-122"/>
                <a:cs typeface="Calibri" panose="020F0502020204030204" pitchFamily="34" charset="0"/>
              </a:rPr>
              <a:t> </a:t>
            </a:r>
            <a:endParaRPr kumimoji="0" lang="zh-CN" altLang="en-US" sz="28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pic>
        <p:nvPicPr>
          <p:cNvPr id="9" name="图片 8"/>
          <p:cNvPicPr>
            <a:picLocks noChangeAspect="1"/>
          </p:cNvPicPr>
          <p:nvPr/>
        </p:nvPicPr>
        <p:blipFill>
          <a:blip r:embed="rId1"/>
          <a:stretch>
            <a:fillRect/>
          </a:stretch>
        </p:blipFill>
        <p:spPr>
          <a:xfrm>
            <a:off x="6793774" y="2369185"/>
            <a:ext cx="3864610" cy="1697990"/>
          </a:xfrm>
          <a:prstGeom prst="rect">
            <a:avLst/>
          </a:prstGeom>
        </p:spPr>
      </p:pic>
      <p:pic>
        <p:nvPicPr>
          <p:cNvPr id="8" name="图片 7"/>
          <p:cNvPicPr>
            <a:picLocks noChangeAspect="1"/>
          </p:cNvPicPr>
          <p:nvPr/>
        </p:nvPicPr>
        <p:blipFill>
          <a:blip r:embed="rId2"/>
          <a:stretch>
            <a:fillRect/>
          </a:stretch>
        </p:blipFill>
        <p:spPr>
          <a:xfrm>
            <a:off x="695960" y="2369185"/>
            <a:ext cx="4957445" cy="4357370"/>
          </a:xfrm>
          <a:prstGeom prst="rect">
            <a:avLst/>
          </a:prstGeom>
        </p:spPr>
      </p:pic>
      <p:sp>
        <p:nvSpPr>
          <p:cNvPr id="4" name="文本框 3"/>
          <p:cNvSpPr txBox="1"/>
          <p:nvPr/>
        </p:nvSpPr>
        <p:spPr>
          <a:xfrm>
            <a:off x="6203093" y="4765544"/>
            <a:ext cx="5629950" cy="1815882"/>
          </a:xfrm>
          <a:prstGeom prst="rect">
            <a:avLst/>
          </a:prstGeom>
          <a:noFill/>
        </p:spPr>
        <p:txBody>
          <a:bodyPr wrap="square">
            <a:spAutoFit/>
          </a:bodyPr>
          <a:lstStyle/>
          <a:p>
            <a:pPr algn="just"/>
            <a:r>
              <a:rPr lang="zh-CN" altLang="en-US" sz="2800" dirty="0"/>
              <a:t>The main difference compared to display: inline is that display: inline-block allows you to set the width and height on the element</a:t>
            </a:r>
            <a:endParaRPr lang="zh-CN" altLang="en-US" sz="2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887583"/>
            <a:ext cx="9144000" cy="1121287"/>
          </a:xfrm>
        </p:spPr>
        <p:txBody>
          <a:bodyPr/>
          <a:lstStyle/>
          <a:p>
            <a:r>
              <a:rPr lang="en-US" altLang="zh-CN" dirty="0"/>
              <a:t>CSS Lists</a:t>
            </a:r>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970280"/>
          </a:xfrm>
        </p:spPr>
        <p:txBody>
          <a:bodyPr/>
          <a:lstStyle/>
          <a:p>
            <a:pPr algn="ctr"/>
            <a:r>
              <a:rPr lang="en-US" altLang="zh-CN" dirty="0"/>
              <a:t>What is CSS Lists?</a:t>
            </a:r>
            <a:endParaRPr lang="zh-CN" altLang="en-US" dirty="0"/>
          </a:p>
        </p:txBody>
      </p:sp>
      <p:sp>
        <p:nvSpPr>
          <p:cNvPr id="4" name="文本框 3"/>
          <p:cNvSpPr txBox="1"/>
          <p:nvPr/>
        </p:nvSpPr>
        <p:spPr>
          <a:xfrm>
            <a:off x="650875" y="1460500"/>
            <a:ext cx="11144885" cy="4897755"/>
          </a:xfrm>
          <a:prstGeom prst="rect">
            <a:avLst/>
          </a:prstGeom>
          <a:noFill/>
        </p:spPr>
        <p:txBody>
          <a:bodyPr wrap="square" rtlCol="0">
            <a:no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In HTML</a:t>
            </a: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there are two main types of lists:</a:t>
            </a:r>
            <a:endPar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unordered lists</a:t>
            </a: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(&lt;ul&gt;) - the list items are marked with </a:t>
            </a:r>
            <a:r>
              <a:rPr kumimoji="0" lang="zh-CN" altLang="en-US" sz="32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bullets</a:t>
            </a:r>
            <a:endPar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ordered lists</a:t>
            </a: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(&lt;ol&gt;) - the list items are marked with </a:t>
            </a:r>
            <a:r>
              <a:rPr kumimoji="0" lang="zh-CN" altLang="en-US" sz="32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numbers or letters</a:t>
            </a:r>
            <a:endPar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The CSS</a:t>
            </a: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list properties allow you to:</a:t>
            </a:r>
            <a:endPar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Set different list </a:t>
            </a:r>
            <a:r>
              <a:rPr kumimoji="0" lang="zh-CN" altLang="en-US" sz="32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item markers</a:t>
            </a: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for ordered lists</a:t>
            </a:r>
            <a:endPar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Set different list </a:t>
            </a:r>
            <a:r>
              <a:rPr kumimoji="0" lang="zh-CN" altLang="en-US" sz="32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item markers</a:t>
            </a: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for unordered lists</a:t>
            </a:r>
            <a:endPar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Set an image as the list </a:t>
            </a:r>
            <a:r>
              <a:rPr kumimoji="0" lang="zh-CN" altLang="en-US" sz="32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item marker</a:t>
            </a:r>
            <a:endPar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Add </a:t>
            </a:r>
            <a:r>
              <a:rPr kumimoji="0" lang="zh-CN" altLang="en-US" sz="32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background</a:t>
            </a: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colors to lists and list items</a:t>
            </a:r>
            <a:endPar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748005"/>
          </a:xfrm>
        </p:spPr>
        <p:txBody>
          <a:bodyPr/>
          <a:lstStyle/>
          <a:p>
            <a:pPr algn="ctr"/>
            <a:r>
              <a:rPr lang="en-US" altLang="zh-CN" dirty="0">
                <a:sym typeface="+mn-ea"/>
              </a:rPr>
              <a:t>Different List Item Markers</a:t>
            </a:r>
            <a:endParaRPr lang="zh-CN" altLang="en-US" dirty="0">
              <a:sym typeface="+mn-ea"/>
            </a:endParaRPr>
          </a:p>
        </p:txBody>
      </p:sp>
      <p:sp>
        <p:nvSpPr>
          <p:cNvPr id="3" name="内容占位符 2"/>
          <p:cNvSpPr>
            <a:spLocks noGrp="1"/>
          </p:cNvSpPr>
          <p:nvPr>
            <p:ph idx="1"/>
          </p:nvPr>
        </p:nvSpPr>
        <p:spPr>
          <a:xfrm>
            <a:off x="393066" y="979170"/>
            <a:ext cx="11317786" cy="947420"/>
          </a:xfrm>
        </p:spPr>
        <p:txBody>
          <a:bodyPr>
            <a:noAutofit/>
          </a:bodyPr>
          <a:lstStyle/>
          <a:p>
            <a:pPr marL="0" indent="0" algn="just">
              <a:buNone/>
            </a:pPr>
            <a:r>
              <a:rPr lang="en-US" altLang="zh-CN" sz="2400" dirty="0"/>
              <a:t>The </a:t>
            </a:r>
            <a:r>
              <a:rPr lang="en-US" altLang="zh-CN" sz="2400" dirty="0">
                <a:solidFill>
                  <a:srgbClr val="FF0000"/>
                </a:solidFill>
              </a:rPr>
              <a:t>list-style-type</a:t>
            </a:r>
            <a:r>
              <a:rPr lang="en-US" altLang="zh-CN" sz="2400" dirty="0"/>
              <a:t> property specifies the type of list item marker. The following example shows some of the available list item markers: </a:t>
            </a:r>
            <a:endParaRPr lang="en-US" altLang="zh-CN" sz="2400" dirty="0"/>
          </a:p>
        </p:txBody>
      </p:sp>
      <p:sp>
        <p:nvSpPr>
          <p:cNvPr id="5" name="文本框 4"/>
          <p:cNvSpPr txBox="1"/>
          <p:nvPr/>
        </p:nvSpPr>
        <p:spPr>
          <a:xfrm>
            <a:off x="1314450" y="6321425"/>
            <a:ext cx="10515600"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Note: Some of the values are for unordered lists, and some for ordered lists.</a:t>
            </a:r>
            <a:endParaRPr kumimoji="0" lang="en-US" altLang="zh-CN" sz="20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endParaRPr>
          </a:p>
        </p:txBody>
      </p:sp>
      <p:pic>
        <p:nvPicPr>
          <p:cNvPr id="7" name="图片 6"/>
          <p:cNvPicPr>
            <a:picLocks noChangeAspect="1"/>
          </p:cNvPicPr>
          <p:nvPr/>
        </p:nvPicPr>
        <p:blipFill>
          <a:blip r:embed="rId1"/>
          <a:stretch>
            <a:fillRect/>
          </a:stretch>
        </p:blipFill>
        <p:spPr>
          <a:xfrm>
            <a:off x="8832034" y="1871344"/>
            <a:ext cx="2153285" cy="2035175"/>
          </a:xfrm>
          <a:prstGeom prst="rect">
            <a:avLst/>
          </a:prstGeom>
        </p:spPr>
      </p:pic>
      <p:pic>
        <p:nvPicPr>
          <p:cNvPr id="8" name="图片 7"/>
          <p:cNvPicPr>
            <a:picLocks noChangeAspect="1"/>
          </p:cNvPicPr>
          <p:nvPr/>
        </p:nvPicPr>
        <p:blipFill>
          <a:blip r:embed="rId2"/>
          <a:stretch>
            <a:fillRect/>
          </a:stretch>
        </p:blipFill>
        <p:spPr>
          <a:xfrm>
            <a:off x="8832034" y="4075021"/>
            <a:ext cx="2152650" cy="2117090"/>
          </a:xfrm>
          <a:prstGeom prst="rect">
            <a:avLst/>
          </a:prstGeom>
        </p:spPr>
      </p:pic>
      <p:pic>
        <p:nvPicPr>
          <p:cNvPr id="4" name="图片 3"/>
          <p:cNvPicPr>
            <a:picLocks noChangeAspect="1"/>
          </p:cNvPicPr>
          <p:nvPr/>
        </p:nvPicPr>
        <p:blipFill>
          <a:blip r:embed="rId3"/>
          <a:stretch>
            <a:fillRect/>
          </a:stretch>
        </p:blipFill>
        <p:spPr>
          <a:xfrm>
            <a:off x="4604114" y="1879349"/>
            <a:ext cx="3268980" cy="4167505"/>
          </a:xfrm>
          <a:prstGeom prst="rect">
            <a:avLst/>
          </a:prstGeom>
        </p:spPr>
      </p:pic>
      <p:pic>
        <p:nvPicPr>
          <p:cNvPr id="11" name="图片 10"/>
          <p:cNvPicPr>
            <a:picLocks noChangeAspect="1"/>
          </p:cNvPicPr>
          <p:nvPr/>
        </p:nvPicPr>
        <p:blipFill>
          <a:blip r:embed="rId4"/>
          <a:stretch>
            <a:fillRect/>
          </a:stretch>
        </p:blipFill>
        <p:spPr>
          <a:xfrm>
            <a:off x="733698" y="1871344"/>
            <a:ext cx="3146053" cy="418351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928345"/>
          </a:xfrm>
        </p:spPr>
        <p:txBody>
          <a:bodyPr/>
          <a:lstStyle/>
          <a:p>
            <a:pPr algn="ctr"/>
            <a:r>
              <a:rPr lang="zh-CN" altLang="en-US" dirty="0">
                <a:sym typeface="+mn-ea"/>
              </a:rPr>
              <a:t>An Image as The List Item Marker</a:t>
            </a:r>
            <a:endParaRPr lang="zh-CN" altLang="en-US" dirty="0">
              <a:sym typeface="+mn-ea"/>
            </a:endParaRPr>
          </a:p>
        </p:txBody>
      </p:sp>
      <p:sp>
        <p:nvSpPr>
          <p:cNvPr id="3" name="内容占位符 2"/>
          <p:cNvSpPr>
            <a:spLocks noGrp="1"/>
          </p:cNvSpPr>
          <p:nvPr>
            <p:ph idx="1"/>
          </p:nvPr>
        </p:nvSpPr>
        <p:spPr>
          <a:xfrm>
            <a:off x="955766" y="1276985"/>
            <a:ext cx="10515600" cy="563880"/>
          </a:xfrm>
        </p:spPr>
        <p:txBody>
          <a:bodyPr>
            <a:noAutofit/>
          </a:bodyPr>
          <a:lstStyle/>
          <a:p>
            <a:pPr marL="0" indent="0">
              <a:buNone/>
            </a:pPr>
            <a:r>
              <a:rPr lang="en-US" altLang="zh-CN" dirty="0"/>
              <a:t>The </a:t>
            </a:r>
            <a:r>
              <a:rPr lang="en-US" altLang="zh-CN" dirty="0">
                <a:solidFill>
                  <a:srgbClr val="FF0000"/>
                </a:solidFill>
              </a:rPr>
              <a:t>list-style-image</a:t>
            </a:r>
            <a:r>
              <a:rPr lang="en-US" altLang="zh-CN" dirty="0"/>
              <a:t> property specifies an image as the list item marker:</a:t>
            </a:r>
            <a:endParaRPr lang="en-US" altLang="zh-CN" dirty="0"/>
          </a:p>
        </p:txBody>
      </p:sp>
      <p:sp>
        <p:nvSpPr>
          <p:cNvPr id="9" name="文本框 8"/>
          <p:cNvSpPr txBox="1"/>
          <p:nvPr/>
        </p:nvSpPr>
        <p:spPr>
          <a:xfrm>
            <a:off x="1173480" y="2033905"/>
            <a:ext cx="1310005"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rPr>
              <a:t>Example:</a:t>
            </a:r>
            <a:endParaRPr kumimoji="0" lang="en-US" altLang="zh-CN" sz="24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0" name="文本框 9"/>
          <p:cNvSpPr txBox="1"/>
          <p:nvPr/>
        </p:nvSpPr>
        <p:spPr>
          <a:xfrm>
            <a:off x="6804025" y="2033905"/>
            <a:ext cx="102743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rPr>
              <a:t>Result:</a:t>
            </a:r>
            <a:endParaRPr kumimoji="0" lang="en-US" altLang="zh-CN" sz="24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pic>
        <p:nvPicPr>
          <p:cNvPr id="11" name="图片 10"/>
          <p:cNvPicPr>
            <a:picLocks noChangeAspect="1"/>
          </p:cNvPicPr>
          <p:nvPr/>
        </p:nvPicPr>
        <p:blipFill>
          <a:blip r:embed="rId1"/>
          <a:stretch>
            <a:fillRect/>
          </a:stretch>
        </p:blipFill>
        <p:spPr>
          <a:xfrm>
            <a:off x="6917055" y="2494280"/>
            <a:ext cx="2233295" cy="1424940"/>
          </a:xfrm>
          <a:prstGeom prst="rect">
            <a:avLst/>
          </a:prstGeom>
        </p:spPr>
      </p:pic>
      <p:pic>
        <p:nvPicPr>
          <p:cNvPr id="5" name="图片 4"/>
          <p:cNvPicPr>
            <a:picLocks noChangeAspect="1"/>
          </p:cNvPicPr>
          <p:nvPr/>
        </p:nvPicPr>
        <p:blipFill>
          <a:blip r:embed="rId2"/>
          <a:stretch>
            <a:fillRect/>
          </a:stretch>
        </p:blipFill>
        <p:spPr>
          <a:xfrm>
            <a:off x="1277620" y="2494280"/>
            <a:ext cx="4632960" cy="423672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864301"/>
          </a:xfrm>
        </p:spPr>
        <p:txBody>
          <a:bodyPr/>
          <a:lstStyle/>
          <a:p>
            <a:pPr algn="ctr"/>
            <a:r>
              <a:rPr lang="zh-CN" altLang="en-US" dirty="0">
                <a:sym typeface="+mn-ea"/>
              </a:rPr>
              <a:t>Position The List Item Markers</a:t>
            </a:r>
            <a:endParaRPr lang="zh-CN" altLang="en-US" dirty="0">
              <a:sym typeface="+mn-ea"/>
            </a:endParaRPr>
          </a:p>
        </p:txBody>
      </p:sp>
      <p:sp>
        <p:nvSpPr>
          <p:cNvPr id="3" name="内容占位符 2"/>
          <p:cNvSpPr>
            <a:spLocks noGrp="1"/>
          </p:cNvSpPr>
          <p:nvPr>
            <p:ph idx="1"/>
          </p:nvPr>
        </p:nvSpPr>
        <p:spPr>
          <a:xfrm>
            <a:off x="481965" y="1093470"/>
            <a:ext cx="11343640" cy="790575"/>
          </a:xfrm>
        </p:spPr>
        <p:txBody>
          <a:bodyPr>
            <a:noAutofit/>
          </a:bodyPr>
          <a:lstStyle/>
          <a:p>
            <a:pPr marL="0" indent="0" algn="just">
              <a:buNone/>
            </a:pPr>
            <a:r>
              <a:rPr lang="en-US" altLang="zh-CN" sz="2400" dirty="0"/>
              <a:t>The </a:t>
            </a:r>
            <a:r>
              <a:rPr lang="en-US" altLang="zh-CN" sz="2400" dirty="0">
                <a:solidFill>
                  <a:srgbClr val="FF0000"/>
                </a:solidFill>
              </a:rPr>
              <a:t>list-style-position</a:t>
            </a:r>
            <a:r>
              <a:rPr lang="en-US" altLang="zh-CN" sz="2400" dirty="0"/>
              <a:t> property specifies whether the list-item markers should appear inside or outside the content flow:</a:t>
            </a:r>
            <a:endParaRPr lang="en-US" altLang="zh-CN" sz="2400" dirty="0"/>
          </a:p>
        </p:txBody>
      </p:sp>
      <p:pic>
        <p:nvPicPr>
          <p:cNvPr id="7" name="图片 6"/>
          <p:cNvPicPr>
            <a:picLocks noChangeAspect="1"/>
          </p:cNvPicPr>
          <p:nvPr/>
        </p:nvPicPr>
        <p:blipFill>
          <a:blip r:embed="rId1"/>
          <a:stretch>
            <a:fillRect/>
          </a:stretch>
        </p:blipFill>
        <p:spPr>
          <a:xfrm>
            <a:off x="6049736" y="2081868"/>
            <a:ext cx="6038680" cy="4390778"/>
          </a:xfrm>
          <a:prstGeom prst="rect">
            <a:avLst/>
          </a:prstGeom>
        </p:spPr>
      </p:pic>
      <p:pic>
        <p:nvPicPr>
          <p:cNvPr id="5" name="图片 4"/>
          <p:cNvPicPr>
            <a:picLocks noChangeAspect="1"/>
          </p:cNvPicPr>
          <p:nvPr/>
        </p:nvPicPr>
        <p:blipFill>
          <a:blip r:embed="rId2"/>
          <a:stretch>
            <a:fillRect/>
          </a:stretch>
        </p:blipFill>
        <p:spPr>
          <a:xfrm>
            <a:off x="269964" y="1957771"/>
            <a:ext cx="5449363" cy="47696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ym typeface="+mn-ea"/>
              </a:rPr>
              <a:t>Position The List Item Markers</a:t>
            </a:r>
            <a:endParaRPr lang="zh-CN" altLang="en-US" dirty="0"/>
          </a:p>
        </p:txBody>
      </p:sp>
      <p:pic>
        <p:nvPicPr>
          <p:cNvPr id="4" name="图片 3"/>
          <p:cNvPicPr>
            <a:picLocks noChangeAspect="1"/>
          </p:cNvPicPr>
          <p:nvPr/>
        </p:nvPicPr>
        <p:blipFill>
          <a:blip r:embed="rId1"/>
          <a:stretch>
            <a:fillRect/>
          </a:stretch>
        </p:blipFill>
        <p:spPr>
          <a:xfrm>
            <a:off x="769489" y="2371128"/>
            <a:ext cx="6831125" cy="1646956"/>
          </a:xfrm>
          <a:prstGeom prst="rect">
            <a:avLst/>
          </a:prstGeom>
        </p:spPr>
      </p:pic>
      <p:pic>
        <p:nvPicPr>
          <p:cNvPr id="5" name="图片 4"/>
          <p:cNvPicPr>
            <a:picLocks noChangeAspect="1"/>
          </p:cNvPicPr>
          <p:nvPr/>
        </p:nvPicPr>
        <p:blipFill>
          <a:blip r:embed="rId2"/>
          <a:stretch>
            <a:fillRect/>
          </a:stretch>
        </p:blipFill>
        <p:spPr>
          <a:xfrm>
            <a:off x="718749" y="4879251"/>
            <a:ext cx="6932604" cy="1613624"/>
          </a:xfrm>
          <a:prstGeom prst="rect">
            <a:avLst/>
          </a:prstGeom>
        </p:spPr>
      </p:pic>
      <p:sp>
        <p:nvSpPr>
          <p:cNvPr id="3" name="矩形 2"/>
          <p:cNvSpPr/>
          <p:nvPr/>
        </p:nvSpPr>
        <p:spPr>
          <a:xfrm>
            <a:off x="1024862" y="4236859"/>
            <a:ext cx="923651" cy="461665"/>
          </a:xfrm>
          <a:prstGeom prst="rect">
            <a:avLst/>
          </a:prstGeom>
        </p:spPr>
        <p:txBody>
          <a:bodyPr wrap="none">
            <a:spAutoFit/>
          </a:bodyPr>
          <a:lstStyle/>
          <a:p>
            <a:r>
              <a:rPr lang="en-US" altLang="zh-CN" sz="2400" dirty="0"/>
              <a:t>inside</a:t>
            </a:r>
            <a:endParaRPr lang="zh-CN" altLang="en-US" sz="2400" dirty="0"/>
          </a:p>
        </p:txBody>
      </p:sp>
      <p:sp>
        <p:nvSpPr>
          <p:cNvPr id="6" name="矩形 5"/>
          <p:cNvSpPr/>
          <p:nvPr/>
        </p:nvSpPr>
        <p:spPr>
          <a:xfrm>
            <a:off x="927880" y="1800075"/>
            <a:ext cx="1117614" cy="461665"/>
          </a:xfrm>
          <a:prstGeom prst="rect">
            <a:avLst/>
          </a:prstGeom>
        </p:spPr>
        <p:txBody>
          <a:bodyPr wrap="none">
            <a:spAutoFit/>
          </a:bodyPr>
          <a:lstStyle/>
          <a:p>
            <a:r>
              <a:rPr lang="en-US" altLang="zh-CN" sz="2400" dirty="0"/>
              <a:t>outside</a:t>
            </a:r>
            <a:endParaRPr lang="zh-CN" altLang="en-US" sz="2400" dirty="0"/>
          </a:p>
        </p:txBody>
      </p:sp>
      <p:sp>
        <p:nvSpPr>
          <p:cNvPr id="8" name="文本框 7"/>
          <p:cNvSpPr txBox="1"/>
          <p:nvPr/>
        </p:nvSpPr>
        <p:spPr>
          <a:xfrm>
            <a:off x="7830065" y="4879251"/>
            <a:ext cx="3970638" cy="1569660"/>
          </a:xfrm>
          <a:prstGeom prst="rect">
            <a:avLst/>
          </a:prstGeom>
          <a:noFill/>
        </p:spPr>
        <p:txBody>
          <a:bodyPr wrap="square">
            <a:spAutoFit/>
          </a:bodyPr>
          <a:lstStyle/>
          <a:p>
            <a:pPr algn="just"/>
            <a:r>
              <a:rPr lang="zh-CN" altLang="en-US" sz="2400" dirty="0"/>
              <a:t>List item </a:t>
            </a:r>
            <a:r>
              <a:rPr lang="en-US" altLang="zh-CN" sz="2400" dirty="0"/>
              <a:t>markers </a:t>
            </a:r>
            <a:r>
              <a:rPr lang="zh-CN" altLang="en-US" sz="2400" dirty="0"/>
              <a:t>are placed within the text, and the wrapping text is aligned according to the markers.</a:t>
            </a:r>
            <a:endParaRPr lang="zh-CN" altLang="en-US" sz="2400" dirty="0"/>
          </a:p>
        </p:txBody>
      </p:sp>
      <p:sp>
        <p:nvSpPr>
          <p:cNvPr id="10" name="文本框 9"/>
          <p:cNvSpPr txBox="1"/>
          <p:nvPr/>
        </p:nvSpPr>
        <p:spPr>
          <a:xfrm>
            <a:off x="7830065" y="2371128"/>
            <a:ext cx="4094205" cy="1569660"/>
          </a:xfrm>
          <a:prstGeom prst="rect">
            <a:avLst/>
          </a:prstGeom>
          <a:noFill/>
        </p:spPr>
        <p:txBody>
          <a:bodyPr wrap="square">
            <a:spAutoFit/>
          </a:bodyPr>
          <a:lstStyle/>
          <a:p>
            <a:pPr algn="just"/>
            <a:r>
              <a:rPr lang="en-US" altLang="zh-CN" sz="2400" dirty="0"/>
              <a:t>List item markers are placed outside the text, and wrapping text is not aligned according to the markers.</a:t>
            </a:r>
            <a:endParaRPr lang="zh-CN" alt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6"/>
            <a:ext cx="10515600" cy="851238"/>
          </a:xfrm>
        </p:spPr>
        <p:txBody>
          <a:bodyPr/>
          <a:lstStyle/>
          <a:p>
            <a:pPr algn="ctr"/>
            <a:r>
              <a:rPr lang="zh-CN" altLang="en-US" dirty="0">
                <a:sym typeface="+mn-ea"/>
              </a:rPr>
              <a:t>List - Shorthand property</a:t>
            </a:r>
            <a:endParaRPr lang="zh-CN" altLang="en-US" dirty="0">
              <a:sym typeface="+mn-ea"/>
            </a:endParaRPr>
          </a:p>
        </p:txBody>
      </p:sp>
      <p:sp>
        <p:nvSpPr>
          <p:cNvPr id="3" name="内容占位符 2"/>
          <p:cNvSpPr>
            <a:spLocks noGrp="1"/>
          </p:cNvSpPr>
          <p:nvPr>
            <p:ph idx="1"/>
          </p:nvPr>
        </p:nvSpPr>
        <p:spPr>
          <a:xfrm>
            <a:off x="883920" y="1204141"/>
            <a:ext cx="10515600" cy="794476"/>
          </a:xfrm>
        </p:spPr>
        <p:txBody>
          <a:bodyPr>
            <a:noAutofit/>
          </a:bodyPr>
          <a:lstStyle/>
          <a:p>
            <a:pPr marL="0" indent="0" algn="just">
              <a:buNone/>
            </a:pPr>
            <a:r>
              <a:rPr lang="en-US" altLang="zh-CN" dirty="0"/>
              <a:t>The </a:t>
            </a:r>
            <a:r>
              <a:rPr lang="en-US" altLang="zh-CN" dirty="0">
                <a:solidFill>
                  <a:srgbClr val="FF0000"/>
                </a:solidFill>
              </a:rPr>
              <a:t>list-style</a:t>
            </a:r>
            <a:r>
              <a:rPr lang="en-US" altLang="zh-CN" dirty="0"/>
              <a:t> property is a shorthand property. It is used to set all the list properties in one declaration:</a:t>
            </a:r>
            <a:endParaRPr lang="en-US" altLang="zh-CN" dirty="0"/>
          </a:p>
        </p:txBody>
      </p:sp>
      <p:pic>
        <p:nvPicPr>
          <p:cNvPr id="6" name="图片 5"/>
          <p:cNvPicPr>
            <a:picLocks noChangeAspect="1"/>
          </p:cNvPicPr>
          <p:nvPr/>
        </p:nvPicPr>
        <p:blipFill>
          <a:blip r:embed="rId1"/>
          <a:stretch>
            <a:fillRect/>
          </a:stretch>
        </p:blipFill>
        <p:spPr>
          <a:xfrm>
            <a:off x="7365546" y="2513875"/>
            <a:ext cx="2717165" cy="1523365"/>
          </a:xfrm>
          <a:prstGeom prst="rect">
            <a:avLst/>
          </a:prstGeom>
        </p:spPr>
      </p:pic>
      <p:pic>
        <p:nvPicPr>
          <p:cNvPr id="4" name="图片 3"/>
          <p:cNvPicPr>
            <a:picLocks noChangeAspect="1"/>
          </p:cNvPicPr>
          <p:nvPr/>
        </p:nvPicPr>
        <p:blipFill>
          <a:blip r:embed="rId2"/>
          <a:stretch>
            <a:fillRect/>
          </a:stretch>
        </p:blipFill>
        <p:spPr>
          <a:xfrm>
            <a:off x="883920" y="2428966"/>
            <a:ext cx="5504815" cy="417576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zh-CN" altLang="en-US" dirty="0">
                <a:sym typeface="+mn-ea"/>
              </a:rPr>
              <a:t>List - Shorthand property</a:t>
            </a:r>
            <a:endParaRPr lang="zh-CN" altLang="en-US" dirty="0">
              <a:sym typeface="+mn-ea"/>
            </a:endParaRPr>
          </a:p>
        </p:txBody>
      </p:sp>
      <p:sp>
        <p:nvSpPr>
          <p:cNvPr id="3" name="内容占位符 2"/>
          <p:cNvSpPr>
            <a:spLocks noGrp="1"/>
          </p:cNvSpPr>
          <p:nvPr>
            <p:ph idx="1"/>
          </p:nvPr>
        </p:nvSpPr>
        <p:spPr>
          <a:xfrm>
            <a:off x="594360" y="1733187"/>
            <a:ext cx="11003280" cy="4742815"/>
          </a:xfrm>
        </p:spPr>
        <p:txBody>
          <a:bodyPr>
            <a:noAutofit/>
          </a:bodyPr>
          <a:lstStyle/>
          <a:p>
            <a:pPr marL="0" indent="0" algn="just">
              <a:buNone/>
            </a:pPr>
            <a:r>
              <a:rPr lang="en-US" altLang="zh-CN" dirty="0"/>
              <a:t>When using the shorthand property, the order of the property values are:</a:t>
            </a:r>
            <a:endParaRPr lang="en-US" altLang="zh-CN" dirty="0"/>
          </a:p>
          <a:p>
            <a:pPr algn="just"/>
            <a:r>
              <a:rPr lang="en-US" altLang="zh-CN" dirty="0">
                <a:solidFill>
                  <a:srgbClr val="FF0000"/>
                </a:solidFill>
              </a:rPr>
              <a:t>list-style-type </a:t>
            </a:r>
            <a:r>
              <a:rPr lang="en-US" altLang="zh-CN" dirty="0"/>
              <a:t>(if a list-style-image is specified, the value of this property will be displayed if the image for some reason cannot be displayed)</a:t>
            </a:r>
            <a:endParaRPr lang="en-US" altLang="zh-CN" dirty="0"/>
          </a:p>
          <a:p>
            <a:pPr algn="just"/>
            <a:r>
              <a:rPr lang="en-US" altLang="zh-CN" dirty="0">
                <a:solidFill>
                  <a:srgbClr val="FF0000"/>
                </a:solidFill>
              </a:rPr>
              <a:t>list-style-position</a:t>
            </a:r>
            <a:r>
              <a:rPr lang="en-US" altLang="zh-CN" dirty="0"/>
              <a:t> (specifies whether the list-item markers should appear inside or outside the content flow)</a:t>
            </a:r>
            <a:endParaRPr lang="en-US" altLang="zh-CN" dirty="0"/>
          </a:p>
          <a:p>
            <a:pPr algn="just"/>
            <a:r>
              <a:rPr lang="en-US" altLang="zh-CN" dirty="0">
                <a:solidFill>
                  <a:srgbClr val="FF0000"/>
                </a:solidFill>
              </a:rPr>
              <a:t>list-style-image</a:t>
            </a:r>
            <a:r>
              <a:rPr lang="en-US" altLang="zh-CN" dirty="0"/>
              <a:t> (specifies an image as the list item marker)</a:t>
            </a:r>
            <a:endParaRPr lang="en-US" altLang="zh-CN" dirty="0"/>
          </a:p>
          <a:p>
            <a:pPr marL="0" indent="0" algn="just">
              <a:buNone/>
            </a:pPr>
            <a:r>
              <a:rPr lang="en-US" altLang="zh-CN" dirty="0"/>
              <a:t>If one of the property values above are missing, the </a:t>
            </a:r>
            <a:r>
              <a:rPr lang="en-US" altLang="zh-CN" dirty="0">
                <a:solidFill>
                  <a:srgbClr val="FF0000"/>
                </a:solidFill>
              </a:rPr>
              <a:t>default value</a:t>
            </a:r>
            <a:r>
              <a:rPr lang="en-US" altLang="zh-CN" dirty="0"/>
              <a:t> for the missing property will be inserted, if any.</a:t>
            </a:r>
            <a:endParaRPr lang="en-US" altLang="zh-C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zh-CN" altLang="en-US" dirty="0">
                <a:sym typeface="+mn-ea"/>
              </a:rPr>
              <a:t>Styling List With Colors</a:t>
            </a:r>
            <a:endParaRPr lang="zh-CN" altLang="en-US" dirty="0">
              <a:sym typeface="+mn-ea"/>
            </a:endParaRPr>
          </a:p>
        </p:txBody>
      </p:sp>
      <p:sp>
        <p:nvSpPr>
          <p:cNvPr id="3" name="内容占位符 2"/>
          <p:cNvSpPr>
            <a:spLocks noGrp="1"/>
          </p:cNvSpPr>
          <p:nvPr>
            <p:ph idx="1"/>
          </p:nvPr>
        </p:nvSpPr>
        <p:spPr>
          <a:xfrm>
            <a:off x="838200" y="1584960"/>
            <a:ext cx="10515600" cy="2745740"/>
          </a:xfrm>
        </p:spPr>
        <p:txBody>
          <a:bodyPr>
            <a:noAutofit/>
          </a:bodyPr>
          <a:lstStyle/>
          <a:p>
            <a:pPr algn="just">
              <a:buFont typeface="Wingdings" panose="05000000000000000000" pitchFamily="2" charset="2"/>
              <a:buChar char="l"/>
            </a:pPr>
            <a:r>
              <a:rPr lang="en-US" altLang="zh-CN" sz="3200" dirty="0"/>
              <a:t>We can also style lists with colors, to make them look a little more interesting.</a:t>
            </a:r>
            <a:endParaRPr lang="en-US" altLang="zh-CN" sz="3200" dirty="0"/>
          </a:p>
          <a:p>
            <a:pPr algn="just">
              <a:buFont typeface="Wingdings" panose="05000000000000000000" pitchFamily="2" charset="2"/>
              <a:buChar char="l"/>
            </a:pPr>
            <a:r>
              <a:rPr lang="en-US" altLang="zh-CN" sz="3200" dirty="0"/>
              <a:t>Anything added to the </a:t>
            </a:r>
            <a:r>
              <a:rPr lang="en-US" altLang="zh-CN" sz="3200" dirty="0">
                <a:solidFill>
                  <a:srgbClr val="FF0000"/>
                </a:solidFill>
              </a:rPr>
              <a:t>&lt;ol&gt;</a:t>
            </a:r>
            <a:r>
              <a:rPr lang="en-US" altLang="zh-CN" sz="3200" dirty="0"/>
              <a:t> or </a:t>
            </a:r>
            <a:r>
              <a:rPr lang="en-US" altLang="zh-CN" sz="3200" dirty="0">
                <a:solidFill>
                  <a:srgbClr val="FF0000"/>
                </a:solidFill>
              </a:rPr>
              <a:t>&lt;ul&gt;</a:t>
            </a:r>
            <a:r>
              <a:rPr lang="en-US" altLang="zh-CN" sz="3200" dirty="0"/>
              <a:t> tag, affects the entire list, while properties added to the </a:t>
            </a:r>
            <a:r>
              <a:rPr lang="en-US" altLang="zh-CN" sz="3200" dirty="0">
                <a:solidFill>
                  <a:srgbClr val="FF0000"/>
                </a:solidFill>
              </a:rPr>
              <a:t>&lt;li&gt;</a:t>
            </a:r>
            <a:r>
              <a:rPr lang="en-US" altLang="zh-CN" sz="3200" dirty="0"/>
              <a:t> tag will affect the individual list items</a:t>
            </a:r>
            <a:endParaRPr lang="en-US" altLang="zh-CN" sz="3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6"/>
            <a:ext cx="10515600" cy="759798"/>
          </a:xfrm>
        </p:spPr>
        <p:txBody>
          <a:bodyPr/>
          <a:lstStyle/>
          <a:p>
            <a:pPr algn="ctr"/>
            <a:r>
              <a:rPr lang="zh-CN" altLang="en-US" dirty="0">
                <a:sym typeface="+mn-ea"/>
              </a:rPr>
              <a:t>Styling List With Colors</a:t>
            </a:r>
            <a:endParaRPr lang="zh-CN" altLang="en-US" dirty="0">
              <a:sym typeface="+mn-ea"/>
            </a:endParaRPr>
          </a:p>
        </p:txBody>
      </p:sp>
      <p:sp>
        <p:nvSpPr>
          <p:cNvPr id="10" name="文本框 9"/>
          <p:cNvSpPr txBox="1"/>
          <p:nvPr/>
        </p:nvSpPr>
        <p:spPr>
          <a:xfrm>
            <a:off x="4864735" y="3884295"/>
            <a:ext cx="102743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rPr>
              <a:t>Result:</a:t>
            </a:r>
            <a:endParaRPr kumimoji="0" lang="en-US" altLang="zh-CN" sz="24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pic>
        <p:nvPicPr>
          <p:cNvPr id="8" name="图片 7"/>
          <p:cNvPicPr>
            <a:picLocks noChangeAspect="1"/>
          </p:cNvPicPr>
          <p:nvPr/>
        </p:nvPicPr>
        <p:blipFill>
          <a:blip r:embed="rId1"/>
          <a:stretch>
            <a:fillRect/>
          </a:stretch>
        </p:blipFill>
        <p:spPr>
          <a:xfrm>
            <a:off x="4949190" y="4344670"/>
            <a:ext cx="6090920" cy="2321560"/>
          </a:xfrm>
          <a:prstGeom prst="rect">
            <a:avLst/>
          </a:prstGeom>
        </p:spPr>
      </p:pic>
      <p:pic>
        <p:nvPicPr>
          <p:cNvPr id="3" name="图片 2"/>
          <p:cNvPicPr>
            <a:picLocks noChangeAspect="1"/>
          </p:cNvPicPr>
          <p:nvPr/>
        </p:nvPicPr>
        <p:blipFill>
          <a:blip r:embed="rId2"/>
          <a:stretch>
            <a:fillRect/>
          </a:stretch>
        </p:blipFill>
        <p:spPr>
          <a:xfrm>
            <a:off x="953770" y="1461770"/>
            <a:ext cx="3011805" cy="5049520"/>
          </a:xfrm>
          <a:prstGeom prst="rect">
            <a:avLst/>
          </a:prstGeom>
        </p:spPr>
      </p:pic>
      <p:pic>
        <p:nvPicPr>
          <p:cNvPr id="4" name="图片 3"/>
          <p:cNvPicPr>
            <a:picLocks noChangeAspect="1"/>
          </p:cNvPicPr>
          <p:nvPr/>
        </p:nvPicPr>
        <p:blipFill>
          <a:blip r:embed="rId3"/>
          <a:stretch>
            <a:fillRect/>
          </a:stretch>
        </p:blipFill>
        <p:spPr>
          <a:xfrm>
            <a:off x="5976620" y="1363345"/>
            <a:ext cx="3264535" cy="270573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CSS Tables</a:t>
            </a:r>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846455"/>
          </a:xfrm>
        </p:spPr>
        <p:txBody>
          <a:bodyPr/>
          <a:lstStyle/>
          <a:p>
            <a:pPr algn="ctr"/>
            <a:r>
              <a:rPr lang="en-US" altLang="zh-CN" dirty="0"/>
              <a:t>What is CSS Tables?</a:t>
            </a:r>
            <a:endParaRPr lang="zh-CN" altLang="en-US" dirty="0"/>
          </a:p>
        </p:txBody>
      </p:sp>
      <p:sp>
        <p:nvSpPr>
          <p:cNvPr id="6" name="文本框 5"/>
          <p:cNvSpPr txBox="1"/>
          <p:nvPr/>
        </p:nvSpPr>
        <p:spPr>
          <a:xfrm>
            <a:off x="1233805" y="1397000"/>
            <a:ext cx="8947150"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The look of an HTML table can be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greatly improved</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with CSS:</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pic>
        <p:nvPicPr>
          <p:cNvPr id="7" name="图片 6"/>
          <p:cNvPicPr>
            <a:picLocks noChangeAspect="1"/>
          </p:cNvPicPr>
          <p:nvPr/>
        </p:nvPicPr>
        <p:blipFill>
          <a:blip r:embed="rId1"/>
          <a:stretch>
            <a:fillRect/>
          </a:stretch>
        </p:blipFill>
        <p:spPr>
          <a:xfrm>
            <a:off x="1235075" y="2104390"/>
            <a:ext cx="9721850" cy="444182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6"/>
            <a:ext cx="10515600" cy="734968"/>
          </a:xfrm>
        </p:spPr>
        <p:txBody>
          <a:bodyPr/>
          <a:lstStyle/>
          <a:p>
            <a:pPr algn="ctr"/>
            <a:r>
              <a:rPr lang="en-US" altLang="zh-CN" dirty="0">
                <a:sym typeface="+mn-ea"/>
              </a:rPr>
              <a:t>Table Borders</a:t>
            </a:r>
            <a:endParaRPr lang="zh-CN" altLang="en-US" dirty="0">
              <a:sym typeface="+mn-ea"/>
            </a:endParaRPr>
          </a:p>
        </p:txBody>
      </p:sp>
      <p:sp>
        <p:nvSpPr>
          <p:cNvPr id="7" name="文本框 6"/>
          <p:cNvSpPr txBox="1"/>
          <p:nvPr/>
        </p:nvSpPr>
        <p:spPr>
          <a:xfrm>
            <a:off x="8177530" y="2558415"/>
            <a:ext cx="116903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Result:</a:t>
            </a: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5" name="文本框 4"/>
          <p:cNvSpPr txBox="1"/>
          <p:nvPr/>
        </p:nvSpPr>
        <p:spPr>
          <a:xfrm>
            <a:off x="591820" y="994073"/>
            <a:ext cx="11202035" cy="954107"/>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To specify table borders in CSS, use the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border</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property. The example below specifies a black border for</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 &lt;table&gt;</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&lt;th&gt;</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and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&lt;td&gt;</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elements:</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12" name="文本框 11"/>
          <p:cNvSpPr txBox="1"/>
          <p:nvPr/>
        </p:nvSpPr>
        <p:spPr>
          <a:xfrm>
            <a:off x="748665" y="5715000"/>
            <a:ext cx="1069530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FFC000"/>
                </a:solidFill>
                <a:effectLst/>
                <a:uLnTx/>
                <a:uFillTx/>
                <a:latin typeface="Calibri" panose="020F0502020204030204"/>
                <a:ea typeface="+mn-ea"/>
                <a:cs typeface="+mn-cs"/>
              </a:rPr>
              <a:t>Hint: </a:t>
            </a:r>
            <a:r>
              <a:rPr kumimoji="0" sz="2400" b="0" i="0" u="none" strike="noStrike" kern="1200" cap="none" spc="0" normalizeH="0" baseline="0" noProof="0" dirty="0">
                <a:ln>
                  <a:noFill/>
                </a:ln>
                <a:solidFill>
                  <a:srgbClr val="FFC000"/>
                </a:solidFill>
                <a:effectLst/>
                <a:uLnTx/>
                <a:uFillTx/>
                <a:latin typeface="Calibri" panose="020F0502020204030204"/>
                <a:ea typeface="+mn-ea"/>
                <a:cs typeface="+mn-cs"/>
              </a:rPr>
              <a:t>Notice that the table in the example above has double borders. This is because both the table and the &lt;</a:t>
            </a:r>
            <a:r>
              <a:rPr kumimoji="0" sz="2400" b="0" i="0" u="none" strike="noStrike" kern="1200" cap="none" spc="0" normalizeH="0" baseline="0" noProof="0" dirty="0" err="1">
                <a:ln>
                  <a:noFill/>
                </a:ln>
                <a:solidFill>
                  <a:srgbClr val="FFC000"/>
                </a:solidFill>
                <a:effectLst/>
                <a:uLnTx/>
                <a:uFillTx/>
                <a:latin typeface="Calibri" panose="020F0502020204030204"/>
                <a:ea typeface="+mn-ea"/>
                <a:cs typeface="+mn-cs"/>
              </a:rPr>
              <a:t>th</a:t>
            </a:r>
            <a:r>
              <a:rPr kumimoji="0" sz="2400" b="0" i="0" u="none" strike="noStrike" kern="1200" cap="none" spc="0" normalizeH="0" baseline="0" noProof="0" dirty="0">
                <a:ln>
                  <a:noFill/>
                </a:ln>
                <a:solidFill>
                  <a:srgbClr val="FFC000"/>
                </a:solidFill>
                <a:effectLst/>
                <a:uLnTx/>
                <a:uFillTx/>
                <a:latin typeface="Calibri" panose="020F0502020204030204"/>
                <a:ea typeface="+mn-ea"/>
                <a:cs typeface="+mn-cs"/>
              </a:rPr>
              <a:t>&gt; and &lt;td&gt; elements have separate borders.</a:t>
            </a:r>
            <a:endParaRPr kumimoji="0" sz="2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6" name="图片 5"/>
          <p:cNvPicPr>
            <a:picLocks noChangeAspect="1"/>
          </p:cNvPicPr>
          <p:nvPr/>
        </p:nvPicPr>
        <p:blipFill>
          <a:blip r:embed="rId1"/>
          <a:stretch>
            <a:fillRect/>
          </a:stretch>
        </p:blipFill>
        <p:spPr>
          <a:xfrm>
            <a:off x="8298815" y="3331845"/>
            <a:ext cx="3054985" cy="1591945"/>
          </a:xfrm>
          <a:prstGeom prst="rect">
            <a:avLst/>
          </a:prstGeom>
        </p:spPr>
      </p:pic>
      <p:pic>
        <p:nvPicPr>
          <p:cNvPr id="8" name="图片 7"/>
          <p:cNvPicPr>
            <a:picLocks noChangeAspect="1"/>
          </p:cNvPicPr>
          <p:nvPr/>
        </p:nvPicPr>
        <p:blipFill>
          <a:blip r:embed="rId2"/>
          <a:stretch>
            <a:fillRect/>
          </a:stretch>
        </p:blipFill>
        <p:spPr>
          <a:xfrm>
            <a:off x="4686300" y="2139315"/>
            <a:ext cx="3202940" cy="3575685"/>
          </a:xfrm>
          <a:prstGeom prst="rect">
            <a:avLst/>
          </a:prstGeom>
        </p:spPr>
      </p:pic>
      <p:pic>
        <p:nvPicPr>
          <p:cNvPr id="10" name="图片 9"/>
          <p:cNvPicPr>
            <a:picLocks noChangeAspect="1"/>
          </p:cNvPicPr>
          <p:nvPr/>
        </p:nvPicPr>
        <p:blipFill>
          <a:blip r:embed="rId3"/>
          <a:stretch>
            <a:fillRect/>
          </a:stretch>
        </p:blipFill>
        <p:spPr>
          <a:xfrm>
            <a:off x="591820" y="2139315"/>
            <a:ext cx="3893820" cy="244856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687045"/>
          </a:xfrm>
        </p:spPr>
        <p:txBody>
          <a:bodyPr>
            <a:normAutofit fontScale="90000"/>
          </a:bodyPr>
          <a:lstStyle/>
          <a:p>
            <a:pPr algn="ctr"/>
            <a:r>
              <a:rPr lang="en-US" altLang="zh-CN" dirty="0">
                <a:sym typeface="+mn-ea"/>
              </a:rPr>
              <a:t>Collapse Table Borders</a:t>
            </a:r>
            <a:endParaRPr lang="en-US" altLang="zh-CN" dirty="0">
              <a:sym typeface="+mn-ea"/>
            </a:endParaRPr>
          </a:p>
        </p:txBody>
      </p:sp>
      <p:sp>
        <p:nvSpPr>
          <p:cNvPr id="5" name="文本框 4"/>
          <p:cNvSpPr txBox="1"/>
          <p:nvPr/>
        </p:nvSpPr>
        <p:spPr>
          <a:xfrm>
            <a:off x="642620" y="1022390"/>
            <a:ext cx="11202035" cy="95313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The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border-collapse</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property sets whether the table borders should be collapsed into a single border:</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pic>
        <p:nvPicPr>
          <p:cNvPr id="4" name="图片 3"/>
          <p:cNvPicPr>
            <a:picLocks noChangeAspect="1"/>
          </p:cNvPicPr>
          <p:nvPr/>
        </p:nvPicPr>
        <p:blipFill>
          <a:blip r:embed="rId1"/>
          <a:stretch>
            <a:fillRect/>
          </a:stretch>
        </p:blipFill>
        <p:spPr>
          <a:xfrm>
            <a:off x="347345" y="2432674"/>
            <a:ext cx="5197091" cy="4166221"/>
          </a:xfrm>
          <a:prstGeom prst="rect">
            <a:avLst/>
          </a:prstGeom>
        </p:spPr>
      </p:pic>
      <p:pic>
        <p:nvPicPr>
          <p:cNvPr id="6" name="图片 5"/>
          <p:cNvPicPr>
            <a:picLocks noChangeAspect="1"/>
          </p:cNvPicPr>
          <p:nvPr/>
        </p:nvPicPr>
        <p:blipFill>
          <a:blip r:embed="rId2"/>
          <a:stretch>
            <a:fillRect/>
          </a:stretch>
        </p:blipFill>
        <p:spPr>
          <a:xfrm>
            <a:off x="6029382" y="3076893"/>
            <a:ext cx="5895975" cy="3611166"/>
          </a:xfrm>
          <a:prstGeom prst="rect">
            <a:avLst/>
          </a:prstGeom>
        </p:spPr>
      </p:pic>
      <p:pic>
        <p:nvPicPr>
          <p:cNvPr id="8" name="图片 7"/>
          <p:cNvPicPr>
            <a:picLocks noChangeAspect="1"/>
          </p:cNvPicPr>
          <p:nvPr/>
        </p:nvPicPr>
        <p:blipFill>
          <a:blip r:embed="rId3"/>
          <a:stretch>
            <a:fillRect/>
          </a:stretch>
        </p:blipFill>
        <p:spPr>
          <a:xfrm>
            <a:off x="7578810" y="1647707"/>
            <a:ext cx="2797121" cy="1368467"/>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652755"/>
          </a:xfrm>
        </p:spPr>
        <p:txBody>
          <a:bodyPr>
            <a:normAutofit fontScale="90000"/>
          </a:bodyPr>
          <a:lstStyle/>
          <a:p>
            <a:pPr algn="ctr"/>
            <a:r>
              <a:rPr lang="en-US" altLang="zh-CN" dirty="0">
                <a:sym typeface="+mn-ea"/>
              </a:rPr>
              <a:t>Collapse Table Borders</a:t>
            </a:r>
            <a:endParaRPr lang="en-US" altLang="zh-CN" dirty="0">
              <a:sym typeface="+mn-ea"/>
            </a:endParaRPr>
          </a:p>
        </p:txBody>
      </p:sp>
      <p:sp>
        <p:nvSpPr>
          <p:cNvPr id="5" name="文本框 4"/>
          <p:cNvSpPr txBox="1"/>
          <p:nvPr/>
        </p:nvSpPr>
        <p:spPr>
          <a:xfrm>
            <a:off x="598170" y="1053148"/>
            <a:ext cx="11492230" cy="95313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If you only want a border around the table, only specify the</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 border </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property for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&lt;table&gt;</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pic>
        <p:nvPicPr>
          <p:cNvPr id="4" name="图片 3"/>
          <p:cNvPicPr>
            <a:picLocks noChangeAspect="1"/>
          </p:cNvPicPr>
          <p:nvPr/>
        </p:nvPicPr>
        <p:blipFill>
          <a:blip r:embed="rId1"/>
          <a:stretch>
            <a:fillRect/>
          </a:stretch>
        </p:blipFill>
        <p:spPr>
          <a:xfrm>
            <a:off x="8829675" y="3545840"/>
            <a:ext cx="2964180" cy="1402715"/>
          </a:xfrm>
          <a:prstGeom prst="rect">
            <a:avLst/>
          </a:prstGeom>
        </p:spPr>
      </p:pic>
      <p:pic>
        <p:nvPicPr>
          <p:cNvPr id="8" name="图片 7"/>
          <p:cNvPicPr>
            <a:picLocks noChangeAspect="1"/>
          </p:cNvPicPr>
          <p:nvPr/>
        </p:nvPicPr>
        <p:blipFill>
          <a:blip r:embed="rId2"/>
          <a:stretch>
            <a:fillRect/>
          </a:stretch>
        </p:blipFill>
        <p:spPr>
          <a:xfrm>
            <a:off x="431165" y="2957195"/>
            <a:ext cx="3771265" cy="2579370"/>
          </a:xfrm>
          <a:prstGeom prst="rect">
            <a:avLst/>
          </a:prstGeom>
        </p:spPr>
      </p:pic>
      <p:pic>
        <p:nvPicPr>
          <p:cNvPr id="9" name="图片 8"/>
          <p:cNvPicPr>
            <a:picLocks noChangeAspect="1"/>
          </p:cNvPicPr>
          <p:nvPr/>
        </p:nvPicPr>
        <p:blipFill>
          <a:blip r:embed="rId3"/>
          <a:stretch>
            <a:fillRect/>
          </a:stretch>
        </p:blipFill>
        <p:spPr>
          <a:xfrm>
            <a:off x="4376420" y="2186940"/>
            <a:ext cx="4318000" cy="411988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782295"/>
          </a:xfrm>
        </p:spPr>
        <p:txBody>
          <a:bodyPr/>
          <a:lstStyle/>
          <a:p>
            <a:pPr algn="ctr"/>
            <a:r>
              <a:rPr lang="en-US" altLang="zh-CN" dirty="0">
                <a:sym typeface="+mn-ea"/>
              </a:rPr>
              <a:t>Table Width and Height</a:t>
            </a:r>
            <a:endParaRPr lang="en-US" altLang="zh-CN" dirty="0">
              <a:sym typeface="+mn-ea"/>
            </a:endParaRPr>
          </a:p>
        </p:txBody>
      </p:sp>
      <p:sp>
        <p:nvSpPr>
          <p:cNvPr id="5" name="文本框 4"/>
          <p:cNvSpPr txBox="1"/>
          <p:nvPr/>
        </p:nvSpPr>
        <p:spPr>
          <a:xfrm>
            <a:off x="591820" y="1156970"/>
            <a:ext cx="11202035" cy="1569660"/>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defRPr/>
            </a:pP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Width and height of a table are defined by the </a:t>
            </a:r>
            <a:r>
              <a:rPr kumimoji="0" lang="zh-CN" altLang="en-US" sz="32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width</a:t>
            </a: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and </a:t>
            </a:r>
            <a:r>
              <a:rPr kumimoji="0" lang="zh-CN" altLang="en-US" sz="32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height</a:t>
            </a: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properties. The example below sets the width of the table to</a:t>
            </a:r>
            <a:r>
              <a:rPr kumimoji="0" lang="zh-CN" altLang="en-US" sz="32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 100%</a:t>
            </a: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and the height of the </a:t>
            </a:r>
            <a:r>
              <a:rPr kumimoji="0" lang="zh-CN" altLang="en-US" sz="32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&lt;th&gt;</a:t>
            </a: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elements to 50px:</a:t>
            </a:r>
            <a:endPar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pic>
        <p:nvPicPr>
          <p:cNvPr id="4" name="图片 3"/>
          <p:cNvPicPr>
            <a:picLocks noChangeAspect="1"/>
          </p:cNvPicPr>
          <p:nvPr/>
        </p:nvPicPr>
        <p:blipFill>
          <a:blip r:embed="rId1"/>
          <a:stretch>
            <a:fillRect/>
          </a:stretch>
        </p:blipFill>
        <p:spPr>
          <a:xfrm>
            <a:off x="460186" y="3238242"/>
            <a:ext cx="3002280" cy="3465195"/>
          </a:xfrm>
          <a:prstGeom prst="rect">
            <a:avLst/>
          </a:prstGeom>
        </p:spPr>
      </p:pic>
      <p:pic>
        <p:nvPicPr>
          <p:cNvPr id="6" name="图片 5"/>
          <p:cNvPicPr>
            <a:picLocks noChangeAspect="1"/>
          </p:cNvPicPr>
          <p:nvPr/>
        </p:nvPicPr>
        <p:blipFill>
          <a:blip r:embed="rId2"/>
          <a:srcRect b="54421"/>
          <a:stretch>
            <a:fillRect/>
          </a:stretch>
        </p:blipFill>
        <p:spPr>
          <a:xfrm>
            <a:off x="3945839" y="3256022"/>
            <a:ext cx="8091170" cy="344741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sym typeface="+mn-ea"/>
              </a:rPr>
              <a:t>Table Width and Height</a:t>
            </a:r>
            <a:endParaRPr lang="en-US" altLang="zh-CN" dirty="0">
              <a:sym typeface="+mn-ea"/>
            </a:endParaRPr>
          </a:p>
        </p:txBody>
      </p:sp>
      <p:pic>
        <p:nvPicPr>
          <p:cNvPr id="9" name="图片 8"/>
          <p:cNvPicPr>
            <a:picLocks noChangeAspect="1"/>
          </p:cNvPicPr>
          <p:nvPr/>
        </p:nvPicPr>
        <p:blipFill>
          <a:blip r:embed="rId1"/>
          <a:stretch>
            <a:fillRect/>
          </a:stretch>
        </p:blipFill>
        <p:spPr>
          <a:xfrm>
            <a:off x="3812540" y="2694390"/>
            <a:ext cx="7774305" cy="1638935"/>
          </a:xfrm>
          <a:prstGeom prst="rect">
            <a:avLst/>
          </a:prstGeom>
        </p:spPr>
      </p:pic>
      <p:pic>
        <p:nvPicPr>
          <p:cNvPr id="6" name="图片 5"/>
          <p:cNvPicPr>
            <a:picLocks noChangeAspect="1"/>
          </p:cNvPicPr>
          <p:nvPr/>
        </p:nvPicPr>
        <p:blipFill>
          <a:blip r:embed="rId2"/>
          <a:stretch>
            <a:fillRect/>
          </a:stretch>
        </p:blipFill>
        <p:spPr>
          <a:xfrm>
            <a:off x="885825" y="1821180"/>
            <a:ext cx="2250440" cy="381190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37795"/>
            <a:ext cx="10515600" cy="767690"/>
          </a:xfrm>
        </p:spPr>
        <p:txBody>
          <a:bodyPr/>
          <a:lstStyle/>
          <a:p>
            <a:pPr algn="ctr"/>
            <a:r>
              <a:rPr lang="en-US" altLang="zh-CN" dirty="0">
                <a:sym typeface="+mn-ea"/>
              </a:rPr>
              <a:t>Horizontal Alignment</a:t>
            </a:r>
            <a:endParaRPr lang="en-US" altLang="zh-CN" dirty="0">
              <a:sym typeface="+mn-ea"/>
            </a:endParaRPr>
          </a:p>
        </p:txBody>
      </p:sp>
      <p:sp>
        <p:nvSpPr>
          <p:cNvPr id="5" name="文本框 4"/>
          <p:cNvSpPr txBox="1"/>
          <p:nvPr/>
        </p:nvSpPr>
        <p:spPr>
          <a:xfrm>
            <a:off x="145415" y="929675"/>
            <a:ext cx="11648440" cy="1815882"/>
          </a:xfrm>
          <a:prstGeom prst="rect">
            <a:avLst/>
          </a:prstGeom>
          <a:noFill/>
        </p:spPr>
        <p:txBody>
          <a:bodyPr wrap="square" rtlCol="0">
            <a:spAutoFit/>
          </a:bodyPr>
          <a:lstStyle/>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The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text-align</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property sets the horizontal alignment (like left, right, or center) of the content in &lt;th&gt; or &lt;td&gt;.</a:t>
            </a:r>
            <a:r>
              <a:rPr kumimoji="0" lang="zh-CN" altLang="en-US" sz="2800" b="0" i="0" u="none" strike="noStrike" kern="1200" cap="none" spc="0" normalizeH="0" noProof="0" dirty="0">
                <a:ln>
                  <a:noFill/>
                </a:ln>
                <a:solidFill>
                  <a:prstClr val="white"/>
                </a:solidFill>
                <a:effectLst/>
                <a:uLnTx/>
                <a:uFillTx/>
                <a:latin typeface="Calibri" panose="020F0502020204030204"/>
                <a:ea typeface="等线" panose="02010600030101010101" pitchFamily="2" charset="-122"/>
                <a:cs typeface="+mn-cs"/>
              </a:rPr>
              <a:t> </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By default, the content of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&lt;th&gt;</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elements are center-aligned and the content of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&lt;td&gt; </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elements are left-aligned.</a:t>
            </a:r>
            <a:r>
              <a:rPr kumimoji="0" lang="zh-CN" altLang="en-US" sz="2800" b="0" i="0" u="none" strike="noStrike" kern="1200" cap="none" spc="0" normalizeH="0" noProof="0" dirty="0">
                <a:ln>
                  <a:noFill/>
                </a:ln>
                <a:solidFill>
                  <a:prstClr val="white"/>
                </a:solidFill>
                <a:effectLst/>
                <a:uLnTx/>
                <a:uFillTx/>
                <a:latin typeface="Calibri" panose="020F0502020204030204"/>
                <a:ea typeface="等线" panose="02010600030101010101" pitchFamily="2" charset="-122"/>
                <a:cs typeface="+mn-cs"/>
              </a:rPr>
              <a:t> </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The following example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left-aligns </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the text in &lt;th&gt; elements:</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pic>
        <p:nvPicPr>
          <p:cNvPr id="4" name="图片 3"/>
          <p:cNvPicPr>
            <a:picLocks noChangeAspect="1"/>
          </p:cNvPicPr>
          <p:nvPr/>
        </p:nvPicPr>
        <p:blipFill>
          <a:blip r:embed="rId1"/>
          <a:stretch>
            <a:fillRect/>
          </a:stretch>
        </p:blipFill>
        <p:spPr>
          <a:xfrm>
            <a:off x="145415" y="2912075"/>
            <a:ext cx="3124200" cy="3561080"/>
          </a:xfrm>
          <a:prstGeom prst="rect">
            <a:avLst/>
          </a:prstGeom>
        </p:spPr>
      </p:pic>
      <p:pic>
        <p:nvPicPr>
          <p:cNvPr id="6" name="图片 5"/>
          <p:cNvPicPr>
            <a:picLocks noChangeAspect="1"/>
          </p:cNvPicPr>
          <p:nvPr/>
        </p:nvPicPr>
        <p:blipFill>
          <a:blip r:embed="rId2"/>
          <a:stretch>
            <a:fillRect/>
          </a:stretch>
        </p:blipFill>
        <p:spPr>
          <a:xfrm>
            <a:off x="3406775" y="2978115"/>
            <a:ext cx="5857875" cy="3429000"/>
          </a:xfrm>
          <a:prstGeom prst="rect">
            <a:avLst/>
          </a:prstGeom>
        </p:spPr>
      </p:pic>
      <p:pic>
        <p:nvPicPr>
          <p:cNvPr id="8" name="图片 7"/>
          <p:cNvPicPr>
            <a:picLocks noChangeAspect="1"/>
          </p:cNvPicPr>
          <p:nvPr/>
        </p:nvPicPr>
        <p:blipFill>
          <a:blip r:embed="rId3"/>
          <a:stretch>
            <a:fillRect/>
          </a:stretch>
        </p:blipFill>
        <p:spPr>
          <a:xfrm>
            <a:off x="9522460" y="2978115"/>
            <a:ext cx="2510790" cy="295021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62305"/>
            <a:ext cx="10515600" cy="839445"/>
          </a:xfrm>
        </p:spPr>
        <p:txBody>
          <a:bodyPr/>
          <a:lstStyle/>
          <a:p>
            <a:pPr algn="ctr"/>
            <a:r>
              <a:rPr lang="en-US" altLang="zh-CN" dirty="0">
                <a:sym typeface="+mn-ea"/>
              </a:rPr>
              <a:t>Horizontal Alignment</a:t>
            </a:r>
            <a:endParaRPr lang="en-US" altLang="zh-CN" dirty="0">
              <a:sym typeface="+mn-ea"/>
            </a:endParaRPr>
          </a:p>
        </p:txBody>
      </p:sp>
      <p:pic>
        <p:nvPicPr>
          <p:cNvPr id="9" name="图片 8"/>
          <p:cNvPicPr>
            <a:picLocks noChangeAspect="1"/>
          </p:cNvPicPr>
          <p:nvPr/>
        </p:nvPicPr>
        <p:blipFill>
          <a:blip r:embed="rId1"/>
          <a:stretch>
            <a:fillRect/>
          </a:stretch>
        </p:blipFill>
        <p:spPr>
          <a:xfrm>
            <a:off x="1270000" y="2994660"/>
            <a:ext cx="10211746" cy="192659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953745"/>
          </a:xfrm>
        </p:spPr>
        <p:txBody>
          <a:bodyPr/>
          <a:lstStyle/>
          <a:p>
            <a:pPr algn="ctr"/>
            <a:r>
              <a:rPr lang="en-US" altLang="zh-CN" dirty="0">
                <a:sym typeface="+mn-ea"/>
              </a:rPr>
              <a:t>Vertical Alignment</a:t>
            </a:r>
            <a:endParaRPr lang="en-US" altLang="zh-CN" dirty="0">
              <a:sym typeface="+mn-ea"/>
            </a:endParaRPr>
          </a:p>
        </p:txBody>
      </p:sp>
      <p:sp>
        <p:nvSpPr>
          <p:cNvPr id="5" name="文本框 4"/>
          <p:cNvSpPr txBox="1"/>
          <p:nvPr/>
        </p:nvSpPr>
        <p:spPr>
          <a:xfrm>
            <a:off x="542290" y="1414780"/>
            <a:ext cx="11202035" cy="2062103"/>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The </a:t>
            </a:r>
            <a:r>
              <a:rPr kumimoji="0" lang="zh-CN" altLang="en-US" sz="32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vertical-align </a:t>
            </a: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property sets the vertical alignment (like top, bottom, or middle) of the content in &lt;th&gt; or &lt;td&gt;.</a:t>
            </a:r>
            <a:endPar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By default, the vertical alignment of the content in a table is middle (for both &lt;th&gt; and &lt;td&gt; elements).</a:t>
            </a:r>
            <a:endParaRPr kumimoji="0" lang="en-US" altLang="zh-CN" sz="32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826745"/>
          </a:xfrm>
        </p:spPr>
        <p:txBody>
          <a:bodyPr/>
          <a:lstStyle/>
          <a:p>
            <a:pPr algn="ctr"/>
            <a:r>
              <a:rPr lang="en-US" altLang="zh-CN" dirty="0">
                <a:sym typeface="+mn-ea"/>
              </a:rPr>
              <a:t>Vertical Alignment</a:t>
            </a:r>
            <a:endParaRPr lang="en-US" altLang="zh-CN" dirty="0">
              <a:sym typeface="+mn-ea"/>
            </a:endParaRPr>
          </a:p>
        </p:txBody>
      </p:sp>
      <p:pic>
        <p:nvPicPr>
          <p:cNvPr id="6" name="图片 5"/>
          <p:cNvPicPr>
            <a:picLocks noChangeAspect="1"/>
          </p:cNvPicPr>
          <p:nvPr/>
        </p:nvPicPr>
        <p:blipFill>
          <a:blip r:embed="rId1"/>
          <a:stretch>
            <a:fillRect/>
          </a:stretch>
        </p:blipFill>
        <p:spPr>
          <a:xfrm>
            <a:off x="6345290" y="3671720"/>
            <a:ext cx="5789560" cy="1767690"/>
          </a:xfrm>
          <a:prstGeom prst="rect">
            <a:avLst/>
          </a:prstGeom>
        </p:spPr>
      </p:pic>
      <p:pic>
        <p:nvPicPr>
          <p:cNvPr id="9" name="图片 8"/>
          <p:cNvPicPr>
            <a:picLocks noChangeAspect="1"/>
          </p:cNvPicPr>
          <p:nvPr/>
        </p:nvPicPr>
        <p:blipFill>
          <a:blip r:embed="rId2"/>
          <a:stretch>
            <a:fillRect/>
          </a:stretch>
        </p:blipFill>
        <p:spPr>
          <a:xfrm>
            <a:off x="132229" y="2791791"/>
            <a:ext cx="3259491" cy="3271258"/>
          </a:xfrm>
          <a:prstGeom prst="rect">
            <a:avLst/>
          </a:prstGeom>
        </p:spPr>
      </p:pic>
      <p:pic>
        <p:nvPicPr>
          <p:cNvPr id="10" name="图片 9"/>
          <p:cNvPicPr>
            <a:picLocks noChangeAspect="1"/>
          </p:cNvPicPr>
          <p:nvPr/>
        </p:nvPicPr>
        <p:blipFill>
          <a:blip r:embed="rId3"/>
          <a:stretch>
            <a:fillRect/>
          </a:stretch>
        </p:blipFill>
        <p:spPr>
          <a:xfrm>
            <a:off x="3616617" y="2153238"/>
            <a:ext cx="2333333" cy="4704762"/>
          </a:xfrm>
          <a:prstGeom prst="rect">
            <a:avLst/>
          </a:prstGeom>
        </p:spPr>
      </p:pic>
      <p:sp>
        <p:nvSpPr>
          <p:cNvPr id="11" name="矩形 10"/>
          <p:cNvSpPr/>
          <p:nvPr/>
        </p:nvSpPr>
        <p:spPr>
          <a:xfrm>
            <a:off x="438150" y="1085850"/>
            <a:ext cx="11023600" cy="954107"/>
          </a:xfrm>
          <a:prstGeom prst="rect">
            <a:avLst/>
          </a:prstGeom>
        </p:spPr>
        <p:txBody>
          <a:bodyPr wrap="square">
            <a:spAutoFit/>
          </a:bodyPr>
          <a:lstStyle/>
          <a:p>
            <a:pPr marL="457200" lvl="0" indent="-457200" algn="just">
              <a:buFont typeface="Arial" panose="020B0604020202020204" pitchFamily="34" charset="0"/>
              <a:buChar char="•"/>
              <a:defRPr/>
            </a:pPr>
            <a:r>
              <a:rPr lang="zh-CN" altLang="en-US" sz="2800" dirty="0">
                <a:solidFill>
                  <a:prstClr val="white"/>
                </a:solidFill>
                <a:latin typeface="Calibri" panose="020F0502020204030204" pitchFamily="34" charset="0"/>
                <a:cs typeface="Calibri" panose="020F0502020204030204" pitchFamily="34" charset="0"/>
              </a:rPr>
              <a:t>The following example sets the vertical text alignment to bottom for &lt;td&gt; elements:</a:t>
            </a:r>
            <a:endParaRPr lang="zh-CN" altLang="en-US" sz="2800" dirty="0">
              <a:solidFill>
                <a:prstClr val="white"/>
              </a:solidFill>
              <a:latin typeface="Calibri" panose="020F0502020204030204" pitchFamily="34" charset="0"/>
              <a:cs typeface="Calibri" panose="020F050202020403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897865"/>
          </a:xfrm>
        </p:spPr>
        <p:txBody>
          <a:bodyPr/>
          <a:lstStyle/>
          <a:p>
            <a:pPr algn="ctr"/>
            <a:r>
              <a:rPr lang="en-US" altLang="zh-CN" dirty="0">
                <a:sym typeface="+mn-ea"/>
              </a:rPr>
              <a:t>Horizontal Dividers</a:t>
            </a:r>
            <a:endParaRPr lang="en-US" altLang="zh-CN" dirty="0">
              <a:sym typeface="+mn-ea"/>
            </a:endParaRPr>
          </a:p>
        </p:txBody>
      </p:sp>
      <p:sp>
        <p:nvSpPr>
          <p:cNvPr id="5" name="文本框 4"/>
          <p:cNvSpPr txBox="1"/>
          <p:nvPr/>
        </p:nvSpPr>
        <p:spPr>
          <a:xfrm>
            <a:off x="689610" y="1156970"/>
            <a:ext cx="1110424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Add the </a:t>
            </a:r>
            <a:r>
              <a:rPr kumimoji="0" lang="zh-CN" altLang="en-US" sz="2800" b="0" i="0" u="none" strike="noStrike" kern="1200" cap="none" spc="0" normalizeH="0" baseline="0" noProof="0" dirty="0">
                <a:ln>
                  <a:noFill/>
                </a:ln>
                <a:solidFill>
                  <a:srgbClr val="FF0000"/>
                </a:solidFill>
                <a:effectLst/>
                <a:uLnTx/>
                <a:uFillTx/>
                <a:latin typeface="Calibri" panose="020F0502020204030204" pitchFamily="34" charset="0"/>
                <a:ea typeface="等线" panose="02010600030101010101" pitchFamily="2" charset="-122"/>
                <a:cs typeface="Calibri" panose="020F0502020204030204" pitchFamily="34" charset="0"/>
              </a:rPr>
              <a:t>border-bottom</a:t>
            </a:r>
            <a:r>
              <a:rPr kumimoji="0" lang="zh-CN" altLang="en-US" sz="28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 property to &lt;th&gt; and &lt;td&gt; for horizontal dividers:</a:t>
            </a:r>
            <a:endParaRPr kumimoji="0" lang="zh-CN" altLang="en-US" sz="2800" b="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pic>
        <p:nvPicPr>
          <p:cNvPr id="4" name="图片 3"/>
          <p:cNvPicPr>
            <a:picLocks noChangeAspect="1"/>
          </p:cNvPicPr>
          <p:nvPr/>
        </p:nvPicPr>
        <p:blipFill>
          <a:blip r:embed="rId1"/>
          <a:stretch>
            <a:fillRect/>
          </a:stretch>
        </p:blipFill>
        <p:spPr>
          <a:xfrm>
            <a:off x="130810" y="2409190"/>
            <a:ext cx="4657090" cy="4033132"/>
          </a:xfrm>
          <a:prstGeom prst="rect">
            <a:avLst/>
          </a:prstGeom>
        </p:spPr>
      </p:pic>
      <p:pic>
        <p:nvPicPr>
          <p:cNvPr id="8" name="图片 7"/>
          <p:cNvPicPr>
            <a:picLocks noChangeAspect="1"/>
          </p:cNvPicPr>
          <p:nvPr/>
        </p:nvPicPr>
        <p:blipFill>
          <a:blip r:embed="rId2"/>
          <a:stretch>
            <a:fillRect/>
          </a:stretch>
        </p:blipFill>
        <p:spPr>
          <a:xfrm>
            <a:off x="4895850" y="3177584"/>
            <a:ext cx="7147990" cy="1597499"/>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783565"/>
          </a:xfrm>
        </p:spPr>
        <p:txBody>
          <a:bodyPr/>
          <a:lstStyle/>
          <a:p>
            <a:pPr algn="ctr"/>
            <a:r>
              <a:rPr lang="en-US" altLang="zh-CN" dirty="0">
                <a:sym typeface="+mn-ea"/>
              </a:rPr>
              <a:t>Hoverable Table</a:t>
            </a:r>
            <a:endParaRPr lang="en-US" altLang="zh-CN" dirty="0">
              <a:sym typeface="+mn-ea"/>
            </a:endParaRPr>
          </a:p>
        </p:txBody>
      </p:sp>
      <p:sp>
        <p:nvSpPr>
          <p:cNvPr id="5" name="文本框 4"/>
          <p:cNvSpPr txBox="1"/>
          <p:nvPr/>
        </p:nvSpPr>
        <p:spPr>
          <a:xfrm>
            <a:off x="591820" y="1156970"/>
            <a:ext cx="1120203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Use the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:hover</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selector on &lt;tr&gt; to highlight table rows on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mouse over</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pic>
        <p:nvPicPr>
          <p:cNvPr id="4" name="图片 3"/>
          <p:cNvPicPr>
            <a:picLocks noChangeAspect="1"/>
          </p:cNvPicPr>
          <p:nvPr/>
        </p:nvPicPr>
        <p:blipFill>
          <a:blip r:embed="rId1"/>
          <a:stretch>
            <a:fillRect/>
          </a:stretch>
        </p:blipFill>
        <p:spPr>
          <a:xfrm>
            <a:off x="350520" y="2079961"/>
            <a:ext cx="4295775" cy="4223385"/>
          </a:xfrm>
          <a:prstGeom prst="rect">
            <a:avLst/>
          </a:prstGeom>
        </p:spPr>
      </p:pic>
      <p:pic>
        <p:nvPicPr>
          <p:cNvPr id="8" name="图片 7"/>
          <p:cNvPicPr>
            <a:picLocks noChangeAspect="1"/>
          </p:cNvPicPr>
          <p:nvPr/>
        </p:nvPicPr>
        <p:blipFill>
          <a:blip r:embed="rId2"/>
          <a:stretch>
            <a:fillRect/>
          </a:stretch>
        </p:blipFill>
        <p:spPr>
          <a:xfrm>
            <a:off x="5118990" y="2079961"/>
            <a:ext cx="6944790" cy="1536248"/>
          </a:xfrm>
          <a:prstGeom prst="rect">
            <a:avLst/>
          </a:prstGeom>
        </p:spPr>
      </p:pic>
      <p:pic>
        <p:nvPicPr>
          <p:cNvPr id="10" name="图片 9"/>
          <p:cNvPicPr>
            <a:picLocks noChangeAspect="1"/>
          </p:cNvPicPr>
          <p:nvPr/>
        </p:nvPicPr>
        <p:blipFill>
          <a:blip r:embed="rId3"/>
          <a:stretch>
            <a:fillRect/>
          </a:stretch>
        </p:blipFill>
        <p:spPr>
          <a:xfrm>
            <a:off x="5168900" y="4372830"/>
            <a:ext cx="6894880" cy="143742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839445"/>
          </a:xfrm>
        </p:spPr>
        <p:txBody>
          <a:bodyPr/>
          <a:lstStyle/>
          <a:p>
            <a:pPr algn="ctr"/>
            <a:r>
              <a:rPr lang="en-US" altLang="zh-CN" dirty="0">
                <a:sym typeface="+mn-ea"/>
              </a:rPr>
              <a:t>Striped Tables</a:t>
            </a:r>
            <a:endParaRPr lang="en-US" altLang="zh-CN" dirty="0">
              <a:sym typeface="+mn-ea"/>
            </a:endParaRPr>
          </a:p>
        </p:txBody>
      </p:sp>
      <p:sp>
        <p:nvSpPr>
          <p:cNvPr id="5" name="文本框 4"/>
          <p:cNvSpPr txBox="1"/>
          <p:nvPr/>
        </p:nvSpPr>
        <p:spPr>
          <a:xfrm>
            <a:off x="591820" y="1156970"/>
            <a:ext cx="11202035" cy="95313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For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zebra-striped tables</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use the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nth-child() </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selector and add a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background-color</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to all even (or odd) table rows:</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pic>
        <p:nvPicPr>
          <p:cNvPr id="9" name="图片 8"/>
          <p:cNvPicPr>
            <a:picLocks noChangeAspect="1"/>
          </p:cNvPicPr>
          <p:nvPr/>
        </p:nvPicPr>
        <p:blipFill>
          <a:blip r:embed="rId1"/>
          <a:stretch>
            <a:fillRect/>
          </a:stretch>
        </p:blipFill>
        <p:spPr>
          <a:xfrm>
            <a:off x="5696585" y="3687445"/>
            <a:ext cx="6240780" cy="1330325"/>
          </a:xfrm>
          <a:prstGeom prst="rect">
            <a:avLst/>
          </a:prstGeom>
        </p:spPr>
      </p:pic>
      <p:pic>
        <p:nvPicPr>
          <p:cNvPr id="4" name="图片 3"/>
          <p:cNvPicPr>
            <a:picLocks noChangeAspect="1"/>
          </p:cNvPicPr>
          <p:nvPr/>
        </p:nvPicPr>
        <p:blipFill>
          <a:blip r:embed="rId2"/>
          <a:stretch>
            <a:fillRect/>
          </a:stretch>
        </p:blipFill>
        <p:spPr>
          <a:xfrm>
            <a:off x="591820" y="2823210"/>
            <a:ext cx="5011420" cy="368554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897865"/>
          </a:xfrm>
        </p:spPr>
        <p:txBody>
          <a:bodyPr/>
          <a:lstStyle/>
          <a:p>
            <a:pPr algn="ctr"/>
            <a:r>
              <a:rPr lang="en-US" altLang="zh-CN" dirty="0">
                <a:sym typeface="+mn-ea"/>
              </a:rPr>
              <a:t>Table Color</a:t>
            </a:r>
            <a:endParaRPr lang="en-US" altLang="zh-CN" dirty="0">
              <a:sym typeface="+mn-ea"/>
            </a:endParaRPr>
          </a:p>
        </p:txBody>
      </p:sp>
      <p:sp>
        <p:nvSpPr>
          <p:cNvPr id="5" name="文本框 4"/>
          <p:cNvSpPr txBox="1"/>
          <p:nvPr/>
        </p:nvSpPr>
        <p:spPr>
          <a:xfrm>
            <a:off x="591820" y="1156970"/>
            <a:ext cx="11202035" cy="95313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The example below specifies the background color and text color of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&lt;th&gt;</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elements:</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pic>
        <p:nvPicPr>
          <p:cNvPr id="9" name="图片 8"/>
          <p:cNvPicPr>
            <a:picLocks noChangeAspect="1"/>
          </p:cNvPicPr>
          <p:nvPr/>
        </p:nvPicPr>
        <p:blipFill>
          <a:blip r:embed="rId1"/>
          <a:stretch>
            <a:fillRect/>
          </a:stretch>
        </p:blipFill>
        <p:spPr>
          <a:xfrm>
            <a:off x="5729604" y="3370262"/>
            <a:ext cx="6185837" cy="1303338"/>
          </a:xfrm>
          <a:prstGeom prst="rect">
            <a:avLst/>
          </a:prstGeom>
        </p:spPr>
      </p:pic>
      <p:pic>
        <p:nvPicPr>
          <p:cNvPr id="4" name="图片 3"/>
          <p:cNvPicPr>
            <a:picLocks noChangeAspect="1"/>
          </p:cNvPicPr>
          <p:nvPr/>
        </p:nvPicPr>
        <p:blipFill>
          <a:blip r:embed="rId2"/>
          <a:stretch>
            <a:fillRect/>
          </a:stretch>
        </p:blipFill>
        <p:spPr>
          <a:xfrm>
            <a:off x="762000" y="2465705"/>
            <a:ext cx="4465955" cy="4110355"/>
          </a:xfrm>
          <a:prstGeom prst="rect">
            <a:avLst/>
          </a:prstGeom>
        </p:spPr>
      </p:pic>
    </p:spTree>
  </p:cSld>
  <p:clrMapOvr>
    <a:masterClrMapping/>
  </p:clrMapOvr>
</p:sld>
</file>

<file path=ppt/tags/tag1.xml><?xml version="1.0" encoding="utf-8"?>
<p:tagLst xmlns:p="http://schemas.openxmlformats.org/presentationml/2006/main">
  <p:tag name="KSO_WM_UNIT_PLACING_PICTURE_USER_VIEWPORT" val="{&quot;height&quot;:3212,&quot;width&quot;:9728}"/>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commondata" val="eyJoZGlkIjoiNTRkOGIzNjk2ODJjYjgwMzk0ODkwYjk3ZGE3MTA4Y2MifQ=="/>
</p:tagLst>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11424</Words>
  <Application>WPS 演示</Application>
  <PresentationFormat>宽屏</PresentationFormat>
  <Paragraphs>329</Paragraphs>
  <Slides>63</Slides>
  <Notes>1</Notes>
  <HiddenSlides>0</HiddenSlides>
  <MMClips>0</MMClips>
  <ScaleCrop>false</ScaleCrop>
  <HeadingPairs>
    <vt:vector size="6" baseType="variant">
      <vt:variant>
        <vt:lpstr>已用的字体</vt:lpstr>
      </vt:variant>
      <vt:variant>
        <vt:i4>11</vt:i4>
      </vt:variant>
      <vt:variant>
        <vt:lpstr>主题</vt:lpstr>
      </vt:variant>
      <vt:variant>
        <vt:i4>7</vt:i4>
      </vt:variant>
      <vt:variant>
        <vt:lpstr>幻灯片标题</vt:lpstr>
      </vt:variant>
      <vt:variant>
        <vt:i4>63</vt:i4>
      </vt:variant>
    </vt:vector>
  </HeadingPairs>
  <TitlesOfParts>
    <vt:vector size="81" baseType="lpstr">
      <vt:lpstr>Arial</vt:lpstr>
      <vt:lpstr>宋体</vt:lpstr>
      <vt:lpstr>Wingdings</vt:lpstr>
      <vt:lpstr>Calibri</vt:lpstr>
      <vt:lpstr>等线</vt:lpstr>
      <vt:lpstr>Calibri Light</vt:lpstr>
      <vt:lpstr>微软雅黑</vt:lpstr>
      <vt:lpstr>Arial Unicode MS</vt:lpstr>
      <vt:lpstr>等线 Light</vt:lpstr>
      <vt:lpstr>Calibri</vt:lpstr>
      <vt:lpstr>Arial</vt:lpstr>
      <vt:lpstr>Office Theme</vt:lpstr>
      <vt:lpstr>1_Office Theme</vt:lpstr>
      <vt:lpstr>2_Office Theme</vt:lpstr>
      <vt:lpstr>3_Office Theme</vt:lpstr>
      <vt:lpstr>4_Office Theme</vt:lpstr>
      <vt:lpstr>5_Office Theme</vt:lpstr>
      <vt:lpstr>6_Office Theme</vt:lpstr>
      <vt:lpstr>CSS PADDING</vt:lpstr>
      <vt:lpstr>CSS Padding Properties</vt:lpstr>
      <vt:lpstr>Padding - Individual Sides</vt:lpstr>
      <vt:lpstr>Padding - Individual Sides</vt:lpstr>
      <vt:lpstr>Padding - Individual Sides</vt:lpstr>
      <vt:lpstr>Padding - Shorthand Property</vt:lpstr>
      <vt:lpstr>Padding - Shorthand Property</vt:lpstr>
      <vt:lpstr>CSS Height and Width Dimensions</vt:lpstr>
      <vt:lpstr>What is CSS Dimension Properties?</vt:lpstr>
      <vt:lpstr>How to set Height and Width？</vt:lpstr>
      <vt:lpstr>How to set Height and Width？</vt:lpstr>
      <vt:lpstr>Setting Max-width</vt:lpstr>
      <vt:lpstr>How to set Height and Width？</vt:lpstr>
      <vt:lpstr>CSS Text</vt:lpstr>
      <vt:lpstr>What is CSS text formatting？</vt:lpstr>
      <vt:lpstr>How to use CSS text alignment ?</vt:lpstr>
      <vt:lpstr>How to use CSS text alignment ?</vt:lpstr>
      <vt:lpstr>How to use CSS text alignment ?</vt:lpstr>
      <vt:lpstr>How to use CSS text decoration ?</vt:lpstr>
      <vt:lpstr>How to use CSS text alignment ?</vt:lpstr>
      <vt:lpstr>How to use CSS text transformation ?</vt:lpstr>
      <vt:lpstr>How to use CSS text indentation ?</vt:lpstr>
      <vt:lpstr>CSS Fonts</vt:lpstr>
      <vt:lpstr>What is CSS fonts?</vt:lpstr>
      <vt:lpstr>How to set Font Family</vt:lpstr>
      <vt:lpstr>How to set Font Family</vt:lpstr>
      <vt:lpstr>How to set Font Style</vt:lpstr>
      <vt:lpstr>How to set Font Size</vt:lpstr>
      <vt:lpstr>How to set Font Size</vt:lpstr>
      <vt:lpstr>How to set Font Size with Pixels</vt:lpstr>
      <vt:lpstr>How to set Font Size with Em</vt:lpstr>
      <vt:lpstr>How to set Font Size with Em</vt:lpstr>
      <vt:lpstr>CSS Links</vt:lpstr>
      <vt:lpstr>What is CSS Links?</vt:lpstr>
      <vt:lpstr>How to Style Links</vt:lpstr>
      <vt:lpstr>How to Style Links</vt:lpstr>
      <vt:lpstr>How to set Text Decoration</vt:lpstr>
      <vt:lpstr>Advanced - How to set Link Buttons</vt:lpstr>
      <vt:lpstr>CSS Lists</vt:lpstr>
      <vt:lpstr>What is CSS Lists?</vt:lpstr>
      <vt:lpstr>Different List Item Markers</vt:lpstr>
      <vt:lpstr>An Image as The List Item Marker</vt:lpstr>
      <vt:lpstr>Position The List Item Markers</vt:lpstr>
      <vt:lpstr>Position The List Item Markers</vt:lpstr>
      <vt:lpstr>List - Shorthand property</vt:lpstr>
      <vt:lpstr>List - Shorthand property</vt:lpstr>
      <vt:lpstr>Styling List With Colors</vt:lpstr>
      <vt:lpstr>Styling List With Colors</vt:lpstr>
      <vt:lpstr>CSS Tables</vt:lpstr>
      <vt:lpstr>What is CSS Tables?</vt:lpstr>
      <vt:lpstr>Table Borders</vt:lpstr>
      <vt:lpstr>Collapse Table Borders</vt:lpstr>
      <vt:lpstr>Collapse Table Borders</vt:lpstr>
      <vt:lpstr>Table Width and Height</vt:lpstr>
      <vt:lpstr>Table Width and Height</vt:lpstr>
      <vt:lpstr>Horizontal Alignment</vt:lpstr>
      <vt:lpstr>Horizontal Alignment</vt:lpstr>
      <vt:lpstr>Vertical Alignment</vt:lpstr>
      <vt:lpstr>Vertical Alignment</vt:lpstr>
      <vt:lpstr>Horizontal Dividers</vt:lpstr>
      <vt:lpstr>Hoverable Table</vt:lpstr>
      <vt:lpstr>Striped Tables</vt:lpstr>
      <vt:lpstr>Table Color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HTML5 APPLICATION CACHE</dc:title>
  <dc:creator>N Kyrie</dc:creator>
  <cp:lastModifiedBy>小鞠鞠的小猪猪</cp:lastModifiedBy>
  <cp:revision>269</cp:revision>
  <dcterms:created xsi:type="dcterms:W3CDTF">2021-02-25T07:28:00Z</dcterms:created>
  <dcterms:modified xsi:type="dcterms:W3CDTF">2025-07-01T10:13:29Z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F3620525758F4DD0AC6F306693A26A67_12</vt:lpwstr>
  </property>
  <property fmtid="{D5CDD505-2E9C-101B-9397-08002B2CF9AE}" pid="3" name="KSOProductBuildVer">
    <vt:lpwstr>2052-12.1.0.21915</vt:lpwstr>
  </property>
</Properties>
</file>